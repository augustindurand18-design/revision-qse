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4.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5.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6.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31.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32.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handoutMasterIdLst>
    <p:handoutMasterId r:id="rId88"/>
  </p:handoutMasterIdLst>
  <p:sldIdLst>
    <p:sldId id="256" r:id="rId2"/>
    <p:sldId id="257" r:id="rId3"/>
    <p:sldId id="995" r:id="rId4"/>
    <p:sldId id="1068" r:id="rId5"/>
    <p:sldId id="1088" r:id="rId6"/>
    <p:sldId id="1135" r:id="rId7"/>
    <p:sldId id="1069" r:id="rId8"/>
    <p:sldId id="385" r:id="rId9"/>
    <p:sldId id="1165" r:id="rId10"/>
    <p:sldId id="1164" r:id="rId11"/>
    <p:sldId id="1075" r:id="rId12"/>
    <p:sldId id="1070" r:id="rId13"/>
    <p:sldId id="1073" r:id="rId14"/>
    <p:sldId id="1071" r:id="rId15"/>
    <p:sldId id="1072" r:id="rId16"/>
    <p:sldId id="1076" r:id="rId17"/>
    <p:sldId id="1077" r:id="rId18"/>
    <p:sldId id="1078" r:id="rId19"/>
    <p:sldId id="1144" r:id="rId20"/>
    <p:sldId id="568" r:id="rId21"/>
    <p:sldId id="569" r:id="rId22"/>
    <p:sldId id="1157" r:id="rId23"/>
    <p:sldId id="1136" r:id="rId24"/>
    <p:sldId id="1137" r:id="rId25"/>
    <p:sldId id="1163" r:id="rId26"/>
    <p:sldId id="1042" r:id="rId27"/>
    <p:sldId id="1107" r:id="rId28"/>
    <p:sldId id="1139" r:id="rId29"/>
    <p:sldId id="1140" r:id="rId30"/>
    <p:sldId id="1134" r:id="rId31"/>
    <p:sldId id="1108" r:id="rId32"/>
    <p:sldId id="1109" r:id="rId33"/>
    <p:sldId id="1110" r:id="rId34"/>
    <p:sldId id="1138" r:id="rId35"/>
    <p:sldId id="1111" r:id="rId36"/>
    <p:sldId id="1112" r:id="rId37"/>
    <p:sldId id="1113" r:id="rId38"/>
    <p:sldId id="1152" r:id="rId39"/>
    <p:sldId id="1172" r:id="rId40"/>
    <p:sldId id="1174" r:id="rId41"/>
    <p:sldId id="1175" r:id="rId42"/>
    <p:sldId id="1177" r:id="rId43"/>
    <p:sldId id="1125" r:id="rId44"/>
    <p:sldId id="579" r:id="rId45"/>
    <p:sldId id="1061" r:id="rId46"/>
    <p:sldId id="1122" r:id="rId47"/>
    <p:sldId id="478" r:id="rId48"/>
    <p:sldId id="1083" r:id="rId49"/>
    <p:sldId id="1037" r:id="rId50"/>
    <p:sldId id="1131" r:id="rId51"/>
    <p:sldId id="1066" r:id="rId52"/>
    <p:sldId id="1047" r:id="rId53"/>
    <p:sldId id="1046" r:id="rId54"/>
    <p:sldId id="1064" r:id="rId55"/>
    <p:sldId id="1041" r:id="rId56"/>
    <p:sldId id="1040" r:id="rId57"/>
    <p:sldId id="1048" r:id="rId58"/>
    <p:sldId id="1049" r:id="rId59"/>
    <p:sldId id="1132" r:id="rId60"/>
    <p:sldId id="1065" r:id="rId61"/>
    <p:sldId id="483" r:id="rId62"/>
    <p:sldId id="480" r:id="rId63"/>
    <p:sldId id="1171" r:id="rId64"/>
    <p:sldId id="1129" r:id="rId65"/>
    <p:sldId id="403" r:id="rId66"/>
    <p:sldId id="1050" r:id="rId67"/>
    <p:sldId id="1059" r:id="rId68"/>
    <p:sldId id="1084" r:id="rId69"/>
    <p:sldId id="1053" r:id="rId70"/>
    <p:sldId id="1124" r:id="rId71"/>
    <p:sldId id="1141" r:id="rId72"/>
    <p:sldId id="404" r:id="rId73"/>
    <p:sldId id="1151" r:id="rId74"/>
    <p:sldId id="1142" r:id="rId75"/>
    <p:sldId id="1123" r:id="rId76"/>
    <p:sldId id="401" r:id="rId77"/>
    <p:sldId id="507" r:id="rId78"/>
    <p:sldId id="400" r:id="rId79"/>
    <p:sldId id="415" r:id="rId80"/>
    <p:sldId id="1146" r:id="rId81"/>
    <p:sldId id="291" r:id="rId82"/>
    <p:sldId id="993" r:id="rId83"/>
    <p:sldId id="1176" r:id="rId84"/>
    <p:sldId id="1179" r:id="rId85"/>
    <p:sldId id="1178" r:id="rId86"/>
  </p:sldIdLst>
  <p:sldSz cx="9144000" cy="6858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53" autoAdjust="0"/>
    <p:restoredTop sz="90867" autoAdjust="0"/>
  </p:normalViewPr>
  <p:slideViewPr>
    <p:cSldViewPr snapToGrid="0">
      <p:cViewPr varScale="1">
        <p:scale>
          <a:sx n="70" d="100"/>
          <a:sy n="70" d="100"/>
        </p:scale>
        <p:origin x="1536" y="28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2451B4-E9A2-4AB7-8CEB-1763EA33C68E}" type="doc">
      <dgm:prSet loTypeId="urn:microsoft.com/office/officeart/2005/8/layout/vList5" loCatId="list" qsTypeId="urn:microsoft.com/office/officeart/2005/8/quickstyle/simple1" qsCatId="simple" csTypeId="urn:microsoft.com/office/officeart/2005/8/colors/accent5_2" csCatId="accent5" phldr="1"/>
      <dgm:spPr/>
      <dgm:t>
        <a:bodyPr/>
        <a:lstStyle/>
        <a:p>
          <a:endParaRPr lang="fr-FR"/>
        </a:p>
      </dgm:t>
    </dgm:pt>
    <dgm:pt modelId="{DD295067-5597-49F1-BE93-E0AE9712D56B}">
      <dgm:prSet phldrT="[Texte]" custT="1"/>
      <dgm:spPr/>
      <dgm:t>
        <a:bodyPr/>
        <a:lstStyle/>
        <a:p>
          <a:r>
            <a:rPr lang="fr-FR" sz="2000" b="1" dirty="0"/>
            <a:t>1</a:t>
          </a:r>
        </a:p>
      </dgm:t>
    </dgm:pt>
    <dgm:pt modelId="{F2A295F6-68EA-47C8-A3A5-E5D0A71E6193}" type="parTrans" cxnId="{8661766D-613E-4B90-A5BA-28C608344DB2}">
      <dgm:prSet/>
      <dgm:spPr/>
      <dgm:t>
        <a:bodyPr/>
        <a:lstStyle/>
        <a:p>
          <a:endParaRPr lang="fr-FR" sz="2000" b="0"/>
        </a:p>
      </dgm:t>
    </dgm:pt>
    <dgm:pt modelId="{1D53874C-C562-43AD-BA48-9715AF726AEF}" type="sibTrans" cxnId="{8661766D-613E-4B90-A5BA-28C608344DB2}">
      <dgm:prSet/>
      <dgm:spPr/>
      <dgm:t>
        <a:bodyPr/>
        <a:lstStyle/>
        <a:p>
          <a:endParaRPr lang="fr-FR" sz="2000" b="0"/>
        </a:p>
      </dgm:t>
    </dgm:pt>
    <dgm:pt modelId="{80BB18D7-8378-44FF-819E-C6E0D235E71D}">
      <dgm:prSet phldrT="[Texte]" custT="1"/>
      <dgm:spPr/>
      <dgm:t>
        <a:bodyPr/>
        <a:lstStyle/>
        <a:p>
          <a:r>
            <a:rPr lang="fr-FR" sz="2000" b="0" dirty="0"/>
            <a:t>La responsabilité environnementale</a:t>
          </a:r>
        </a:p>
      </dgm:t>
    </dgm:pt>
    <dgm:pt modelId="{B56DCB5C-133B-40B5-AA97-EE2C42ABE769}" type="parTrans" cxnId="{E10D4358-1B1E-4620-9B62-49EDA51BD4BA}">
      <dgm:prSet/>
      <dgm:spPr/>
      <dgm:t>
        <a:bodyPr/>
        <a:lstStyle/>
        <a:p>
          <a:endParaRPr lang="fr-FR" sz="2000" b="0"/>
        </a:p>
      </dgm:t>
    </dgm:pt>
    <dgm:pt modelId="{2CE6F8F2-18E4-4CBA-AB5A-04E5D330E027}" type="sibTrans" cxnId="{E10D4358-1B1E-4620-9B62-49EDA51BD4BA}">
      <dgm:prSet/>
      <dgm:spPr/>
      <dgm:t>
        <a:bodyPr/>
        <a:lstStyle/>
        <a:p>
          <a:endParaRPr lang="fr-FR" sz="2000" b="0"/>
        </a:p>
      </dgm:t>
    </dgm:pt>
    <dgm:pt modelId="{C43A3648-9EF3-4037-BEB1-86C73C9744DD}">
      <dgm:prSet phldrT="[Texte]" custT="1"/>
      <dgm:spPr/>
      <dgm:t>
        <a:bodyPr/>
        <a:lstStyle/>
        <a:p>
          <a:r>
            <a:rPr lang="fr-FR" sz="2000" b="1" dirty="0"/>
            <a:t>2</a:t>
          </a:r>
        </a:p>
      </dgm:t>
    </dgm:pt>
    <dgm:pt modelId="{CB8CBEF0-2DC8-4610-9DB6-1EFB032DB651}" type="parTrans" cxnId="{0498CE9A-063C-409E-B16E-0BFA78A31E0E}">
      <dgm:prSet/>
      <dgm:spPr/>
      <dgm:t>
        <a:bodyPr/>
        <a:lstStyle/>
        <a:p>
          <a:endParaRPr lang="fr-FR" sz="2000" b="0"/>
        </a:p>
      </dgm:t>
    </dgm:pt>
    <dgm:pt modelId="{3BA356FD-9B87-4F0F-B961-26E4D5E9ACB1}" type="sibTrans" cxnId="{0498CE9A-063C-409E-B16E-0BFA78A31E0E}">
      <dgm:prSet/>
      <dgm:spPr/>
      <dgm:t>
        <a:bodyPr/>
        <a:lstStyle/>
        <a:p>
          <a:endParaRPr lang="fr-FR" sz="2000" b="0"/>
        </a:p>
      </dgm:t>
    </dgm:pt>
    <dgm:pt modelId="{CE5BA554-F13A-4B07-8A08-244657B4BA8D}">
      <dgm:prSet phldrT="[Texte]" custT="1"/>
      <dgm:spPr/>
      <dgm:t>
        <a:bodyPr/>
        <a:lstStyle/>
        <a:p>
          <a:r>
            <a:rPr lang="fr-FR" sz="2000" b="0" dirty="0"/>
            <a:t>Les impacts environnementaux</a:t>
          </a:r>
        </a:p>
      </dgm:t>
    </dgm:pt>
    <dgm:pt modelId="{DAC54C19-F5E0-48FC-9A92-0F52A8820F07}" type="parTrans" cxnId="{23AF1829-A31C-426B-B4E9-E09D3B154BEC}">
      <dgm:prSet/>
      <dgm:spPr/>
      <dgm:t>
        <a:bodyPr/>
        <a:lstStyle/>
        <a:p>
          <a:endParaRPr lang="fr-FR" sz="2000" b="0"/>
        </a:p>
      </dgm:t>
    </dgm:pt>
    <dgm:pt modelId="{E0EDEF92-C1E2-47F4-BDAB-32E2A090DA0E}" type="sibTrans" cxnId="{23AF1829-A31C-426B-B4E9-E09D3B154BEC}">
      <dgm:prSet/>
      <dgm:spPr/>
      <dgm:t>
        <a:bodyPr/>
        <a:lstStyle/>
        <a:p>
          <a:endParaRPr lang="fr-FR" sz="2000" b="0"/>
        </a:p>
      </dgm:t>
    </dgm:pt>
    <dgm:pt modelId="{F9C189C6-0E90-4AA6-9CB5-54E386677038}">
      <dgm:prSet custT="1"/>
      <dgm:spPr/>
      <dgm:t>
        <a:bodyPr/>
        <a:lstStyle/>
        <a:p>
          <a:r>
            <a:rPr lang="fr-FR" sz="2000" b="1" dirty="0"/>
            <a:t>3</a:t>
          </a:r>
        </a:p>
      </dgm:t>
    </dgm:pt>
    <dgm:pt modelId="{81CDC2E5-0492-4811-8005-92EE8CF42BD8}" type="parTrans" cxnId="{FD722D27-22DE-4501-ABAD-D981A33DA3E7}">
      <dgm:prSet/>
      <dgm:spPr/>
      <dgm:t>
        <a:bodyPr/>
        <a:lstStyle/>
        <a:p>
          <a:endParaRPr lang="fr-FR" sz="2000" b="0"/>
        </a:p>
      </dgm:t>
    </dgm:pt>
    <dgm:pt modelId="{2962F8ED-4ABF-49F4-9035-AF27AA3AF675}" type="sibTrans" cxnId="{FD722D27-22DE-4501-ABAD-D981A33DA3E7}">
      <dgm:prSet/>
      <dgm:spPr/>
      <dgm:t>
        <a:bodyPr/>
        <a:lstStyle/>
        <a:p>
          <a:endParaRPr lang="fr-FR" sz="2000" b="0"/>
        </a:p>
      </dgm:t>
    </dgm:pt>
    <dgm:pt modelId="{224B2C67-0828-459A-85DD-03C667C201DF}">
      <dgm:prSet custT="1"/>
      <dgm:spPr/>
      <dgm:t>
        <a:bodyPr/>
        <a:lstStyle/>
        <a:p>
          <a:r>
            <a:rPr lang="fr-FR" sz="2000" b="0" dirty="0"/>
            <a:t>Les domaines d’actions</a:t>
          </a:r>
        </a:p>
      </dgm:t>
    </dgm:pt>
    <dgm:pt modelId="{EAE51DF4-B9FB-4CCE-950D-0DFC7E05B575}" type="parTrans" cxnId="{7B679474-047E-4D0C-9C84-16B2DEF0907E}">
      <dgm:prSet/>
      <dgm:spPr/>
      <dgm:t>
        <a:bodyPr/>
        <a:lstStyle/>
        <a:p>
          <a:endParaRPr lang="fr-FR" sz="2000" b="0"/>
        </a:p>
      </dgm:t>
    </dgm:pt>
    <dgm:pt modelId="{980A9B28-11E0-448D-B3DE-245042FC4CFD}" type="sibTrans" cxnId="{7B679474-047E-4D0C-9C84-16B2DEF0907E}">
      <dgm:prSet/>
      <dgm:spPr/>
      <dgm:t>
        <a:bodyPr/>
        <a:lstStyle/>
        <a:p>
          <a:endParaRPr lang="fr-FR" sz="2000" b="0"/>
        </a:p>
      </dgm:t>
    </dgm:pt>
    <dgm:pt modelId="{243478C6-CB83-49C7-B4EA-08CB873AC6D2}" type="pres">
      <dgm:prSet presAssocID="{792451B4-E9A2-4AB7-8CEB-1763EA33C68E}" presName="Name0" presStyleCnt="0">
        <dgm:presLayoutVars>
          <dgm:dir/>
          <dgm:animLvl val="lvl"/>
          <dgm:resizeHandles val="exact"/>
        </dgm:presLayoutVars>
      </dgm:prSet>
      <dgm:spPr/>
    </dgm:pt>
    <dgm:pt modelId="{9040CB7E-9498-41FF-A4C3-F30F5CE91CA4}" type="pres">
      <dgm:prSet presAssocID="{DD295067-5597-49F1-BE93-E0AE9712D56B}" presName="linNode" presStyleCnt="0"/>
      <dgm:spPr/>
    </dgm:pt>
    <dgm:pt modelId="{B35F7A22-78A4-4B45-8141-ADE5937977F8}" type="pres">
      <dgm:prSet presAssocID="{DD295067-5597-49F1-BE93-E0AE9712D56B}" presName="parentText" presStyleLbl="node1" presStyleIdx="0" presStyleCnt="3" custScaleX="45896">
        <dgm:presLayoutVars>
          <dgm:chMax val="1"/>
          <dgm:bulletEnabled val="1"/>
        </dgm:presLayoutVars>
      </dgm:prSet>
      <dgm:spPr/>
    </dgm:pt>
    <dgm:pt modelId="{8C4F23A6-07B3-4F5B-8EF2-D75116B82CB8}" type="pres">
      <dgm:prSet presAssocID="{DD295067-5597-49F1-BE93-E0AE9712D56B}" presName="descendantText" presStyleLbl="alignAccFollowNode1" presStyleIdx="0" presStyleCnt="3">
        <dgm:presLayoutVars>
          <dgm:bulletEnabled val="1"/>
        </dgm:presLayoutVars>
      </dgm:prSet>
      <dgm:spPr/>
    </dgm:pt>
    <dgm:pt modelId="{58EA78BA-AE85-4289-AF7A-10B0BE5B649C}" type="pres">
      <dgm:prSet presAssocID="{1D53874C-C562-43AD-BA48-9715AF726AEF}" presName="sp" presStyleCnt="0"/>
      <dgm:spPr/>
    </dgm:pt>
    <dgm:pt modelId="{7F30D5A7-BA8B-4F05-8636-AD4489BF5698}" type="pres">
      <dgm:prSet presAssocID="{C43A3648-9EF3-4037-BEB1-86C73C9744DD}" presName="linNode" presStyleCnt="0"/>
      <dgm:spPr/>
    </dgm:pt>
    <dgm:pt modelId="{7D3AC168-8E83-4457-A69A-4375FB15D741}" type="pres">
      <dgm:prSet presAssocID="{C43A3648-9EF3-4037-BEB1-86C73C9744DD}" presName="parentText" presStyleLbl="node1" presStyleIdx="1" presStyleCnt="3" custScaleX="45896">
        <dgm:presLayoutVars>
          <dgm:chMax val="1"/>
          <dgm:bulletEnabled val="1"/>
        </dgm:presLayoutVars>
      </dgm:prSet>
      <dgm:spPr/>
    </dgm:pt>
    <dgm:pt modelId="{52226437-4125-4222-BF04-9956A4A7C5EB}" type="pres">
      <dgm:prSet presAssocID="{C43A3648-9EF3-4037-BEB1-86C73C9744DD}" presName="descendantText" presStyleLbl="alignAccFollowNode1" presStyleIdx="1" presStyleCnt="3">
        <dgm:presLayoutVars>
          <dgm:bulletEnabled val="1"/>
        </dgm:presLayoutVars>
      </dgm:prSet>
      <dgm:spPr/>
    </dgm:pt>
    <dgm:pt modelId="{E73A430D-E7CA-4D59-B1F0-9086222AEB42}" type="pres">
      <dgm:prSet presAssocID="{3BA356FD-9B87-4F0F-B961-26E4D5E9ACB1}" presName="sp" presStyleCnt="0"/>
      <dgm:spPr/>
    </dgm:pt>
    <dgm:pt modelId="{050E32A8-6282-4F50-B716-4F4460799543}" type="pres">
      <dgm:prSet presAssocID="{F9C189C6-0E90-4AA6-9CB5-54E386677038}" presName="linNode" presStyleCnt="0"/>
      <dgm:spPr/>
    </dgm:pt>
    <dgm:pt modelId="{CE55AC18-F402-4E60-BA25-08DAFD056C31}" type="pres">
      <dgm:prSet presAssocID="{F9C189C6-0E90-4AA6-9CB5-54E386677038}" presName="parentText" presStyleLbl="node1" presStyleIdx="2" presStyleCnt="3" custScaleX="45896">
        <dgm:presLayoutVars>
          <dgm:chMax val="1"/>
          <dgm:bulletEnabled val="1"/>
        </dgm:presLayoutVars>
      </dgm:prSet>
      <dgm:spPr/>
    </dgm:pt>
    <dgm:pt modelId="{DE701536-5709-420A-9281-64C717D30A45}" type="pres">
      <dgm:prSet presAssocID="{F9C189C6-0E90-4AA6-9CB5-54E386677038}" presName="descendantText" presStyleLbl="alignAccFollowNode1" presStyleIdx="2" presStyleCnt="3">
        <dgm:presLayoutVars>
          <dgm:bulletEnabled val="1"/>
        </dgm:presLayoutVars>
      </dgm:prSet>
      <dgm:spPr/>
    </dgm:pt>
  </dgm:ptLst>
  <dgm:cxnLst>
    <dgm:cxn modelId="{FADEBD00-5A54-4A57-AD00-86CEECEFE74D}" type="presOf" srcId="{792451B4-E9A2-4AB7-8CEB-1763EA33C68E}" destId="{243478C6-CB83-49C7-B4EA-08CB873AC6D2}" srcOrd="0" destOrd="0" presId="urn:microsoft.com/office/officeart/2005/8/layout/vList5"/>
    <dgm:cxn modelId="{55028C10-BBB6-475C-A451-31FCD9B7893A}" type="presOf" srcId="{224B2C67-0828-459A-85DD-03C667C201DF}" destId="{DE701536-5709-420A-9281-64C717D30A45}" srcOrd="0" destOrd="0" presId="urn:microsoft.com/office/officeart/2005/8/layout/vList5"/>
    <dgm:cxn modelId="{FD722D27-22DE-4501-ABAD-D981A33DA3E7}" srcId="{792451B4-E9A2-4AB7-8CEB-1763EA33C68E}" destId="{F9C189C6-0E90-4AA6-9CB5-54E386677038}" srcOrd="2" destOrd="0" parTransId="{81CDC2E5-0492-4811-8005-92EE8CF42BD8}" sibTransId="{2962F8ED-4ABF-49F4-9035-AF27AA3AF675}"/>
    <dgm:cxn modelId="{23AF1829-A31C-426B-B4E9-E09D3B154BEC}" srcId="{C43A3648-9EF3-4037-BEB1-86C73C9744DD}" destId="{CE5BA554-F13A-4B07-8A08-244657B4BA8D}" srcOrd="0" destOrd="0" parTransId="{DAC54C19-F5E0-48FC-9A92-0F52A8820F07}" sibTransId="{E0EDEF92-C1E2-47F4-BDAB-32E2A090DA0E}"/>
    <dgm:cxn modelId="{E727C03E-39E7-45EF-98B7-3BC4A9FA5E2C}" type="presOf" srcId="{80BB18D7-8378-44FF-819E-C6E0D235E71D}" destId="{8C4F23A6-07B3-4F5B-8EF2-D75116B82CB8}" srcOrd="0" destOrd="0" presId="urn:microsoft.com/office/officeart/2005/8/layout/vList5"/>
    <dgm:cxn modelId="{370BFB67-827A-4B7D-8EFA-7E0C83C1DF07}" type="presOf" srcId="{CE5BA554-F13A-4B07-8A08-244657B4BA8D}" destId="{52226437-4125-4222-BF04-9956A4A7C5EB}" srcOrd="0" destOrd="0" presId="urn:microsoft.com/office/officeart/2005/8/layout/vList5"/>
    <dgm:cxn modelId="{8661766D-613E-4B90-A5BA-28C608344DB2}" srcId="{792451B4-E9A2-4AB7-8CEB-1763EA33C68E}" destId="{DD295067-5597-49F1-BE93-E0AE9712D56B}" srcOrd="0" destOrd="0" parTransId="{F2A295F6-68EA-47C8-A3A5-E5D0A71E6193}" sibTransId="{1D53874C-C562-43AD-BA48-9715AF726AEF}"/>
    <dgm:cxn modelId="{7B679474-047E-4D0C-9C84-16B2DEF0907E}" srcId="{F9C189C6-0E90-4AA6-9CB5-54E386677038}" destId="{224B2C67-0828-459A-85DD-03C667C201DF}" srcOrd="0" destOrd="0" parTransId="{EAE51DF4-B9FB-4CCE-950D-0DFC7E05B575}" sibTransId="{980A9B28-11E0-448D-B3DE-245042FC4CFD}"/>
    <dgm:cxn modelId="{E10D4358-1B1E-4620-9B62-49EDA51BD4BA}" srcId="{DD295067-5597-49F1-BE93-E0AE9712D56B}" destId="{80BB18D7-8378-44FF-819E-C6E0D235E71D}" srcOrd="0" destOrd="0" parTransId="{B56DCB5C-133B-40B5-AA97-EE2C42ABE769}" sibTransId="{2CE6F8F2-18E4-4CBA-AB5A-04E5D330E027}"/>
    <dgm:cxn modelId="{0498CE9A-063C-409E-B16E-0BFA78A31E0E}" srcId="{792451B4-E9A2-4AB7-8CEB-1763EA33C68E}" destId="{C43A3648-9EF3-4037-BEB1-86C73C9744DD}" srcOrd="1" destOrd="0" parTransId="{CB8CBEF0-2DC8-4610-9DB6-1EFB032DB651}" sibTransId="{3BA356FD-9B87-4F0F-B961-26E4D5E9ACB1}"/>
    <dgm:cxn modelId="{49682FA0-2F24-4B11-A821-09A9B6882BAD}" type="presOf" srcId="{DD295067-5597-49F1-BE93-E0AE9712D56B}" destId="{B35F7A22-78A4-4B45-8141-ADE5937977F8}" srcOrd="0" destOrd="0" presId="urn:microsoft.com/office/officeart/2005/8/layout/vList5"/>
    <dgm:cxn modelId="{22C364F0-3804-4E53-9A1F-0E41A24796EA}" type="presOf" srcId="{C43A3648-9EF3-4037-BEB1-86C73C9744DD}" destId="{7D3AC168-8E83-4457-A69A-4375FB15D741}" srcOrd="0" destOrd="0" presId="urn:microsoft.com/office/officeart/2005/8/layout/vList5"/>
    <dgm:cxn modelId="{13A3F6F7-5614-4789-A8B6-A277986BC77F}" type="presOf" srcId="{F9C189C6-0E90-4AA6-9CB5-54E386677038}" destId="{CE55AC18-F402-4E60-BA25-08DAFD056C31}" srcOrd="0" destOrd="0" presId="urn:microsoft.com/office/officeart/2005/8/layout/vList5"/>
    <dgm:cxn modelId="{BE906B17-852B-42EE-9294-B30F8487B325}" type="presParOf" srcId="{243478C6-CB83-49C7-B4EA-08CB873AC6D2}" destId="{9040CB7E-9498-41FF-A4C3-F30F5CE91CA4}" srcOrd="0" destOrd="0" presId="urn:microsoft.com/office/officeart/2005/8/layout/vList5"/>
    <dgm:cxn modelId="{515FE8FC-99C4-49C4-AC90-BBC59D7B34A0}" type="presParOf" srcId="{9040CB7E-9498-41FF-A4C3-F30F5CE91CA4}" destId="{B35F7A22-78A4-4B45-8141-ADE5937977F8}" srcOrd="0" destOrd="0" presId="urn:microsoft.com/office/officeart/2005/8/layout/vList5"/>
    <dgm:cxn modelId="{9BF8FDA4-7660-49B6-98CE-422CB6E5C106}" type="presParOf" srcId="{9040CB7E-9498-41FF-A4C3-F30F5CE91CA4}" destId="{8C4F23A6-07B3-4F5B-8EF2-D75116B82CB8}" srcOrd="1" destOrd="0" presId="urn:microsoft.com/office/officeart/2005/8/layout/vList5"/>
    <dgm:cxn modelId="{D24B883B-DB10-46F4-B3F3-AA64E44ECFEE}" type="presParOf" srcId="{243478C6-CB83-49C7-B4EA-08CB873AC6D2}" destId="{58EA78BA-AE85-4289-AF7A-10B0BE5B649C}" srcOrd="1" destOrd="0" presId="urn:microsoft.com/office/officeart/2005/8/layout/vList5"/>
    <dgm:cxn modelId="{14ABC507-8566-4247-BA5E-E0CE63A4890F}" type="presParOf" srcId="{243478C6-CB83-49C7-B4EA-08CB873AC6D2}" destId="{7F30D5A7-BA8B-4F05-8636-AD4489BF5698}" srcOrd="2" destOrd="0" presId="urn:microsoft.com/office/officeart/2005/8/layout/vList5"/>
    <dgm:cxn modelId="{27C9253C-2B4B-4BB4-9C15-B740E5A84058}" type="presParOf" srcId="{7F30D5A7-BA8B-4F05-8636-AD4489BF5698}" destId="{7D3AC168-8E83-4457-A69A-4375FB15D741}" srcOrd="0" destOrd="0" presId="urn:microsoft.com/office/officeart/2005/8/layout/vList5"/>
    <dgm:cxn modelId="{DD503C76-3880-4E36-8A0B-187526FFBFEB}" type="presParOf" srcId="{7F30D5A7-BA8B-4F05-8636-AD4489BF5698}" destId="{52226437-4125-4222-BF04-9956A4A7C5EB}" srcOrd="1" destOrd="0" presId="urn:microsoft.com/office/officeart/2005/8/layout/vList5"/>
    <dgm:cxn modelId="{D98EAF42-DFD3-4779-A4E5-F8969EE3751E}" type="presParOf" srcId="{243478C6-CB83-49C7-B4EA-08CB873AC6D2}" destId="{E73A430D-E7CA-4D59-B1F0-9086222AEB42}" srcOrd="3" destOrd="0" presId="urn:microsoft.com/office/officeart/2005/8/layout/vList5"/>
    <dgm:cxn modelId="{02D62791-8D84-4113-80E4-9C8B7664D113}" type="presParOf" srcId="{243478C6-CB83-49C7-B4EA-08CB873AC6D2}" destId="{050E32A8-6282-4F50-B716-4F4460799543}" srcOrd="4" destOrd="0" presId="urn:microsoft.com/office/officeart/2005/8/layout/vList5"/>
    <dgm:cxn modelId="{465622D9-770A-4F48-93AF-991AB3F43985}" type="presParOf" srcId="{050E32A8-6282-4F50-B716-4F4460799543}" destId="{CE55AC18-F402-4E60-BA25-08DAFD056C31}" srcOrd="0" destOrd="0" presId="urn:microsoft.com/office/officeart/2005/8/layout/vList5"/>
    <dgm:cxn modelId="{4BEB024A-9862-4F83-9B82-30040DC854CC}" type="presParOf" srcId="{050E32A8-6282-4F50-B716-4F4460799543}" destId="{DE701536-5709-420A-9281-64C717D30A4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2636E2-035E-4E4F-BE4B-B1547727A692}" type="doc">
      <dgm:prSet loTypeId="urn:microsoft.com/office/officeart/2005/8/layout/hList1" loCatId="list" qsTypeId="urn:microsoft.com/office/officeart/2005/8/quickstyle/simple1" qsCatId="simple" csTypeId="urn:microsoft.com/office/officeart/2005/8/colors/accent5_2" csCatId="accent5" phldr="1"/>
      <dgm:spPr/>
      <dgm:t>
        <a:bodyPr/>
        <a:lstStyle/>
        <a:p>
          <a:endParaRPr lang="fr-FR"/>
        </a:p>
      </dgm:t>
    </dgm:pt>
    <dgm:pt modelId="{B8624879-6A03-475C-BC84-23C91C03FC04}">
      <dgm:prSet phldrT="[Texte]" custT="1"/>
      <dgm:spPr/>
      <dgm:t>
        <a:bodyPr/>
        <a:lstStyle/>
        <a:p>
          <a:r>
            <a:rPr lang="fr-FR" sz="1800" b="1" dirty="0"/>
            <a:t>Les nuisances directes</a:t>
          </a:r>
        </a:p>
      </dgm:t>
    </dgm:pt>
    <dgm:pt modelId="{CAAA6CF1-615E-496F-9B97-203DB2DF754D}" type="parTrans" cxnId="{D13EC9B5-1DE7-4474-B022-125B5CBC2996}">
      <dgm:prSet/>
      <dgm:spPr/>
      <dgm:t>
        <a:bodyPr/>
        <a:lstStyle/>
        <a:p>
          <a:endParaRPr lang="fr-FR" sz="1800"/>
        </a:p>
      </dgm:t>
    </dgm:pt>
    <dgm:pt modelId="{F917574E-7C20-4696-B2C7-99F443C196D5}" type="sibTrans" cxnId="{D13EC9B5-1DE7-4474-B022-125B5CBC2996}">
      <dgm:prSet/>
      <dgm:spPr/>
      <dgm:t>
        <a:bodyPr/>
        <a:lstStyle/>
        <a:p>
          <a:endParaRPr lang="fr-FR" sz="1800"/>
        </a:p>
      </dgm:t>
    </dgm:pt>
    <dgm:pt modelId="{67FA1BFB-676B-42C4-815D-EBAC0B9A7BAD}">
      <dgm:prSet phldrT="[Texte]" custT="1"/>
      <dgm:spPr/>
      <dgm:t>
        <a:bodyPr/>
        <a:lstStyle/>
        <a:p>
          <a:r>
            <a:rPr lang="fr-FR" sz="1800" dirty="0"/>
            <a:t>Pollutions </a:t>
          </a:r>
        </a:p>
      </dgm:t>
    </dgm:pt>
    <dgm:pt modelId="{447B2422-8A55-41F3-9D03-F55FB9D4EA98}" type="parTrans" cxnId="{4240CC52-7242-4DD4-8137-35040495455A}">
      <dgm:prSet/>
      <dgm:spPr/>
      <dgm:t>
        <a:bodyPr/>
        <a:lstStyle/>
        <a:p>
          <a:endParaRPr lang="fr-FR" sz="1800"/>
        </a:p>
      </dgm:t>
    </dgm:pt>
    <dgm:pt modelId="{54D0B9AF-F174-4142-9534-711D3E3CBCB9}" type="sibTrans" cxnId="{4240CC52-7242-4DD4-8137-35040495455A}">
      <dgm:prSet/>
      <dgm:spPr/>
      <dgm:t>
        <a:bodyPr/>
        <a:lstStyle/>
        <a:p>
          <a:endParaRPr lang="fr-FR" sz="1800"/>
        </a:p>
      </dgm:t>
    </dgm:pt>
    <dgm:pt modelId="{D05EAC20-6D23-42EC-BE3D-4F268E2ED3E4}">
      <dgm:prSet phldrT="[Texte]" custT="1"/>
      <dgm:spPr/>
      <dgm:t>
        <a:bodyPr/>
        <a:lstStyle/>
        <a:p>
          <a:r>
            <a:rPr lang="fr-FR" sz="1800" dirty="0"/>
            <a:t>Bruits</a:t>
          </a:r>
        </a:p>
      </dgm:t>
    </dgm:pt>
    <dgm:pt modelId="{1409C9F6-13C9-4F9D-8C46-4E2B5BACDA31}" type="parTrans" cxnId="{928C7FE3-F064-42ED-8263-F02F53A70693}">
      <dgm:prSet/>
      <dgm:spPr/>
      <dgm:t>
        <a:bodyPr/>
        <a:lstStyle/>
        <a:p>
          <a:endParaRPr lang="fr-FR" sz="1800"/>
        </a:p>
      </dgm:t>
    </dgm:pt>
    <dgm:pt modelId="{040C43AF-8C06-4ADC-BE38-25ABA414A4D8}" type="sibTrans" cxnId="{928C7FE3-F064-42ED-8263-F02F53A70693}">
      <dgm:prSet/>
      <dgm:spPr/>
      <dgm:t>
        <a:bodyPr/>
        <a:lstStyle/>
        <a:p>
          <a:endParaRPr lang="fr-FR" sz="1800"/>
        </a:p>
      </dgm:t>
    </dgm:pt>
    <dgm:pt modelId="{B4229A26-3E96-47D9-90E9-20F36144244D}">
      <dgm:prSet phldrT="[Texte]" custT="1"/>
      <dgm:spPr/>
      <dgm:t>
        <a:bodyPr/>
        <a:lstStyle/>
        <a:p>
          <a:r>
            <a:rPr lang="fr-FR" sz="1800" b="1" dirty="0"/>
            <a:t>Les nuisances indirectes</a:t>
          </a:r>
        </a:p>
      </dgm:t>
    </dgm:pt>
    <dgm:pt modelId="{43B7D1C1-5980-4694-A86A-8FE6EA3C09B9}" type="parTrans" cxnId="{184543D5-BD35-4806-AD0A-008FEC3F9B1C}">
      <dgm:prSet/>
      <dgm:spPr/>
      <dgm:t>
        <a:bodyPr/>
        <a:lstStyle/>
        <a:p>
          <a:endParaRPr lang="fr-FR" sz="1800"/>
        </a:p>
      </dgm:t>
    </dgm:pt>
    <dgm:pt modelId="{3EF2380A-E108-493C-92E7-FA5326410BFB}" type="sibTrans" cxnId="{184543D5-BD35-4806-AD0A-008FEC3F9B1C}">
      <dgm:prSet/>
      <dgm:spPr/>
      <dgm:t>
        <a:bodyPr/>
        <a:lstStyle/>
        <a:p>
          <a:endParaRPr lang="fr-FR" sz="1800"/>
        </a:p>
      </dgm:t>
    </dgm:pt>
    <dgm:pt modelId="{1A2CC5BB-2B9F-49F1-B95B-1A145D48BD49}">
      <dgm:prSet phldrT="[Texte]" custT="1"/>
      <dgm:spPr/>
      <dgm:t>
        <a:bodyPr/>
        <a:lstStyle/>
        <a:p>
          <a:r>
            <a:rPr lang="fr-FR" sz="1800" dirty="0"/>
            <a:t>Perturbation des espèces animales et végétales</a:t>
          </a:r>
        </a:p>
      </dgm:t>
    </dgm:pt>
    <dgm:pt modelId="{EF718F67-B1CE-4BDB-99CA-17B8D74CB33C}" type="parTrans" cxnId="{54057CA3-169E-4F13-835E-C05FB516A010}">
      <dgm:prSet/>
      <dgm:spPr/>
      <dgm:t>
        <a:bodyPr/>
        <a:lstStyle/>
        <a:p>
          <a:endParaRPr lang="fr-FR" sz="1800"/>
        </a:p>
      </dgm:t>
    </dgm:pt>
    <dgm:pt modelId="{D4E1EEE1-B22D-425F-8333-2FB73F4C8D42}" type="sibTrans" cxnId="{54057CA3-169E-4F13-835E-C05FB516A010}">
      <dgm:prSet/>
      <dgm:spPr/>
      <dgm:t>
        <a:bodyPr/>
        <a:lstStyle/>
        <a:p>
          <a:endParaRPr lang="fr-FR" sz="1800"/>
        </a:p>
      </dgm:t>
    </dgm:pt>
    <dgm:pt modelId="{0E74B8AD-BB0C-47E9-B65E-3961EB9C0A4C}">
      <dgm:prSet phldrT="[Texte]" custT="1"/>
      <dgm:spPr/>
      <dgm:t>
        <a:bodyPr/>
        <a:lstStyle/>
        <a:p>
          <a:r>
            <a:rPr lang="fr-FR" sz="1800" dirty="0"/>
            <a:t>Odeurs</a:t>
          </a:r>
        </a:p>
      </dgm:t>
    </dgm:pt>
    <dgm:pt modelId="{E9B1386A-7C9E-4855-A292-1C7858228137}" type="parTrans" cxnId="{B09334B4-53C4-4BBA-9B12-3CDAAA522444}">
      <dgm:prSet/>
      <dgm:spPr/>
      <dgm:t>
        <a:bodyPr/>
        <a:lstStyle/>
        <a:p>
          <a:endParaRPr lang="fr-FR" sz="1800"/>
        </a:p>
      </dgm:t>
    </dgm:pt>
    <dgm:pt modelId="{BD170182-2C3F-432D-A632-865AEF0B96EB}" type="sibTrans" cxnId="{B09334B4-53C4-4BBA-9B12-3CDAAA522444}">
      <dgm:prSet/>
      <dgm:spPr/>
      <dgm:t>
        <a:bodyPr/>
        <a:lstStyle/>
        <a:p>
          <a:endParaRPr lang="fr-FR" sz="1800"/>
        </a:p>
      </dgm:t>
    </dgm:pt>
    <dgm:pt modelId="{68EB226B-8090-49B3-BEBA-099DE51D8560}">
      <dgm:prSet phldrT="[Texte]" custT="1"/>
      <dgm:spPr/>
      <dgm:t>
        <a:bodyPr/>
        <a:lstStyle/>
        <a:p>
          <a:r>
            <a:rPr lang="fr-FR" sz="1800" dirty="0"/>
            <a:t>Désagréments visuels</a:t>
          </a:r>
        </a:p>
      </dgm:t>
    </dgm:pt>
    <dgm:pt modelId="{C23D7F77-7EDA-4411-A882-89AD77CF7A9C}" type="parTrans" cxnId="{2C253542-B7A2-48E0-B6D2-4FCD298AF7CD}">
      <dgm:prSet/>
      <dgm:spPr/>
      <dgm:t>
        <a:bodyPr/>
        <a:lstStyle/>
        <a:p>
          <a:endParaRPr lang="fr-FR" sz="1800"/>
        </a:p>
      </dgm:t>
    </dgm:pt>
    <dgm:pt modelId="{4FD23438-5F6F-4EC2-8756-6D3EF3729D86}" type="sibTrans" cxnId="{2C253542-B7A2-48E0-B6D2-4FCD298AF7CD}">
      <dgm:prSet/>
      <dgm:spPr/>
      <dgm:t>
        <a:bodyPr/>
        <a:lstStyle/>
        <a:p>
          <a:endParaRPr lang="fr-FR" sz="1800"/>
        </a:p>
      </dgm:t>
    </dgm:pt>
    <dgm:pt modelId="{A1FD3793-B61D-4A5B-9FA1-07CB0E93317E}">
      <dgm:prSet phldrT="[Texte]" custT="1"/>
      <dgm:spPr/>
      <dgm:t>
        <a:bodyPr/>
        <a:lstStyle/>
        <a:p>
          <a:r>
            <a:rPr lang="fr-FR" sz="1800" dirty="0"/>
            <a:t>…</a:t>
          </a:r>
        </a:p>
      </dgm:t>
    </dgm:pt>
    <dgm:pt modelId="{E88A4F7D-B446-48C7-B85F-6ADCDCEE162A}" type="parTrans" cxnId="{588A9C64-2B46-4D3D-BE85-B850ECF8F528}">
      <dgm:prSet/>
      <dgm:spPr/>
      <dgm:t>
        <a:bodyPr/>
        <a:lstStyle/>
        <a:p>
          <a:endParaRPr lang="fr-FR" sz="1800"/>
        </a:p>
      </dgm:t>
    </dgm:pt>
    <dgm:pt modelId="{EB2B7433-B4E9-4568-9438-02683F80FA74}" type="sibTrans" cxnId="{588A9C64-2B46-4D3D-BE85-B850ECF8F528}">
      <dgm:prSet/>
      <dgm:spPr/>
      <dgm:t>
        <a:bodyPr/>
        <a:lstStyle/>
        <a:p>
          <a:endParaRPr lang="fr-FR" sz="1800"/>
        </a:p>
      </dgm:t>
    </dgm:pt>
    <dgm:pt modelId="{54C671E1-5347-4E0D-B834-ED8B35DB5BF7}" type="pres">
      <dgm:prSet presAssocID="{6B2636E2-035E-4E4F-BE4B-B1547727A692}" presName="Name0" presStyleCnt="0">
        <dgm:presLayoutVars>
          <dgm:dir/>
          <dgm:animLvl val="lvl"/>
          <dgm:resizeHandles val="exact"/>
        </dgm:presLayoutVars>
      </dgm:prSet>
      <dgm:spPr/>
    </dgm:pt>
    <dgm:pt modelId="{A3C698AB-B5A2-4EEE-A027-D480FF0F9504}" type="pres">
      <dgm:prSet presAssocID="{B8624879-6A03-475C-BC84-23C91C03FC04}" presName="composite" presStyleCnt="0"/>
      <dgm:spPr/>
    </dgm:pt>
    <dgm:pt modelId="{FC7F53EE-1418-4EB3-9411-C15EBA3A5577}" type="pres">
      <dgm:prSet presAssocID="{B8624879-6A03-475C-BC84-23C91C03FC04}" presName="parTx" presStyleLbl="alignNode1" presStyleIdx="0" presStyleCnt="2">
        <dgm:presLayoutVars>
          <dgm:chMax val="0"/>
          <dgm:chPref val="0"/>
          <dgm:bulletEnabled val="1"/>
        </dgm:presLayoutVars>
      </dgm:prSet>
      <dgm:spPr/>
    </dgm:pt>
    <dgm:pt modelId="{07CF52BB-167A-4895-8FA5-86C4BDBD980E}" type="pres">
      <dgm:prSet presAssocID="{B8624879-6A03-475C-BC84-23C91C03FC04}" presName="desTx" presStyleLbl="alignAccFollowNode1" presStyleIdx="0" presStyleCnt="2">
        <dgm:presLayoutVars>
          <dgm:bulletEnabled val="1"/>
        </dgm:presLayoutVars>
      </dgm:prSet>
      <dgm:spPr/>
    </dgm:pt>
    <dgm:pt modelId="{10DF4AEA-741B-40EA-9D80-6FADA14070F8}" type="pres">
      <dgm:prSet presAssocID="{F917574E-7C20-4696-B2C7-99F443C196D5}" presName="space" presStyleCnt="0"/>
      <dgm:spPr/>
    </dgm:pt>
    <dgm:pt modelId="{6C2A7FA8-49D3-446C-AAE6-254741048A4F}" type="pres">
      <dgm:prSet presAssocID="{B4229A26-3E96-47D9-90E9-20F36144244D}" presName="composite" presStyleCnt="0"/>
      <dgm:spPr/>
    </dgm:pt>
    <dgm:pt modelId="{99EA5E19-AC66-45B2-B130-AC50FBA04E5D}" type="pres">
      <dgm:prSet presAssocID="{B4229A26-3E96-47D9-90E9-20F36144244D}" presName="parTx" presStyleLbl="alignNode1" presStyleIdx="1" presStyleCnt="2">
        <dgm:presLayoutVars>
          <dgm:chMax val="0"/>
          <dgm:chPref val="0"/>
          <dgm:bulletEnabled val="1"/>
        </dgm:presLayoutVars>
      </dgm:prSet>
      <dgm:spPr/>
    </dgm:pt>
    <dgm:pt modelId="{D40C174D-57B7-44AE-82D4-95F0281F10A0}" type="pres">
      <dgm:prSet presAssocID="{B4229A26-3E96-47D9-90E9-20F36144244D}" presName="desTx" presStyleLbl="alignAccFollowNode1" presStyleIdx="1" presStyleCnt="2">
        <dgm:presLayoutVars>
          <dgm:bulletEnabled val="1"/>
        </dgm:presLayoutVars>
      </dgm:prSet>
      <dgm:spPr/>
    </dgm:pt>
  </dgm:ptLst>
  <dgm:cxnLst>
    <dgm:cxn modelId="{BC327831-5C89-4747-A0CB-B81044C90F4B}" type="presOf" srcId="{A1FD3793-B61D-4A5B-9FA1-07CB0E93317E}" destId="{07CF52BB-167A-4895-8FA5-86C4BDBD980E}" srcOrd="0" destOrd="4" presId="urn:microsoft.com/office/officeart/2005/8/layout/hList1"/>
    <dgm:cxn modelId="{361C633F-F8B7-4771-98B2-8C3046FD9ECF}" type="presOf" srcId="{B8624879-6A03-475C-BC84-23C91C03FC04}" destId="{FC7F53EE-1418-4EB3-9411-C15EBA3A5577}" srcOrd="0" destOrd="0" presId="urn:microsoft.com/office/officeart/2005/8/layout/hList1"/>
    <dgm:cxn modelId="{2C253542-B7A2-48E0-B6D2-4FCD298AF7CD}" srcId="{B8624879-6A03-475C-BC84-23C91C03FC04}" destId="{68EB226B-8090-49B3-BEBA-099DE51D8560}" srcOrd="3" destOrd="0" parTransId="{C23D7F77-7EDA-4411-A882-89AD77CF7A9C}" sibTransId="{4FD23438-5F6F-4EC2-8756-6D3EF3729D86}"/>
    <dgm:cxn modelId="{588A9C64-2B46-4D3D-BE85-B850ECF8F528}" srcId="{B8624879-6A03-475C-BC84-23C91C03FC04}" destId="{A1FD3793-B61D-4A5B-9FA1-07CB0E93317E}" srcOrd="4" destOrd="0" parTransId="{E88A4F7D-B446-48C7-B85F-6ADCDCEE162A}" sibTransId="{EB2B7433-B4E9-4568-9438-02683F80FA74}"/>
    <dgm:cxn modelId="{4240CC52-7242-4DD4-8137-35040495455A}" srcId="{B8624879-6A03-475C-BC84-23C91C03FC04}" destId="{67FA1BFB-676B-42C4-815D-EBAC0B9A7BAD}" srcOrd="0" destOrd="0" parTransId="{447B2422-8A55-41F3-9D03-F55FB9D4EA98}" sibTransId="{54D0B9AF-F174-4142-9534-711D3E3CBCB9}"/>
    <dgm:cxn modelId="{04E4E375-C86E-473B-AD5F-129DC35CBAB8}" type="presOf" srcId="{B4229A26-3E96-47D9-90E9-20F36144244D}" destId="{99EA5E19-AC66-45B2-B130-AC50FBA04E5D}" srcOrd="0" destOrd="0" presId="urn:microsoft.com/office/officeart/2005/8/layout/hList1"/>
    <dgm:cxn modelId="{164E6D58-CCDC-4078-AEC5-5A247866F7F2}" type="presOf" srcId="{0E74B8AD-BB0C-47E9-B65E-3961EB9C0A4C}" destId="{07CF52BB-167A-4895-8FA5-86C4BDBD980E}" srcOrd="0" destOrd="2" presId="urn:microsoft.com/office/officeart/2005/8/layout/hList1"/>
    <dgm:cxn modelId="{BFC63396-BBF4-49A2-8481-14AF4A18496A}" type="presOf" srcId="{6B2636E2-035E-4E4F-BE4B-B1547727A692}" destId="{54C671E1-5347-4E0D-B834-ED8B35DB5BF7}" srcOrd="0" destOrd="0" presId="urn:microsoft.com/office/officeart/2005/8/layout/hList1"/>
    <dgm:cxn modelId="{83A8EA9B-8D3B-41AB-9A0A-0A50B70501FC}" type="presOf" srcId="{1A2CC5BB-2B9F-49F1-B95B-1A145D48BD49}" destId="{D40C174D-57B7-44AE-82D4-95F0281F10A0}" srcOrd="0" destOrd="0" presId="urn:microsoft.com/office/officeart/2005/8/layout/hList1"/>
    <dgm:cxn modelId="{54057CA3-169E-4F13-835E-C05FB516A010}" srcId="{B4229A26-3E96-47D9-90E9-20F36144244D}" destId="{1A2CC5BB-2B9F-49F1-B95B-1A145D48BD49}" srcOrd="0" destOrd="0" parTransId="{EF718F67-B1CE-4BDB-99CA-17B8D74CB33C}" sibTransId="{D4E1EEE1-B22D-425F-8333-2FB73F4C8D42}"/>
    <dgm:cxn modelId="{D1BE2BA9-37A9-44B6-8816-11245E442269}" type="presOf" srcId="{D05EAC20-6D23-42EC-BE3D-4F268E2ED3E4}" destId="{07CF52BB-167A-4895-8FA5-86C4BDBD980E}" srcOrd="0" destOrd="1" presId="urn:microsoft.com/office/officeart/2005/8/layout/hList1"/>
    <dgm:cxn modelId="{B09334B4-53C4-4BBA-9B12-3CDAAA522444}" srcId="{B8624879-6A03-475C-BC84-23C91C03FC04}" destId="{0E74B8AD-BB0C-47E9-B65E-3961EB9C0A4C}" srcOrd="2" destOrd="0" parTransId="{E9B1386A-7C9E-4855-A292-1C7858228137}" sibTransId="{BD170182-2C3F-432D-A632-865AEF0B96EB}"/>
    <dgm:cxn modelId="{D13EC9B5-1DE7-4474-B022-125B5CBC2996}" srcId="{6B2636E2-035E-4E4F-BE4B-B1547727A692}" destId="{B8624879-6A03-475C-BC84-23C91C03FC04}" srcOrd="0" destOrd="0" parTransId="{CAAA6CF1-615E-496F-9B97-203DB2DF754D}" sibTransId="{F917574E-7C20-4696-B2C7-99F443C196D5}"/>
    <dgm:cxn modelId="{60E5A4C5-AA05-429C-9723-26DDFA0CBC7B}" type="presOf" srcId="{67FA1BFB-676B-42C4-815D-EBAC0B9A7BAD}" destId="{07CF52BB-167A-4895-8FA5-86C4BDBD980E}" srcOrd="0" destOrd="0" presId="urn:microsoft.com/office/officeart/2005/8/layout/hList1"/>
    <dgm:cxn modelId="{184543D5-BD35-4806-AD0A-008FEC3F9B1C}" srcId="{6B2636E2-035E-4E4F-BE4B-B1547727A692}" destId="{B4229A26-3E96-47D9-90E9-20F36144244D}" srcOrd="1" destOrd="0" parTransId="{43B7D1C1-5980-4694-A86A-8FE6EA3C09B9}" sibTransId="{3EF2380A-E108-493C-92E7-FA5326410BFB}"/>
    <dgm:cxn modelId="{928C7FE3-F064-42ED-8263-F02F53A70693}" srcId="{B8624879-6A03-475C-BC84-23C91C03FC04}" destId="{D05EAC20-6D23-42EC-BE3D-4F268E2ED3E4}" srcOrd="1" destOrd="0" parTransId="{1409C9F6-13C9-4F9D-8C46-4E2B5BACDA31}" sibTransId="{040C43AF-8C06-4ADC-BE38-25ABA414A4D8}"/>
    <dgm:cxn modelId="{B584F3FF-D260-49C9-BB41-8D0F9EB1B5A7}" type="presOf" srcId="{68EB226B-8090-49B3-BEBA-099DE51D8560}" destId="{07CF52BB-167A-4895-8FA5-86C4BDBD980E}" srcOrd="0" destOrd="3" presId="urn:microsoft.com/office/officeart/2005/8/layout/hList1"/>
    <dgm:cxn modelId="{8980FEFA-18F5-4011-BE7B-9FC2040BF72B}" type="presParOf" srcId="{54C671E1-5347-4E0D-B834-ED8B35DB5BF7}" destId="{A3C698AB-B5A2-4EEE-A027-D480FF0F9504}" srcOrd="0" destOrd="0" presId="urn:microsoft.com/office/officeart/2005/8/layout/hList1"/>
    <dgm:cxn modelId="{CEE010BF-B3EE-4E9B-87EA-B39AC61D4C3B}" type="presParOf" srcId="{A3C698AB-B5A2-4EEE-A027-D480FF0F9504}" destId="{FC7F53EE-1418-4EB3-9411-C15EBA3A5577}" srcOrd="0" destOrd="0" presId="urn:microsoft.com/office/officeart/2005/8/layout/hList1"/>
    <dgm:cxn modelId="{D70089FC-B652-437A-8D50-D4ED239BC91D}" type="presParOf" srcId="{A3C698AB-B5A2-4EEE-A027-D480FF0F9504}" destId="{07CF52BB-167A-4895-8FA5-86C4BDBD980E}" srcOrd="1" destOrd="0" presId="urn:microsoft.com/office/officeart/2005/8/layout/hList1"/>
    <dgm:cxn modelId="{2A8560D4-94FE-421E-AEE9-F65F244255F4}" type="presParOf" srcId="{54C671E1-5347-4E0D-B834-ED8B35DB5BF7}" destId="{10DF4AEA-741B-40EA-9D80-6FADA14070F8}" srcOrd="1" destOrd="0" presId="urn:microsoft.com/office/officeart/2005/8/layout/hList1"/>
    <dgm:cxn modelId="{3A756F64-D5BC-47E1-AA21-D2C19762BB1A}" type="presParOf" srcId="{54C671E1-5347-4E0D-B834-ED8B35DB5BF7}" destId="{6C2A7FA8-49D3-446C-AAE6-254741048A4F}" srcOrd="2" destOrd="0" presId="urn:microsoft.com/office/officeart/2005/8/layout/hList1"/>
    <dgm:cxn modelId="{9951B468-08AF-4D3A-B0BB-BFB226EC0266}" type="presParOf" srcId="{6C2A7FA8-49D3-446C-AAE6-254741048A4F}" destId="{99EA5E19-AC66-45B2-B130-AC50FBA04E5D}" srcOrd="0" destOrd="0" presId="urn:microsoft.com/office/officeart/2005/8/layout/hList1"/>
    <dgm:cxn modelId="{DF29EE00-48CA-487A-94C3-BDC3FBCB8E2A}" type="presParOf" srcId="{6C2A7FA8-49D3-446C-AAE6-254741048A4F}" destId="{D40C174D-57B7-44AE-82D4-95F0281F10A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964878-E872-43AD-8C6F-4697C3460D7C}" type="doc">
      <dgm:prSet loTypeId="urn:microsoft.com/office/officeart/2005/8/layout/hList1" loCatId="list" qsTypeId="urn:microsoft.com/office/officeart/2005/8/quickstyle/simple1" qsCatId="simple" csTypeId="urn:microsoft.com/office/officeart/2005/8/colors/accent5_2" csCatId="accent5" phldr="1"/>
      <dgm:spPr/>
      <dgm:t>
        <a:bodyPr/>
        <a:lstStyle/>
        <a:p>
          <a:endParaRPr lang="fr-FR"/>
        </a:p>
      </dgm:t>
    </dgm:pt>
    <dgm:pt modelId="{36BAB36B-57A6-4179-95B2-0254FE634328}">
      <dgm:prSet phldrT="[Texte]" custT="1"/>
      <dgm:spPr/>
      <dgm:t>
        <a:bodyPr/>
        <a:lstStyle/>
        <a:p>
          <a:r>
            <a:rPr lang="fr-FR" sz="1800" b="1" dirty="0"/>
            <a:t>Prévention</a:t>
          </a:r>
        </a:p>
      </dgm:t>
    </dgm:pt>
    <dgm:pt modelId="{22FD4A00-9886-478D-BC2B-4F47901777B2}" type="parTrans" cxnId="{1F6DD65D-8677-4F1A-BC3B-C42309F76456}">
      <dgm:prSet/>
      <dgm:spPr/>
      <dgm:t>
        <a:bodyPr/>
        <a:lstStyle/>
        <a:p>
          <a:endParaRPr lang="fr-FR" sz="1800"/>
        </a:p>
      </dgm:t>
    </dgm:pt>
    <dgm:pt modelId="{D5BC4B54-375A-4D88-813A-1083E8ED420E}" type="sibTrans" cxnId="{1F6DD65D-8677-4F1A-BC3B-C42309F76456}">
      <dgm:prSet/>
      <dgm:spPr/>
      <dgm:t>
        <a:bodyPr/>
        <a:lstStyle/>
        <a:p>
          <a:endParaRPr lang="fr-FR" sz="1800"/>
        </a:p>
      </dgm:t>
    </dgm:pt>
    <dgm:pt modelId="{70AA162A-BA39-4D96-B4A7-52FAC279A7E5}">
      <dgm:prSet phldrT="[Texte]" custT="1"/>
      <dgm:spPr/>
      <dgm:t>
        <a:bodyPr/>
        <a:lstStyle/>
        <a:p>
          <a:r>
            <a:rPr lang="fr-FR" sz="1800" dirty="0"/>
            <a:t>Empêcher la réalisation d’un dommage en cas de menace imminente</a:t>
          </a:r>
        </a:p>
      </dgm:t>
    </dgm:pt>
    <dgm:pt modelId="{642ACD2B-7ECA-4F3D-8AE9-ECF8FB30A85B}" type="parTrans" cxnId="{48A67AE2-DDA4-473A-B4A2-53EB1A683B2A}">
      <dgm:prSet/>
      <dgm:spPr/>
      <dgm:t>
        <a:bodyPr/>
        <a:lstStyle/>
        <a:p>
          <a:endParaRPr lang="fr-FR" sz="1800"/>
        </a:p>
      </dgm:t>
    </dgm:pt>
    <dgm:pt modelId="{BEE33982-FD16-4CC7-A200-EB6E630E8FDD}" type="sibTrans" cxnId="{48A67AE2-DDA4-473A-B4A2-53EB1A683B2A}">
      <dgm:prSet/>
      <dgm:spPr/>
      <dgm:t>
        <a:bodyPr/>
        <a:lstStyle/>
        <a:p>
          <a:endParaRPr lang="fr-FR" sz="1800"/>
        </a:p>
      </dgm:t>
    </dgm:pt>
    <dgm:pt modelId="{D5C69246-4FF8-46B9-AB72-1DDD4622A0A6}">
      <dgm:prSet phldrT="[Texte]" custT="1"/>
      <dgm:spPr/>
      <dgm:t>
        <a:bodyPr/>
        <a:lstStyle/>
        <a:p>
          <a:r>
            <a:rPr lang="fr-FR" sz="1800" dirty="0"/>
            <a:t>Informer l’autorité compétente en cas de persistance de la menace</a:t>
          </a:r>
        </a:p>
      </dgm:t>
    </dgm:pt>
    <dgm:pt modelId="{DE839104-42FF-4A35-A689-BB3EC0C6B2C6}" type="parTrans" cxnId="{B256656D-FC7B-47FD-8225-D2D8E9AC91F8}">
      <dgm:prSet/>
      <dgm:spPr/>
      <dgm:t>
        <a:bodyPr/>
        <a:lstStyle/>
        <a:p>
          <a:endParaRPr lang="fr-FR" sz="1800"/>
        </a:p>
      </dgm:t>
    </dgm:pt>
    <dgm:pt modelId="{D72E9012-C94D-427A-8A0A-D6F6DBEDDAC4}" type="sibTrans" cxnId="{B256656D-FC7B-47FD-8225-D2D8E9AC91F8}">
      <dgm:prSet/>
      <dgm:spPr/>
      <dgm:t>
        <a:bodyPr/>
        <a:lstStyle/>
        <a:p>
          <a:endParaRPr lang="fr-FR" sz="1800"/>
        </a:p>
      </dgm:t>
    </dgm:pt>
    <dgm:pt modelId="{8D674C7F-67EF-4023-83E0-03AAD9A21925}">
      <dgm:prSet phldrT="[Texte]" custT="1"/>
      <dgm:spPr/>
      <dgm:t>
        <a:bodyPr/>
        <a:lstStyle/>
        <a:p>
          <a:r>
            <a:rPr lang="fr-FR" sz="1800" b="1" dirty="0"/>
            <a:t>Réparation</a:t>
          </a:r>
        </a:p>
      </dgm:t>
    </dgm:pt>
    <dgm:pt modelId="{3B712F8E-C487-484B-B93A-F7864AC3C852}" type="parTrans" cxnId="{EE795AEE-80A7-41E5-BE44-4E266716ACEF}">
      <dgm:prSet/>
      <dgm:spPr/>
      <dgm:t>
        <a:bodyPr/>
        <a:lstStyle/>
        <a:p>
          <a:endParaRPr lang="fr-FR" sz="1800"/>
        </a:p>
      </dgm:t>
    </dgm:pt>
    <dgm:pt modelId="{F9532821-23D4-45A5-AE04-BB353BFFFA61}" type="sibTrans" cxnId="{EE795AEE-80A7-41E5-BE44-4E266716ACEF}">
      <dgm:prSet/>
      <dgm:spPr/>
      <dgm:t>
        <a:bodyPr/>
        <a:lstStyle/>
        <a:p>
          <a:endParaRPr lang="fr-FR" sz="1800"/>
        </a:p>
      </dgm:t>
    </dgm:pt>
    <dgm:pt modelId="{4FF30BAE-7BC2-478E-AA34-CBDC7BB89807}">
      <dgm:prSet phldrT="[Texte]" custT="1"/>
      <dgm:spPr/>
      <dgm:t>
        <a:bodyPr/>
        <a:lstStyle/>
        <a:p>
          <a:r>
            <a:rPr lang="fr-FR" sz="1800" dirty="0"/>
            <a:t>Procédure d’approbation des mesures envisagées (préfecture, collectivités, associations de protection de l’environnement, et toute personne potentiellement affectée par ces mesures)</a:t>
          </a:r>
        </a:p>
      </dgm:t>
    </dgm:pt>
    <dgm:pt modelId="{AD1E9151-535C-4912-AE00-01D911EA995B}" type="parTrans" cxnId="{A8B0DB6E-2EBF-4790-96A7-3CF9785918E1}">
      <dgm:prSet/>
      <dgm:spPr/>
      <dgm:t>
        <a:bodyPr/>
        <a:lstStyle/>
        <a:p>
          <a:endParaRPr lang="fr-FR" sz="1800"/>
        </a:p>
      </dgm:t>
    </dgm:pt>
    <dgm:pt modelId="{DDF0FEBC-6467-4B9F-A5F2-8185960C6F2B}" type="sibTrans" cxnId="{A8B0DB6E-2EBF-4790-96A7-3CF9785918E1}">
      <dgm:prSet/>
      <dgm:spPr/>
      <dgm:t>
        <a:bodyPr/>
        <a:lstStyle/>
        <a:p>
          <a:endParaRPr lang="fr-FR" sz="1800"/>
        </a:p>
      </dgm:t>
    </dgm:pt>
    <dgm:pt modelId="{76B24262-7096-4DC9-9A8F-B2DB8E7BE0B4}">
      <dgm:prSet phldrT="[Texte]" custT="1"/>
      <dgm:spPr/>
      <dgm:t>
        <a:bodyPr/>
        <a:lstStyle/>
        <a:p>
          <a:r>
            <a:rPr lang="fr-FR" sz="1800" dirty="0"/>
            <a:t>Supprimer tout risque d’atteinte grave à la santé en cas de contamination des sols</a:t>
          </a:r>
        </a:p>
      </dgm:t>
    </dgm:pt>
    <dgm:pt modelId="{E0C0D272-B884-4714-B651-8F8D3455C43C}" type="parTrans" cxnId="{1593C7DC-C884-480C-97C6-A9F06BD263E6}">
      <dgm:prSet/>
      <dgm:spPr/>
      <dgm:t>
        <a:bodyPr/>
        <a:lstStyle/>
        <a:p>
          <a:endParaRPr lang="fr-FR" sz="1800"/>
        </a:p>
      </dgm:t>
    </dgm:pt>
    <dgm:pt modelId="{29F73E5C-9736-47F4-8C36-16E23DA7F2F4}" type="sibTrans" cxnId="{1593C7DC-C884-480C-97C6-A9F06BD263E6}">
      <dgm:prSet/>
      <dgm:spPr/>
      <dgm:t>
        <a:bodyPr/>
        <a:lstStyle/>
        <a:p>
          <a:endParaRPr lang="fr-FR" sz="1800"/>
        </a:p>
      </dgm:t>
    </dgm:pt>
    <dgm:pt modelId="{C4440CB7-C461-4E5B-9E5D-E97ACD9CAE90}">
      <dgm:prSet phldrT="[Texte]" custT="1"/>
      <dgm:spPr/>
      <dgm:t>
        <a:bodyPr/>
        <a:lstStyle/>
        <a:p>
          <a:r>
            <a:rPr lang="fr-FR" sz="1800" dirty="0"/>
            <a:t>En cas de dommage, informer la préfecture et prendre toutes les mesures pour:</a:t>
          </a:r>
        </a:p>
      </dgm:t>
    </dgm:pt>
    <dgm:pt modelId="{5A6CED10-CA81-4B69-955F-13995918DF58}" type="parTrans" cxnId="{D984D711-87C9-4ADA-997F-EEE125009AA8}">
      <dgm:prSet/>
      <dgm:spPr/>
      <dgm:t>
        <a:bodyPr/>
        <a:lstStyle/>
        <a:p>
          <a:endParaRPr lang="fr-FR" sz="1800"/>
        </a:p>
      </dgm:t>
    </dgm:pt>
    <dgm:pt modelId="{2406AE90-C687-4DDB-87B2-22B0F0C52FF0}" type="sibTrans" cxnId="{D984D711-87C9-4ADA-997F-EEE125009AA8}">
      <dgm:prSet/>
      <dgm:spPr/>
      <dgm:t>
        <a:bodyPr/>
        <a:lstStyle/>
        <a:p>
          <a:endParaRPr lang="fr-FR" sz="1800"/>
        </a:p>
      </dgm:t>
    </dgm:pt>
    <dgm:pt modelId="{CE15B106-1142-43D2-9104-FC1B5679C23E}">
      <dgm:prSet phldrT="[Texte]" custT="1"/>
      <dgm:spPr/>
      <dgm:t>
        <a:bodyPr/>
        <a:lstStyle/>
        <a:p>
          <a:r>
            <a:rPr lang="fr-FR" sz="1800" dirty="0"/>
            <a:t>Mettre fin à ses causes</a:t>
          </a:r>
        </a:p>
      </dgm:t>
    </dgm:pt>
    <dgm:pt modelId="{E048DDD0-3766-49A2-B63D-0DE5CEA4A168}" type="parTrans" cxnId="{9E6A28E1-6457-430B-8E52-C10AC86C807A}">
      <dgm:prSet/>
      <dgm:spPr/>
      <dgm:t>
        <a:bodyPr/>
        <a:lstStyle/>
        <a:p>
          <a:endParaRPr lang="fr-FR" sz="1800"/>
        </a:p>
      </dgm:t>
    </dgm:pt>
    <dgm:pt modelId="{A0459C31-07A3-4221-8BC2-14C5BF32E58B}" type="sibTrans" cxnId="{9E6A28E1-6457-430B-8E52-C10AC86C807A}">
      <dgm:prSet/>
      <dgm:spPr/>
      <dgm:t>
        <a:bodyPr/>
        <a:lstStyle/>
        <a:p>
          <a:endParaRPr lang="fr-FR" sz="1800"/>
        </a:p>
      </dgm:t>
    </dgm:pt>
    <dgm:pt modelId="{5EC3B16B-7A34-4F28-8B7B-CAD951080D1A}">
      <dgm:prSet phldrT="[Texte]" custT="1"/>
      <dgm:spPr/>
      <dgm:t>
        <a:bodyPr/>
        <a:lstStyle/>
        <a:p>
          <a:r>
            <a:rPr lang="fr-FR" sz="1800" dirty="0"/>
            <a:t>Prévenir ou limiter son aggravation</a:t>
          </a:r>
        </a:p>
      </dgm:t>
    </dgm:pt>
    <dgm:pt modelId="{911419D8-7C02-42C8-957E-AC6943624F08}" type="parTrans" cxnId="{AE7292E8-D3E0-4818-BDF0-F3AB4564A804}">
      <dgm:prSet/>
      <dgm:spPr/>
      <dgm:t>
        <a:bodyPr/>
        <a:lstStyle/>
        <a:p>
          <a:endParaRPr lang="fr-FR" sz="1800"/>
        </a:p>
      </dgm:t>
    </dgm:pt>
    <dgm:pt modelId="{8C27F5F5-393E-4D96-860E-CBDEF77B0371}" type="sibTrans" cxnId="{AE7292E8-D3E0-4818-BDF0-F3AB4564A804}">
      <dgm:prSet/>
      <dgm:spPr/>
      <dgm:t>
        <a:bodyPr/>
        <a:lstStyle/>
        <a:p>
          <a:endParaRPr lang="fr-FR" sz="1800"/>
        </a:p>
      </dgm:t>
    </dgm:pt>
    <dgm:pt modelId="{C394199A-42E5-4C15-9D7E-44F2C79CCDC1}">
      <dgm:prSet phldrT="[Texte]" custT="1"/>
      <dgm:spPr/>
      <dgm:t>
        <a:bodyPr/>
        <a:lstStyle/>
        <a:p>
          <a:r>
            <a:rPr lang="fr-FR" sz="1800" dirty="0"/>
            <a:t>Rétablir les ressources naturelles et les services écologiques dans leur état initial</a:t>
          </a:r>
        </a:p>
      </dgm:t>
    </dgm:pt>
    <dgm:pt modelId="{61BA66A1-BF6E-4D5B-9816-5E1092A2A5AF}" type="parTrans" cxnId="{D74DB344-496E-43C8-A3C6-A6EF19280D56}">
      <dgm:prSet/>
      <dgm:spPr/>
      <dgm:t>
        <a:bodyPr/>
        <a:lstStyle/>
        <a:p>
          <a:endParaRPr lang="fr-FR" sz="1800"/>
        </a:p>
      </dgm:t>
    </dgm:pt>
    <dgm:pt modelId="{8C75237B-C203-44CB-A98B-C795F60B5581}" type="sibTrans" cxnId="{D74DB344-496E-43C8-A3C6-A6EF19280D56}">
      <dgm:prSet/>
      <dgm:spPr/>
      <dgm:t>
        <a:bodyPr/>
        <a:lstStyle/>
        <a:p>
          <a:endParaRPr lang="fr-FR" sz="1800"/>
        </a:p>
      </dgm:t>
    </dgm:pt>
    <dgm:pt modelId="{AAC50D70-BE8B-46A4-BAFD-8F2DB7E89D11}" type="pres">
      <dgm:prSet presAssocID="{44964878-E872-43AD-8C6F-4697C3460D7C}" presName="Name0" presStyleCnt="0">
        <dgm:presLayoutVars>
          <dgm:dir/>
          <dgm:animLvl val="lvl"/>
          <dgm:resizeHandles val="exact"/>
        </dgm:presLayoutVars>
      </dgm:prSet>
      <dgm:spPr/>
    </dgm:pt>
    <dgm:pt modelId="{11E0CA55-60AA-4BB3-B207-84DAFF157C11}" type="pres">
      <dgm:prSet presAssocID="{36BAB36B-57A6-4179-95B2-0254FE634328}" presName="composite" presStyleCnt="0"/>
      <dgm:spPr/>
    </dgm:pt>
    <dgm:pt modelId="{69800D38-2656-4ACA-86D3-1AE927DF21B1}" type="pres">
      <dgm:prSet presAssocID="{36BAB36B-57A6-4179-95B2-0254FE634328}" presName="parTx" presStyleLbl="alignNode1" presStyleIdx="0" presStyleCnt="2" custScaleY="81533">
        <dgm:presLayoutVars>
          <dgm:chMax val="0"/>
          <dgm:chPref val="0"/>
          <dgm:bulletEnabled val="1"/>
        </dgm:presLayoutVars>
      </dgm:prSet>
      <dgm:spPr/>
    </dgm:pt>
    <dgm:pt modelId="{770880E7-4A3E-48DE-884C-8FF54E809F92}" type="pres">
      <dgm:prSet presAssocID="{36BAB36B-57A6-4179-95B2-0254FE634328}" presName="desTx" presStyleLbl="alignAccFollowNode1" presStyleIdx="0" presStyleCnt="2">
        <dgm:presLayoutVars>
          <dgm:bulletEnabled val="1"/>
        </dgm:presLayoutVars>
      </dgm:prSet>
      <dgm:spPr/>
    </dgm:pt>
    <dgm:pt modelId="{2BC5CD3A-E9EB-46C8-8B9E-EC31DE5067F9}" type="pres">
      <dgm:prSet presAssocID="{D5BC4B54-375A-4D88-813A-1083E8ED420E}" presName="space" presStyleCnt="0"/>
      <dgm:spPr/>
    </dgm:pt>
    <dgm:pt modelId="{9AE68521-9BF2-472B-AA26-617068EB6F01}" type="pres">
      <dgm:prSet presAssocID="{8D674C7F-67EF-4023-83E0-03AAD9A21925}" presName="composite" presStyleCnt="0"/>
      <dgm:spPr/>
    </dgm:pt>
    <dgm:pt modelId="{C873014A-6893-4507-B5F9-E28E29D35C0D}" type="pres">
      <dgm:prSet presAssocID="{8D674C7F-67EF-4023-83E0-03AAD9A21925}" presName="parTx" presStyleLbl="alignNode1" presStyleIdx="1" presStyleCnt="2" custScaleY="81533">
        <dgm:presLayoutVars>
          <dgm:chMax val="0"/>
          <dgm:chPref val="0"/>
          <dgm:bulletEnabled val="1"/>
        </dgm:presLayoutVars>
      </dgm:prSet>
      <dgm:spPr/>
    </dgm:pt>
    <dgm:pt modelId="{DF588D65-EFC6-4AE7-86A4-5C5CDABFB423}" type="pres">
      <dgm:prSet presAssocID="{8D674C7F-67EF-4023-83E0-03AAD9A21925}" presName="desTx" presStyleLbl="alignAccFollowNode1" presStyleIdx="1" presStyleCnt="2">
        <dgm:presLayoutVars>
          <dgm:bulletEnabled val="1"/>
        </dgm:presLayoutVars>
      </dgm:prSet>
      <dgm:spPr/>
    </dgm:pt>
  </dgm:ptLst>
  <dgm:cxnLst>
    <dgm:cxn modelId="{D984D711-87C9-4ADA-997F-EEE125009AA8}" srcId="{36BAB36B-57A6-4179-95B2-0254FE634328}" destId="{C4440CB7-C461-4E5B-9E5D-E97ACD9CAE90}" srcOrd="2" destOrd="0" parTransId="{5A6CED10-CA81-4B69-955F-13995918DF58}" sibTransId="{2406AE90-C687-4DDB-87B2-22B0F0C52FF0}"/>
    <dgm:cxn modelId="{81F16840-D1D5-415A-AEE8-FB9563F478D2}" type="presOf" srcId="{36BAB36B-57A6-4179-95B2-0254FE634328}" destId="{69800D38-2656-4ACA-86D3-1AE927DF21B1}" srcOrd="0" destOrd="0" presId="urn:microsoft.com/office/officeart/2005/8/layout/hList1"/>
    <dgm:cxn modelId="{1F6DD65D-8677-4F1A-BC3B-C42309F76456}" srcId="{44964878-E872-43AD-8C6F-4697C3460D7C}" destId="{36BAB36B-57A6-4179-95B2-0254FE634328}" srcOrd="0" destOrd="0" parTransId="{22FD4A00-9886-478D-BC2B-4F47901777B2}" sibTransId="{D5BC4B54-375A-4D88-813A-1083E8ED420E}"/>
    <dgm:cxn modelId="{29B28261-945B-4222-9668-F693CC16A666}" type="presOf" srcId="{8D674C7F-67EF-4023-83E0-03AAD9A21925}" destId="{C873014A-6893-4507-B5F9-E28E29D35C0D}" srcOrd="0" destOrd="0" presId="urn:microsoft.com/office/officeart/2005/8/layout/hList1"/>
    <dgm:cxn modelId="{D74DB344-496E-43C8-A3C6-A6EF19280D56}" srcId="{8D674C7F-67EF-4023-83E0-03AAD9A21925}" destId="{C394199A-42E5-4C15-9D7E-44F2C79CCDC1}" srcOrd="2" destOrd="0" parTransId="{61BA66A1-BF6E-4D5B-9816-5E1092A2A5AF}" sibTransId="{8C75237B-C203-44CB-A98B-C795F60B5581}"/>
    <dgm:cxn modelId="{B256656D-FC7B-47FD-8225-D2D8E9AC91F8}" srcId="{36BAB36B-57A6-4179-95B2-0254FE634328}" destId="{D5C69246-4FF8-46B9-AB72-1DDD4622A0A6}" srcOrd="1" destOrd="0" parTransId="{DE839104-42FF-4A35-A689-BB3EC0C6B2C6}" sibTransId="{D72E9012-C94D-427A-8A0A-D6F6DBEDDAC4}"/>
    <dgm:cxn modelId="{A8B0DB6E-2EBF-4790-96A7-3CF9785918E1}" srcId="{8D674C7F-67EF-4023-83E0-03AAD9A21925}" destId="{4FF30BAE-7BC2-478E-AA34-CBDC7BB89807}" srcOrd="0" destOrd="0" parTransId="{AD1E9151-535C-4912-AE00-01D911EA995B}" sibTransId="{DDF0FEBC-6467-4B9F-A5F2-8185960C6F2B}"/>
    <dgm:cxn modelId="{E585218E-2C3B-44D8-A79F-6609187B7724}" type="presOf" srcId="{70AA162A-BA39-4D96-B4A7-52FAC279A7E5}" destId="{770880E7-4A3E-48DE-884C-8FF54E809F92}" srcOrd="0" destOrd="0" presId="urn:microsoft.com/office/officeart/2005/8/layout/hList1"/>
    <dgm:cxn modelId="{F1020C8F-7764-4D24-A4B5-E0CAB5E23C8C}" type="presOf" srcId="{4FF30BAE-7BC2-478E-AA34-CBDC7BB89807}" destId="{DF588D65-EFC6-4AE7-86A4-5C5CDABFB423}" srcOrd="0" destOrd="0" presId="urn:microsoft.com/office/officeart/2005/8/layout/hList1"/>
    <dgm:cxn modelId="{810EAF9A-97A1-46B8-BB0A-10DDFA28B5F0}" type="presOf" srcId="{44964878-E872-43AD-8C6F-4697C3460D7C}" destId="{AAC50D70-BE8B-46A4-BAFD-8F2DB7E89D11}" srcOrd="0" destOrd="0" presId="urn:microsoft.com/office/officeart/2005/8/layout/hList1"/>
    <dgm:cxn modelId="{0434D3AD-F0BA-4F8D-A0EA-7CA4186A95D6}" type="presOf" srcId="{5EC3B16B-7A34-4F28-8B7B-CAD951080D1A}" destId="{770880E7-4A3E-48DE-884C-8FF54E809F92}" srcOrd="0" destOrd="4" presId="urn:microsoft.com/office/officeart/2005/8/layout/hList1"/>
    <dgm:cxn modelId="{742661B4-C9F2-4D9F-A495-AE88E77B5E0D}" type="presOf" srcId="{CE15B106-1142-43D2-9104-FC1B5679C23E}" destId="{770880E7-4A3E-48DE-884C-8FF54E809F92}" srcOrd="0" destOrd="3" presId="urn:microsoft.com/office/officeart/2005/8/layout/hList1"/>
    <dgm:cxn modelId="{1593C7DC-C884-480C-97C6-A9F06BD263E6}" srcId="{8D674C7F-67EF-4023-83E0-03AAD9A21925}" destId="{76B24262-7096-4DC9-9A8F-B2DB8E7BE0B4}" srcOrd="1" destOrd="0" parTransId="{E0C0D272-B884-4714-B651-8F8D3455C43C}" sibTransId="{29F73E5C-9736-47F4-8C36-16E23DA7F2F4}"/>
    <dgm:cxn modelId="{9E6A28E1-6457-430B-8E52-C10AC86C807A}" srcId="{C4440CB7-C461-4E5B-9E5D-E97ACD9CAE90}" destId="{CE15B106-1142-43D2-9104-FC1B5679C23E}" srcOrd="0" destOrd="0" parTransId="{E048DDD0-3766-49A2-B63D-0DE5CEA4A168}" sibTransId="{A0459C31-07A3-4221-8BC2-14C5BF32E58B}"/>
    <dgm:cxn modelId="{48A67AE2-DDA4-473A-B4A2-53EB1A683B2A}" srcId="{36BAB36B-57A6-4179-95B2-0254FE634328}" destId="{70AA162A-BA39-4D96-B4A7-52FAC279A7E5}" srcOrd="0" destOrd="0" parTransId="{642ACD2B-7ECA-4F3D-8AE9-ECF8FB30A85B}" sibTransId="{BEE33982-FD16-4CC7-A200-EB6E630E8FDD}"/>
    <dgm:cxn modelId="{6AC261E7-056A-42F8-B3A7-5F401C737FDC}" type="presOf" srcId="{76B24262-7096-4DC9-9A8F-B2DB8E7BE0B4}" destId="{DF588D65-EFC6-4AE7-86A4-5C5CDABFB423}" srcOrd="0" destOrd="1" presId="urn:microsoft.com/office/officeart/2005/8/layout/hList1"/>
    <dgm:cxn modelId="{52E9DEE7-96F9-4BC6-A921-517CB528013B}" type="presOf" srcId="{D5C69246-4FF8-46B9-AB72-1DDD4622A0A6}" destId="{770880E7-4A3E-48DE-884C-8FF54E809F92}" srcOrd="0" destOrd="1" presId="urn:microsoft.com/office/officeart/2005/8/layout/hList1"/>
    <dgm:cxn modelId="{AE7292E8-D3E0-4818-BDF0-F3AB4564A804}" srcId="{C4440CB7-C461-4E5B-9E5D-E97ACD9CAE90}" destId="{5EC3B16B-7A34-4F28-8B7B-CAD951080D1A}" srcOrd="1" destOrd="0" parTransId="{911419D8-7C02-42C8-957E-AC6943624F08}" sibTransId="{8C27F5F5-393E-4D96-860E-CBDEF77B0371}"/>
    <dgm:cxn modelId="{F394CAEC-AD0D-41D3-80E3-B679CBC387D7}" type="presOf" srcId="{C4440CB7-C461-4E5B-9E5D-E97ACD9CAE90}" destId="{770880E7-4A3E-48DE-884C-8FF54E809F92}" srcOrd="0" destOrd="2" presId="urn:microsoft.com/office/officeart/2005/8/layout/hList1"/>
    <dgm:cxn modelId="{587B2EED-6050-4913-B797-3A5AFBBD7538}" type="presOf" srcId="{C394199A-42E5-4C15-9D7E-44F2C79CCDC1}" destId="{DF588D65-EFC6-4AE7-86A4-5C5CDABFB423}" srcOrd="0" destOrd="2" presId="urn:microsoft.com/office/officeart/2005/8/layout/hList1"/>
    <dgm:cxn modelId="{EE795AEE-80A7-41E5-BE44-4E266716ACEF}" srcId="{44964878-E872-43AD-8C6F-4697C3460D7C}" destId="{8D674C7F-67EF-4023-83E0-03AAD9A21925}" srcOrd="1" destOrd="0" parTransId="{3B712F8E-C487-484B-B93A-F7864AC3C852}" sibTransId="{F9532821-23D4-45A5-AE04-BB353BFFFA61}"/>
    <dgm:cxn modelId="{894A6D64-1C5A-4274-A38F-FA0531254F4B}" type="presParOf" srcId="{AAC50D70-BE8B-46A4-BAFD-8F2DB7E89D11}" destId="{11E0CA55-60AA-4BB3-B207-84DAFF157C11}" srcOrd="0" destOrd="0" presId="urn:microsoft.com/office/officeart/2005/8/layout/hList1"/>
    <dgm:cxn modelId="{A11320ED-B6BB-46C6-B5FA-782F5641E3AB}" type="presParOf" srcId="{11E0CA55-60AA-4BB3-B207-84DAFF157C11}" destId="{69800D38-2656-4ACA-86D3-1AE927DF21B1}" srcOrd="0" destOrd="0" presId="urn:microsoft.com/office/officeart/2005/8/layout/hList1"/>
    <dgm:cxn modelId="{A5D19CB0-71C2-4523-9E44-B267B98EE5B2}" type="presParOf" srcId="{11E0CA55-60AA-4BB3-B207-84DAFF157C11}" destId="{770880E7-4A3E-48DE-884C-8FF54E809F92}" srcOrd="1" destOrd="0" presId="urn:microsoft.com/office/officeart/2005/8/layout/hList1"/>
    <dgm:cxn modelId="{5AC78A54-822B-4306-8C7C-BC06765C9389}" type="presParOf" srcId="{AAC50D70-BE8B-46A4-BAFD-8F2DB7E89D11}" destId="{2BC5CD3A-E9EB-46C8-8B9E-EC31DE5067F9}" srcOrd="1" destOrd="0" presId="urn:microsoft.com/office/officeart/2005/8/layout/hList1"/>
    <dgm:cxn modelId="{FD6C73A9-6AF7-438D-9EC9-83C050FDB594}" type="presParOf" srcId="{AAC50D70-BE8B-46A4-BAFD-8F2DB7E89D11}" destId="{9AE68521-9BF2-472B-AA26-617068EB6F01}" srcOrd="2" destOrd="0" presId="urn:microsoft.com/office/officeart/2005/8/layout/hList1"/>
    <dgm:cxn modelId="{1FD73875-A94F-4F3A-84CC-A8A9F097BFFC}" type="presParOf" srcId="{9AE68521-9BF2-472B-AA26-617068EB6F01}" destId="{C873014A-6893-4507-B5F9-E28E29D35C0D}" srcOrd="0" destOrd="0" presId="urn:microsoft.com/office/officeart/2005/8/layout/hList1"/>
    <dgm:cxn modelId="{958653D3-3222-42A7-8121-D46247B089EE}" type="presParOf" srcId="{9AE68521-9BF2-472B-AA26-617068EB6F01}" destId="{DF588D65-EFC6-4AE7-86A4-5C5CDABFB42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7F1ACC-11A2-44B8-A741-E732991899FD}" type="doc">
      <dgm:prSet loTypeId="urn:microsoft.com/office/officeart/2005/8/layout/lProcess2" loCatId="list" qsTypeId="urn:microsoft.com/office/officeart/2005/8/quickstyle/simple1" qsCatId="simple" csTypeId="urn:microsoft.com/office/officeart/2005/8/colors/accent5_2" csCatId="accent5" phldr="1"/>
      <dgm:spPr/>
      <dgm:t>
        <a:bodyPr/>
        <a:lstStyle/>
        <a:p>
          <a:endParaRPr lang="fr-FR"/>
        </a:p>
      </dgm:t>
    </dgm:pt>
    <dgm:pt modelId="{CE9E167F-F2CB-47B5-AB4C-3B197085087A}">
      <dgm:prSet phldrT="[Texte]" custT="1"/>
      <dgm:spPr/>
      <dgm:t>
        <a:bodyPr/>
        <a:lstStyle/>
        <a:p>
          <a:r>
            <a:rPr lang="fr-FR" sz="1800" b="1" dirty="0"/>
            <a:t>Responsabilité pénale</a:t>
          </a:r>
        </a:p>
      </dgm:t>
    </dgm:pt>
    <dgm:pt modelId="{945F2AD2-3B69-4C2C-B9E2-6E947E719796}" type="parTrans" cxnId="{1B2FE1BB-D396-4E2B-893D-5449A800AEF4}">
      <dgm:prSet/>
      <dgm:spPr/>
      <dgm:t>
        <a:bodyPr/>
        <a:lstStyle/>
        <a:p>
          <a:endParaRPr lang="fr-FR" sz="1800" b="1"/>
        </a:p>
      </dgm:t>
    </dgm:pt>
    <dgm:pt modelId="{AF62F2B0-99BE-4010-88B3-CF38767E6A9B}" type="sibTrans" cxnId="{1B2FE1BB-D396-4E2B-893D-5449A800AEF4}">
      <dgm:prSet/>
      <dgm:spPr/>
      <dgm:t>
        <a:bodyPr/>
        <a:lstStyle/>
        <a:p>
          <a:endParaRPr lang="fr-FR" sz="1800" b="1"/>
        </a:p>
      </dgm:t>
    </dgm:pt>
    <dgm:pt modelId="{E4EA4265-4F8F-4676-891A-A7ADABEA3B36}">
      <dgm:prSet phldrT="[Texte]" custT="1"/>
      <dgm:spPr/>
      <dgm:t>
        <a:bodyPr/>
        <a:lstStyle/>
        <a:p>
          <a:r>
            <a:rPr lang="fr-FR" sz="1800" b="1" dirty="0"/>
            <a:t>Concerne le pollueur, en tant que personne physique et/ou personne morale </a:t>
          </a:r>
        </a:p>
        <a:p>
          <a:r>
            <a:rPr lang="fr-FR" sz="1800" b="0" dirty="0"/>
            <a:t>(Personne morale depuis 1994, sauf l’état)</a:t>
          </a:r>
        </a:p>
      </dgm:t>
    </dgm:pt>
    <dgm:pt modelId="{94D6DD48-37C2-463E-BB62-515ED1C2DB43}" type="parTrans" cxnId="{847F6791-2A1A-4F67-BC4E-1DDA41C1A817}">
      <dgm:prSet/>
      <dgm:spPr/>
      <dgm:t>
        <a:bodyPr/>
        <a:lstStyle/>
        <a:p>
          <a:endParaRPr lang="fr-FR" sz="1800" b="1"/>
        </a:p>
      </dgm:t>
    </dgm:pt>
    <dgm:pt modelId="{E71299AE-9471-4D71-8A49-F7AF5DB04280}" type="sibTrans" cxnId="{847F6791-2A1A-4F67-BC4E-1DDA41C1A817}">
      <dgm:prSet/>
      <dgm:spPr/>
      <dgm:t>
        <a:bodyPr/>
        <a:lstStyle/>
        <a:p>
          <a:endParaRPr lang="fr-FR" sz="1800" b="1"/>
        </a:p>
      </dgm:t>
    </dgm:pt>
    <dgm:pt modelId="{78FFB411-DFDF-4B2D-B3E5-5EA990B2178D}">
      <dgm:prSet phldrT="[Texte]" custT="1"/>
      <dgm:spPr/>
      <dgm:t>
        <a:bodyPr/>
        <a:lstStyle/>
        <a:p>
          <a:r>
            <a:rPr lang="fr-FR" sz="1800" b="1" dirty="0"/>
            <a:t>Possibilité de délégation de pouvoir</a:t>
          </a:r>
        </a:p>
      </dgm:t>
    </dgm:pt>
    <dgm:pt modelId="{01A258B8-7802-466F-A47C-027A87BBA133}" type="parTrans" cxnId="{75073AC8-537F-4A1F-A693-D370332DB106}">
      <dgm:prSet/>
      <dgm:spPr/>
      <dgm:t>
        <a:bodyPr/>
        <a:lstStyle/>
        <a:p>
          <a:endParaRPr lang="fr-FR" sz="1800" b="1"/>
        </a:p>
      </dgm:t>
    </dgm:pt>
    <dgm:pt modelId="{A91306A7-EB36-41A8-A933-AC17291BC520}" type="sibTrans" cxnId="{75073AC8-537F-4A1F-A693-D370332DB106}">
      <dgm:prSet/>
      <dgm:spPr/>
      <dgm:t>
        <a:bodyPr/>
        <a:lstStyle/>
        <a:p>
          <a:endParaRPr lang="fr-FR" sz="1800" b="1"/>
        </a:p>
      </dgm:t>
    </dgm:pt>
    <dgm:pt modelId="{BE16B0BF-67AF-4E04-A036-2AB83441DB6E}">
      <dgm:prSet phldrT="[Texte]" custT="1"/>
      <dgm:spPr/>
      <dgm:t>
        <a:bodyPr/>
        <a:lstStyle/>
        <a:p>
          <a:r>
            <a:rPr lang="fr-FR" sz="1800" b="1" dirty="0"/>
            <a:t>Responsabilité civile</a:t>
          </a:r>
        </a:p>
      </dgm:t>
    </dgm:pt>
    <dgm:pt modelId="{2283EF8C-A730-4F6B-9002-75831E0E2E0D}" type="parTrans" cxnId="{DE509C6A-2722-4E23-890D-B4FFCFEFC676}">
      <dgm:prSet/>
      <dgm:spPr/>
      <dgm:t>
        <a:bodyPr/>
        <a:lstStyle/>
        <a:p>
          <a:endParaRPr lang="fr-FR" sz="1800" b="1"/>
        </a:p>
      </dgm:t>
    </dgm:pt>
    <dgm:pt modelId="{FEA24227-15DC-4FE8-BEDC-EDC510A0EE59}" type="sibTrans" cxnId="{DE509C6A-2722-4E23-890D-B4FFCFEFC676}">
      <dgm:prSet/>
      <dgm:spPr/>
      <dgm:t>
        <a:bodyPr/>
        <a:lstStyle/>
        <a:p>
          <a:endParaRPr lang="fr-FR" sz="1800" b="1"/>
        </a:p>
      </dgm:t>
    </dgm:pt>
    <dgm:pt modelId="{744DA765-C0B6-426B-A17D-AAA3AF9ADC86}">
      <dgm:prSet phldrT="[Texte]" custT="1"/>
      <dgm:spPr/>
      <dgm:t>
        <a:bodyPr/>
        <a:lstStyle/>
        <a:p>
          <a:r>
            <a:rPr lang="fr-FR" sz="1800" b="1" dirty="0"/>
            <a:t>En cas de sinistre</a:t>
          </a:r>
        </a:p>
      </dgm:t>
    </dgm:pt>
    <dgm:pt modelId="{55248817-E64E-4DED-80AA-2CA95FD859BC}" type="parTrans" cxnId="{9B6F5D8E-98DF-4157-8DBB-054E21228FD6}">
      <dgm:prSet/>
      <dgm:spPr/>
      <dgm:t>
        <a:bodyPr/>
        <a:lstStyle/>
        <a:p>
          <a:endParaRPr lang="fr-FR" sz="1800" b="1"/>
        </a:p>
      </dgm:t>
    </dgm:pt>
    <dgm:pt modelId="{ABC5D623-BFDE-4C26-B706-D826D6EF82B3}" type="sibTrans" cxnId="{9B6F5D8E-98DF-4157-8DBB-054E21228FD6}">
      <dgm:prSet/>
      <dgm:spPr/>
      <dgm:t>
        <a:bodyPr/>
        <a:lstStyle/>
        <a:p>
          <a:endParaRPr lang="fr-FR" sz="1800" b="1"/>
        </a:p>
      </dgm:t>
    </dgm:pt>
    <dgm:pt modelId="{9DA916F9-CCEF-469A-ADE3-6E1B2BE35E82}">
      <dgm:prSet phldrT="[Texte]" custT="1"/>
      <dgm:spPr/>
      <dgm:t>
        <a:bodyPr/>
        <a:lstStyle/>
        <a:p>
          <a:r>
            <a:rPr lang="fr-FR" sz="1800" b="1" dirty="0"/>
            <a:t>Concerne l’entreprise</a:t>
          </a:r>
        </a:p>
      </dgm:t>
    </dgm:pt>
    <dgm:pt modelId="{7BA08384-3417-4B0E-A6F9-59F3DEA5C413}" type="parTrans" cxnId="{F2C165BD-2668-4785-876F-799D78F82774}">
      <dgm:prSet/>
      <dgm:spPr/>
      <dgm:t>
        <a:bodyPr/>
        <a:lstStyle/>
        <a:p>
          <a:endParaRPr lang="fr-FR" sz="1800" b="1"/>
        </a:p>
      </dgm:t>
    </dgm:pt>
    <dgm:pt modelId="{B94269A7-8D74-4EB9-92CD-D44C31B647DD}" type="sibTrans" cxnId="{F2C165BD-2668-4785-876F-799D78F82774}">
      <dgm:prSet/>
      <dgm:spPr/>
      <dgm:t>
        <a:bodyPr/>
        <a:lstStyle/>
        <a:p>
          <a:endParaRPr lang="fr-FR" sz="1800" b="1"/>
        </a:p>
      </dgm:t>
    </dgm:pt>
    <dgm:pt modelId="{AAB2F038-C6E8-42D6-AEFC-1E62D585D445}" type="pres">
      <dgm:prSet presAssocID="{8D7F1ACC-11A2-44B8-A741-E732991899FD}" presName="theList" presStyleCnt="0">
        <dgm:presLayoutVars>
          <dgm:dir/>
          <dgm:animLvl val="lvl"/>
          <dgm:resizeHandles val="exact"/>
        </dgm:presLayoutVars>
      </dgm:prSet>
      <dgm:spPr/>
    </dgm:pt>
    <dgm:pt modelId="{6F59BC9C-E18D-4CE5-BA8D-B78284728BD0}" type="pres">
      <dgm:prSet presAssocID="{CE9E167F-F2CB-47B5-AB4C-3B197085087A}" presName="compNode" presStyleCnt="0"/>
      <dgm:spPr/>
    </dgm:pt>
    <dgm:pt modelId="{6A610067-2072-43F5-B086-FBAF587F9C8D}" type="pres">
      <dgm:prSet presAssocID="{CE9E167F-F2CB-47B5-AB4C-3B197085087A}" presName="aNode" presStyleLbl="bgShp" presStyleIdx="0" presStyleCnt="2"/>
      <dgm:spPr/>
    </dgm:pt>
    <dgm:pt modelId="{2B1A5869-25F0-4B38-9C4B-9E6296A3CDA0}" type="pres">
      <dgm:prSet presAssocID="{CE9E167F-F2CB-47B5-AB4C-3B197085087A}" presName="textNode" presStyleLbl="bgShp" presStyleIdx="0" presStyleCnt="2"/>
      <dgm:spPr/>
    </dgm:pt>
    <dgm:pt modelId="{16987A2C-A30B-44BA-9E68-447E0B24372B}" type="pres">
      <dgm:prSet presAssocID="{CE9E167F-F2CB-47B5-AB4C-3B197085087A}" presName="compChildNode" presStyleCnt="0"/>
      <dgm:spPr/>
    </dgm:pt>
    <dgm:pt modelId="{5F9C6133-87CD-4B76-929B-74392B6FF263}" type="pres">
      <dgm:prSet presAssocID="{CE9E167F-F2CB-47B5-AB4C-3B197085087A}" presName="theInnerList" presStyleCnt="0"/>
      <dgm:spPr/>
    </dgm:pt>
    <dgm:pt modelId="{16EF8C12-6613-4090-BA49-C594B1634169}" type="pres">
      <dgm:prSet presAssocID="{E4EA4265-4F8F-4676-891A-A7ADABEA3B36}" presName="childNode" presStyleLbl="node1" presStyleIdx="0" presStyleCnt="4" custScaleY="202032">
        <dgm:presLayoutVars>
          <dgm:bulletEnabled val="1"/>
        </dgm:presLayoutVars>
      </dgm:prSet>
      <dgm:spPr/>
    </dgm:pt>
    <dgm:pt modelId="{E78F0687-7EC3-43F7-9BB8-8E044A08C8EA}" type="pres">
      <dgm:prSet presAssocID="{E4EA4265-4F8F-4676-891A-A7ADABEA3B36}" presName="aSpace2" presStyleCnt="0"/>
      <dgm:spPr/>
    </dgm:pt>
    <dgm:pt modelId="{045BE40E-6032-4250-B9A4-539875254937}" type="pres">
      <dgm:prSet presAssocID="{78FFB411-DFDF-4B2D-B3E5-5EA990B2178D}" presName="childNode" presStyleLbl="node1" presStyleIdx="1" presStyleCnt="4">
        <dgm:presLayoutVars>
          <dgm:bulletEnabled val="1"/>
        </dgm:presLayoutVars>
      </dgm:prSet>
      <dgm:spPr/>
    </dgm:pt>
    <dgm:pt modelId="{2D675CCA-9E9B-4E96-9EC9-090DC3C56047}" type="pres">
      <dgm:prSet presAssocID="{CE9E167F-F2CB-47B5-AB4C-3B197085087A}" presName="aSpace" presStyleCnt="0"/>
      <dgm:spPr/>
    </dgm:pt>
    <dgm:pt modelId="{7B5741CD-4DD8-46EF-92C3-21912381C115}" type="pres">
      <dgm:prSet presAssocID="{BE16B0BF-67AF-4E04-A036-2AB83441DB6E}" presName="compNode" presStyleCnt="0"/>
      <dgm:spPr/>
    </dgm:pt>
    <dgm:pt modelId="{B4FD5D7F-DFFB-46F3-A541-61C40EC5C160}" type="pres">
      <dgm:prSet presAssocID="{BE16B0BF-67AF-4E04-A036-2AB83441DB6E}" presName="aNode" presStyleLbl="bgShp" presStyleIdx="1" presStyleCnt="2"/>
      <dgm:spPr/>
    </dgm:pt>
    <dgm:pt modelId="{D691B0CF-ABBC-4E31-B42A-237A89EBE3A1}" type="pres">
      <dgm:prSet presAssocID="{BE16B0BF-67AF-4E04-A036-2AB83441DB6E}" presName="textNode" presStyleLbl="bgShp" presStyleIdx="1" presStyleCnt="2"/>
      <dgm:spPr/>
    </dgm:pt>
    <dgm:pt modelId="{9C4BEDB5-0B38-4907-A2C5-49BF72849D34}" type="pres">
      <dgm:prSet presAssocID="{BE16B0BF-67AF-4E04-A036-2AB83441DB6E}" presName="compChildNode" presStyleCnt="0"/>
      <dgm:spPr/>
    </dgm:pt>
    <dgm:pt modelId="{8D103E23-A6CF-4DCD-9E32-1E46175E7A54}" type="pres">
      <dgm:prSet presAssocID="{BE16B0BF-67AF-4E04-A036-2AB83441DB6E}" presName="theInnerList" presStyleCnt="0"/>
      <dgm:spPr/>
    </dgm:pt>
    <dgm:pt modelId="{6D2F24F4-B7F8-44E0-BF88-CCDF86188A44}" type="pres">
      <dgm:prSet presAssocID="{744DA765-C0B6-426B-A17D-AAA3AF9ADC86}" presName="childNode" presStyleLbl="node1" presStyleIdx="2" presStyleCnt="4">
        <dgm:presLayoutVars>
          <dgm:bulletEnabled val="1"/>
        </dgm:presLayoutVars>
      </dgm:prSet>
      <dgm:spPr/>
    </dgm:pt>
    <dgm:pt modelId="{2A637450-9785-4636-81B7-ACFADA979E4A}" type="pres">
      <dgm:prSet presAssocID="{744DA765-C0B6-426B-A17D-AAA3AF9ADC86}" presName="aSpace2" presStyleCnt="0"/>
      <dgm:spPr/>
    </dgm:pt>
    <dgm:pt modelId="{C5C890CB-176E-49D7-8CC5-623EB6FFA8FC}" type="pres">
      <dgm:prSet presAssocID="{9DA916F9-CCEF-469A-ADE3-6E1B2BE35E82}" presName="childNode" presStyleLbl="node1" presStyleIdx="3" presStyleCnt="4">
        <dgm:presLayoutVars>
          <dgm:bulletEnabled val="1"/>
        </dgm:presLayoutVars>
      </dgm:prSet>
      <dgm:spPr/>
    </dgm:pt>
  </dgm:ptLst>
  <dgm:cxnLst>
    <dgm:cxn modelId="{B861AB06-F058-43A8-817F-B830BFD0FC70}" type="presOf" srcId="{BE16B0BF-67AF-4E04-A036-2AB83441DB6E}" destId="{B4FD5D7F-DFFB-46F3-A541-61C40EC5C160}" srcOrd="0" destOrd="0" presId="urn:microsoft.com/office/officeart/2005/8/layout/lProcess2"/>
    <dgm:cxn modelId="{8854BA07-E25E-4219-801A-3E9DE8A5459A}" type="presOf" srcId="{CE9E167F-F2CB-47B5-AB4C-3B197085087A}" destId="{2B1A5869-25F0-4B38-9C4B-9E6296A3CDA0}" srcOrd="1" destOrd="0" presId="urn:microsoft.com/office/officeart/2005/8/layout/lProcess2"/>
    <dgm:cxn modelId="{DA83AD30-A712-4E72-8495-6E070BACAE60}" type="presOf" srcId="{78FFB411-DFDF-4B2D-B3E5-5EA990B2178D}" destId="{045BE40E-6032-4250-B9A4-539875254937}" srcOrd="0" destOrd="0" presId="urn:microsoft.com/office/officeart/2005/8/layout/lProcess2"/>
    <dgm:cxn modelId="{9C486B39-C92B-4290-A647-E89FD6677CE9}" type="presOf" srcId="{8D7F1ACC-11A2-44B8-A741-E732991899FD}" destId="{AAB2F038-C6E8-42D6-AEFC-1E62D585D445}" srcOrd="0" destOrd="0" presId="urn:microsoft.com/office/officeart/2005/8/layout/lProcess2"/>
    <dgm:cxn modelId="{83CE8A5F-DCCC-4B07-9FBF-B51680157954}" type="presOf" srcId="{9DA916F9-CCEF-469A-ADE3-6E1B2BE35E82}" destId="{C5C890CB-176E-49D7-8CC5-623EB6FFA8FC}" srcOrd="0" destOrd="0" presId="urn:microsoft.com/office/officeart/2005/8/layout/lProcess2"/>
    <dgm:cxn modelId="{6424AE67-A8D4-424F-B59B-05BDCB35A36D}" type="presOf" srcId="{CE9E167F-F2CB-47B5-AB4C-3B197085087A}" destId="{6A610067-2072-43F5-B086-FBAF587F9C8D}" srcOrd="0" destOrd="0" presId="urn:microsoft.com/office/officeart/2005/8/layout/lProcess2"/>
    <dgm:cxn modelId="{CBFF1D49-B88F-43BD-B503-7BAD31A536BA}" type="presOf" srcId="{E4EA4265-4F8F-4676-891A-A7ADABEA3B36}" destId="{16EF8C12-6613-4090-BA49-C594B1634169}" srcOrd="0" destOrd="0" presId="urn:microsoft.com/office/officeart/2005/8/layout/lProcess2"/>
    <dgm:cxn modelId="{DE509C6A-2722-4E23-890D-B4FFCFEFC676}" srcId="{8D7F1ACC-11A2-44B8-A741-E732991899FD}" destId="{BE16B0BF-67AF-4E04-A036-2AB83441DB6E}" srcOrd="1" destOrd="0" parTransId="{2283EF8C-A730-4F6B-9002-75831E0E2E0D}" sibTransId="{FEA24227-15DC-4FE8-BEDC-EDC510A0EE59}"/>
    <dgm:cxn modelId="{3D5BA281-F239-45A0-A6A9-B6D121EEE900}" type="presOf" srcId="{744DA765-C0B6-426B-A17D-AAA3AF9ADC86}" destId="{6D2F24F4-B7F8-44E0-BF88-CCDF86188A44}" srcOrd="0" destOrd="0" presId="urn:microsoft.com/office/officeart/2005/8/layout/lProcess2"/>
    <dgm:cxn modelId="{9B6F5D8E-98DF-4157-8DBB-054E21228FD6}" srcId="{BE16B0BF-67AF-4E04-A036-2AB83441DB6E}" destId="{744DA765-C0B6-426B-A17D-AAA3AF9ADC86}" srcOrd="0" destOrd="0" parTransId="{55248817-E64E-4DED-80AA-2CA95FD859BC}" sibTransId="{ABC5D623-BFDE-4C26-B706-D826D6EF82B3}"/>
    <dgm:cxn modelId="{847F6791-2A1A-4F67-BC4E-1DDA41C1A817}" srcId="{CE9E167F-F2CB-47B5-AB4C-3B197085087A}" destId="{E4EA4265-4F8F-4676-891A-A7ADABEA3B36}" srcOrd="0" destOrd="0" parTransId="{94D6DD48-37C2-463E-BB62-515ED1C2DB43}" sibTransId="{E71299AE-9471-4D71-8A49-F7AF5DB04280}"/>
    <dgm:cxn modelId="{1B2FE1BB-D396-4E2B-893D-5449A800AEF4}" srcId="{8D7F1ACC-11A2-44B8-A741-E732991899FD}" destId="{CE9E167F-F2CB-47B5-AB4C-3B197085087A}" srcOrd="0" destOrd="0" parTransId="{945F2AD2-3B69-4C2C-B9E2-6E947E719796}" sibTransId="{AF62F2B0-99BE-4010-88B3-CF38767E6A9B}"/>
    <dgm:cxn modelId="{F2C165BD-2668-4785-876F-799D78F82774}" srcId="{BE16B0BF-67AF-4E04-A036-2AB83441DB6E}" destId="{9DA916F9-CCEF-469A-ADE3-6E1B2BE35E82}" srcOrd="1" destOrd="0" parTransId="{7BA08384-3417-4B0E-A6F9-59F3DEA5C413}" sibTransId="{B94269A7-8D74-4EB9-92CD-D44C31B647DD}"/>
    <dgm:cxn modelId="{75073AC8-537F-4A1F-A693-D370332DB106}" srcId="{CE9E167F-F2CB-47B5-AB4C-3B197085087A}" destId="{78FFB411-DFDF-4B2D-B3E5-5EA990B2178D}" srcOrd="1" destOrd="0" parTransId="{01A258B8-7802-466F-A47C-027A87BBA133}" sibTransId="{A91306A7-EB36-41A8-A933-AC17291BC520}"/>
    <dgm:cxn modelId="{1BFCBCD5-8519-4799-B4BD-EB7AD38B1DCE}" type="presOf" srcId="{BE16B0BF-67AF-4E04-A036-2AB83441DB6E}" destId="{D691B0CF-ABBC-4E31-B42A-237A89EBE3A1}" srcOrd="1" destOrd="0" presId="urn:microsoft.com/office/officeart/2005/8/layout/lProcess2"/>
    <dgm:cxn modelId="{F3B3B571-1F5F-4DC2-92A7-F7CA1E18A21B}" type="presParOf" srcId="{AAB2F038-C6E8-42D6-AEFC-1E62D585D445}" destId="{6F59BC9C-E18D-4CE5-BA8D-B78284728BD0}" srcOrd="0" destOrd="0" presId="urn:microsoft.com/office/officeart/2005/8/layout/lProcess2"/>
    <dgm:cxn modelId="{701DA4AA-16A9-49B7-AE02-E9941AA04072}" type="presParOf" srcId="{6F59BC9C-E18D-4CE5-BA8D-B78284728BD0}" destId="{6A610067-2072-43F5-B086-FBAF587F9C8D}" srcOrd="0" destOrd="0" presId="urn:microsoft.com/office/officeart/2005/8/layout/lProcess2"/>
    <dgm:cxn modelId="{6D9F3DA1-2D9A-4937-B8EF-5E09EE85B468}" type="presParOf" srcId="{6F59BC9C-E18D-4CE5-BA8D-B78284728BD0}" destId="{2B1A5869-25F0-4B38-9C4B-9E6296A3CDA0}" srcOrd="1" destOrd="0" presId="urn:microsoft.com/office/officeart/2005/8/layout/lProcess2"/>
    <dgm:cxn modelId="{BE607ED3-6E7E-469F-B458-8A920CEDC863}" type="presParOf" srcId="{6F59BC9C-E18D-4CE5-BA8D-B78284728BD0}" destId="{16987A2C-A30B-44BA-9E68-447E0B24372B}" srcOrd="2" destOrd="0" presId="urn:microsoft.com/office/officeart/2005/8/layout/lProcess2"/>
    <dgm:cxn modelId="{1E0C93D5-7A5C-4D37-92D7-4FDC08BF09EC}" type="presParOf" srcId="{16987A2C-A30B-44BA-9E68-447E0B24372B}" destId="{5F9C6133-87CD-4B76-929B-74392B6FF263}" srcOrd="0" destOrd="0" presId="urn:microsoft.com/office/officeart/2005/8/layout/lProcess2"/>
    <dgm:cxn modelId="{00488706-89A7-4934-9507-C83FCB4C6BC3}" type="presParOf" srcId="{5F9C6133-87CD-4B76-929B-74392B6FF263}" destId="{16EF8C12-6613-4090-BA49-C594B1634169}" srcOrd="0" destOrd="0" presId="urn:microsoft.com/office/officeart/2005/8/layout/lProcess2"/>
    <dgm:cxn modelId="{CE26668D-5A10-46D4-BEC7-C9465DE580FA}" type="presParOf" srcId="{5F9C6133-87CD-4B76-929B-74392B6FF263}" destId="{E78F0687-7EC3-43F7-9BB8-8E044A08C8EA}" srcOrd="1" destOrd="0" presId="urn:microsoft.com/office/officeart/2005/8/layout/lProcess2"/>
    <dgm:cxn modelId="{6356D910-C75D-4A6C-8BE9-53A2EDC3DC9E}" type="presParOf" srcId="{5F9C6133-87CD-4B76-929B-74392B6FF263}" destId="{045BE40E-6032-4250-B9A4-539875254937}" srcOrd="2" destOrd="0" presId="urn:microsoft.com/office/officeart/2005/8/layout/lProcess2"/>
    <dgm:cxn modelId="{7374BD7F-1433-40D1-ADFB-08A4DFA5C803}" type="presParOf" srcId="{AAB2F038-C6E8-42D6-AEFC-1E62D585D445}" destId="{2D675CCA-9E9B-4E96-9EC9-090DC3C56047}" srcOrd="1" destOrd="0" presId="urn:microsoft.com/office/officeart/2005/8/layout/lProcess2"/>
    <dgm:cxn modelId="{E257F420-CA1C-4B02-8E82-6664125326FB}" type="presParOf" srcId="{AAB2F038-C6E8-42D6-AEFC-1E62D585D445}" destId="{7B5741CD-4DD8-46EF-92C3-21912381C115}" srcOrd="2" destOrd="0" presId="urn:microsoft.com/office/officeart/2005/8/layout/lProcess2"/>
    <dgm:cxn modelId="{278CF775-D4FD-42BA-85A7-C10730A51DF3}" type="presParOf" srcId="{7B5741CD-4DD8-46EF-92C3-21912381C115}" destId="{B4FD5D7F-DFFB-46F3-A541-61C40EC5C160}" srcOrd="0" destOrd="0" presId="urn:microsoft.com/office/officeart/2005/8/layout/lProcess2"/>
    <dgm:cxn modelId="{41894224-70DA-4B87-9CA2-00D407E6CEDD}" type="presParOf" srcId="{7B5741CD-4DD8-46EF-92C3-21912381C115}" destId="{D691B0CF-ABBC-4E31-B42A-237A89EBE3A1}" srcOrd="1" destOrd="0" presId="urn:microsoft.com/office/officeart/2005/8/layout/lProcess2"/>
    <dgm:cxn modelId="{7306DA71-B9E4-4411-B9CF-019DF75EC8F6}" type="presParOf" srcId="{7B5741CD-4DD8-46EF-92C3-21912381C115}" destId="{9C4BEDB5-0B38-4907-A2C5-49BF72849D34}" srcOrd="2" destOrd="0" presId="urn:microsoft.com/office/officeart/2005/8/layout/lProcess2"/>
    <dgm:cxn modelId="{F3D66D21-F887-4C34-81A1-5CF717AAB6F4}" type="presParOf" srcId="{9C4BEDB5-0B38-4907-A2C5-49BF72849D34}" destId="{8D103E23-A6CF-4DCD-9E32-1E46175E7A54}" srcOrd="0" destOrd="0" presId="urn:microsoft.com/office/officeart/2005/8/layout/lProcess2"/>
    <dgm:cxn modelId="{B089D8A5-BB74-40A6-BCE1-F928244D7A5F}" type="presParOf" srcId="{8D103E23-A6CF-4DCD-9E32-1E46175E7A54}" destId="{6D2F24F4-B7F8-44E0-BF88-CCDF86188A44}" srcOrd="0" destOrd="0" presId="urn:microsoft.com/office/officeart/2005/8/layout/lProcess2"/>
    <dgm:cxn modelId="{F87D58F0-21CC-46F5-AF4C-0F4917D44C7A}" type="presParOf" srcId="{8D103E23-A6CF-4DCD-9E32-1E46175E7A54}" destId="{2A637450-9785-4636-81B7-ACFADA979E4A}" srcOrd="1" destOrd="0" presId="urn:microsoft.com/office/officeart/2005/8/layout/lProcess2"/>
    <dgm:cxn modelId="{EE0AD839-F738-45F7-928E-4381D9AF6929}" type="presParOf" srcId="{8D103E23-A6CF-4DCD-9E32-1E46175E7A54}" destId="{C5C890CB-176E-49D7-8CC5-623EB6FFA8FC}"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2B4AAAC-7F7B-40B0-91BF-354E9D2401F4}"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7638813D-72D7-4ACD-99FC-68177D266D2A}">
      <dgm:prSet phldrT="[Texte]" custT="1"/>
      <dgm:spPr/>
      <dgm:t>
        <a:bodyPr/>
        <a:lstStyle/>
        <a:p>
          <a:r>
            <a:rPr lang="fr-FR" sz="1800" b="1" dirty="0"/>
            <a:t>Doit émaner du chef d’entreprise</a:t>
          </a:r>
        </a:p>
      </dgm:t>
    </dgm:pt>
    <dgm:pt modelId="{168B6DF8-0195-4752-AEFB-27B371EC3A2A}" type="parTrans" cxnId="{89F88BF2-13B8-441E-AB17-F66AE3AE57B7}">
      <dgm:prSet/>
      <dgm:spPr/>
      <dgm:t>
        <a:bodyPr/>
        <a:lstStyle/>
        <a:p>
          <a:endParaRPr lang="fr-FR" sz="1800" b="1"/>
        </a:p>
      </dgm:t>
    </dgm:pt>
    <dgm:pt modelId="{18E85AA2-B4B8-4697-AA41-7BB0C3CDFD45}" type="sibTrans" cxnId="{89F88BF2-13B8-441E-AB17-F66AE3AE57B7}">
      <dgm:prSet/>
      <dgm:spPr/>
      <dgm:t>
        <a:bodyPr/>
        <a:lstStyle/>
        <a:p>
          <a:endParaRPr lang="fr-FR" sz="1800" b="1"/>
        </a:p>
      </dgm:t>
    </dgm:pt>
    <dgm:pt modelId="{7C912F21-0C77-4080-A3D0-E496A0856951}">
      <dgm:prSet phldrT="[Texte]" custT="1"/>
      <dgm:spPr/>
      <dgm:t>
        <a:bodyPr/>
        <a:lstStyle/>
        <a:p>
          <a:r>
            <a:rPr lang="fr-FR" sz="1800" b="1" dirty="0"/>
            <a:t>Doit être faite longtemps avant les faits criminels</a:t>
          </a:r>
        </a:p>
      </dgm:t>
    </dgm:pt>
    <dgm:pt modelId="{5095C323-EA41-4870-B546-B0EAD0AE07EB}" type="parTrans" cxnId="{52FCAF07-74D4-4C08-9FC7-17233D24FB2C}">
      <dgm:prSet/>
      <dgm:spPr/>
      <dgm:t>
        <a:bodyPr/>
        <a:lstStyle/>
        <a:p>
          <a:endParaRPr lang="fr-FR" sz="1800" b="1"/>
        </a:p>
      </dgm:t>
    </dgm:pt>
    <dgm:pt modelId="{A7794090-4641-4903-9D07-A72DDB1DEC0B}" type="sibTrans" cxnId="{52FCAF07-74D4-4C08-9FC7-17233D24FB2C}">
      <dgm:prSet/>
      <dgm:spPr/>
      <dgm:t>
        <a:bodyPr/>
        <a:lstStyle/>
        <a:p>
          <a:endParaRPr lang="fr-FR" sz="1800" b="1"/>
        </a:p>
      </dgm:t>
    </dgm:pt>
    <dgm:pt modelId="{D7E64BD4-A35C-4E60-A56C-27B3FC736691}">
      <dgm:prSet phldrT="[Texte]" custT="1"/>
      <dgm:spPr/>
      <dgm:t>
        <a:bodyPr/>
        <a:lstStyle/>
        <a:p>
          <a:r>
            <a:rPr lang="fr-FR" sz="1800" b="1" dirty="0"/>
            <a:t>Doit être justifiée</a:t>
          </a:r>
        </a:p>
      </dgm:t>
    </dgm:pt>
    <dgm:pt modelId="{03A89DCB-10E0-47FA-8815-276FEAEA6853}" type="parTrans" cxnId="{F0C9654A-D985-423A-AC75-4E70F2D6038B}">
      <dgm:prSet/>
      <dgm:spPr/>
      <dgm:t>
        <a:bodyPr/>
        <a:lstStyle/>
        <a:p>
          <a:endParaRPr lang="fr-FR" sz="1800" b="1"/>
        </a:p>
      </dgm:t>
    </dgm:pt>
    <dgm:pt modelId="{7E52A968-8F83-4DE6-9D7D-3C1F1907F9AD}" type="sibTrans" cxnId="{F0C9654A-D985-423A-AC75-4E70F2D6038B}">
      <dgm:prSet/>
      <dgm:spPr/>
      <dgm:t>
        <a:bodyPr/>
        <a:lstStyle/>
        <a:p>
          <a:endParaRPr lang="fr-FR" sz="1800" b="1"/>
        </a:p>
      </dgm:t>
    </dgm:pt>
    <dgm:pt modelId="{C24CB29C-BACA-4BA7-B03E-6E26E508902C}">
      <dgm:prSet phldrT="[Texte]" custT="1"/>
      <dgm:spPr/>
      <dgm:t>
        <a:bodyPr/>
        <a:lstStyle/>
        <a:p>
          <a:r>
            <a:rPr lang="fr-FR" sz="1800" b="1" dirty="0"/>
            <a:t>Doit être limitée dans son objet</a:t>
          </a:r>
        </a:p>
      </dgm:t>
    </dgm:pt>
    <dgm:pt modelId="{E636C61E-702A-430D-AC7E-1BDCE6DF1087}" type="parTrans" cxnId="{299AEDA7-AAE3-4403-9BDF-5DB18ED29275}">
      <dgm:prSet/>
      <dgm:spPr/>
      <dgm:t>
        <a:bodyPr/>
        <a:lstStyle/>
        <a:p>
          <a:endParaRPr lang="fr-FR" sz="1800" b="1"/>
        </a:p>
      </dgm:t>
    </dgm:pt>
    <dgm:pt modelId="{B81BE3A4-1DA5-40F9-8FBE-2BC1B48CF67D}" type="sibTrans" cxnId="{299AEDA7-AAE3-4403-9BDF-5DB18ED29275}">
      <dgm:prSet/>
      <dgm:spPr/>
      <dgm:t>
        <a:bodyPr/>
        <a:lstStyle/>
        <a:p>
          <a:endParaRPr lang="fr-FR" sz="1800" b="1"/>
        </a:p>
      </dgm:t>
    </dgm:pt>
    <dgm:pt modelId="{41583F20-FA92-41E5-864B-69219F4D2948}">
      <dgm:prSet phldrT="[Texte]" custT="1"/>
      <dgm:spPr/>
      <dgm:t>
        <a:bodyPr/>
        <a:lstStyle/>
        <a:p>
          <a:r>
            <a:rPr lang="fr-FR" sz="1800" b="1" dirty="0"/>
            <a:t>Doit être donnée à une personne ayant les compétences techniques et juridiques et ayant les moyens de veiller au respect des prescriptions en causes</a:t>
          </a:r>
        </a:p>
      </dgm:t>
    </dgm:pt>
    <dgm:pt modelId="{179E7CD9-772F-4F2C-81A5-B98918F5C27F}" type="parTrans" cxnId="{F5C5039C-0B9C-4931-9CF8-D82243786A71}">
      <dgm:prSet/>
      <dgm:spPr/>
      <dgm:t>
        <a:bodyPr/>
        <a:lstStyle/>
        <a:p>
          <a:endParaRPr lang="fr-FR" sz="1800" b="1"/>
        </a:p>
      </dgm:t>
    </dgm:pt>
    <dgm:pt modelId="{49E5B14D-5EDC-4CF0-9658-8E63C2EE9B16}" type="sibTrans" cxnId="{F5C5039C-0B9C-4931-9CF8-D82243786A71}">
      <dgm:prSet/>
      <dgm:spPr/>
      <dgm:t>
        <a:bodyPr/>
        <a:lstStyle/>
        <a:p>
          <a:endParaRPr lang="fr-FR" sz="1800" b="1"/>
        </a:p>
      </dgm:t>
    </dgm:pt>
    <dgm:pt modelId="{BE18FC85-789A-4777-9665-923283AC30AA}" type="pres">
      <dgm:prSet presAssocID="{32B4AAAC-7F7B-40B0-91BF-354E9D2401F4}" presName="diagram" presStyleCnt="0">
        <dgm:presLayoutVars>
          <dgm:dir/>
          <dgm:resizeHandles val="exact"/>
        </dgm:presLayoutVars>
      </dgm:prSet>
      <dgm:spPr/>
    </dgm:pt>
    <dgm:pt modelId="{63EC5F48-1615-4AAC-B2B1-3641336D7B36}" type="pres">
      <dgm:prSet presAssocID="{7638813D-72D7-4ACD-99FC-68177D266D2A}" presName="node" presStyleLbl="node1" presStyleIdx="0" presStyleCnt="5">
        <dgm:presLayoutVars>
          <dgm:bulletEnabled val="1"/>
        </dgm:presLayoutVars>
      </dgm:prSet>
      <dgm:spPr/>
    </dgm:pt>
    <dgm:pt modelId="{F657F4C4-B396-4011-B890-C56A0D5F210A}" type="pres">
      <dgm:prSet presAssocID="{18E85AA2-B4B8-4697-AA41-7BB0C3CDFD45}" presName="sibTrans" presStyleCnt="0"/>
      <dgm:spPr/>
    </dgm:pt>
    <dgm:pt modelId="{2A62F162-937E-492E-81D9-980967E16E75}" type="pres">
      <dgm:prSet presAssocID="{7C912F21-0C77-4080-A3D0-E496A0856951}" presName="node" presStyleLbl="node1" presStyleIdx="1" presStyleCnt="5" custScaleX="105427">
        <dgm:presLayoutVars>
          <dgm:bulletEnabled val="1"/>
        </dgm:presLayoutVars>
      </dgm:prSet>
      <dgm:spPr/>
    </dgm:pt>
    <dgm:pt modelId="{10FD3D6C-A89A-43F8-BB83-8BF6F541147F}" type="pres">
      <dgm:prSet presAssocID="{A7794090-4641-4903-9D07-A72DDB1DEC0B}" presName="sibTrans" presStyleCnt="0"/>
      <dgm:spPr/>
    </dgm:pt>
    <dgm:pt modelId="{0411CE29-3CDE-422F-B088-D3ED8941FDFA}" type="pres">
      <dgm:prSet presAssocID="{D7E64BD4-A35C-4E60-A56C-27B3FC736691}" presName="node" presStyleLbl="node1" presStyleIdx="2" presStyleCnt="5" custScaleX="105427">
        <dgm:presLayoutVars>
          <dgm:bulletEnabled val="1"/>
        </dgm:presLayoutVars>
      </dgm:prSet>
      <dgm:spPr/>
    </dgm:pt>
    <dgm:pt modelId="{9EA91F66-D3B3-4130-9ECF-B24A62731569}" type="pres">
      <dgm:prSet presAssocID="{7E52A968-8F83-4DE6-9D7D-3C1F1907F9AD}" presName="sibTrans" presStyleCnt="0"/>
      <dgm:spPr/>
    </dgm:pt>
    <dgm:pt modelId="{AC79646F-DFA6-4257-906F-9519E7B8F462}" type="pres">
      <dgm:prSet presAssocID="{C24CB29C-BACA-4BA7-B03E-6E26E508902C}" presName="node" presStyleLbl="node1" presStyleIdx="3" presStyleCnt="5">
        <dgm:presLayoutVars>
          <dgm:bulletEnabled val="1"/>
        </dgm:presLayoutVars>
      </dgm:prSet>
      <dgm:spPr/>
    </dgm:pt>
    <dgm:pt modelId="{0498DFB3-88E7-48BB-9936-444E0242F295}" type="pres">
      <dgm:prSet presAssocID="{B81BE3A4-1DA5-40F9-8FBE-2BC1B48CF67D}" presName="sibTrans" presStyleCnt="0"/>
      <dgm:spPr/>
    </dgm:pt>
    <dgm:pt modelId="{80D8A1F5-09EE-48F9-B6F9-7EF961A5B763}" type="pres">
      <dgm:prSet presAssocID="{41583F20-FA92-41E5-864B-69219F4D2948}" presName="node" presStyleLbl="node1" presStyleIdx="4" presStyleCnt="5" custScaleX="218084">
        <dgm:presLayoutVars>
          <dgm:bulletEnabled val="1"/>
        </dgm:presLayoutVars>
      </dgm:prSet>
      <dgm:spPr/>
    </dgm:pt>
  </dgm:ptLst>
  <dgm:cxnLst>
    <dgm:cxn modelId="{52FCAF07-74D4-4C08-9FC7-17233D24FB2C}" srcId="{32B4AAAC-7F7B-40B0-91BF-354E9D2401F4}" destId="{7C912F21-0C77-4080-A3D0-E496A0856951}" srcOrd="1" destOrd="0" parTransId="{5095C323-EA41-4870-B546-B0EAD0AE07EB}" sibTransId="{A7794090-4641-4903-9D07-A72DDB1DEC0B}"/>
    <dgm:cxn modelId="{E39C921A-7794-4E03-B873-A9971403168B}" type="presOf" srcId="{D7E64BD4-A35C-4E60-A56C-27B3FC736691}" destId="{0411CE29-3CDE-422F-B088-D3ED8941FDFA}" srcOrd="0" destOrd="0" presId="urn:microsoft.com/office/officeart/2005/8/layout/default"/>
    <dgm:cxn modelId="{F0C9654A-D985-423A-AC75-4E70F2D6038B}" srcId="{32B4AAAC-7F7B-40B0-91BF-354E9D2401F4}" destId="{D7E64BD4-A35C-4E60-A56C-27B3FC736691}" srcOrd="2" destOrd="0" parTransId="{03A89DCB-10E0-47FA-8815-276FEAEA6853}" sibTransId="{7E52A968-8F83-4DE6-9D7D-3C1F1907F9AD}"/>
    <dgm:cxn modelId="{F5C5039C-0B9C-4931-9CF8-D82243786A71}" srcId="{32B4AAAC-7F7B-40B0-91BF-354E9D2401F4}" destId="{41583F20-FA92-41E5-864B-69219F4D2948}" srcOrd="4" destOrd="0" parTransId="{179E7CD9-772F-4F2C-81A5-B98918F5C27F}" sibTransId="{49E5B14D-5EDC-4CF0-9658-8E63C2EE9B16}"/>
    <dgm:cxn modelId="{494653A5-A285-4CBA-880D-73677C0739BC}" type="presOf" srcId="{C24CB29C-BACA-4BA7-B03E-6E26E508902C}" destId="{AC79646F-DFA6-4257-906F-9519E7B8F462}" srcOrd="0" destOrd="0" presId="urn:microsoft.com/office/officeart/2005/8/layout/default"/>
    <dgm:cxn modelId="{299AEDA7-AAE3-4403-9BDF-5DB18ED29275}" srcId="{32B4AAAC-7F7B-40B0-91BF-354E9D2401F4}" destId="{C24CB29C-BACA-4BA7-B03E-6E26E508902C}" srcOrd="3" destOrd="0" parTransId="{E636C61E-702A-430D-AC7E-1BDCE6DF1087}" sibTransId="{B81BE3A4-1DA5-40F9-8FBE-2BC1B48CF67D}"/>
    <dgm:cxn modelId="{F03E8AAA-899E-41EF-8399-75974BE5366B}" type="presOf" srcId="{41583F20-FA92-41E5-864B-69219F4D2948}" destId="{80D8A1F5-09EE-48F9-B6F9-7EF961A5B763}" srcOrd="0" destOrd="0" presId="urn:microsoft.com/office/officeart/2005/8/layout/default"/>
    <dgm:cxn modelId="{6E132DBD-9F06-4DD3-A510-F785F0BDE3C3}" type="presOf" srcId="{32B4AAAC-7F7B-40B0-91BF-354E9D2401F4}" destId="{BE18FC85-789A-4777-9665-923283AC30AA}" srcOrd="0" destOrd="0" presId="urn:microsoft.com/office/officeart/2005/8/layout/default"/>
    <dgm:cxn modelId="{89F88BF2-13B8-441E-AB17-F66AE3AE57B7}" srcId="{32B4AAAC-7F7B-40B0-91BF-354E9D2401F4}" destId="{7638813D-72D7-4ACD-99FC-68177D266D2A}" srcOrd="0" destOrd="0" parTransId="{168B6DF8-0195-4752-AEFB-27B371EC3A2A}" sibTransId="{18E85AA2-B4B8-4697-AA41-7BB0C3CDFD45}"/>
    <dgm:cxn modelId="{736D1DF5-8AB2-419D-BA8F-82919A24E475}" type="presOf" srcId="{7638813D-72D7-4ACD-99FC-68177D266D2A}" destId="{63EC5F48-1615-4AAC-B2B1-3641336D7B36}" srcOrd="0" destOrd="0" presId="urn:microsoft.com/office/officeart/2005/8/layout/default"/>
    <dgm:cxn modelId="{E33463FC-9200-47AA-A425-FE6243D4E7CE}" type="presOf" srcId="{7C912F21-0C77-4080-A3D0-E496A0856951}" destId="{2A62F162-937E-492E-81D9-980967E16E75}" srcOrd="0" destOrd="0" presId="urn:microsoft.com/office/officeart/2005/8/layout/default"/>
    <dgm:cxn modelId="{3FBD21EE-7E72-4B4E-8CB8-CFADB2ABE334}" type="presParOf" srcId="{BE18FC85-789A-4777-9665-923283AC30AA}" destId="{63EC5F48-1615-4AAC-B2B1-3641336D7B36}" srcOrd="0" destOrd="0" presId="urn:microsoft.com/office/officeart/2005/8/layout/default"/>
    <dgm:cxn modelId="{D0B3DAE8-AAD9-4D02-BB5A-474C619AE850}" type="presParOf" srcId="{BE18FC85-789A-4777-9665-923283AC30AA}" destId="{F657F4C4-B396-4011-B890-C56A0D5F210A}" srcOrd="1" destOrd="0" presId="urn:microsoft.com/office/officeart/2005/8/layout/default"/>
    <dgm:cxn modelId="{81AE3D0B-19EF-40D1-9867-066BA0FA8586}" type="presParOf" srcId="{BE18FC85-789A-4777-9665-923283AC30AA}" destId="{2A62F162-937E-492E-81D9-980967E16E75}" srcOrd="2" destOrd="0" presId="urn:microsoft.com/office/officeart/2005/8/layout/default"/>
    <dgm:cxn modelId="{39547B71-85DF-4512-AA5C-F737AB8E4DC7}" type="presParOf" srcId="{BE18FC85-789A-4777-9665-923283AC30AA}" destId="{10FD3D6C-A89A-43F8-BB83-8BF6F541147F}" srcOrd="3" destOrd="0" presId="urn:microsoft.com/office/officeart/2005/8/layout/default"/>
    <dgm:cxn modelId="{50F230F8-D897-4694-B428-2CBCA4E911D3}" type="presParOf" srcId="{BE18FC85-789A-4777-9665-923283AC30AA}" destId="{0411CE29-3CDE-422F-B088-D3ED8941FDFA}" srcOrd="4" destOrd="0" presId="urn:microsoft.com/office/officeart/2005/8/layout/default"/>
    <dgm:cxn modelId="{0D1EC10E-6582-4BFC-A038-0125782E8371}" type="presParOf" srcId="{BE18FC85-789A-4777-9665-923283AC30AA}" destId="{9EA91F66-D3B3-4130-9ECF-B24A62731569}" srcOrd="5" destOrd="0" presId="urn:microsoft.com/office/officeart/2005/8/layout/default"/>
    <dgm:cxn modelId="{B92F76E7-6E0B-4220-A27F-E09E443DA986}" type="presParOf" srcId="{BE18FC85-789A-4777-9665-923283AC30AA}" destId="{AC79646F-DFA6-4257-906F-9519E7B8F462}" srcOrd="6" destOrd="0" presId="urn:microsoft.com/office/officeart/2005/8/layout/default"/>
    <dgm:cxn modelId="{BBCB051B-A668-4C72-B7EB-EFBE389E17DB}" type="presParOf" srcId="{BE18FC85-789A-4777-9665-923283AC30AA}" destId="{0498DFB3-88E7-48BB-9936-444E0242F295}" srcOrd="7" destOrd="0" presId="urn:microsoft.com/office/officeart/2005/8/layout/default"/>
    <dgm:cxn modelId="{B1044400-E471-4E2E-BAE7-7FD76ACC4408}" type="presParOf" srcId="{BE18FC85-789A-4777-9665-923283AC30AA}" destId="{80D8A1F5-09EE-48F9-B6F9-7EF961A5B763}"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54DBCAC-1C42-4562-B703-BE9342504CAF}" type="doc">
      <dgm:prSet loTypeId="urn:microsoft.com/office/officeart/2005/8/layout/hierarchy3" loCatId="hierarchy" qsTypeId="urn:microsoft.com/office/officeart/2005/8/quickstyle/simple1" qsCatId="simple" csTypeId="urn:microsoft.com/office/officeart/2005/8/colors/accent5_2" csCatId="accent5" phldr="1"/>
      <dgm:spPr/>
      <dgm:t>
        <a:bodyPr/>
        <a:lstStyle/>
        <a:p>
          <a:endParaRPr lang="fr-FR"/>
        </a:p>
      </dgm:t>
    </dgm:pt>
    <dgm:pt modelId="{4FF2DD70-5A59-4A79-BCC2-4FCF6FF156A9}">
      <dgm:prSet phldrT="[Texte]" custT="1"/>
      <dgm:spPr/>
      <dgm:t>
        <a:bodyPr/>
        <a:lstStyle/>
        <a:p>
          <a:r>
            <a:rPr lang="fr-FR" sz="1800" b="1" dirty="0"/>
            <a:t>Sanctions administratives</a:t>
          </a:r>
        </a:p>
      </dgm:t>
    </dgm:pt>
    <dgm:pt modelId="{E4E4B521-0EDC-4D58-B211-25B18BA14678}" type="parTrans" cxnId="{C92220C0-6C0E-4F98-8AAF-EC091E899E1B}">
      <dgm:prSet/>
      <dgm:spPr/>
      <dgm:t>
        <a:bodyPr/>
        <a:lstStyle/>
        <a:p>
          <a:endParaRPr lang="fr-FR" sz="1800"/>
        </a:p>
      </dgm:t>
    </dgm:pt>
    <dgm:pt modelId="{8EE4DD7A-D226-4606-B0F9-5B2D1EED183C}" type="sibTrans" cxnId="{C92220C0-6C0E-4F98-8AAF-EC091E899E1B}">
      <dgm:prSet/>
      <dgm:spPr/>
      <dgm:t>
        <a:bodyPr/>
        <a:lstStyle/>
        <a:p>
          <a:endParaRPr lang="fr-FR" sz="1800"/>
        </a:p>
      </dgm:t>
    </dgm:pt>
    <dgm:pt modelId="{77352EBF-816A-40D4-B30A-1CAF0A2D8A26}">
      <dgm:prSet phldrT="[Texte]" custT="1"/>
      <dgm:spPr/>
      <dgm:t>
        <a:bodyPr/>
        <a:lstStyle/>
        <a:p>
          <a:r>
            <a:rPr lang="fr-FR" sz="1800" dirty="0"/>
            <a:t>Consignation financière</a:t>
          </a:r>
        </a:p>
      </dgm:t>
    </dgm:pt>
    <dgm:pt modelId="{3F81E9EA-189B-47D6-B153-EC0A391C6A04}" type="parTrans" cxnId="{7BA844C2-42A6-4EE8-9D75-109C2D00E33E}">
      <dgm:prSet/>
      <dgm:spPr/>
      <dgm:t>
        <a:bodyPr/>
        <a:lstStyle/>
        <a:p>
          <a:endParaRPr lang="fr-FR" sz="1800"/>
        </a:p>
      </dgm:t>
    </dgm:pt>
    <dgm:pt modelId="{E58B44AA-EA51-4874-91E5-B9927B7F5157}" type="sibTrans" cxnId="{7BA844C2-42A6-4EE8-9D75-109C2D00E33E}">
      <dgm:prSet/>
      <dgm:spPr/>
      <dgm:t>
        <a:bodyPr/>
        <a:lstStyle/>
        <a:p>
          <a:endParaRPr lang="fr-FR" sz="1800"/>
        </a:p>
      </dgm:t>
    </dgm:pt>
    <dgm:pt modelId="{4441A7DA-312F-40D3-8078-9098A3D5FE3F}">
      <dgm:prSet phldrT="[Texte]" custT="1"/>
      <dgm:spPr/>
      <dgm:t>
        <a:bodyPr/>
        <a:lstStyle/>
        <a:p>
          <a:r>
            <a:rPr lang="fr-FR" sz="1800" dirty="0"/>
            <a:t>Travaux réalisés d’office, aux frais de l’exploitant</a:t>
          </a:r>
        </a:p>
      </dgm:t>
    </dgm:pt>
    <dgm:pt modelId="{31397B5A-9E3B-49E1-9FD6-636EE411F5E2}" type="parTrans" cxnId="{EC6F9503-7923-499E-93DF-D510592F243D}">
      <dgm:prSet/>
      <dgm:spPr/>
      <dgm:t>
        <a:bodyPr/>
        <a:lstStyle/>
        <a:p>
          <a:endParaRPr lang="fr-FR" sz="1800"/>
        </a:p>
      </dgm:t>
    </dgm:pt>
    <dgm:pt modelId="{856A42D7-1DEF-40EC-9979-C4FBD8ED6EDE}" type="sibTrans" cxnId="{EC6F9503-7923-499E-93DF-D510592F243D}">
      <dgm:prSet/>
      <dgm:spPr/>
      <dgm:t>
        <a:bodyPr/>
        <a:lstStyle/>
        <a:p>
          <a:endParaRPr lang="fr-FR" sz="1800"/>
        </a:p>
      </dgm:t>
    </dgm:pt>
    <dgm:pt modelId="{5EF2D935-D609-4284-872D-E95EE085EC3F}">
      <dgm:prSet phldrT="[Texte]" custT="1"/>
      <dgm:spPr/>
      <dgm:t>
        <a:bodyPr/>
        <a:lstStyle/>
        <a:p>
          <a:r>
            <a:rPr lang="fr-FR" sz="1800" b="1" dirty="0"/>
            <a:t>Sanctions pénales</a:t>
          </a:r>
        </a:p>
      </dgm:t>
    </dgm:pt>
    <dgm:pt modelId="{6B743D1E-E1A3-4CB3-B6C3-A4B139D042EA}" type="parTrans" cxnId="{9025A1BD-F34C-4C08-BC31-AFA140CD8149}">
      <dgm:prSet/>
      <dgm:spPr/>
      <dgm:t>
        <a:bodyPr/>
        <a:lstStyle/>
        <a:p>
          <a:endParaRPr lang="fr-FR" sz="1800"/>
        </a:p>
      </dgm:t>
    </dgm:pt>
    <dgm:pt modelId="{99329F84-DC8E-488C-B6D9-CA6F205BB12A}" type="sibTrans" cxnId="{9025A1BD-F34C-4C08-BC31-AFA140CD8149}">
      <dgm:prSet/>
      <dgm:spPr/>
      <dgm:t>
        <a:bodyPr/>
        <a:lstStyle/>
        <a:p>
          <a:endParaRPr lang="fr-FR" sz="1800"/>
        </a:p>
      </dgm:t>
    </dgm:pt>
    <dgm:pt modelId="{6A7CB79A-CB2D-4DD1-A28A-4BD4041A0DFB}">
      <dgm:prSet phldrT="[Texte]" custT="1"/>
      <dgm:spPr/>
      <dgm:t>
        <a:bodyPr/>
        <a:lstStyle/>
        <a:p>
          <a:r>
            <a:rPr lang="fr-FR" sz="1800" dirty="0"/>
            <a:t>Emprisonnement et amende</a:t>
          </a:r>
        </a:p>
      </dgm:t>
    </dgm:pt>
    <dgm:pt modelId="{2426C7C6-488D-42BD-A9C1-F10CD720C312}" type="parTrans" cxnId="{4805573C-F7FB-4B4F-9D9C-389382041068}">
      <dgm:prSet/>
      <dgm:spPr/>
      <dgm:t>
        <a:bodyPr/>
        <a:lstStyle/>
        <a:p>
          <a:endParaRPr lang="fr-FR" sz="1800"/>
        </a:p>
      </dgm:t>
    </dgm:pt>
    <dgm:pt modelId="{452D6C24-FADF-4DC4-8577-E9141233889C}" type="sibTrans" cxnId="{4805573C-F7FB-4B4F-9D9C-389382041068}">
      <dgm:prSet/>
      <dgm:spPr/>
      <dgm:t>
        <a:bodyPr/>
        <a:lstStyle/>
        <a:p>
          <a:endParaRPr lang="fr-FR" sz="1800"/>
        </a:p>
      </dgm:t>
    </dgm:pt>
    <dgm:pt modelId="{AB213C7B-B707-46BB-84C7-03C4A644CD09}" type="pres">
      <dgm:prSet presAssocID="{E54DBCAC-1C42-4562-B703-BE9342504CAF}" presName="diagram" presStyleCnt="0">
        <dgm:presLayoutVars>
          <dgm:chPref val="1"/>
          <dgm:dir/>
          <dgm:animOne val="branch"/>
          <dgm:animLvl val="lvl"/>
          <dgm:resizeHandles/>
        </dgm:presLayoutVars>
      </dgm:prSet>
      <dgm:spPr/>
    </dgm:pt>
    <dgm:pt modelId="{799444F6-5C8E-4267-AC4A-F6B2AACBA100}" type="pres">
      <dgm:prSet presAssocID="{4FF2DD70-5A59-4A79-BCC2-4FCF6FF156A9}" presName="root" presStyleCnt="0"/>
      <dgm:spPr/>
    </dgm:pt>
    <dgm:pt modelId="{B1E8FECE-BEB2-4D87-930F-3C7B3AD4A399}" type="pres">
      <dgm:prSet presAssocID="{4FF2DD70-5A59-4A79-BCC2-4FCF6FF156A9}" presName="rootComposite" presStyleCnt="0"/>
      <dgm:spPr/>
    </dgm:pt>
    <dgm:pt modelId="{8046A8A9-2175-4251-A1A8-7C47AD43C978}" type="pres">
      <dgm:prSet presAssocID="{4FF2DD70-5A59-4A79-BCC2-4FCF6FF156A9}" presName="rootText" presStyleLbl="node1" presStyleIdx="0" presStyleCnt="2"/>
      <dgm:spPr/>
    </dgm:pt>
    <dgm:pt modelId="{00E28134-AF36-4587-B8F8-D42DE1FBD3F3}" type="pres">
      <dgm:prSet presAssocID="{4FF2DD70-5A59-4A79-BCC2-4FCF6FF156A9}" presName="rootConnector" presStyleLbl="node1" presStyleIdx="0" presStyleCnt="2"/>
      <dgm:spPr/>
    </dgm:pt>
    <dgm:pt modelId="{32505701-86E2-46B8-B3D7-25875F32572E}" type="pres">
      <dgm:prSet presAssocID="{4FF2DD70-5A59-4A79-BCC2-4FCF6FF156A9}" presName="childShape" presStyleCnt="0"/>
      <dgm:spPr/>
    </dgm:pt>
    <dgm:pt modelId="{C3510480-B532-4FD8-8CDF-F86243E2D6ED}" type="pres">
      <dgm:prSet presAssocID="{3F81E9EA-189B-47D6-B153-EC0A391C6A04}" presName="Name13" presStyleLbl="parChTrans1D2" presStyleIdx="0" presStyleCnt="3"/>
      <dgm:spPr/>
    </dgm:pt>
    <dgm:pt modelId="{919B2264-DD63-424C-BB93-139BF39EEF37}" type="pres">
      <dgm:prSet presAssocID="{77352EBF-816A-40D4-B30A-1CAF0A2D8A26}" presName="childText" presStyleLbl="bgAcc1" presStyleIdx="0" presStyleCnt="3" custScaleX="153310">
        <dgm:presLayoutVars>
          <dgm:bulletEnabled val="1"/>
        </dgm:presLayoutVars>
      </dgm:prSet>
      <dgm:spPr/>
    </dgm:pt>
    <dgm:pt modelId="{A197B92A-6733-4783-BBB8-9BF7261BF3DF}" type="pres">
      <dgm:prSet presAssocID="{31397B5A-9E3B-49E1-9FD6-636EE411F5E2}" presName="Name13" presStyleLbl="parChTrans1D2" presStyleIdx="1" presStyleCnt="3"/>
      <dgm:spPr/>
    </dgm:pt>
    <dgm:pt modelId="{D38FDD6C-6E64-45AA-BD28-7085EB3B3FA2}" type="pres">
      <dgm:prSet presAssocID="{4441A7DA-312F-40D3-8078-9098A3D5FE3F}" presName="childText" presStyleLbl="bgAcc1" presStyleIdx="1" presStyleCnt="3" custScaleX="153310">
        <dgm:presLayoutVars>
          <dgm:bulletEnabled val="1"/>
        </dgm:presLayoutVars>
      </dgm:prSet>
      <dgm:spPr/>
    </dgm:pt>
    <dgm:pt modelId="{B20D0807-B9EB-401F-BA21-C4947D79EBA5}" type="pres">
      <dgm:prSet presAssocID="{5EF2D935-D609-4284-872D-E95EE085EC3F}" presName="root" presStyleCnt="0"/>
      <dgm:spPr/>
    </dgm:pt>
    <dgm:pt modelId="{0A555425-4520-41B9-ACEF-349341ED0626}" type="pres">
      <dgm:prSet presAssocID="{5EF2D935-D609-4284-872D-E95EE085EC3F}" presName="rootComposite" presStyleCnt="0"/>
      <dgm:spPr/>
    </dgm:pt>
    <dgm:pt modelId="{AAFE4CE4-C478-4E8E-B73B-4C21E8E33496}" type="pres">
      <dgm:prSet presAssocID="{5EF2D935-D609-4284-872D-E95EE085EC3F}" presName="rootText" presStyleLbl="node1" presStyleIdx="1" presStyleCnt="2"/>
      <dgm:spPr/>
    </dgm:pt>
    <dgm:pt modelId="{33193980-80DA-418E-876D-3A9DB8DFAC91}" type="pres">
      <dgm:prSet presAssocID="{5EF2D935-D609-4284-872D-E95EE085EC3F}" presName="rootConnector" presStyleLbl="node1" presStyleIdx="1" presStyleCnt="2"/>
      <dgm:spPr/>
    </dgm:pt>
    <dgm:pt modelId="{9A0EAA14-0692-4127-B8B0-86E78B240438}" type="pres">
      <dgm:prSet presAssocID="{5EF2D935-D609-4284-872D-E95EE085EC3F}" presName="childShape" presStyleCnt="0"/>
      <dgm:spPr/>
    </dgm:pt>
    <dgm:pt modelId="{5F3A6E7B-01EE-48BA-8FD9-D836D871AECC}" type="pres">
      <dgm:prSet presAssocID="{2426C7C6-488D-42BD-A9C1-F10CD720C312}" presName="Name13" presStyleLbl="parChTrans1D2" presStyleIdx="2" presStyleCnt="3"/>
      <dgm:spPr/>
    </dgm:pt>
    <dgm:pt modelId="{6648A733-B67F-43F8-B2A9-F0F5E59268CF}" type="pres">
      <dgm:prSet presAssocID="{6A7CB79A-CB2D-4DD1-A28A-4BD4041A0DFB}" presName="childText" presStyleLbl="bgAcc1" presStyleIdx="2" presStyleCnt="3" custScaleX="153310">
        <dgm:presLayoutVars>
          <dgm:bulletEnabled val="1"/>
        </dgm:presLayoutVars>
      </dgm:prSet>
      <dgm:spPr/>
    </dgm:pt>
  </dgm:ptLst>
  <dgm:cxnLst>
    <dgm:cxn modelId="{EC6F9503-7923-499E-93DF-D510592F243D}" srcId="{4FF2DD70-5A59-4A79-BCC2-4FCF6FF156A9}" destId="{4441A7DA-312F-40D3-8078-9098A3D5FE3F}" srcOrd="1" destOrd="0" parTransId="{31397B5A-9E3B-49E1-9FD6-636EE411F5E2}" sibTransId="{856A42D7-1DEF-40EC-9979-C4FBD8ED6EDE}"/>
    <dgm:cxn modelId="{A16B9914-3167-44FF-B495-FA139E031534}" type="presOf" srcId="{5EF2D935-D609-4284-872D-E95EE085EC3F}" destId="{AAFE4CE4-C478-4E8E-B73B-4C21E8E33496}" srcOrd="0" destOrd="0" presId="urn:microsoft.com/office/officeart/2005/8/layout/hierarchy3"/>
    <dgm:cxn modelId="{324A2B25-BA80-45C0-99E5-F722A07E0813}" type="presOf" srcId="{4FF2DD70-5A59-4A79-BCC2-4FCF6FF156A9}" destId="{8046A8A9-2175-4251-A1A8-7C47AD43C978}" srcOrd="0" destOrd="0" presId="urn:microsoft.com/office/officeart/2005/8/layout/hierarchy3"/>
    <dgm:cxn modelId="{B504A736-D945-4CE9-A30D-2FDBA5EFB4DE}" type="presOf" srcId="{2426C7C6-488D-42BD-A9C1-F10CD720C312}" destId="{5F3A6E7B-01EE-48BA-8FD9-D836D871AECC}" srcOrd="0" destOrd="0" presId="urn:microsoft.com/office/officeart/2005/8/layout/hierarchy3"/>
    <dgm:cxn modelId="{965C5838-29BB-4EB7-A378-C8FAF7FE68E0}" type="presOf" srcId="{31397B5A-9E3B-49E1-9FD6-636EE411F5E2}" destId="{A197B92A-6733-4783-BBB8-9BF7261BF3DF}" srcOrd="0" destOrd="0" presId="urn:microsoft.com/office/officeart/2005/8/layout/hierarchy3"/>
    <dgm:cxn modelId="{4805573C-F7FB-4B4F-9D9C-389382041068}" srcId="{5EF2D935-D609-4284-872D-E95EE085EC3F}" destId="{6A7CB79A-CB2D-4DD1-A28A-4BD4041A0DFB}" srcOrd="0" destOrd="0" parTransId="{2426C7C6-488D-42BD-A9C1-F10CD720C312}" sibTransId="{452D6C24-FADF-4DC4-8577-E9141233889C}"/>
    <dgm:cxn modelId="{E4509B5B-6B57-4D1E-A835-0FC65EE0E8B3}" type="presOf" srcId="{4FF2DD70-5A59-4A79-BCC2-4FCF6FF156A9}" destId="{00E28134-AF36-4587-B8F8-D42DE1FBD3F3}" srcOrd="1" destOrd="0" presId="urn:microsoft.com/office/officeart/2005/8/layout/hierarchy3"/>
    <dgm:cxn modelId="{2A88A642-77E1-45BB-B03E-4445F979F4A5}" type="presOf" srcId="{3F81E9EA-189B-47D6-B153-EC0A391C6A04}" destId="{C3510480-B532-4FD8-8CDF-F86243E2D6ED}" srcOrd="0" destOrd="0" presId="urn:microsoft.com/office/officeart/2005/8/layout/hierarchy3"/>
    <dgm:cxn modelId="{2AD25067-54AF-4207-B90A-BA183FE7F3FD}" type="presOf" srcId="{77352EBF-816A-40D4-B30A-1CAF0A2D8A26}" destId="{919B2264-DD63-424C-BB93-139BF39EEF37}" srcOrd="0" destOrd="0" presId="urn:microsoft.com/office/officeart/2005/8/layout/hierarchy3"/>
    <dgm:cxn modelId="{D01C7148-0239-467D-BF8C-2C08F4BB832C}" type="presOf" srcId="{5EF2D935-D609-4284-872D-E95EE085EC3F}" destId="{33193980-80DA-418E-876D-3A9DB8DFAC91}" srcOrd="1" destOrd="0" presId="urn:microsoft.com/office/officeart/2005/8/layout/hierarchy3"/>
    <dgm:cxn modelId="{0F69294C-AB5B-4499-A6BB-E92EAF89ADA3}" type="presOf" srcId="{4441A7DA-312F-40D3-8078-9098A3D5FE3F}" destId="{D38FDD6C-6E64-45AA-BD28-7085EB3B3FA2}" srcOrd="0" destOrd="0" presId="urn:microsoft.com/office/officeart/2005/8/layout/hierarchy3"/>
    <dgm:cxn modelId="{B081A34D-8B92-4966-ADDF-4725EA81547C}" type="presOf" srcId="{E54DBCAC-1C42-4562-B703-BE9342504CAF}" destId="{AB213C7B-B707-46BB-84C7-03C4A644CD09}" srcOrd="0" destOrd="0" presId="urn:microsoft.com/office/officeart/2005/8/layout/hierarchy3"/>
    <dgm:cxn modelId="{8C14758A-6AE1-48C5-8434-43208F9B9DE2}" type="presOf" srcId="{6A7CB79A-CB2D-4DD1-A28A-4BD4041A0DFB}" destId="{6648A733-B67F-43F8-B2A9-F0F5E59268CF}" srcOrd="0" destOrd="0" presId="urn:microsoft.com/office/officeart/2005/8/layout/hierarchy3"/>
    <dgm:cxn modelId="{9025A1BD-F34C-4C08-BC31-AFA140CD8149}" srcId="{E54DBCAC-1C42-4562-B703-BE9342504CAF}" destId="{5EF2D935-D609-4284-872D-E95EE085EC3F}" srcOrd="1" destOrd="0" parTransId="{6B743D1E-E1A3-4CB3-B6C3-A4B139D042EA}" sibTransId="{99329F84-DC8E-488C-B6D9-CA6F205BB12A}"/>
    <dgm:cxn modelId="{C92220C0-6C0E-4F98-8AAF-EC091E899E1B}" srcId="{E54DBCAC-1C42-4562-B703-BE9342504CAF}" destId="{4FF2DD70-5A59-4A79-BCC2-4FCF6FF156A9}" srcOrd="0" destOrd="0" parTransId="{E4E4B521-0EDC-4D58-B211-25B18BA14678}" sibTransId="{8EE4DD7A-D226-4606-B0F9-5B2D1EED183C}"/>
    <dgm:cxn modelId="{7BA844C2-42A6-4EE8-9D75-109C2D00E33E}" srcId="{4FF2DD70-5A59-4A79-BCC2-4FCF6FF156A9}" destId="{77352EBF-816A-40D4-B30A-1CAF0A2D8A26}" srcOrd="0" destOrd="0" parTransId="{3F81E9EA-189B-47D6-B153-EC0A391C6A04}" sibTransId="{E58B44AA-EA51-4874-91E5-B9927B7F5157}"/>
    <dgm:cxn modelId="{EB3DAF70-70A6-46DF-AE26-B5364BBE726A}" type="presParOf" srcId="{AB213C7B-B707-46BB-84C7-03C4A644CD09}" destId="{799444F6-5C8E-4267-AC4A-F6B2AACBA100}" srcOrd="0" destOrd="0" presId="urn:microsoft.com/office/officeart/2005/8/layout/hierarchy3"/>
    <dgm:cxn modelId="{A79C493B-C48B-4802-AC81-3B3F9B7146C9}" type="presParOf" srcId="{799444F6-5C8E-4267-AC4A-F6B2AACBA100}" destId="{B1E8FECE-BEB2-4D87-930F-3C7B3AD4A399}" srcOrd="0" destOrd="0" presId="urn:microsoft.com/office/officeart/2005/8/layout/hierarchy3"/>
    <dgm:cxn modelId="{7055945E-0642-4487-A7F6-3B9749D07182}" type="presParOf" srcId="{B1E8FECE-BEB2-4D87-930F-3C7B3AD4A399}" destId="{8046A8A9-2175-4251-A1A8-7C47AD43C978}" srcOrd="0" destOrd="0" presId="urn:microsoft.com/office/officeart/2005/8/layout/hierarchy3"/>
    <dgm:cxn modelId="{2B25D1C7-0486-416D-87B9-79DA85BDD12D}" type="presParOf" srcId="{B1E8FECE-BEB2-4D87-930F-3C7B3AD4A399}" destId="{00E28134-AF36-4587-B8F8-D42DE1FBD3F3}" srcOrd="1" destOrd="0" presId="urn:microsoft.com/office/officeart/2005/8/layout/hierarchy3"/>
    <dgm:cxn modelId="{FDA53F22-D3BD-4874-BD3E-48DD8E40D3FD}" type="presParOf" srcId="{799444F6-5C8E-4267-AC4A-F6B2AACBA100}" destId="{32505701-86E2-46B8-B3D7-25875F32572E}" srcOrd="1" destOrd="0" presId="urn:microsoft.com/office/officeart/2005/8/layout/hierarchy3"/>
    <dgm:cxn modelId="{89DFD24E-E53D-462E-B049-F55F6F34125D}" type="presParOf" srcId="{32505701-86E2-46B8-B3D7-25875F32572E}" destId="{C3510480-B532-4FD8-8CDF-F86243E2D6ED}" srcOrd="0" destOrd="0" presId="urn:microsoft.com/office/officeart/2005/8/layout/hierarchy3"/>
    <dgm:cxn modelId="{570A8868-1588-45EB-878A-55877F977C60}" type="presParOf" srcId="{32505701-86E2-46B8-B3D7-25875F32572E}" destId="{919B2264-DD63-424C-BB93-139BF39EEF37}" srcOrd="1" destOrd="0" presId="urn:microsoft.com/office/officeart/2005/8/layout/hierarchy3"/>
    <dgm:cxn modelId="{42CB719A-2D04-45AB-835B-7B01782AA219}" type="presParOf" srcId="{32505701-86E2-46B8-B3D7-25875F32572E}" destId="{A197B92A-6733-4783-BBB8-9BF7261BF3DF}" srcOrd="2" destOrd="0" presId="urn:microsoft.com/office/officeart/2005/8/layout/hierarchy3"/>
    <dgm:cxn modelId="{B9DFCBE4-5C34-44D0-ABF3-7E8C8218DFF0}" type="presParOf" srcId="{32505701-86E2-46B8-B3D7-25875F32572E}" destId="{D38FDD6C-6E64-45AA-BD28-7085EB3B3FA2}" srcOrd="3" destOrd="0" presId="urn:microsoft.com/office/officeart/2005/8/layout/hierarchy3"/>
    <dgm:cxn modelId="{0048C148-A971-43FB-BA79-BC17D08ECAEF}" type="presParOf" srcId="{AB213C7B-B707-46BB-84C7-03C4A644CD09}" destId="{B20D0807-B9EB-401F-BA21-C4947D79EBA5}" srcOrd="1" destOrd="0" presId="urn:microsoft.com/office/officeart/2005/8/layout/hierarchy3"/>
    <dgm:cxn modelId="{78CDC5BD-09BC-4402-9364-A4368078EE6A}" type="presParOf" srcId="{B20D0807-B9EB-401F-BA21-C4947D79EBA5}" destId="{0A555425-4520-41B9-ACEF-349341ED0626}" srcOrd="0" destOrd="0" presId="urn:microsoft.com/office/officeart/2005/8/layout/hierarchy3"/>
    <dgm:cxn modelId="{0F39222B-9D1A-46D4-8B56-FB27AEEDC327}" type="presParOf" srcId="{0A555425-4520-41B9-ACEF-349341ED0626}" destId="{AAFE4CE4-C478-4E8E-B73B-4C21E8E33496}" srcOrd="0" destOrd="0" presId="urn:microsoft.com/office/officeart/2005/8/layout/hierarchy3"/>
    <dgm:cxn modelId="{47ADECC9-D6FD-40B6-982C-E0CE3EA5F184}" type="presParOf" srcId="{0A555425-4520-41B9-ACEF-349341ED0626}" destId="{33193980-80DA-418E-876D-3A9DB8DFAC91}" srcOrd="1" destOrd="0" presId="urn:microsoft.com/office/officeart/2005/8/layout/hierarchy3"/>
    <dgm:cxn modelId="{2E831C88-3026-4C10-8857-3B1FDEE64E1A}" type="presParOf" srcId="{B20D0807-B9EB-401F-BA21-C4947D79EBA5}" destId="{9A0EAA14-0692-4127-B8B0-86E78B240438}" srcOrd="1" destOrd="0" presId="urn:microsoft.com/office/officeart/2005/8/layout/hierarchy3"/>
    <dgm:cxn modelId="{D8065FE4-5DE5-44C4-A277-F1B7E8DD10E7}" type="presParOf" srcId="{9A0EAA14-0692-4127-B8B0-86E78B240438}" destId="{5F3A6E7B-01EE-48BA-8FD9-D836D871AECC}" srcOrd="0" destOrd="0" presId="urn:microsoft.com/office/officeart/2005/8/layout/hierarchy3"/>
    <dgm:cxn modelId="{6A6CF119-A9AC-4822-A2D7-AAFD41888E3E}" type="presParOf" srcId="{9A0EAA14-0692-4127-B8B0-86E78B240438}" destId="{6648A733-B67F-43F8-B2A9-F0F5E59268CF}"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ED23ADF-E00C-465E-B354-32091A91E713}" type="doc">
      <dgm:prSet loTypeId="urn:microsoft.com/office/officeart/2005/8/layout/arrow6" loCatId="relationship" qsTypeId="urn:microsoft.com/office/officeart/2005/8/quickstyle/simple1" qsCatId="simple" csTypeId="urn:microsoft.com/office/officeart/2005/8/colors/accent5_2" csCatId="accent5" phldr="1"/>
      <dgm:spPr/>
      <dgm:t>
        <a:bodyPr/>
        <a:lstStyle/>
        <a:p>
          <a:endParaRPr lang="fr-FR"/>
        </a:p>
      </dgm:t>
    </dgm:pt>
    <dgm:pt modelId="{A6509181-5AA1-4964-8356-C5EB4B867135}">
      <dgm:prSet phldrT="[Texte]" custT="1"/>
      <dgm:spPr/>
      <dgm:t>
        <a:bodyPr/>
        <a:lstStyle/>
        <a:p>
          <a:r>
            <a:rPr lang="fr-FR" sz="1800" b="1" dirty="0"/>
            <a:t>Attachée aux contrats liés à l’environnement</a:t>
          </a:r>
        </a:p>
      </dgm:t>
    </dgm:pt>
    <dgm:pt modelId="{5B8F2FCF-7D30-4334-9751-0A208D82C71A}" type="parTrans" cxnId="{E620BDB9-966E-4B62-8453-C0C1A2694AE7}">
      <dgm:prSet/>
      <dgm:spPr/>
      <dgm:t>
        <a:bodyPr/>
        <a:lstStyle/>
        <a:p>
          <a:endParaRPr lang="fr-FR" sz="1800" b="1"/>
        </a:p>
      </dgm:t>
    </dgm:pt>
    <dgm:pt modelId="{97234D34-1BFC-4EC2-B4EC-1CF63CFF0B99}" type="sibTrans" cxnId="{E620BDB9-966E-4B62-8453-C0C1A2694AE7}">
      <dgm:prSet/>
      <dgm:spPr/>
      <dgm:t>
        <a:bodyPr/>
        <a:lstStyle/>
        <a:p>
          <a:endParaRPr lang="fr-FR" sz="1800" b="1"/>
        </a:p>
      </dgm:t>
    </dgm:pt>
    <dgm:pt modelId="{1BB07253-D755-4C97-B643-554F90417681}">
      <dgm:prSet phldrT="[Texte]" custT="1"/>
      <dgm:spPr/>
      <dgm:t>
        <a:bodyPr/>
        <a:lstStyle/>
        <a:p>
          <a:r>
            <a:rPr lang="fr-FR" sz="1800" b="1" dirty="0"/>
            <a:t>Hors contrat</a:t>
          </a:r>
        </a:p>
      </dgm:t>
    </dgm:pt>
    <dgm:pt modelId="{AA2348E0-56DE-44CC-A16F-EA49C6A7143F}" type="parTrans" cxnId="{50A0D8DB-3D8C-476A-8E00-D7A0F7CF3E87}">
      <dgm:prSet/>
      <dgm:spPr/>
      <dgm:t>
        <a:bodyPr/>
        <a:lstStyle/>
        <a:p>
          <a:endParaRPr lang="fr-FR" sz="1800" b="1"/>
        </a:p>
      </dgm:t>
    </dgm:pt>
    <dgm:pt modelId="{0D185C22-99B8-46A6-8968-1B26F1C43255}" type="sibTrans" cxnId="{50A0D8DB-3D8C-476A-8E00-D7A0F7CF3E87}">
      <dgm:prSet/>
      <dgm:spPr/>
      <dgm:t>
        <a:bodyPr/>
        <a:lstStyle/>
        <a:p>
          <a:endParaRPr lang="fr-FR" sz="1800" b="1"/>
        </a:p>
      </dgm:t>
    </dgm:pt>
    <dgm:pt modelId="{1B18AF15-FBB9-41FA-8848-2568E1ADCC1A}" type="pres">
      <dgm:prSet presAssocID="{0ED23ADF-E00C-465E-B354-32091A91E713}" presName="compositeShape" presStyleCnt="0">
        <dgm:presLayoutVars>
          <dgm:chMax val="2"/>
          <dgm:dir/>
          <dgm:resizeHandles val="exact"/>
        </dgm:presLayoutVars>
      </dgm:prSet>
      <dgm:spPr/>
    </dgm:pt>
    <dgm:pt modelId="{3DBDCBFF-2592-4102-BE19-B800D704B048}" type="pres">
      <dgm:prSet presAssocID="{0ED23ADF-E00C-465E-B354-32091A91E713}" presName="ribbon" presStyleLbl="node1" presStyleIdx="0" presStyleCnt="1"/>
      <dgm:spPr/>
    </dgm:pt>
    <dgm:pt modelId="{D3EF816F-5FB8-4CC3-B5A3-BC09A1046D3F}" type="pres">
      <dgm:prSet presAssocID="{0ED23ADF-E00C-465E-B354-32091A91E713}" presName="leftArrowText" presStyleLbl="node1" presStyleIdx="0" presStyleCnt="1">
        <dgm:presLayoutVars>
          <dgm:chMax val="0"/>
          <dgm:bulletEnabled val="1"/>
        </dgm:presLayoutVars>
      </dgm:prSet>
      <dgm:spPr/>
    </dgm:pt>
    <dgm:pt modelId="{C4FB6E4F-5608-413D-BC27-6DBCF58AFFCF}" type="pres">
      <dgm:prSet presAssocID="{0ED23ADF-E00C-465E-B354-32091A91E713}" presName="rightArrowText" presStyleLbl="node1" presStyleIdx="0" presStyleCnt="1">
        <dgm:presLayoutVars>
          <dgm:chMax val="0"/>
          <dgm:bulletEnabled val="1"/>
        </dgm:presLayoutVars>
      </dgm:prSet>
      <dgm:spPr/>
    </dgm:pt>
  </dgm:ptLst>
  <dgm:cxnLst>
    <dgm:cxn modelId="{4F6ACE98-EE1C-41D8-BE2F-291E3A8F9038}" type="presOf" srcId="{1BB07253-D755-4C97-B643-554F90417681}" destId="{C4FB6E4F-5608-413D-BC27-6DBCF58AFFCF}" srcOrd="0" destOrd="0" presId="urn:microsoft.com/office/officeart/2005/8/layout/arrow6"/>
    <dgm:cxn modelId="{CB8B45A1-4B5C-4F96-8421-5723D5BB5BD0}" type="presOf" srcId="{A6509181-5AA1-4964-8356-C5EB4B867135}" destId="{D3EF816F-5FB8-4CC3-B5A3-BC09A1046D3F}" srcOrd="0" destOrd="0" presId="urn:microsoft.com/office/officeart/2005/8/layout/arrow6"/>
    <dgm:cxn modelId="{E620BDB9-966E-4B62-8453-C0C1A2694AE7}" srcId="{0ED23ADF-E00C-465E-B354-32091A91E713}" destId="{A6509181-5AA1-4964-8356-C5EB4B867135}" srcOrd="0" destOrd="0" parTransId="{5B8F2FCF-7D30-4334-9751-0A208D82C71A}" sibTransId="{97234D34-1BFC-4EC2-B4EC-1CF63CFF0B99}"/>
    <dgm:cxn modelId="{50A0D8DB-3D8C-476A-8E00-D7A0F7CF3E87}" srcId="{0ED23ADF-E00C-465E-B354-32091A91E713}" destId="{1BB07253-D755-4C97-B643-554F90417681}" srcOrd="1" destOrd="0" parTransId="{AA2348E0-56DE-44CC-A16F-EA49C6A7143F}" sibTransId="{0D185C22-99B8-46A6-8968-1B26F1C43255}"/>
    <dgm:cxn modelId="{D03B5BE5-617D-4251-B53C-730FC43C0FD4}" type="presOf" srcId="{0ED23ADF-E00C-465E-B354-32091A91E713}" destId="{1B18AF15-FBB9-41FA-8848-2568E1ADCC1A}" srcOrd="0" destOrd="0" presId="urn:microsoft.com/office/officeart/2005/8/layout/arrow6"/>
    <dgm:cxn modelId="{F2F43953-347F-44B9-B1FF-2D91ADA4EBFF}" type="presParOf" srcId="{1B18AF15-FBB9-41FA-8848-2568E1ADCC1A}" destId="{3DBDCBFF-2592-4102-BE19-B800D704B048}" srcOrd="0" destOrd="0" presId="urn:microsoft.com/office/officeart/2005/8/layout/arrow6"/>
    <dgm:cxn modelId="{2DA7E7C4-67D3-4186-B994-511EF6E8E1C3}" type="presParOf" srcId="{1B18AF15-FBB9-41FA-8848-2568E1ADCC1A}" destId="{D3EF816F-5FB8-4CC3-B5A3-BC09A1046D3F}" srcOrd="1" destOrd="0" presId="urn:microsoft.com/office/officeart/2005/8/layout/arrow6"/>
    <dgm:cxn modelId="{38665EAF-440F-4A96-96D0-879B27EDD0BB}" type="presParOf" srcId="{1B18AF15-FBB9-41FA-8848-2568E1ADCC1A}" destId="{C4FB6E4F-5608-413D-BC27-6DBCF58AFFCF}"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242FFA3-3057-4AFD-A8E4-04258A96D4F5}" type="doc">
      <dgm:prSet loTypeId="urn:microsoft.com/office/officeart/2005/8/layout/venn2" loCatId="relationship" qsTypeId="urn:microsoft.com/office/officeart/2005/8/quickstyle/simple1" qsCatId="simple" csTypeId="urn:microsoft.com/office/officeart/2005/8/colors/accent5_2" csCatId="accent5" phldr="1"/>
      <dgm:spPr/>
      <dgm:t>
        <a:bodyPr/>
        <a:lstStyle/>
        <a:p>
          <a:endParaRPr lang="fr-FR"/>
        </a:p>
      </dgm:t>
    </dgm:pt>
    <dgm:pt modelId="{FD28455B-4072-4725-9882-AAE8C5F40C1B}">
      <dgm:prSet phldrT="[Texte]" custT="1"/>
      <dgm:spPr/>
      <dgm:t>
        <a:bodyPr/>
        <a:lstStyle/>
        <a:p>
          <a:r>
            <a:rPr lang="fr-FR" sz="2000" b="1" dirty="0"/>
            <a:t>Préfecture</a:t>
          </a:r>
        </a:p>
      </dgm:t>
    </dgm:pt>
    <dgm:pt modelId="{EC57FA15-540E-475E-884D-CFE172397322}" type="parTrans" cxnId="{B9C6F855-BA35-40BB-8B32-2F239325C8C6}">
      <dgm:prSet/>
      <dgm:spPr/>
      <dgm:t>
        <a:bodyPr/>
        <a:lstStyle/>
        <a:p>
          <a:endParaRPr lang="fr-FR" sz="2000" b="1"/>
        </a:p>
      </dgm:t>
    </dgm:pt>
    <dgm:pt modelId="{62F5308F-B9C4-4401-A6A8-3354CA98B418}" type="sibTrans" cxnId="{B9C6F855-BA35-40BB-8B32-2F239325C8C6}">
      <dgm:prSet/>
      <dgm:spPr/>
      <dgm:t>
        <a:bodyPr/>
        <a:lstStyle/>
        <a:p>
          <a:endParaRPr lang="fr-FR" sz="2000" b="1"/>
        </a:p>
      </dgm:t>
    </dgm:pt>
    <dgm:pt modelId="{58074663-4952-4447-8F4F-CB223DA70D6B}">
      <dgm:prSet phldrT="[Texte]" custT="1"/>
      <dgm:spPr/>
      <dgm:t>
        <a:bodyPr/>
        <a:lstStyle/>
        <a:p>
          <a:r>
            <a:rPr lang="fr-FR" sz="2000" b="1"/>
            <a:t>DREAL</a:t>
          </a:r>
          <a:endParaRPr lang="fr-FR" sz="2000" b="1" dirty="0"/>
        </a:p>
        <a:p>
          <a:r>
            <a:rPr lang="fr-FR" sz="1500" b="1" i="0" dirty="0"/>
            <a:t>Direction régionale de l’environnement, de l’aménagement et du logement</a:t>
          </a:r>
          <a:endParaRPr lang="fr-FR" sz="1500" b="1" dirty="0"/>
        </a:p>
      </dgm:t>
    </dgm:pt>
    <dgm:pt modelId="{148A7B47-0C72-4373-B1A7-57DBECBE986D}" type="parTrans" cxnId="{8F385DC3-E4AE-46CD-8EF1-66835641398C}">
      <dgm:prSet/>
      <dgm:spPr/>
      <dgm:t>
        <a:bodyPr/>
        <a:lstStyle/>
        <a:p>
          <a:endParaRPr lang="fr-FR" sz="2000" b="1"/>
        </a:p>
      </dgm:t>
    </dgm:pt>
    <dgm:pt modelId="{5F917D0E-4A26-4D5C-9529-E386239DFCAF}" type="sibTrans" cxnId="{8F385DC3-E4AE-46CD-8EF1-66835641398C}">
      <dgm:prSet/>
      <dgm:spPr/>
      <dgm:t>
        <a:bodyPr/>
        <a:lstStyle/>
        <a:p>
          <a:endParaRPr lang="fr-FR" sz="2000" b="1"/>
        </a:p>
      </dgm:t>
    </dgm:pt>
    <dgm:pt modelId="{95B900DB-86A5-4E94-9EF4-B2C1FFD40F39}" type="pres">
      <dgm:prSet presAssocID="{0242FFA3-3057-4AFD-A8E4-04258A96D4F5}" presName="Name0" presStyleCnt="0">
        <dgm:presLayoutVars>
          <dgm:chMax val="7"/>
          <dgm:resizeHandles val="exact"/>
        </dgm:presLayoutVars>
      </dgm:prSet>
      <dgm:spPr/>
    </dgm:pt>
    <dgm:pt modelId="{0BF2D3A2-4294-41E9-B909-7F01C317ACE1}" type="pres">
      <dgm:prSet presAssocID="{0242FFA3-3057-4AFD-A8E4-04258A96D4F5}" presName="comp1" presStyleCnt="0"/>
      <dgm:spPr/>
    </dgm:pt>
    <dgm:pt modelId="{E22BC206-A36A-4ABE-8602-549F1A22840D}" type="pres">
      <dgm:prSet presAssocID="{0242FFA3-3057-4AFD-A8E4-04258A96D4F5}" presName="circle1" presStyleLbl="node1" presStyleIdx="0" presStyleCnt="2"/>
      <dgm:spPr/>
    </dgm:pt>
    <dgm:pt modelId="{D167C850-4DD2-424C-BAA5-BDD3967F55F4}" type="pres">
      <dgm:prSet presAssocID="{0242FFA3-3057-4AFD-A8E4-04258A96D4F5}" presName="c1text" presStyleLbl="node1" presStyleIdx="0" presStyleCnt="2">
        <dgm:presLayoutVars>
          <dgm:bulletEnabled val="1"/>
        </dgm:presLayoutVars>
      </dgm:prSet>
      <dgm:spPr/>
    </dgm:pt>
    <dgm:pt modelId="{262C829A-2488-4C02-9384-AE640777E031}" type="pres">
      <dgm:prSet presAssocID="{0242FFA3-3057-4AFD-A8E4-04258A96D4F5}" presName="comp2" presStyleCnt="0"/>
      <dgm:spPr/>
    </dgm:pt>
    <dgm:pt modelId="{E592747B-C65B-4174-8901-A4D804905EF8}" type="pres">
      <dgm:prSet presAssocID="{0242FFA3-3057-4AFD-A8E4-04258A96D4F5}" presName="circle2" presStyleLbl="node1" presStyleIdx="1" presStyleCnt="2" custScaleX="110299" custScaleY="83575"/>
      <dgm:spPr/>
    </dgm:pt>
    <dgm:pt modelId="{A446B5A4-FF62-4D34-BCA3-0DC4DA75E22F}" type="pres">
      <dgm:prSet presAssocID="{0242FFA3-3057-4AFD-A8E4-04258A96D4F5}" presName="c2text" presStyleLbl="node1" presStyleIdx="1" presStyleCnt="2">
        <dgm:presLayoutVars>
          <dgm:bulletEnabled val="1"/>
        </dgm:presLayoutVars>
      </dgm:prSet>
      <dgm:spPr/>
    </dgm:pt>
  </dgm:ptLst>
  <dgm:cxnLst>
    <dgm:cxn modelId="{0524970B-D9EB-42D4-A942-85D4ABA2673D}" type="presOf" srcId="{0242FFA3-3057-4AFD-A8E4-04258A96D4F5}" destId="{95B900DB-86A5-4E94-9EF4-B2C1FFD40F39}" srcOrd="0" destOrd="0" presId="urn:microsoft.com/office/officeart/2005/8/layout/venn2"/>
    <dgm:cxn modelId="{CF0E545D-1546-45BE-A8C8-D0BCDFE04EA3}" type="presOf" srcId="{58074663-4952-4447-8F4F-CB223DA70D6B}" destId="{A446B5A4-FF62-4D34-BCA3-0DC4DA75E22F}" srcOrd="1" destOrd="0" presId="urn:microsoft.com/office/officeart/2005/8/layout/venn2"/>
    <dgm:cxn modelId="{B9C6F855-BA35-40BB-8B32-2F239325C8C6}" srcId="{0242FFA3-3057-4AFD-A8E4-04258A96D4F5}" destId="{FD28455B-4072-4725-9882-AAE8C5F40C1B}" srcOrd="0" destOrd="0" parTransId="{EC57FA15-540E-475E-884D-CFE172397322}" sibTransId="{62F5308F-B9C4-4401-A6A8-3354CA98B418}"/>
    <dgm:cxn modelId="{54B397B0-5590-4B34-841C-5B78B3F2CFEF}" type="presOf" srcId="{FD28455B-4072-4725-9882-AAE8C5F40C1B}" destId="{E22BC206-A36A-4ABE-8602-549F1A22840D}" srcOrd="0" destOrd="0" presId="urn:microsoft.com/office/officeart/2005/8/layout/venn2"/>
    <dgm:cxn modelId="{57419DBE-C7C8-4931-AEF9-4E67238E6DCD}" type="presOf" srcId="{58074663-4952-4447-8F4F-CB223DA70D6B}" destId="{E592747B-C65B-4174-8901-A4D804905EF8}" srcOrd="0" destOrd="0" presId="urn:microsoft.com/office/officeart/2005/8/layout/venn2"/>
    <dgm:cxn modelId="{FF318DC2-FAAA-4F7A-86D8-FFC2501DF99A}" type="presOf" srcId="{FD28455B-4072-4725-9882-AAE8C5F40C1B}" destId="{D167C850-4DD2-424C-BAA5-BDD3967F55F4}" srcOrd="1" destOrd="0" presId="urn:microsoft.com/office/officeart/2005/8/layout/venn2"/>
    <dgm:cxn modelId="{8F385DC3-E4AE-46CD-8EF1-66835641398C}" srcId="{0242FFA3-3057-4AFD-A8E4-04258A96D4F5}" destId="{58074663-4952-4447-8F4F-CB223DA70D6B}" srcOrd="1" destOrd="0" parTransId="{148A7B47-0C72-4373-B1A7-57DBECBE986D}" sibTransId="{5F917D0E-4A26-4D5C-9529-E386239DFCAF}"/>
    <dgm:cxn modelId="{D0B90173-1F21-4748-B8C8-46B258BC917A}" type="presParOf" srcId="{95B900DB-86A5-4E94-9EF4-B2C1FFD40F39}" destId="{0BF2D3A2-4294-41E9-B909-7F01C317ACE1}" srcOrd="0" destOrd="0" presId="urn:microsoft.com/office/officeart/2005/8/layout/venn2"/>
    <dgm:cxn modelId="{95281AE9-FDA8-45D4-B254-47A874479999}" type="presParOf" srcId="{0BF2D3A2-4294-41E9-B909-7F01C317ACE1}" destId="{E22BC206-A36A-4ABE-8602-549F1A22840D}" srcOrd="0" destOrd="0" presId="urn:microsoft.com/office/officeart/2005/8/layout/venn2"/>
    <dgm:cxn modelId="{2FF7AEFC-B77D-477A-9CE5-37EDBA9D82F9}" type="presParOf" srcId="{0BF2D3A2-4294-41E9-B909-7F01C317ACE1}" destId="{D167C850-4DD2-424C-BAA5-BDD3967F55F4}" srcOrd="1" destOrd="0" presId="urn:microsoft.com/office/officeart/2005/8/layout/venn2"/>
    <dgm:cxn modelId="{31E52C27-FBD6-4573-AF42-C0277372AD65}" type="presParOf" srcId="{95B900DB-86A5-4E94-9EF4-B2C1FFD40F39}" destId="{262C829A-2488-4C02-9384-AE640777E031}" srcOrd="1" destOrd="0" presId="urn:microsoft.com/office/officeart/2005/8/layout/venn2"/>
    <dgm:cxn modelId="{1778B1D3-0B99-46C4-8F13-892CE7FB06D2}" type="presParOf" srcId="{262C829A-2488-4C02-9384-AE640777E031}" destId="{E592747B-C65B-4174-8901-A4D804905EF8}" srcOrd="0" destOrd="0" presId="urn:microsoft.com/office/officeart/2005/8/layout/venn2"/>
    <dgm:cxn modelId="{4E4466A0-8229-489D-8BEA-418E1DD4FEB5}" type="presParOf" srcId="{262C829A-2488-4C02-9384-AE640777E031}" destId="{A446B5A4-FF62-4D34-BCA3-0DC4DA75E22F}"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34D0340-2B6B-4340-B323-637E97B65D5C}"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AC58A169-5896-4C7C-A3A1-F2ED30BB0A8A}">
      <dgm:prSet phldrT="[Texte]" custT="1"/>
      <dgm:spPr>
        <a:solidFill>
          <a:schemeClr val="accent5"/>
        </a:solidFill>
      </dgm:spPr>
      <dgm:t>
        <a:bodyPr/>
        <a:lstStyle/>
        <a:p>
          <a:r>
            <a:rPr lang="fr-FR" sz="1800" b="1" dirty="0"/>
            <a:t>Matières premières et consommables</a:t>
          </a:r>
        </a:p>
      </dgm:t>
    </dgm:pt>
    <dgm:pt modelId="{76F63047-E6EF-413B-B253-9BCAAFB13C05}" type="parTrans" cxnId="{F008CC3A-2ECD-4267-97CE-916D8E93D2CB}">
      <dgm:prSet/>
      <dgm:spPr/>
      <dgm:t>
        <a:bodyPr/>
        <a:lstStyle/>
        <a:p>
          <a:endParaRPr lang="fr-FR" sz="1800" b="1"/>
        </a:p>
      </dgm:t>
    </dgm:pt>
    <dgm:pt modelId="{10DF487C-54F8-4A17-A203-FAC9C5DEE23A}" type="sibTrans" cxnId="{F008CC3A-2ECD-4267-97CE-916D8E93D2CB}">
      <dgm:prSet/>
      <dgm:spPr/>
      <dgm:t>
        <a:bodyPr/>
        <a:lstStyle/>
        <a:p>
          <a:endParaRPr lang="fr-FR" sz="1800" b="1"/>
        </a:p>
      </dgm:t>
    </dgm:pt>
    <dgm:pt modelId="{EB0F4D82-B64E-4E5E-A9CA-B0FDC8B7411D}">
      <dgm:prSet phldrT="[Texte]" custT="1"/>
      <dgm:spPr>
        <a:solidFill>
          <a:schemeClr val="accent5"/>
        </a:solidFill>
      </dgm:spPr>
      <dgm:t>
        <a:bodyPr/>
        <a:lstStyle/>
        <a:p>
          <a:r>
            <a:rPr lang="fr-FR" sz="1800" b="1" dirty="0"/>
            <a:t>Déchets</a:t>
          </a:r>
        </a:p>
      </dgm:t>
    </dgm:pt>
    <dgm:pt modelId="{D643DE64-DE98-4FAA-9ADE-AC9CA516829D}" type="parTrans" cxnId="{B557731A-B1B9-4DD1-919B-B1781572941A}">
      <dgm:prSet/>
      <dgm:spPr/>
      <dgm:t>
        <a:bodyPr/>
        <a:lstStyle/>
        <a:p>
          <a:endParaRPr lang="fr-FR" sz="1800" b="1"/>
        </a:p>
      </dgm:t>
    </dgm:pt>
    <dgm:pt modelId="{5A17138D-1D04-4BB5-AAC3-3C226FF85370}" type="sibTrans" cxnId="{B557731A-B1B9-4DD1-919B-B1781572941A}">
      <dgm:prSet/>
      <dgm:spPr/>
      <dgm:t>
        <a:bodyPr/>
        <a:lstStyle/>
        <a:p>
          <a:endParaRPr lang="fr-FR" sz="1800" b="1"/>
        </a:p>
      </dgm:t>
    </dgm:pt>
    <dgm:pt modelId="{ECC86101-71E7-42F8-96EB-8C91322E1CCB}">
      <dgm:prSet phldrT="[Texte]" custT="1"/>
      <dgm:spPr>
        <a:solidFill>
          <a:schemeClr val="accent5"/>
        </a:solidFill>
      </dgm:spPr>
      <dgm:t>
        <a:bodyPr/>
        <a:lstStyle/>
        <a:p>
          <a:r>
            <a:rPr lang="fr-FR" sz="1800" b="1" dirty="0"/>
            <a:t>Energie</a:t>
          </a:r>
        </a:p>
      </dgm:t>
    </dgm:pt>
    <dgm:pt modelId="{03B70344-5432-47F0-9524-B2DAA57F3F0F}" type="parTrans" cxnId="{A4D2B983-692E-4E6D-93E1-51FC772B5C22}">
      <dgm:prSet/>
      <dgm:spPr/>
      <dgm:t>
        <a:bodyPr/>
        <a:lstStyle/>
        <a:p>
          <a:endParaRPr lang="fr-FR" sz="1800" b="1"/>
        </a:p>
      </dgm:t>
    </dgm:pt>
    <dgm:pt modelId="{1E017B79-054D-4D32-9114-2AF138F07A12}" type="sibTrans" cxnId="{A4D2B983-692E-4E6D-93E1-51FC772B5C22}">
      <dgm:prSet/>
      <dgm:spPr/>
      <dgm:t>
        <a:bodyPr/>
        <a:lstStyle/>
        <a:p>
          <a:endParaRPr lang="fr-FR" sz="1800" b="1"/>
        </a:p>
      </dgm:t>
    </dgm:pt>
    <dgm:pt modelId="{9F4DA40A-269C-4B78-A114-64D45D8697DB}">
      <dgm:prSet phldrT="[Texte]" custT="1"/>
      <dgm:spPr>
        <a:solidFill>
          <a:schemeClr val="accent5"/>
        </a:solidFill>
      </dgm:spPr>
      <dgm:t>
        <a:bodyPr/>
        <a:lstStyle/>
        <a:p>
          <a:r>
            <a:rPr lang="fr-FR" sz="1800" b="1" dirty="0"/>
            <a:t>Eaux</a:t>
          </a:r>
        </a:p>
      </dgm:t>
    </dgm:pt>
    <dgm:pt modelId="{A19B2427-B487-4971-AB4B-4E0A2C9EEFA1}" type="parTrans" cxnId="{46E07194-8F87-4257-9B63-6BEFC2B51AAE}">
      <dgm:prSet/>
      <dgm:spPr/>
      <dgm:t>
        <a:bodyPr/>
        <a:lstStyle/>
        <a:p>
          <a:endParaRPr lang="fr-FR" sz="1800" b="1"/>
        </a:p>
      </dgm:t>
    </dgm:pt>
    <dgm:pt modelId="{BAF284DD-D1D3-40B1-A34B-D872FC7E7CC3}" type="sibTrans" cxnId="{46E07194-8F87-4257-9B63-6BEFC2B51AAE}">
      <dgm:prSet/>
      <dgm:spPr/>
      <dgm:t>
        <a:bodyPr/>
        <a:lstStyle/>
        <a:p>
          <a:endParaRPr lang="fr-FR" sz="1800" b="1"/>
        </a:p>
      </dgm:t>
    </dgm:pt>
    <dgm:pt modelId="{95D15932-EF66-4DE8-87C4-2F7144AC5208}">
      <dgm:prSet phldrT="[Texte]" custT="1"/>
      <dgm:spPr>
        <a:solidFill>
          <a:schemeClr val="accent5"/>
        </a:solidFill>
      </dgm:spPr>
      <dgm:t>
        <a:bodyPr/>
        <a:lstStyle/>
        <a:p>
          <a:r>
            <a:rPr lang="fr-FR" sz="1800" b="1" dirty="0"/>
            <a:t>Air</a:t>
          </a:r>
        </a:p>
      </dgm:t>
    </dgm:pt>
    <dgm:pt modelId="{7794DAA8-821D-4BCB-BA72-F0313F017FF9}" type="parTrans" cxnId="{FEA24717-EDBB-4CA0-876D-0AB336DD89C0}">
      <dgm:prSet/>
      <dgm:spPr/>
      <dgm:t>
        <a:bodyPr/>
        <a:lstStyle/>
        <a:p>
          <a:endParaRPr lang="fr-FR" sz="1800" b="1"/>
        </a:p>
      </dgm:t>
    </dgm:pt>
    <dgm:pt modelId="{95CEBBA5-755C-484C-9DAE-30276F90FDAD}" type="sibTrans" cxnId="{FEA24717-EDBB-4CA0-876D-0AB336DD89C0}">
      <dgm:prSet/>
      <dgm:spPr/>
      <dgm:t>
        <a:bodyPr/>
        <a:lstStyle/>
        <a:p>
          <a:endParaRPr lang="fr-FR" sz="1800" b="1"/>
        </a:p>
      </dgm:t>
    </dgm:pt>
    <dgm:pt modelId="{E62D852A-88F8-4B5D-A9F3-280718D14985}">
      <dgm:prSet custT="1"/>
      <dgm:spPr>
        <a:solidFill>
          <a:schemeClr val="accent5"/>
        </a:solidFill>
      </dgm:spPr>
      <dgm:t>
        <a:bodyPr/>
        <a:lstStyle/>
        <a:p>
          <a:r>
            <a:rPr lang="fr-FR" sz="1800" b="1" dirty="0"/>
            <a:t>Sol</a:t>
          </a:r>
        </a:p>
      </dgm:t>
    </dgm:pt>
    <dgm:pt modelId="{5620D47F-E7F3-447A-91D7-1F70F3B5494A}" type="parTrans" cxnId="{0DF08AF3-94CF-4D84-B8AC-7FEA739AF7FE}">
      <dgm:prSet/>
      <dgm:spPr/>
      <dgm:t>
        <a:bodyPr/>
        <a:lstStyle/>
        <a:p>
          <a:endParaRPr lang="fr-FR" sz="1800" b="1"/>
        </a:p>
      </dgm:t>
    </dgm:pt>
    <dgm:pt modelId="{D22070CA-CFBB-472B-A75A-24ADE709D719}" type="sibTrans" cxnId="{0DF08AF3-94CF-4D84-B8AC-7FEA739AF7FE}">
      <dgm:prSet/>
      <dgm:spPr/>
      <dgm:t>
        <a:bodyPr/>
        <a:lstStyle/>
        <a:p>
          <a:endParaRPr lang="fr-FR" sz="1800" b="1"/>
        </a:p>
      </dgm:t>
    </dgm:pt>
    <dgm:pt modelId="{70A1A56E-E380-4D91-887F-469935BE60EC}">
      <dgm:prSet custT="1"/>
      <dgm:spPr>
        <a:solidFill>
          <a:schemeClr val="accent5"/>
        </a:solidFill>
      </dgm:spPr>
      <dgm:t>
        <a:bodyPr/>
        <a:lstStyle/>
        <a:p>
          <a:r>
            <a:rPr lang="fr-FR" sz="1800" b="1" dirty="0"/>
            <a:t>Nuisances </a:t>
          </a:r>
        </a:p>
        <a:p>
          <a:r>
            <a:rPr lang="fr-FR" sz="1800" b="1" dirty="0"/>
            <a:t>(bruit, vue, odeurs)</a:t>
          </a:r>
        </a:p>
      </dgm:t>
    </dgm:pt>
    <dgm:pt modelId="{F922598C-5D97-4269-BE37-524AC6679B6E}" type="parTrans" cxnId="{161CC810-776C-4BAD-8A63-6C400FA5136F}">
      <dgm:prSet/>
      <dgm:spPr/>
      <dgm:t>
        <a:bodyPr/>
        <a:lstStyle/>
        <a:p>
          <a:endParaRPr lang="fr-FR" sz="1800" b="1"/>
        </a:p>
      </dgm:t>
    </dgm:pt>
    <dgm:pt modelId="{277C862E-561F-4A84-8CB0-8DD87D76CB92}" type="sibTrans" cxnId="{161CC810-776C-4BAD-8A63-6C400FA5136F}">
      <dgm:prSet/>
      <dgm:spPr/>
      <dgm:t>
        <a:bodyPr/>
        <a:lstStyle/>
        <a:p>
          <a:endParaRPr lang="fr-FR" sz="1800" b="1"/>
        </a:p>
      </dgm:t>
    </dgm:pt>
    <dgm:pt modelId="{ED53AD6B-1916-42D5-AD85-C1E24E1D69F2}" type="pres">
      <dgm:prSet presAssocID="{C34D0340-2B6B-4340-B323-637E97B65D5C}" presName="diagram" presStyleCnt="0">
        <dgm:presLayoutVars>
          <dgm:dir/>
          <dgm:resizeHandles val="exact"/>
        </dgm:presLayoutVars>
      </dgm:prSet>
      <dgm:spPr/>
    </dgm:pt>
    <dgm:pt modelId="{223317C1-6CF5-484C-9345-CEB90D539B55}" type="pres">
      <dgm:prSet presAssocID="{AC58A169-5896-4C7C-A3A1-F2ED30BB0A8A}" presName="node" presStyleLbl="node1" presStyleIdx="0" presStyleCnt="7">
        <dgm:presLayoutVars>
          <dgm:bulletEnabled val="1"/>
        </dgm:presLayoutVars>
      </dgm:prSet>
      <dgm:spPr/>
    </dgm:pt>
    <dgm:pt modelId="{0E3A2780-D532-436F-94CB-230A7E97AF44}" type="pres">
      <dgm:prSet presAssocID="{10DF487C-54F8-4A17-A203-FAC9C5DEE23A}" presName="sibTrans" presStyleCnt="0"/>
      <dgm:spPr/>
    </dgm:pt>
    <dgm:pt modelId="{19C412DF-553C-425C-AB2F-6B282F8C1D84}" type="pres">
      <dgm:prSet presAssocID="{EB0F4D82-B64E-4E5E-A9CA-B0FDC8B7411D}" presName="node" presStyleLbl="node1" presStyleIdx="1" presStyleCnt="7">
        <dgm:presLayoutVars>
          <dgm:bulletEnabled val="1"/>
        </dgm:presLayoutVars>
      </dgm:prSet>
      <dgm:spPr/>
    </dgm:pt>
    <dgm:pt modelId="{CAE0E460-9921-4E52-9E51-C1685AA57F5B}" type="pres">
      <dgm:prSet presAssocID="{5A17138D-1D04-4BB5-AAC3-3C226FF85370}" presName="sibTrans" presStyleCnt="0"/>
      <dgm:spPr/>
    </dgm:pt>
    <dgm:pt modelId="{322960FD-E618-4A86-92A4-0962F4536065}" type="pres">
      <dgm:prSet presAssocID="{ECC86101-71E7-42F8-96EB-8C91322E1CCB}" presName="node" presStyleLbl="node1" presStyleIdx="2" presStyleCnt="7">
        <dgm:presLayoutVars>
          <dgm:bulletEnabled val="1"/>
        </dgm:presLayoutVars>
      </dgm:prSet>
      <dgm:spPr/>
    </dgm:pt>
    <dgm:pt modelId="{E72ECD0E-D7B2-445C-8161-5DBC98EF1325}" type="pres">
      <dgm:prSet presAssocID="{1E017B79-054D-4D32-9114-2AF138F07A12}" presName="sibTrans" presStyleCnt="0"/>
      <dgm:spPr/>
    </dgm:pt>
    <dgm:pt modelId="{62B0544A-21CB-4EBB-95EC-34A46C5E67ED}" type="pres">
      <dgm:prSet presAssocID="{9F4DA40A-269C-4B78-A114-64D45D8697DB}" presName="node" presStyleLbl="node1" presStyleIdx="3" presStyleCnt="7">
        <dgm:presLayoutVars>
          <dgm:bulletEnabled val="1"/>
        </dgm:presLayoutVars>
      </dgm:prSet>
      <dgm:spPr/>
    </dgm:pt>
    <dgm:pt modelId="{E9D2E6E1-EC8D-4578-8F5F-DC5BF20055CD}" type="pres">
      <dgm:prSet presAssocID="{BAF284DD-D1D3-40B1-A34B-D872FC7E7CC3}" presName="sibTrans" presStyleCnt="0"/>
      <dgm:spPr/>
    </dgm:pt>
    <dgm:pt modelId="{8DA2D02C-8950-4CF0-90A0-0BF1424DD1E6}" type="pres">
      <dgm:prSet presAssocID="{95D15932-EF66-4DE8-87C4-2F7144AC5208}" presName="node" presStyleLbl="node1" presStyleIdx="4" presStyleCnt="7">
        <dgm:presLayoutVars>
          <dgm:bulletEnabled val="1"/>
        </dgm:presLayoutVars>
      </dgm:prSet>
      <dgm:spPr/>
    </dgm:pt>
    <dgm:pt modelId="{A01DD892-80A0-44D6-A3F5-DEBFF810683F}" type="pres">
      <dgm:prSet presAssocID="{95CEBBA5-755C-484C-9DAE-30276F90FDAD}" presName="sibTrans" presStyleCnt="0"/>
      <dgm:spPr/>
    </dgm:pt>
    <dgm:pt modelId="{724E1570-3087-4457-83AC-89833E232FD0}" type="pres">
      <dgm:prSet presAssocID="{E62D852A-88F8-4B5D-A9F3-280718D14985}" presName="node" presStyleLbl="node1" presStyleIdx="5" presStyleCnt="7">
        <dgm:presLayoutVars>
          <dgm:bulletEnabled val="1"/>
        </dgm:presLayoutVars>
      </dgm:prSet>
      <dgm:spPr/>
    </dgm:pt>
    <dgm:pt modelId="{42B8A670-1D5C-4BF4-9BE8-84F2D52AAA24}" type="pres">
      <dgm:prSet presAssocID="{D22070CA-CFBB-472B-A75A-24ADE709D719}" presName="sibTrans" presStyleCnt="0"/>
      <dgm:spPr/>
    </dgm:pt>
    <dgm:pt modelId="{D1FF3F4C-DD9B-489D-8472-A477085D9C38}" type="pres">
      <dgm:prSet presAssocID="{70A1A56E-E380-4D91-887F-469935BE60EC}" presName="node" presStyleLbl="node1" presStyleIdx="6" presStyleCnt="7">
        <dgm:presLayoutVars>
          <dgm:bulletEnabled val="1"/>
        </dgm:presLayoutVars>
      </dgm:prSet>
      <dgm:spPr/>
    </dgm:pt>
  </dgm:ptLst>
  <dgm:cxnLst>
    <dgm:cxn modelId="{161CC810-776C-4BAD-8A63-6C400FA5136F}" srcId="{C34D0340-2B6B-4340-B323-637E97B65D5C}" destId="{70A1A56E-E380-4D91-887F-469935BE60EC}" srcOrd="6" destOrd="0" parTransId="{F922598C-5D97-4269-BE37-524AC6679B6E}" sibTransId="{277C862E-561F-4A84-8CB0-8DD87D76CB92}"/>
    <dgm:cxn modelId="{529EFC14-2465-44A7-819C-F9BA85AC3598}" type="presOf" srcId="{C34D0340-2B6B-4340-B323-637E97B65D5C}" destId="{ED53AD6B-1916-42D5-AD85-C1E24E1D69F2}" srcOrd="0" destOrd="0" presId="urn:microsoft.com/office/officeart/2005/8/layout/default"/>
    <dgm:cxn modelId="{FEA24717-EDBB-4CA0-876D-0AB336DD89C0}" srcId="{C34D0340-2B6B-4340-B323-637E97B65D5C}" destId="{95D15932-EF66-4DE8-87C4-2F7144AC5208}" srcOrd="4" destOrd="0" parTransId="{7794DAA8-821D-4BCB-BA72-F0313F017FF9}" sibTransId="{95CEBBA5-755C-484C-9DAE-30276F90FDAD}"/>
    <dgm:cxn modelId="{B557731A-B1B9-4DD1-919B-B1781572941A}" srcId="{C34D0340-2B6B-4340-B323-637E97B65D5C}" destId="{EB0F4D82-B64E-4E5E-A9CA-B0FDC8B7411D}" srcOrd="1" destOrd="0" parTransId="{D643DE64-DE98-4FAA-9ADE-AC9CA516829D}" sibTransId="{5A17138D-1D04-4BB5-AAC3-3C226FF85370}"/>
    <dgm:cxn modelId="{43E1CA1E-C978-4261-A2ED-314381B81719}" type="presOf" srcId="{EB0F4D82-B64E-4E5E-A9CA-B0FDC8B7411D}" destId="{19C412DF-553C-425C-AB2F-6B282F8C1D84}" srcOrd="0" destOrd="0" presId="urn:microsoft.com/office/officeart/2005/8/layout/default"/>
    <dgm:cxn modelId="{CC0F9225-5CAE-477E-B9B0-32F4BE3ED47C}" type="presOf" srcId="{ECC86101-71E7-42F8-96EB-8C91322E1CCB}" destId="{322960FD-E618-4A86-92A4-0962F4536065}" srcOrd="0" destOrd="0" presId="urn:microsoft.com/office/officeart/2005/8/layout/default"/>
    <dgm:cxn modelId="{F008CC3A-2ECD-4267-97CE-916D8E93D2CB}" srcId="{C34D0340-2B6B-4340-B323-637E97B65D5C}" destId="{AC58A169-5896-4C7C-A3A1-F2ED30BB0A8A}" srcOrd="0" destOrd="0" parTransId="{76F63047-E6EF-413B-B253-9BCAAFB13C05}" sibTransId="{10DF487C-54F8-4A17-A203-FAC9C5DEE23A}"/>
    <dgm:cxn modelId="{7E24AF70-AC0C-405A-BE1B-38C91EF2D714}" type="presOf" srcId="{9F4DA40A-269C-4B78-A114-64D45D8697DB}" destId="{62B0544A-21CB-4EBB-95EC-34A46C5E67ED}" srcOrd="0" destOrd="0" presId="urn:microsoft.com/office/officeart/2005/8/layout/default"/>
    <dgm:cxn modelId="{34312671-4700-4A71-BA1C-CC67BE5AE6C9}" type="presOf" srcId="{AC58A169-5896-4C7C-A3A1-F2ED30BB0A8A}" destId="{223317C1-6CF5-484C-9345-CEB90D539B55}" srcOrd="0" destOrd="0" presId="urn:microsoft.com/office/officeart/2005/8/layout/default"/>
    <dgm:cxn modelId="{A4D2B983-692E-4E6D-93E1-51FC772B5C22}" srcId="{C34D0340-2B6B-4340-B323-637E97B65D5C}" destId="{ECC86101-71E7-42F8-96EB-8C91322E1CCB}" srcOrd="2" destOrd="0" parTransId="{03B70344-5432-47F0-9524-B2DAA57F3F0F}" sibTransId="{1E017B79-054D-4D32-9114-2AF138F07A12}"/>
    <dgm:cxn modelId="{46E07194-8F87-4257-9B63-6BEFC2B51AAE}" srcId="{C34D0340-2B6B-4340-B323-637E97B65D5C}" destId="{9F4DA40A-269C-4B78-A114-64D45D8697DB}" srcOrd="3" destOrd="0" parTransId="{A19B2427-B487-4971-AB4B-4E0A2C9EEFA1}" sibTransId="{BAF284DD-D1D3-40B1-A34B-D872FC7E7CC3}"/>
    <dgm:cxn modelId="{43E830AE-45C9-456D-82E9-7493BFA14B45}" type="presOf" srcId="{95D15932-EF66-4DE8-87C4-2F7144AC5208}" destId="{8DA2D02C-8950-4CF0-90A0-0BF1424DD1E6}" srcOrd="0" destOrd="0" presId="urn:microsoft.com/office/officeart/2005/8/layout/default"/>
    <dgm:cxn modelId="{59BC4EC3-80E6-4C7D-94EF-03762F2645C7}" type="presOf" srcId="{E62D852A-88F8-4B5D-A9F3-280718D14985}" destId="{724E1570-3087-4457-83AC-89833E232FD0}" srcOrd="0" destOrd="0" presId="urn:microsoft.com/office/officeart/2005/8/layout/default"/>
    <dgm:cxn modelId="{0DF08AF3-94CF-4D84-B8AC-7FEA739AF7FE}" srcId="{C34D0340-2B6B-4340-B323-637E97B65D5C}" destId="{E62D852A-88F8-4B5D-A9F3-280718D14985}" srcOrd="5" destOrd="0" parTransId="{5620D47F-E7F3-447A-91D7-1F70F3B5494A}" sibTransId="{D22070CA-CFBB-472B-A75A-24ADE709D719}"/>
    <dgm:cxn modelId="{192882FA-888A-4868-9CD5-33DDDDB504C7}" type="presOf" srcId="{70A1A56E-E380-4D91-887F-469935BE60EC}" destId="{D1FF3F4C-DD9B-489D-8472-A477085D9C38}" srcOrd="0" destOrd="0" presId="urn:microsoft.com/office/officeart/2005/8/layout/default"/>
    <dgm:cxn modelId="{6332BF52-6AF3-47F9-87D6-0A23872497AD}" type="presParOf" srcId="{ED53AD6B-1916-42D5-AD85-C1E24E1D69F2}" destId="{223317C1-6CF5-484C-9345-CEB90D539B55}" srcOrd="0" destOrd="0" presId="urn:microsoft.com/office/officeart/2005/8/layout/default"/>
    <dgm:cxn modelId="{955B2F32-5AB7-48EE-B1EC-B1AFF623BE6C}" type="presParOf" srcId="{ED53AD6B-1916-42D5-AD85-C1E24E1D69F2}" destId="{0E3A2780-D532-436F-94CB-230A7E97AF44}" srcOrd="1" destOrd="0" presId="urn:microsoft.com/office/officeart/2005/8/layout/default"/>
    <dgm:cxn modelId="{03D585E4-5846-4D57-9F5A-853B056AF6F7}" type="presParOf" srcId="{ED53AD6B-1916-42D5-AD85-C1E24E1D69F2}" destId="{19C412DF-553C-425C-AB2F-6B282F8C1D84}" srcOrd="2" destOrd="0" presId="urn:microsoft.com/office/officeart/2005/8/layout/default"/>
    <dgm:cxn modelId="{0B609228-8E0F-4756-9538-0764B47EC961}" type="presParOf" srcId="{ED53AD6B-1916-42D5-AD85-C1E24E1D69F2}" destId="{CAE0E460-9921-4E52-9E51-C1685AA57F5B}" srcOrd="3" destOrd="0" presId="urn:microsoft.com/office/officeart/2005/8/layout/default"/>
    <dgm:cxn modelId="{D95A302E-559D-433B-BEF1-6945B058939C}" type="presParOf" srcId="{ED53AD6B-1916-42D5-AD85-C1E24E1D69F2}" destId="{322960FD-E618-4A86-92A4-0962F4536065}" srcOrd="4" destOrd="0" presId="urn:microsoft.com/office/officeart/2005/8/layout/default"/>
    <dgm:cxn modelId="{CDDD967E-88C2-4BC0-AA61-2E739A45FF2C}" type="presParOf" srcId="{ED53AD6B-1916-42D5-AD85-C1E24E1D69F2}" destId="{E72ECD0E-D7B2-445C-8161-5DBC98EF1325}" srcOrd="5" destOrd="0" presId="urn:microsoft.com/office/officeart/2005/8/layout/default"/>
    <dgm:cxn modelId="{AFA42633-3FF3-4E0F-A0F3-395F4007CA1E}" type="presParOf" srcId="{ED53AD6B-1916-42D5-AD85-C1E24E1D69F2}" destId="{62B0544A-21CB-4EBB-95EC-34A46C5E67ED}" srcOrd="6" destOrd="0" presId="urn:microsoft.com/office/officeart/2005/8/layout/default"/>
    <dgm:cxn modelId="{C9D52D1C-3796-4E80-B7C0-B9379FA81E6D}" type="presParOf" srcId="{ED53AD6B-1916-42D5-AD85-C1E24E1D69F2}" destId="{E9D2E6E1-EC8D-4578-8F5F-DC5BF20055CD}" srcOrd="7" destOrd="0" presId="urn:microsoft.com/office/officeart/2005/8/layout/default"/>
    <dgm:cxn modelId="{D2A2D384-C0B6-431F-A1B9-C221F5098C9B}" type="presParOf" srcId="{ED53AD6B-1916-42D5-AD85-C1E24E1D69F2}" destId="{8DA2D02C-8950-4CF0-90A0-0BF1424DD1E6}" srcOrd="8" destOrd="0" presId="urn:microsoft.com/office/officeart/2005/8/layout/default"/>
    <dgm:cxn modelId="{B2524307-EB12-4D2E-B12B-3AB8DCA0C883}" type="presParOf" srcId="{ED53AD6B-1916-42D5-AD85-C1E24E1D69F2}" destId="{A01DD892-80A0-44D6-A3F5-DEBFF810683F}" srcOrd="9" destOrd="0" presId="urn:microsoft.com/office/officeart/2005/8/layout/default"/>
    <dgm:cxn modelId="{344CDDFB-413B-48EB-A3FB-57E4FA8F2449}" type="presParOf" srcId="{ED53AD6B-1916-42D5-AD85-C1E24E1D69F2}" destId="{724E1570-3087-4457-83AC-89833E232FD0}" srcOrd="10" destOrd="0" presId="urn:microsoft.com/office/officeart/2005/8/layout/default"/>
    <dgm:cxn modelId="{C6B4DAB3-6C44-43AD-8E1C-EB061489D4EE}" type="presParOf" srcId="{ED53AD6B-1916-42D5-AD85-C1E24E1D69F2}" destId="{42B8A670-1D5C-4BF4-9BE8-84F2D52AAA24}" srcOrd="11" destOrd="0" presId="urn:microsoft.com/office/officeart/2005/8/layout/default"/>
    <dgm:cxn modelId="{0D749951-2655-4144-B1B9-AF9125731557}" type="presParOf" srcId="{ED53AD6B-1916-42D5-AD85-C1E24E1D69F2}" destId="{D1FF3F4C-DD9B-489D-8472-A477085D9C38}" srcOrd="1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3BCD70B-E8C4-4228-B960-DC4A0EBBDC9A}" type="doc">
      <dgm:prSet loTypeId="urn:microsoft.com/office/officeart/2005/8/layout/arrow6" loCatId="relationship" qsTypeId="urn:microsoft.com/office/officeart/2005/8/quickstyle/simple1" qsCatId="simple" csTypeId="urn:microsoft.com/office/officeart/2005/8/colors/accent5_2" csCatId="accent5" phldr="1"/>
      <dgm:spPr/>
      <dgm:t>
        <a:bodyPr/>
        <a:lstStyle/>
        <a:p>
          <a:endParaRPr lang="fr-FR"/>
        </a:p>
      </dgm:t>
    </dgm:pt>
    <dgm:pt modelId="{3D41BEEF-F847-462C-BC6D-DF962C09DE74}">
      <dgm:prSet phldrT="[Texte]" custT="1"/>
      <dgm:spPr/>
      <dgm:t>
        <a:bodyPr/>
        <a:lstStyle/>
        <a:p>
          <a:r>
            <a:rPr lang="fr-FR" sz="1800" b="1" dirty="0"/>
            <a:t>Produits dangereux utilisés</a:t>
          </a:r>
        </a:p>
      </dgm:t>
    </dgm:pt>
    <dgm:pt modelId="{B2F8B9E4-5C54-46EC-8E46-73A1159E7800}" type="parTrans" cxnId="{5C387027-E98B-4ED9-A3C1-A701001DA15B}">
      <dgm:prSet/>
      <dgm:spPr/>
      <dgm:t>
        <a:bodyPr/>
        <a:lstStyle/>
        <a:p>
          <a:endParaRPr lang="fr-FR" sz="1800" b="1"/>
        </a:p>
      </dgm:t>
    </dgm:pt>
    <dgm:pt modelId="{C84AC7F5-486B-4356-8335-901495324BE7}" type="sibTrans" cxnId="{5C387027-E98B-4ED9-A3C1-A701001DA15B}">
      <dgm:prSet/>
      <dgm:spPr/>
      <dgm:t>
        <a:bodyPr/>
        <a:lstStyle/>
        <a:p>
          <a:endParaRPr lang="fr-FR" sz="1800" b="1"/>
        </a:p>
      </dgm:t>
    </dgm:pt>
    <dgm:pt modelId="{FF8850AA-95A9-47BE-A09A-21EBAA0BE72F}">
      <dgm:prSet phldrT="[Texte]" custT="1"/>
      <dgm:spPr/>
      <dgm:t>
        <a:bodyPr/>
        <a:lstStyle/>
        <a:p>
          <a:r>
            <a:rPr lang="fr-FR" sz="1800" b="1" dirty="0"/>
            <a:t>Produits fabriqués</a:t>
          </a:r>
        </a:p>
      </dgm:t>
    </dgm:pt>
    <dgm:pt modelId="{CD4B8507-4A26-4E41-A5BF-9DFC51A7C618}" type="parTrans" cxnId="{2FF53BEE-D8FC-46EA-8D8F-94715EC58D9D}">
      <dgm:prSet/>
      <dgm:spPr/>
      <dgm:t>
        <a:bodyPr/>
        <a:lstStyle/>
        <a:p>
          <a:endParaRPr lang="fr-FR" sz="1800" b="1"/>
        </a:p>
      </dgm:t>
    </dgm:pt>
    <dgm:pt modelId="{27C8466F-E589-4722-9D96-7B95412E7B19}" type="sibTrans" cxnId="{2FF53BEE-D8FC-46EA-8D8F-94715EC58D9D}">
      <dgm:prSet/>
      <dgm:spPr/>
      <dgm:t>
        <a:bodyPr/>
        <a:lstStyle/>
        <a:p>
          <a:endParaRPr lang="fr-FR" sz="1800" b="1"/>
        </a:p>
      </dgm:t>
    </dgm:pt>
    <dgm:pt modelId="{552DFCB1-4FF6-4200-B67B-3AEFED033479}" type="pres">
      <dgm:prSet presAssocID="{E3BCD70B-E8C4-4228-B960-DC4A0EBBDC9A}" presName="compositeShape" presStyleCnt="0">
        <dgm:presLayoutVars>
          <dgm:chMax val="2"/>
          <dgm:dir/>
          <dgm:resizeHandles val="exact"/>
        </dgm:presLayoutVars>
      </dgm:prSet>
      <dgm:spPr/>
    </dgm:pt>
    <dgm:pt modelId="{278EF79C-538D-405E-BE1A-0ED9DBEB7FBA}" type="pres">
      <dgm:prSet presAssocID="{E3BCD70B-E8C4-4228-B960-DC4A0EBBDC9A}" presName="ribbon" presStyleLbl="node1" presStyleIdx="0" presStyleCnt="1"/>
      <dgm:spPr/>
    </dgm:pt>
    <dgm:pt modelId="{A2125A09-4F94-4D12-AECB-0F15DF12C755}" type="pres">
      <dgm:prSet presAssocID="{E3BCD70B-E8C4-4228-B960-DC4A0EBBDC9A}" presName="leftArrowText" presStyleLbl="node1" presStyleIdx="0" presStyleCnt="1">
        <dgm:presLayoutVars>
          <dgm:chMax val="0"/>
          <dgm:bulletEnabled val="1"/>
        </dgm:presLayoutVars>
      </dgm:prSet>
      <dgm:spPr/>
    </dgm:pt>
    <dgm:pt modelId="{2BFB5A9A-F99B-4735-8067-B13D44B77292}" type="pres">
      <dgm:prSet presAssocID="{E3BCD70B-E8C4-4228-B960-DC4A0EBBDC9A}" presName="rightArrowText" presStyleLbl="node1" presStyleIdx="0" presStyleCnt="1">
        <dgm:presLayoutVars>
          <dgm:chMax val="0"/>
          <dgm:bulletEnabled val="1"/>
        </dgm:presLayoutVars>
      </dgm:prSet>
      <dgm:spPr/>
    </dgm:pt>
  </dgm:ptLst>
  <dgm:cxnLst>
    <dgm:cxn modelId="{5C387027-E98B-4ED9-A3C1-A701001DA15B}" srcId="{E3BCD70B-E8C4-4228-B960-DC4A0EBBDC9A}" destId="{3D41BEEF-F847-462C-BC6D-DF962C09DE74}" srcOrd="0" destOrd="0" parTransId="{B2F8B9E4-5C54-46EC-8E46-73A1159E7800}" sibTransId="{C84AC7F5-486B-4356-8335-901495324BE7}"/>
    <dgm:cxn modelId="{278C3B8A-5EC3-49A1-A135-89BCAE79D30B}" type="presOf" srcId="{3D41BEEF-F847-462C-BC6D-DF962C09DE74}" destId="{A2125A09-4F94-4D12-AECB-0F15DF12C755}" srcOrd="0" destOrd="0" presId="urn:microsoft.com/office/officeart/2005/8/layout/arrow6"/>
    <dgm:cxn modelId="{E73733B8-C781-46E5-9EE1-3139DBCEC32F}" type="presOf" srcId="{FF8850AA-95A9-47BE-A09A-21EBAA0BE72F}" destId="{2BFB5A9A-F99B-4735-8067-B13D44B77292}" srcOrd="0" destOrd="0" presId="urn:microsoft.com/office/officeart/2005/8/layout/arrow6"/>
    <dgm:cxn modelId="{604AA7E6-9DFC-4793-BE73-D00DC26E582C}" type="presOf" srcId="{E3BCD70B-E8C4-4228-B960-DC4A0EBBDC9A}" destId="{552DFCB1-4FF6-4200-B67B-3AEFED033479}" srcOrd="0" destOrd="0" presId="urn:microsoft.com/office/officeart/2005/8/layout/arrow6"/>
    <dgm:cxn modelId="{2FF53BEE-D8FC-46EA-8D8F-94715EC58D9D}" srcId="{E3BCD70B-E8C4-4228-B960-DC4A0EBBDC9A}" destId="{FF8850AA-95A9-47BE-A09A-21EBAA0BE72F}" srcOrd="1" destOrd="0" parTransId="{CD4B8507-4A26-4E41-A5BF-9DFC51A7C618}" sibTransId="{27C8466F-E589-4722-9D96-7B95412E7B19}"/>
    <dgm:cxn modelId="{40BF3EDE-9201-4582-AAE1-1665FD6E7890}" type="presParOf" srcId="{552DFCB1-4FF6-4200-B67B-3AEFED033479}" destId="{278EF79C-538D-405E-BE1A-0ED9DBEB7FBA}" srcOrd="0" destOrd="0" presId="urn:microsoft.com/office/officeart/2005/8/layout/arrow6"/>
    <dgm:cxn modelId="{CD6D659B-A815-4945-9343-047E6BBA2FAA}" type="presParOf" srcId="{552DFCB1-4FF6-4200-B67B-3AEFED033479}" destId="{A2125A09-4F94-4D12-AECB-0F15DF12C755}" srcOrd="1" destOrd="0" presId="urn:microsoft.com/office/officeart/2005/8/layout/arrow6"/>
    <dgm:cxn modelId="{AC4D9670-6AF7-4368-8259-9BB55C81F08E}" type="presParOf" srcId="{552DFCB1-4FF6-4200-B67B-3AEFED033479}" destId="{2BFB5A9A-F99B-4735-8067-B13D44B77292}"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E5A1251-AD68-435F-BD90-E13E038C25AD}" type="doc">
      <dgm:prSet loTypeId="urn:microsoft.com/office/officeart/2005/8/layout/process1" loCatId="process" qsTypeId="urn:microsoft.com/office/officeart/2005/8/quickstyle/simple1" qsCatId="simple" csTypeId="urn:microsoft.com/office/officeart/2005/8/colors/accent5_2" csCatId="accent5" phldr="1"/>
      <dgm:spPr/>
    </dgm:pt>
    <dgm:pt modelId="{487E48FE-19E4-46FD-838B-E504E3312D5D}">
      <dgm:prSet phldrT="[Texte]"/>
      <dgm:spPr/>
      <dgm:t>
        <a:bodyPr/>
        <a:lstStyle/>
        <a:p>
          <a:r>
            <a:rPr lang="fr-FR" b="1" dirty="0"/>
            <a:t>SO</a:t>
          </a:r>
          <a:r>
            <a:rPr lang="fr-FR" b="1" baseline="-25000" dirty="0"/>
            <a:t>2</a:t>
          </a:r>
        </a:p>
      </dgm:t>
    </dgm:pt>
    <dgm:pt modelId="{A23EB736-5EEC-4C36-8DAB-8BD1D2E5E6EE}" type="parTrans" cxnId="{0B326A98-4EE3-4C11-8498-D431051DF6EA}">
      <dgm:prSet/>
      <dgm:spPr/>
      <dgm:t>
        <a:bodyPr/>
        <a:lstStyle/>
        <a:p>
          <a:endParaRPr lang="fr-FR" b="1"/>
        </a:p>
      </dgm:t>
    </dgm:pt>
    <dgm:pt modelId="{8D992EDB-B90F-4F1E-9E24-6A333ABE6D3D}" type="sibTrans" cxnId="{0B326A98-4EE3-4C11-8498-D431051DF6EA}">
      <dgm:prSet/>
      <dgm:spPr/>
      <dgm:t>
        <a:bodyPr/>
        <a:lstStyle/>
        <a:p>
          <a:endParaRPr lang="fr-FR" b="1"/>
        </a:p>
      </dgm:t>
    </dgm:pt>
    <dgm:pt modelId="{B61F9771-4BBB-4336-A187-FAC115E2DAB7}">
      <dgm:prSet phldrT="[Texte]"/>
      <dgm:spPr/>
      <dgm:t>
        <a:bodyPr/>
        <a:lstStyle/>
        <a:p>
          <a:r>
            <a:rPr lang="fr-FR" b="1" dirty="0"/>
            <a:t>Asthme</a:t>
          </a:r>
        </a:p>
      </dgm:t>
    </dgm:pt>
    <dgm:pt modelId="{F35AF885-07F5-4EB0-A28F-80F9BEF08359}" type="parTrans" cxnId="{46571401-BB6D-410C-8222-92468D294FAE}">
      <dgm:prSet/>
      <dgm:spPr/>
      <dgm:t>
        <a:bodyPr/>
        <a:lstStyle/>
        <a:p>
          <a:endParaRPr lang="fr-FR" b="1"/>
        </a:p>
      </dgm:t>
    </dgm:pt>
    <dgm:pt modelId="{BE680BCF-15DF-4DF3-A364-8728421C9FBC}" type="sibTrans" cxnId="{46571401-BB6D-410C-8222-92468D294FAE}">
      <dgm:prSet/>
      <dgm:spPr/>
      <dgm:t>
        <a:bodyPr/>
        <a:lstStyle/>
        <a:p>
          <a:endParaRPr lang="fr-FR" b="1"/>
        </a:p>
      </dgm:t>
    </dgm:pt>
    <dgm:pt modelId="{0CCADBAF-8854-453C-8B27-9695EDE7D673}" type="pres">
      <dgm:prSet presAssocID="{DE5A1251-AD68-435F-BD90-E13E038C25AD}" presName="Name0" presStyleCnt="0">
        <dgm:presLayoutVars>
          <dgm:dir/>
          <dgm:resizeHandles val="exact"/>
        </dgm:presLayoutVars>
      </dgm:prSet>
      <dgm:spPr/>
    </dgm:pt>
    <dgm:pt modelId="{72848653-8A5E-4718-AF8D-42FBD22CAA0B}" type="pres">
      <dgm:prSet presAssocID="{487E48FE-19E4-46FD-838B-E504E3312D5D}" presName="node" presStyleLbl="node1" presStyleIdx="0" presStyleCnt="2" custScaleX="60371">
        <dgm:presLayoutVars>
          <dgm:bulletEnabled val="1"/>
        </dgm:presLayoutVars>
      </dgm:prSet>
      <dgm:spPr/>
    </dgm:pt>
    <dgm:pt modelId="{0530EEB9-EE9E-4270-9088-2BB7BF67E10B}" type="pres">
      <dgm:prSet presAssocID="{8D992EDB-B90F-4F1E-9E24-6A333ABE6D3D}" presName="sibTrans" presStyleLbl="sibTrans2D1" presStyleIdx="0" presStyleCnt="1"/>
      <dgm:spPr/>
    </dgm:pt>
    <dgm:pt modelId="{66DD1D9C-DCCD-4154-9F0D-C9513FD3D586}" type="pres">
      <dgm:prSet presAssocID="{8D992EDB-B90F-4F1E-9E24-6A333ABE6D3D}" presName="connectorText" presStyleLbl="sibTrans2D1" presStyleIdx="0" presStyleCnt="1"/>
      <dgm:spPr/>
    </dgm:pt>
    <dgm:pt modelId="{7143C710-6920-4A9B-A1CB-FB30338B0623}" type="pres">
      <dgm:prSet presAssocID="{B61F9771-4BBB-4336-A187-FAC115E2DAB7}" presName="node" presStyleLbl="node1" presStyleIdx="1" presStyleCnt="2">
        <dgm:presLayoutVars>
          <dgm:bulletEnabled val="1"/>
        </dgm:presLayoutVars>
      </dgm:prSet>
      <dgm:spPr/>
    </dgm:pt>
  </dgm:ptLst>
  <dgm:cxnLst>
    <dgm:cxn modelId="{46571401-BB6D-410C-8222-92468D294FAE}" srcId="{DE5A1251-AD68-435F-BD90-E13E038C25AD}" destId="{B61F9771-4BBB-4336-A187-FAC115E2DAB7}" srcOrd="1" destOrd="0" parTransId="{F35AF885-07F5-4EB0-A28F-80F9BEF08359}" sibTransId="{BE680BCF-15DF-4DF3-A364-8728421C9FBC}"/>
    <dgm:cxn modelId="{2F986964-F111-44C8-9884-8071DA8C047D}" type="presOf" srcId="{487E48FE-19E4-46FD-838B-E504E3312D5D}" destId="{72848653-8A5E-4718-AF8D-42FBD22CAA0B}" srcOrd="0" destOrd="0" presId="urn:microsoft.com/office/officeart/2005/8/layout/process1"/>
    <dgm:cxn modelId="{0B326A98-4EE3-4C11-8498-D431051DF6EA}" srcId="{DE5A1251-AD68-435F-BD90-E13E038C25AD}" destId="{487E48FE-19E4-46FD-838B-E504E3312D5D}" srcOrd="0" destOrd="0" parTransId="{A23EB736-5EEC-4C36-8DAB-8BD1D2E5E6EE}" sibTransId="{8D992EDB-B90F-4F1E-9E24-6A333ABE6D3D}"/>
    <dgm:cxn modelId="{A15A24AB-C01C-42A0-AC67-B14B605D77E6}" type="presOf" srcId="{8D992EDB-B90F-4F1E-9E24-6A333ABE6D3D}" destId="{0530EEB9-EE9E-4270-9088-2BB7BF67E10B}" srcOrd="0" destOrd="0" presId="urn:microsoft.com/office/officeart/2005/8/layout/process1"/>
    <dgm:cxn modelId="{95F152B3-80C6-4FFF-950F-3A16F15BCB87}" type="presOf" srcId="{8D992EDB-B90F-4F1E-9E24-6A333ABE6D3D}" destId="{66DD1D9C-DCCD-4154-9F0D-C9513FD3D586}" srcOrd="1" destOrd="0" presId="urn:microsoft.com/office/officeart/2005/8/layout/process1"/>
    <dgm:cxn modelId="{A86CFAC7-2A06-49D8-ACF6-B90D7C18003B}" type="presOf" srcId="{DE5A1251-AD68-435F-BD90-E13E038C25AD}" destId="{0CCADBAF-8854-453C-8B27-9695EDE7D673}" srcOrd="0" destOrd="0" presId="urn:microsoft.com/office/officeart/2005/8/layout/process1"/>
    <dgm:cxn modelId="{8087AFCE-0C29-4DF1-BF4A-F6772BCA4D6A}" type="presOf" srcId="{B61F9771-4BBB-4336-A187-FAC115E2DAB7}" destId="{7143C710-6920-4A9B-A1CB-FB30338B0623}" srcOrd="0" destOrd="0" presId="urn:microsoft.com/office/officeart/2005/8/layout/process1"/>
    <dgm:cxn modelId="{3D3C22C3-E7D4-44D4-B1E3-CB1EB98D7AE5}" type="presParOf" srcId="{0CCADBAF-8854-453C-8B27-9695EDE7D673}" destId="{72848653-8A5E-4718-AF8D-42FBD22CAA0B}" srcOrd="0" destOrd="0" presId="urn:microsoft.com/office/officeart/2005/8/layout/process1"/>
    <dgm:cxn modelId="{F6F8E029-DF6D-48D2-A9C8-04B03E55B675}" type="presParOf" srcId="{0CCADBAF-8854-453C-8B27-9695EDE7D673}" destId="{0530EEB9-EE9E-4270-9088-2BB7BF67E10B}" srcOrd="1" destOrd="0" presId="urn:microsoft.com/office/officeart/2005/8/layout/process1"/>
    <dgm:cxn modelId="{16B47597-2770-4A11-8A96-CD16430D5B3B}" type="presParOf" srcId="{0530EEB9-EE9E-4270-9088-2BB7BF67E10B}" destId="{66DD1D9C-DCCD-4154-9F0D-C9513FD3D586}" srcOrd="0" destOrd="0" presId="urn:microsoft.com/office/officeart/2005/8/layout/process1"/>
    <dgm:cxn modelId="{ED2F9BCC-9560-4C1C-9741-2E71903AB180}" type="presParOf" srcId="{0CCADBAF-8854-453C-8B27-9695EDE7D673}" destId="{7143C710-6920-4A9B-A1CB-FB30338B0623}"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E5A1251-AD68-435F-BD90-E13E038C25AD}" type="doc">
      <dgm:prSet loTypeId="urn:microsoft.com/office/officeart/2005/8/layout/process1" loCatId="process" qsTypeId="urn:microsoft.com/office/officeart/2005/8/quickstyle/simple1" qsCatId="simple" csTypeId="urn:microsoft.com/office/officeart/2005/8/colors/accent5_2" csCatId="accent5" phldr="1"/>
      <dgm:spPr/>
    </dgm:pt>
    <dgm:pt modelId="{487E48FE-19E4-46FD-838B-E504E3312D5D}">
      <dgm:prSet phldrT="[Texte]"/>
      <dgm:spPr/>
      <dgm:t>
        <a:bodyPr/>
        <a:lstStyle/>
        <a:p>
          <a:r>
            <a:rPr lang="fr-FR" b="1" dirty="0"/>
            <a:t>NO</a:t>
          </a:r>
          <a:r>
            <a:rPr lang="fr-FR" b="1" baseline="-25000" dirty="0"/>
            <a:t>x</a:t>
          </a:r>
        </a:p>
      </dgm:t>
    </dgm:pt>
    <dgm:pt modelId="{A23EB736-5EEC-4C36-8DAB-8BD1D2E5E6EE}" type="parTrans" cxnId="{0B326A98-4EE3-4C11-8498-D431051DF6EA}">
      <dgm:prSet/>
      <dgm:spPr/>
      <dgm:t>
        <a:bodyPr/>
        <a:lstStyle/>
        <a:p>
          <a:endParaRPr lang="fr-FR" b="1"/>
        </a:p>
      </dgm:t>
    </dgm:pt>
    <dgm:pt modelId="{8D992EDB-B90F-4F1E-9E24-6A333ABE6D3D}" type="sibTrans" cxnId="{0B326A98-4EE3-4C11-8498-D431051DF6EA}">
      <dgm:prSet/>
      <dgm:spPr/>
      <dgm:t>
        <a:bodyPr/>
        <a:lstStyle/>
        <a:p>
          <a:endParaRPr lang="fr-FR" b="1"/>
        </a:p>
      </dgm:t>
    </dgm:pt>
    <dgm:pt modelId="{B61F9771-4BBB-4336-A187-FAC115E2DAB7}">
      <dgm:prSet phldrT="[Texte]"/>
      <dgm:spPr/>
      <dgm:t>
        <a:bodyPr/>
        <a:lstStyle/>
        <a:p>
          <a:r>
            <a:rPr lang="fr-FR" b="1" dirty="0"/>
            <a:t>Troubles respiratoires</a:t>
          </a:r>
        </a:p>
      </dgm:t>
    </dgm:pt>
    <dgm:pt modelId="{F35AF885-07F5-4EB0-A28F-80F9BEF08359}" type="parTrans" cxnId="{46571401-BB6D-410C-8222-92468D294FAE}">
      <dgm:prSet/>
      <dgm:spPr/>
      <dgm:t>
        <a:bodyPr/>
        <a:lstStyle/>
        <a:p>
          <a:endParaRPr lang="fr-FR" b="1"/>
        </a:p>
      </dgm:t>
    </dgm:pt>
    <dgm:pt modelId="{BE680BCF-15DF-4DF3-A364-8728421C9FBC}" type="sibTrans" cxnId="{46571401-BB6D-410C-8222-92468D294FAE}">
      <dgm:prSet/>
      <dgm:spPr/>
      <dgm:t>
        <a:bodyPr/>
        <a:lstStyle/>
        <a:p>
          <a:endParaRPr lang="fr-FR" b="1"/>
        </a:p>
      </dgm:t>
    </dgm:pt>
    <dgm:pt modelId="{0CCADBAF-8854-453C-8B27-9695EDE7D673}" type="pres">
      <dgm:prSet presAssocID="{DE5A1251-AD68-435F-BD90-E13E038C25AD}" presName="Name0" presStyleCnt="0">
        <dgm:presLayoutVars>
          <dgm:dir/>
          <dgm:resizeHandles val="exact"/>
        </dgm:presLayoutVars>
      </dgm:prSet>
      <dgm:spPr/>
    </dgm:pt>
    <dgm:pt modelId="{72848653-8A5E-4718-AF8D-42FBD22CAA0B}" type="pres">
      <dgm:prSet presAssocID="{487E48FE-19E4-46FD-838B-E504E3312D5D}" presName="node" presStyleLbl="node1" presStyleIdx="0" presStyleCnt="2" custScaleX="60371">
        <dgm:presLayoutVars>
          <dgm:bulletEnabled val="1"/>
        </dgm:presLayoutVars>
      </dgm:prSet>
      <dgm:spPr/>
    </dgm:pt>
    <dgm:pt modelId="{0530EEB9-EE9E-4270-9088-2BB7BF67E10B}" type="pres">
      <dgm:prSet presAssocID="{8D992EDB-B90F-4F1E-9E24-6A333ABE6D3D}" presName="sibTrans" presStyleLbl="sibTrans2D1" presStyleIdx="0" presStyleCnt="1"/>
      <dgm:spPr/>
    </dgm:pt>
    <dgm:pt modelId="{66DD1D9C-DCCD-4154-9F0D-C9513FD3D586}" type="pres">
      <dgm:prSet presAssocID="{8D992EDB-B90F-4F1E-9E24-6A333ABE6D3D}" presName="connectorText" presStyleLbl="sibTrans2D1" presStyleIdx="0" presStyleCnt="1"/>
      <dgm:spPr/>
    </dgm:pt>
    <dgm:pt modelId="{7143C710-6920-4A9B-A1CB-FB30338B0623}" type="pres">
      <dgm:prSet presAssocID="{B61F9771-4BBB-4336-A187-FAC115E2DAB7}" presName="node" presStyleLbl="node1" presStyleIdx="1" presStyleCnt="2">
        <dgm:presLayoutVars>
          <dgm:bulletEnabled val="1"/>
        </dgm:presLayoutVars>
      </dgm:prSet>
      <dgm:spPr/>
    </dgm:pt>
  </dgm:ptLst>
  <dgm:cxnLst>
    <dgm:cxn modelId="{46571401-BB6D-410C-8222-92468D294FAE}" srcId="{DE5A1251-AD68-435F-BD90-E13E038C25AD}" destId="{B61F9771-4BBB-4336-A187-FAC115E2DAB7}" srcOrd="1" destOrd="0" parTransId="{F35AF885-07F5-4EB0-A28F-80F9BEF08359}" sibTransId="{BE680BCF-15DF-4DF3-A364-8728421C9FBC}"/>
    <dgm:cxn modelId="{2F986964-F111-44C8-9884-8071DA8C047D}" type="presOf" srcId="{487E48FE-19E4-46FD-838B-E504E3312D5D}" destId="{72848653-8A5E-4718-AF8D-42FBD22CAA0B}" srcOrd="0" destOrd="0" presId="urn:microsoft.com/office/officeart/2005/8/layout/process1"/>
    <dgm:cxn modelId="{0B326A98-4EE3-4C11-8498-D431051DF6EA}" srcId="{DE5A1251-AD68-435F-BD90-E13E038C25AD}" destId="{487E48FE-19E4-46FD-838B-E504E3312D5D}" srcOrd="0" destOrd="0" parTransId="{A23EB736-5EEC-4C36-8DAB-8BD1D2E5E6EE}" sibTransId="{8D992EDB-B90F-4F1E-9E24-6A333ABE6D3D}"/>
    <dgm:cxn modelId="{A15A24AB-C01C-42A0-AC67-B14B605D77E6}" type="presOf" srcId="{8D992EDB-B90F-4F1E-9E24-6A333ABE6D3D}" destId="{0530EEB9-EE9E-4270-9088-2BB7BF67E10B}" srcOrd="0" destOrd="0" presId="urn:microsoft.com/office/officeart/2005/8/layout/process1"/>
    <dgm:cxn modelId="{95F152B3-80C6-4FFF-950F-3A16F15BCB87}" type="presOf" srcId="{8D992EDB-B90F-4F1E-9E24-6A333ABE6D3D}" destId="{66DD1D9C-DCCD-4154-9F0D-C9513FD3D586}" srcOrd="1" destOrd="0" presId="urn:microsoft.com/office/officeart/2005/8/layout/process1"/>
    <dgm:cxn modelId="{A86CFAC7-2A06-49D8-ACF6-B90D7C18003B}" type="presOf" srcId="{DE5A1251-AD68-435F-BD90-E13E038C25AD}" destId="{0CCADBAF-8854-453C-8B27-9695EDE7D673}" srcOrd="0" destOrd="0" presId="urn:microsoft.com/office/officeart/2005/8/layout/process1"/>
    <dgm:cxn modelId="{8087AFCE-0C29-4DF1-BF4A-F6772BCA4D6A}" type="presOf" srcId="{B61F9771-4BBB-4336-A187-FAC115E2DAB7}" destId="{7143C710-6920-4A9B-A1CB-FB30338B0623}" srcOrd="0" destOrd="0" presId="urn:microsoft.com/office/officeart/2005/8/layout/process1"/>
    <dgm:cxn modelId="{3D3C22C3-E7D4-44D4-B1E3-CB1EB98D7AE5}" type="presParOf" srcId="{0CCADBAF-8854-453C-8B27-9695EDE7D673}" destId="{72848653-8A5E-4718-AF8D-42FBD22CAA0B}" srcOrd="0" destOrd="0" presId="urn:microsoft.com/office/officeart/2005/8/layout/process1"/>
    <dgm:cxn modelId="{F6F8E029-DF6D-48D2-A9C8-04B03E55B675}" type="presParOf" srcId="{0CCADBAF-8854-453C-8B27-9695EDE7D673}" destId="{0530EEB9-EE9E-4270-9088-2BB7BF67E10B}" srcOrd="1" destOrd="0" presId="urn:microsoft.com/office/officeart/2005/8/layout/process1"/>
    <dgm:cxn modelId="{16B47597-2770-4A11-8A96-CD16430D5B3B}" type="presParOf" srcId="{0530EEB9-EE9E-4270-9088-2BB7BF67E10B}" destId="{66DD1D9C-DCCD-4154-9F0D-C9513FD3D586}" srcOrd="0" destOrd="0" presId="urn:microsoft.com/office/officeart/2005/8/layout/process1"/>
    <dgm:cxn modelId="{ED2F9BCC-9560-4C1C-9741-2E71903AB180}" type="presParOf" srcId="{0CCADBAF-8854-453C-8B27-9695EDE7D673}" destId="{7143C710-6920-4A9B-A1CB-FB30338B0623}" srcOrd="2"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E5A1251-AD68-435F-BD90-E13E038C25AD}" type="doc">
      <dgm:prSet loTypeId="urn:microsoft.com/office/officeart/2005/8/layout/process1" loCatId="process" qsTypeId="urn:microsoft.com/office/officeart/2005/8/quickstyle/simple1" qsCatId="simple" csTypeId="urn:microsoft.com/office/officeart/2005/8/colors/accent5_2" csCatId="accent5" phldr="1"/>
      <dgm:spPr/>
    </dgm:pt>
    <dgm:pt modelId="{487E48FE-19E4-46FD-838B-E504E3312D5D}">
      <dgm:prSet phldrT="[Texte]"/>
      <dgm:spPr/>
      <dgm:t>
        <a:bodyPr/>
        <a:lstStyle/>
        <a:p>
          <a:r>
            <a:rPr lang="fr-FR" b="1" dirty="0"/>
            <a:t>Cr</a:t>
          </a:r>
          <a:endParaRPr lang="fr-FR" b="1" baseline="-25000" dirty="0"/>
        </a:p>
      </dgm:t>
    </dgm:pt>
    <dgm:pt modelId="{A23EB736-5EEC-4C36-8DAB-8BD1D2E5E6EE}" type="parTrans" cxnId="{0B326A98-4EE3-4C11-8498-D431051DF6EA}">
      <dgm:prSet/>
      <dgm:spPr/>
      <dgm:t>
        <a:bodyPr/>
        <a:lstStyle/>
        <a:p>
          <a:endParaRPr lang="fr-FR" b="1"/>
        </a:p>
      </dgm:t>
    </dgm:pt>
    <dgm:pt modelId="{8D992EDB-B90F-4F1E-9E24-6A333ABE6D3D}" type="sibTrans" cxnId="{0B326A98-4EE3-4C11-8498-D431051DF6EA}">
      <dgm:prSet/>
      <dgm:spPr/>
      <dgm:t>
        <a:bodyPr/>
        <a:lstStyle/>
        <a:p>
          <a:endParaRPr lang="fr-FR" b="1"/>
        </a:p>
      </dgm:t>
    </dgm:pt>
    <dgm:pt modelId="{B61F9771-4BBB-4336-A187-FAC115E2DAB7}">
      <dgm:prSet phldrT="[Texte]" custT="1"/>
      <dgm:spPr/>
      <dgm:t>
        <a:bodyPr/>
        <a:lstStyle/>
        <a:p>
          <a:r>
            <a:rPr lang="fr-FR" sz="1800" b="1" dirty="0"/>
            <a:t>Dermatites, cancer du poumon ou gastro-intestinal</a:t>
          </a:r>
        </a:p>
      </dgm:t>
    </dgm:pt>
    <dgm:pt modelId="{F35AF885-07F5-4EB0-A28F-80F9BEF08359}" type="parTrans" cxnId="{46571401-BB6D-410C-8222-92468D294FAE}">
      <dgm:prSet/>
      <dgm:spPr/>
      <dgm:t>
        <a:bodyPr/>
        <a:lstStyle/>
        <a:p>
          <a:endParaRPr lang="fr-FR" b="1"/>
        </a:p>
      </dgm:t>
    </dgm:pt>
    <dgm:pt modelId="{BE680BCF-15DF-4DF3-A364-8728421C9FBC}" type="sibTrans" cxnId="{46571401-BB6D-410C-8222-92468D294FAE}">
      <dgm:prSet/>
      <dgm:spPr/>
      <dgm:t>
        <a:bodyPr/>
        <a:lstStyle/>
        <a:p>
          <a:endParaRPr lang="fr-FR" b="1"/>
        </a:p>
      </dgm:t>
    </dgm:pt>
    <dgm:pt modelId="{0CCADBAF-8854-453C-8B27-9695EDE7D673}" type="pres">
      <dgm:prSet presAssocID="{DE5A1251-AD68-435F-BD90-E13E038C25AD}" presName="Name0" presStyleCnt="0">
        <dgm:presLayoutVars>
          <dgm:dir/>
          <dgm:resizeHandles val="exact"/>
        </dgm:presLayoutVars>
      </dgm:prSet>
      <dgm:spPr/>
    </dgm:pt>
    <dgm:pt modelId="{72848653-8A5E-4718-AF8D-42FBD22CAA0B}" type="pres">
      <dgm:prSet presAssocID="{487E48FE-19E4-46FD-838B-E504E3312D5D}" presName="node" presStyleLbl="node1" presStyleIdx="0" presStyleCnt="2" custScaleX="60430">
        <dgm:presLayoutVars>
          <dgm:bulletEnabled val="1"/>
        </dgm:presLayoutVars>
      </dgm:prSet>
      <dgm:spPr/>
    </dgm:pt>
    <dgm:pt modelId="{0530EEB9-EE9E-4270-9088-2BB7BF67E10B}" type="pres">
      <dgm:prSet presAssocID="{8D992EDB-B90F-4F1E-9E24-6A333ABE6D3D}" presName="sibTrans" presStyleLbl="sibTrans2D1" presStyleIdx="0" presStyleCnt="1"/>
      <dgm:spPr/>
    </dgm:pt>
    <dgm:pt modelId="{66DD1D9C-DCCD-4154-9F0D-C9513FD3D586}" type="pres">
      <dgm:prSet presAssocID="{8D992EDB-B90F-4F1E-9E24-6A333ABE6D3D}" presName="connectorText" presStyleLbl="sibTrans2D1" presStyleIdx="0" presStyleCnt="1"/>
      <dgm:spPr/>
    </dgm:pt>
    <dgm:pt modelId="{7143C710-6920-4A9B-A1CB-FB30338B0623}" type="pres">
      <dgm:prSet presAssocID="{B61F9771-4BBB-4336-A187-FAC115E2DAB7}" presName="node" presStyleLbl="node1" presStyleIdx="1" presStyleCnt="2">
        <dgm:presLayoutVars>
          <dgm:bulletEnabled val="1"/>
        </dgm:presLayoutVars>
      </dgm:prSet>
      <dgm:spPr/>
    </dgm:pt>
  </dgm:ptLst>
  <dgm:cxnLst>
    <dgm:cxn modelId="{46571401-BB6D-410C-8222-92468D294FAE}" srcId="{DE5A1251-AD68-435F-BD90-E13E038C25AD}" destId="{B61F9771-4BBB-4336-A187-FAC115E2DAB7}" srcOrd="1" destOrd="0" parTransId="{F35AF885-07F5-4EB0-A28F-80F9BEF08359}" sibTransId="{BE680BCF-15DF-4DF3-A364-8728421C9FBC}"/>
    <dgm:cxn modelId="{2F986964-F111-44C8-9884-8071DA8C047D}" type="presOf" srcId="{487E48FE-19E4-46FD-838B-E504E3312D5D}" destId="{72848653-8A5E-4718-AF8D-42FBD22CAA0B}" srcOrd="0" destOrd="0" presId="urn:microsoft.com/office/officeart/2005/8/layout/process1"/>
    <dgm:cxn modelId="{0B326A98-4EE3-4C11-8498-D431051DF6EA}" srcId="{DE5A1251-AD68-435F-BD90-E13E038C25AD}" destId="{487E48FE-19E4-46FD-838B-E504E3312D5D}" srcOrd="0" destOrd="0" parTransId="{A23EB736-5EEC-4C36-8DAB-8BD1D2E5E6EE}" sibTransId="{8D992EDB-B90F-4F1E-9E24-6A333ABE6D3D}"/>
    <dgm:cxn modelId="{A15A24AB-C01C-42A0-AC67-B14B605D77E6}" type="presOf" srcId="{8D992EDB-B90F-4F1E-9E24-6A333ABE6D3D}" destId="{0530EEB9-EE9E-4270-9088-2BB7BF67E10B}" srcOrd="0" destOrd="0" presId="urn:microsoft.com/office/officeart/2005/8/layout/process1"/>
    <dgm:cxn modelId="{95F152B3-80C6-4FFF-950F-3A16F15BCB87}" type="presOf" srcId="{8D992EDB-B90F-4F1E-9E24-6A333ABE6D3D}" destId="{66DD1D9C-DCCD-4154-9F0D-C9513FD3D586}" srcOrd="1" destOrd="0" presId="urn:microsoft.com/office/officeart/2005/8/layout/process1"/>
    <dgm:cxn modelId="{A86CFAC7-2A06-49D8-ACF6-B90D7C18003B}" type="presOf" srcId="{DE5A1251-AD68-435F-BD90-E13E038C25AD}" destId="{0CCADBAF-8854-453C-8B27-9695EDE7D673}" srcOrd="0" destOrd="0" presId="urn:microsoft.com/office/officeart/2005/8/layout/process1"/>
    <dgm:cxn modelId="{8087AFCE-0C29-4DF1-BF4A-F6772BCA4D6A}" type="presOf" srcId="{B61F9771-4BBB-4336-A187-FAC115E2DAB7}" destId="{7143C710-6920-4A9B-A1CB-FB30338B0623}" srcOrd="0" destOrd="0" presId="urn:microsoft.com/office/officeart/2005/8/layout/process1"/>
    <dgm:cxn modelId="{3D3C22C3-E7D4-44D4-B1E3-CB1EB98D7AE5}" type="presParOf" srcId="{0CCADBAF-8854-453C-8B27-9695EDE7D673}" destId="{72848653-8A5E-4718-AF8D-42FBD22CAA0B}" srcOrd="0" destOrd="0" presId="urn:microsoft.com/office/officeart/2005/8/layout/process1"/>
    <dgm:cxn modelId="{F6F8E029-DF6D-48D2-A9C8-04B03E55B675}" type="presParOf" srcId="{0CCADBAF-8854-453C-8B27-9695EDE7D673}" destId="{0530EEB9-EE9E-4270-9088-2BB7BF67E10B}" srcOrd="1" destOrd="0" presId="urn:microsoft.com/office/officeart/2005/8/layout/process1"/>
    <dgm:cxn modelId="{16B47597-2770-4A11-8A96-CD16430D5B3B}" type="presParOf" srcId="{0530EEB9-EE9E-4270-9088-2BB7BF67E10B}" destId="{66DD1D9C-DCCD-4154-9F0D-C9513FD3D586}" srcOrd="0" destOrd="0" presId="urn:microsoft.com/office/officeart/2005/8/layout/process1"/>
    <dgm:cxn modelId="{ED2F9BCC-9560-4C1C-9741-2E71903AB180}" type="presParOf" srcId="{0CCADBAF-8854-453C-8B27-9695EDE7D673}" destId="{7143C710-6920-4A9B-A1CB-FB30338B0623}" srcOrd="2"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E5A1251-AD68-435F-BD90-E13E038C25AD}" type="doc">
      <dgm:prSet loTypeId="urn:microsoft.com/office/officeart/2005/8/layout/process1" loCatId="process" qsTypeId="urn:microsoft.com/office/officeart/2005/8/quickstyle/simple1" qsCatId="simple" csTypeId="urn:microsoft.com/office/officeart/2005/8/colors/accent5_2" csCatId="accent5" phldr="1"/>
      <dgm:spPr/>
    </dgm:pt>
    <dgm:pt modelId="{487E48FE-19E4-46FD-838B-E504E3312D5D}">
      <dgm:prSet phldrT="[Texte]"/>
      <dgm:spPr/>
      <dgm:t>
        <a:bodyPr/>
        <a:lstStyle/>
        <a:p>
          <a:r>
            <a:rPr lang="fr-FR" b="1" dirty="0"/>
            <a:t>Ni</a:t>
          </a:r>
          <a:endParaRPr lang="fr-FR" b="1" baseline="-25000" dirty="0"/>
        </a:p>
      </dgm:t>
    </dgm:pt>
    <dgm:pt modelId="{A23EB736-5EEC-4C36-8DAB-8BD1D2E5E6EE}" type="parTrans" cxnId="{0B326A98-4EE3-4C11-8498-D431051DF6EA}">
      <dgm:prSet/>
      <dgm:spPr/>
      <dgm:t>
        <a:bodyPr/>
        <a:lstStyle/>
        <a:p>
          <a:endParaRPr lang="fr-FR" b="1"/>
        </a:p>
      </dgm:t>
    </dgm:pt>
    <dgm:pt modelId="{8D992EDB-B90F-4F1E-9E24-6A333ABE6D3D}" type="sibTrans" cxnId="{0B326A98-4EE3-4C11-8498-D431051DF6EA}">
      <dgm:prSet/>
      <dgm:spPr/>
      <dgm:t>
        <a:bodyPr/>
        <a:lstStyle/>
        <a:p>
          <a:endParaRPr lang="fr-FR" b="1"/>
        </a:p>
      </dgm:t>
    </dgm:pt>
    <dgm:pt modelId="{B61F9771-4BBB-4336-A187-FAC115E2DAB7}">
      <dgm:prSet phldrT="[Texte]" custT="1"/>
      <dgm:spPr/>
      <dgm:t>
        <a:bodyPr/>
        <a:lstStyle/>
        <a:p>
          <a:r>
            <a:rPr lang="fr-FR" sz="1800" b="1" dirty="0"/>
            <a:t>Maladies respiratoires, malformation congénitale, cancer des poumons</a:t>
          </a:r>
        </a:p>
      </dgm:t>
    </dgm:pt>
    <dgm:pt modelId="{F35AF885-07F5-4EB0-A28F-80F9BEF08359}" type="parTrans" cxnId="{46571401-BB6D-410C-8222-92468D294FAE}">
      <dgm:prSet/>
      <dgm:spPr/>
      <dgm:t>
        <a:bodyPr/>
        <a:lstStyle/>
        <a:p>
          <a:endParaRPr lang="fr-FR" b="1"/>
        </a:p>
      </dgm:t>
    </dgm:pt>
    <dgm:pt modelId="{BE680BCF-15DF-4DF3-A364-8728421C9FBC}" type="sibTrans" cxnId="{46571401-BB6D-410C-8222-92468D294FAE}">
      <dgm:prSet/>
      <dgm:spPr/>
      <dgm:t>
        <a:bodyPr/>
        <a:lstStyle/>
        <a:p>
          <a:endParaRPr lang="fr-FR" b="1"/>
        </a:p>
      </dgm:t>
    </dgm:pt>
    <dgm:pt modelId="{0CCADBAF-8854-453C-8B27-9695EDE7D673}" type="pres">
      <dgm:prSet presAssocID="{DE5A1251-AD68-435F-BD90-E13E038C25AD}" presName="Name0" presStyleCnt="0">
        <dgm:presLayoutVars>
          <dgm:dir/>
          <dgm:resizeHandles val="exact"/>
        </dgm:presLayoutVars>
      </dgm:prSet>
      <dgm:spPr/>
    </dgm:pt>
    <dgm:pt modelId="{72848653-8A5E-4718-AF8D-42FBD22CAA0B}" type="pres">
      <dgm:prSet presAssocID="{487E48FE-19E4-46FD-838B-E504E3312D5D}" presName="node" presStyleLbl="node1" presStyleIdx="0" presStyleCnt="2" custScaleX="60430">
        <dgm:presLayoutVars>
          <dgm:bulletEnabled val="1"/>
        </dgm:presLayoutVars>
      </dgm:prSet>
      <dgm:spPr/>
    </dgm:pt>
    <dgm:pt modelId="{0530EEB9-EE9E-4270-9088-2BB7BF67E10B}" type="pres">
      <dgm:prSet presAssocID="{8D992EDB-B90F-4F1E-9E24-6A333ABE6D3D}" presName="sibTrans" presStyleLbl="sibTrans2D1" presStyleIdx="0" presStyleCnt="1"/>
      <dgm:spPr/>
    </dgm:pt>
    <dgm:pt modelId="{66DD1D9C-DCCD-4154-9F0D-C9513FD3D586}" type="pres">
      <dgm:prSet presAssocID="{8D992EDB-B90F-4F1E-9E24-6A333ABE6D3D}" presName="connectorText" presStyleLbl="sibTrans2D1" presStyleIdx="0" presStyleCnt="1"/>
      <dgm:spPr/>
    </dgm:pt>
    <dgm:pt modelId="{7143C710-6920-4A9B-A1CB-FB30338B0623}" type="pres">
      <dgm:prSet presAssocID="{B61F9771-4BBB-4336-A187-FAC115E2DAB7}" presName="node" presStyleLbl="node1" presStyleIdx="1" presStyleCnt="2">
        <dgm:presLayoutVars>
          <dgm:bulletEnabled val="1"/>
        </dgm:presLayoutVars>
      </dgm:prSet>
      <dgm:spPr/>
    </dgm:pt>
  </dgm:ptLst>
  <dgm:cxnLst>
    <dgm:cxn modelId="{46571401-BB6D-410C-8222-92468D294FAE}" srcId="{DE5A1251-AD68-435F-BD90-E13E038C25AD}" destId="{B61F9771-4BBB-4336-A187-FAC115E2DAB7}" srcOrd="1" destOrd="0" parTransId="{F35AF885-07F5-4EB0-A28F-80F9BEF08359}" sibTransId="{BE680BCF-15DF-4DF3-A364-8728421C9FBC}"/>
    <dgm:cxn modelId="{2F986964-F111-44C8-9884-8071DA8C047D}" type="presOf" srcId="{487E48FE-19E4-46FD-838B-E504E3312D5D}" destId="{72848653-8A5E-4718-AF8D-42FBD22CAA0B}" srcOrd="0" destOrd="0" presId="urn:microsoft.com/office/officeart/2005/8/layout/process1"/>
    <dgm:cxn modelId="{0B326A98-4EE3-4C11-8498-D431051DF6EA}" srcId="{DE5A1251-AD68-435F-BD90-E13E038C25AD}" destId="{487E48FE-19E4-46FD-838B-E504E3312D5D}" srcOrd="0" destOrd="0" parTransId="{A23EB736-5EEC-4C36-8DAB-8BD1D2E5E6EE}" sibTransId="{8D992EDB-B90F-4F1E-9E24-6A333ABE6D3D}"/>
    <dgm:cxn modelId="{A15A24AB-C01C-42A0-AC67-B14B605D77E6}" type="presOf" srcId="{8D992EDB-B90F-4F1E-9E24-6A333ABE6D3D}" destId="{0530EEB9-EE9E-4270-9088-2BB7BF67E10B}" srcOrd="0" destOrd="0" presId="urn:microsoft.com/office/officeart/2005/8/layout/process1"/>
    <dgm:cxn modelId="{95F152B3-80C6-4FFF-950F-3A16F15BCB87}" type="presOf" srcId="{8D992EDB-B90F-4F1E-9E24-6A333ABE6D3D}" destId="{66DD1D9C-DCCD-4154-9F0D-C9513FD3D586}" srcOrd="1" destOrd="0" presId="urn:microsoft.com/office/officeart/2005/8/layout/process1"/>
    <dgm:cxn modelId="{A86CFAC7-2A06-49D8-ACF6-B90D7C18003B}" type="presOf" srcId="{DE5A1251-AD68-435F-BD90-E13E038C25AD}" destId="{0CCADBAF-8854-453C-8B27-9695EDE7D673}" srcOrd="0" destOrd="0" presId="urn:microsoft.com/office/officeart/2005/8/layout/process1"/>
    <dgm:cxn modelId="{8087AFCE-0C29-4DF1-BF4A-F6772BCA4D6A}" type="presOf" srcId="{B61F9771-4BBB-4336-A187-FAC115E2DAB7}" destId="{7143C710-6920-4A9B-A1CB-FB30338B0623}" srcOrd="0" destOrd="0" presId="urn:microsoft.com/office/officeart/2005/8/layout/process1"/>
    <dgm:cxn modelId="{3D3C22C3-E7D4-44D4-B1E3-CB1EB98D7AE5}" type="presParOf" srcId="{0CCADBAF-8854-453C-8B27-9695EDE7D673}" destId="{72848653-8A5E-4718-AF8D-42FBD22CAA0B}" srcOrd="0" destOrd="0" presId="urn:microsoft.com/office/officeart/2005/8/layout/process1"/>
    <dgm:cxn modelId="{F6F8E029-DF6D-48D2-A9C8-04B03E55B675}" type="presParOf" srcId="{0CCADBAF-8854-453C-8B27-9695EDE7D673}" destId="{0530EEB9-EE9E-4270-9088-2BB7BF67E10B}" srcOrd="1" destOrd="0" presId="urn:microsoft.com/office/officeart/2005/8/layout/process1"/>
    <dgm:cxn modelId="{16B47597-2770-4A11-8A96-CD16430D5B3B}" type="presParOf" srcId="{0530EEB9-EE9E-4270-9088-2BB7BF67E10B}" destId="{66DD1D9C-DCCD-4154-9F0D-C9513FD3D586}" srcOrd="0" destOrd="0" presId="urn:microsoft.com/office/officeart/2005/8/layout/process1"/>
    <dgm:cxn modelId="{ED2F9BCC-9560-4C1C-9741-2E71903AB180}" type="presParOf" srcId="{0CCADBAF-8854-453C-8B27-9695EDE7D673}" destId="{7143C710-6920-4A9B-A1CB-FB30338B0623}" srcOrd="2"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E5A1251-AD68-435F-BD90-E13E038C25AD}" type="doc">
      <dgm:prSet loTypeId="urn:microsoft.com/office/officeart/2005/8/layout/process1" loCatId="process" qsTypeId="urn:microsoft.com/office/officeart/2005/8/quickstyle/simple1" qsCatId="simple" csTypeId="urn:microsoft.com/office/officeart/2005/8/colors/accent5_2" csCatId="accent5" phldr="1"/>
      <dgm:spPr/>
    </dgm:pt>
    <dgm:pt modelId="{487E48FE-19E4-46FD-838B-E504E3312D5D}">
      <dgm:prSet phldrT="[Texte]"/>
      <dgm:spPr/>
      <dgm:t>
        <a:bodyPr/>
        <a:lstStyle/>
        <a:p>
          <a:r>
            <a:rPr lang="fr-FR" b="1" dirty="0"/>
            <a:t>CO</a:t>
          </a:r>
          <a:endParaRPr lang="fr-FR" b="1" baseline="-25000" dirty="0"/>
        </a:p>
      </dgm:t>
    </dgm:pt>
    <dgm:pt modelId="{A23EB736-5EEC-4C36-8DAB-8BD1D2E5E6EE}" type="parTrans" cxnId="{0B326A98-4EE3-4C11-8498-D431051DF6EA}">
      <dgm:prSet/>
      <dgm:spPr/>
      <dgm:t>
        <a:bodyPr/>
        <a:lstStyle/>
        <a:p>
          <a:endParaRPr lang="fr-FR" b="1"/>
        </a:p>
      </dgm:t>
    </dgm:pt>
    <dgm:pt modelId="{8D992EDB-B90F-4F1E-9E24-6A333ABE6D3D}" type="sibTrans" cxnId="{0B326A98-4EE3-4C11-8498-D431051DF6EA}">
      <dgm:prSet/>
      <dgm:spPr/>
      <dgm:t>
        <a:bodyPr/>
        <a:lstStyle/>
        <a:p>
          <a:endParaRPr lang="fr-FR" b="1"/>
        </a:p>
      </dgm:t>
    </dgm:pt>
    <dgm:pt modelId="{B61F9771-4BBB-4336-A187-FAC115E2DAB7}">
      <dgm:prSet phldrT="[Texte]"/>
      <dgm:spPr/>
      <dgm:t>
        <a:bodyPr/>
        <a:lstStyle/>
        <a:p>
          <a:r>
            <a:rPr lang="fr-FR" b="1" dirty="0"/>
            <a:t>Intoxication aigüe</a:t>
          </a:r>
        </a:p>
      </dgm:t>
    </dgm:pt>
    <dgm:pt modelId="{F35AF885-07F5-4EB0-A28F-80F9BEF08359}" type="parTrans" cxnId="{46571401-BB6D-410C-8222-92468D294FAE}">
      <dgm:prSet/>
      <dgm:spPr/>
      <dgm:t>
        <a:bodyPr/>
        <a:lstStyle/>
        <a:p>
          <a:endParaRPr lang="fr-FR" b="1"/>
        </a:p>
      </dgm:t>
    </dgm:pt>
    <dgm:pt modelId="{BE680BCF-15DF-4DF3-A364-8728421C9FBC}" type="sibTrans" cxnId="{46571401-BB6D-410C-8222-92468D294FAE}">
      <dgm:prSet/>
      <dgm:spPr/>
      <dgm:t>
        <a:bodyPr/>
        <a:lstStyle/>
        <a:p>
          <a:endParaRPr lang="fr-FR" b="1"/>
        </a:p>
      </dgm:t>
    </dgm:pt>
    <dgm:pt modelId="{0CCADBAF-8854-453C-8B27-9695EDE7D673}" type="pres">
      <dgm:prSet presAssocID="{DE5A1251-AD68-435F-BD90-E13E038C25AD}" presName="Name0" presStyleCnt="0">
        <dgm:presLayoutVars>
          <dgm:dir/>
          <dgm:resizeHandles val="exact"/>
        </dgm:presLayoutVars>
      </dgm:prSet>
      <dgm:spPr/>
    </dgm:pt>
    <dgm:pt modelId="{72848653-8A5E-4718-AF8D-42FBD22CAA0B}" type="pres">
      <dgm:prSet presAssocID="{487E48FE-19E4-46FD-838B-E504E3312D5D}" presName="node" presStyleLbl="node1" presStyleIdx="0" presStyleCnt="2" custScaleX="60371">
        <dgm:presLayoutVars>
          <dgm:bulletEnabled val="1"/>
        </dgm:presLayoutVars>
      </dgm:prSet>
      <dgm:spPr/>
    </dgm:pt>
    <dgm:pt modelId="{0530EEB9-EE9E-4270-9088-2BB7BF67E10B}" type="pres">
      <dgm:prSet presAssocID="{8D992EDB-B90F-4F1E-9E24-6A333ABE6D3D}" presName="sibTrans" presStyleLbl="sibTrans2D1" presStyleIdx="0" presStyleCnt="1"/>
      <dgm:spPr/>
    </dgm:pt>
    <dgm:pt modelId="{66DD1D9C-DCCD-4154-9F0D-C9513FD3D586}" type="pres">
      <dgm:prSet presAssocID="{8D992EDB-B90F-4F1E-9E24-6A333ABE6D3D}" presName="connectorText" presStyleLbl="sibTrans2D1" presStyleIdx="0" presStyleCnt="1"/>
      <dgm:spPr/>
    </dgm:pt>
    <dgm:pt modelId="{7143C710-6920-4A9B-A1CB-FB30338B0623}" type="pres">
      <dgm:prSet presAssocID="{B61F9771-4BBB-4336-A187-FAC115E2DAB7}" presName="node" presStyleLbl="node1" presStyleIdx="1" presStyleCnt="2">
        <dgm:presLayoutVars>
          <dgm:bulletEnabled val="1"/>
        </dgm:presLayoutVars>
      </dgm:prSet>
      <dgm:spPr/>
    </dgm:pt>
  </dgm:ptLst>
  <dgm:cxnLst>
    <dgm:cxn modelId="{46571401-BB6D-410C-8222-92468D294FAE}" srcId="{DE5A1251-AD68-435F-BD90-E13E038C25AD}" destId="{B61F9771-4BBB-4336-A187-FAC115E2DAB7}" srcOrd="1" destOrd="0" parTransId="{F35AF885-07F5-4EB0-A28F-80F9BEF08359}" sibTransId="{BE680BCF-15DF-4DF3-A364-8728421C9FBC}"/>
    <dgm:cxn modelId="{2F986964-F111-44C8-9884-8071DA8C047D}" type="presOf" srcId="{487E48FE-19E4-46FD-838B-E504E3312D5D}" destId="{72848653-8A5E-4718-AF8D-42FBD22CAA0B}" srcOrd="0" destOrd="0" presId="urn:microsoft.com/office/officeart/2005/8/layout/process1"/>
    <dgm:cxn modelId="{0B326A98-4EE3-4C11-8498-D431051DF6EA}" srcId="{DE5A1251-AD68-435F-BD90-E13E038C25AD}" destId="{487E48FE-19E4-46FD-838B-E504E3312D5D}" srcOrd="0" destOrd="0" parTransId="{A23EB736-5EEC-4C36-8DAB-8BD1D2E5E6EE}" sibTransId="{8D992EDB-B90F-4F1E-9E24-6A333ABE6D3D}"/>
    <dgm:cxn modelId="{A15A24AB-C01C-42A0-AC67-B14B605D77E6}" type="presOf" srcId="{8D992EDB-B90F-4F1E-9E24-6A333ABE6D3D}" destId="{0530EEB9-EE9E-4270-9088-2BB7BF67E10B}" srcOrd="0" destOrd="0" presId="urn:microsoft.com/office/officeart/2005/8/layout/process1"/>
    <dgm:cxn modelId="{95F152B3-80C6-4FFF-950F-3A16F15BCB87}" type="presOf" srcId="{8D992EDB-B90F-4F1E-9E24-6A333ABE6D3D}" destId="{66DD1D9C-DCCD-4154-9F0D-C9513FD3D586}" srcOrd="1" destOrd="0" presId="urn:microsoft.com/office/officeart/2005/8/layout/process1"/>
    <dgm:cxn modelId="{A86CFAC7-2A06-49D8-ACF6-B90D7C18003B}" type="presOf" srcId="{DE5A1251-AD68-435F-BD90-E13E038C25AD}" destId="{0CCADBAF-8854-453C-8B27-9695EDE7D673}" srcOrd="0" destOrd="0" presId="urn:microsoft.com/office/officeart/2005/8/layout/process1"/>
    <dgm:cxn modelId="{8087AFCE-0C29-4DF1-BF4A-F6772BCA4D6A}" type="presOf" srcId="{B61F9771-4BBB-4336-A187-FAC115E2DAB7}" destId="{7143C710-6920-4A9B-A1CB-FB30338B0623}" srcOrd="0" destOrd="0" presId="urn:microsoft.com/office/officeart/2005/8/layout/process1"/>
    <dgm:cxn modelId="{3D3C22C3-E7D4-44D4-B1E3-CB1EB98D7AE5}" type="presParOf" srcId="{0CCADBAF-8854-453C-8B27-9695EDE7D673}" destId="{72848653-8A5E-4718-AF8D-42FBD22CAA0B}" srcOrd="0" destOrd="0" presId="urn:microsoft.com/office/officeart/2005/8/layout/process1"/>
    <dgm:cxn modelId="{F6F8E029-DF6D-48D2-A9C8-04B03E55B675}" type="presParOf" srcId="{0CCADBAF-8854-453C-8B27-9695EDE7D673}" destId="{0530EEB9-EE9E-4270-9088-2BB7BF67E10B}" srcOrd="1" destOrd="0" presId="urn:microsoft.com/office/officeart/2005/8/layout/process1"/>
    <dgm:cxn modelId="{16B47597-2770-4A11-8A96-CD16430D5B3B}" type="presParOf" srcId="{0530EEB9-EE9E-4270-9088-2BB7BF67E10B}" destId="{66DD1D9C-DCCD-4154-9F0D-C9513FD3D586}" srcOrd="0" destOrd="0" presId="urn:microsoft.com/office/officeart/2005/8/layout/process1"/>
    <dgm:cxn modelId="{ED2F9BCC-9560-4C1C-9741-2E71903AB180}" type="presParOf" srcId="{0CCADBAF-8854-453C-8B27-9695EDE7D673}" destId="{7143C710-6920-4A9B-A1CB-FB30338B0623}" srcOrd="2" destOrd="0" presId="urn:microsoft.com/office/officeart/2005/8/layout/process1"/>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E5A1251-AD68-435F-BD90-E13E038C25AD}" type="doc">
      <dgm:prSet loTypeId="urn:microsoft.com/office/officeart/2005/8/layout/process1" loCatId="process" qsTypeId="urn:microsoft.com/office/officeart/2005/8/quickstyle/simple1" qsCatId="simple" csTypeId="urn:microsoft.com/office/officeart/2005/8/colors/accent5_2" csCatId="accent5" phldr="1"/>
      <dgm:spPr/>
    </dgm:pt>
    <dgm:pt modelId="{487E48FE-19E4-46FD-838B-E504E3312D5D}">
      <dgm:prSet phldrT="[Texte]"/>
      <dgm:spPr/>
      <dgm:t>
        <a:bodyPr/>
        <a:lstStyle/>
        <a:p>
          <a:r>
            <a:rPr lang="fr-FR" b="1" dirty="0"/>
            <a:t>As</a:t>
          </a:r>
          <a:endParaRPr lang="fr-FR" b="1" baseline="-25000" dirty="0"/>
        </a:p>
      </dgm:t>
    </dgm:pt>
    <dgm:pt modelId="{A23EB736-5EEC-4C36-8DAB-8BD1D2E5E6EE}" type="parTrans" cxnId="{0B326A98-4EE3-4C11-8498-D431051DF6EA}">
      <dgm:prSet/>
      <dgm:spPr/>
      <dgm:t>
        <a:bodyPr/>
        <a:lstStyle/>
        <a:p>
          <a:endParaRPr lang="fr-FR" b="1"/>
        </a:p>
      </dgm:t>
    </dgm:pt>
    <dgm:pt modelId="{8D992EDB-B90F-4F1E-9E24-6A333ABE6D3D}" type="sibTrans" cxnId="{0B326A98-4EE3-4C11-8498-D431051DF6EA}">
      <dgm:prSet/>
      <dgm:spPr/>
      <dgm:t>
        <a:bodyPr/>
        <a:lstStyle/>
        <a:p>
          <a:endParaRPr lang="fr-FR" b="1"/>
        </a:p>
      </dgm:t>
    </dgm:pt>
    <dgm:pt modelId="{B61F9771-4BBB-4336-A187-FAC115E2DAB7}">
      <dgm:prSet phldrT="[Texte]"/>
      <dgm:spPr/>
      <dgm:t>
        <a:bodyPr/>
        <a:lstStyle/>
        <a:p>
          <a:r>
            <a:rPr lang="fr-FR" b="1" dirty="0"/>
            <a:t>Dermatites, cancer des poumons</a:t>
          </a:r>
        </a:p>
      </dgm:t>
    </dgm:pt>
    <dgm:pt modelId="{F35AF885-07F5-4EB0-A28F-80F9BEF08359}" type="parTrans" cxnId="{46571401-BB6D-410C-8222-92468D294FAE}">
      <dgm:prSet/>
      <dgm:spPr/>
      <dgm:t>
        <a:bodyPr/>
        <a:lstStyle/>
        <a:p>
          <a:endParaRPr lang="fr-FR" b="1"/>
        </a:p>
      </dgm:t>
    </dgm:pt>
    <dgm:pt modelId="{BE680BCF-15DF-4DF3-A364-8728421C9FBC}" type="sibTrans" cxnId="{46571401-BB6D-410C-8222-92468D294FAE}">
      <dgm:prSet/>
      <dgm:spPr/>
      <dgm:t>
        <a:bodyPr/>
        <a:lstStyle/>
        <a:p>
          <a:endParaRPr lang="fr-FR" b="1"/>
        </a:p>
      </dgm:t>
    </dgm:pt>
    <dgm:pt modelId="{0CCADBAF-8854-453C-8B27-9695EDE7D673}" type="pres">
      <dgm:prSet presAssocID="{DE5A1251-AD68-435F-BD90-E13E038C25AD}" presName="Name0" presStyleCnt="0">
        <dgm:presLayoutVars>
          <dgm:dir/>
          <dgm:resizeHandles val="exact"/>
        </dgm:presLayoutVars>
      </dgm:prSet>
      <dgm:spPr/>
    </dgm:pt>
    <dgm:pt modelId="{72848653-8A5E-4718-AF8D-42FBD22CAA0B}" type="pres">
      <dgm:prSet presAssocID="{487E48FE-19E4-46FD-838B-E504E3312D5D}" presName="node" presStyleLbl="node1" presStyleIdx="0" presStyleCnt="2" custScaleX="60357">
        <dgm:presLayoutVars>
          <dgm:bulletEnabled val="1"/>
        </dgm:presLayoutVars>
      </dgm:prSet>
      <dgm:spPr/>
    </dgm:pt>
    <dgm:pt modelId="{0530EEB9-EE9E-4270-9088-2BB7BF67E10B}" type="pres">
      <dgm:prSet presAssocID="{8D992EDB-B90F-4F1E-9E24-6A333ABE6D3D}" presName="sibTrans" presStyleLbl="sibTrans2D1" presStyleIdx="0" presStyleCnt="1"/>
      <dgm:spPr/>
    </dgm:pt>
    <dgm:pt modelId="{66DD1D9C-DCCD-4154-9F0D-C9513FD3D586}" type="pres">
      <dgm:prSet presAssocID="{8D992EDB-B90F-4F1E-9E24-6A333ABE6D3D}" presName="connectorText" presStyleLbl="sibTrans2D1" presStyleIdx="0" presStyleCnt="1"/>
      <dgm:spPr/>
    </dgm:pt>
    <dgm:pt modelId="{7143C710-6920-4A9B-A1CB-FB30338B0623}" type="pres">
      <dgm:prSet presAssocID="{B61F9771-4BBB-4336-A187-FAC115E2DAB7}" presName="node" presStyleLbl="node1" presStyleIdx="1" presStyleCnt="2">
        <dgm:presLayoutVars>
          <dgm:bulletEnabled val="1"/>
        </dgm:presLayoutVars>
      </dgm:prSet>
      <dgm:spPr/>
    </dgm:pt>
  </dgm:ptLst>
  <dgm:cxnLst>
    <dgm:cxn modelId="{46571401-BB6D-410C-8222-92468D294FAE}" srcId="{DE5A1251-AD68-435F-BD90-E13E038C25AD}" destId="{B61F9771-4BBB-4336-A187-FAC115E2DAB7}" srcOrd="1" destOrd="0" parTransId="{F35AF885-07F5-4EB0-A28F-80F9BEF08359}" sibTransId="{BE680BCF-15DF-4DF3-A364-8728421C9FBC}"/>
    <dgm:cxn modelId="{2F986964-F111-44C8-9884-8071DA8C047D}" type="presOf" srcId="{487E48FE-19E4-46FD-838B-E504E3312D5D}" destId="{72848653-8A5E-4718-AF8D-42FBD22CAA0B}" srcOrd="0" destOrd="0" presId="urn:microsoft.com/office/officeart/2005/8/layout/process1"/>
    <dgm:cxn modelId="{0B326A98-4EE3-4C11-8498-D431051DF6EA}" srcId="{DE5A1251-AD68-435F-BD90-E13E038C25AD}" destId="{487E48FE-19E4-46FD-838B-E504E3312D5D}" srcOrd="0" destOrd="0" parTransId="{A23EB736-5EEC-4C36-8DAB-8BD1D2E5E6EE}" sibTransId="{8D992EDB-B90F-4F1E-9E24-6A333ABE6D3D}"/>
    <dgm:cxn modelId="{A15A24AB-C01C-42A0-AC67-B14B605D77E6}" type="presOf" srcId="{8D992EDB-B90F-4F1E-9E24-6A333ABE6D3D}" destId="{0530EEB9-EE9E-4270-9088-2BB7BF67E10B}" srcOrd="0" destOrd="0" presId="urn:microsoft.com/office/officeart/2005/8/layout/process1"/>
    <dgm:cxn modelId="{95F152B3-80C6-4FFF-950F-3A16F15BCB87}" type="presOf" srcId="{8D992EDB-B90F-4F1E-9E24-6A333ABE6D3D}" destId="{66DD1D9C-DCCD-4154-9F0D-C9513FD3D586}" srcOrd="1" destOrd="0" presId="urn:microsoft.com/office/officeart/2005/8/layout/process1"/>
    <dgm:cxn modelId="{A86CFAC7-2A06-49D8-ACF6-B90D7C18003B}" type="presOf" srcId="{DE5A1251-AD68-435F-BD90-E13E038C25AD}" destId="{0CCADBAF-8854-453C-8B27-9695EDE7D673}" srcOrd="0" destOrd="0" presId="urn:microsoft.com/office/officeart/2005/8/layout/process1"/>
    <dgm:cxn modelId="{8087AFCE-0C29-4DF1-BF4A-F6772BCA4D6A}" type="presOf" srcId="{B61F9771-4BBB-4336-A187-FAC115E2DAB7}" destId="{7143C710-6920-4A9B-A1CB-FB30338B0623}" srcOrd="0" destOrd="0" presId="urn:microsoft.com/office/officeart/2005/8/layout/process1"/>
    <dgm:cxn modelId="{3D3C22C3-E7D4-44D4-B1E3-CB1EB98D7AE5}" type="presParOf" srcId="{0CCADBAF-8854-453C-8B27-9695EDE7D673}" destId="{72848653-8A5E-4718-AF8D-42FBD22CAA0B}" srcOrd="0" destOrd="0" presId="urn:microsoft.com/office/officeart/2005/8/layout/process1"/>
    <dgm:cxn modelId="{F6F8E029-DF6D-48D2-A9C8-04B03E55B675}" type="presParOf" srcId="{0CCADBAF-8854-453C-8B27-9695EDE7D673}" destId="{0530EEB9-EE9E-4270-9088-2BB7BF67E10B}" srcOrd="1" destOrd="0" presId="urn:microsoft.com/office/officeart/2005/8/layout/process1"/>
    <dgm:cxn modelId="{16B47597-2770-4A11-8A96-CD16430D5B3B}" type="presParOf" srcId="{0530EEB9-EE9E-4270-9088-2BB7BF67E10B}" destId="{66DD1D9C-DCCD-4154-9F0D-C9513FD3D586}" srcOrd="0" destOrd="0" presId="urn:microsoft.com/office/officeart/2005/8/layout/process1"/>
    <dgm:cxn modelId="{ED2F9BCC-9560-4C1C-9741-2E71903AB180}" type="presParOf" srcId="{0CCADBAF-8854-453C-8B27-9695EDE7D673}" destId="{7143C710-6920-4A9B-A1CB-FB30338B0623}" srcOrd="2" destOrd="0" presId="urn:microsoft.com/office/officeart/2005/8/layout/process1"/>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E5A1251-AD68-435F-BD90-E13E038C25AD}" type="doc">
      <dgm:prSet loTypeId="urn:microsoft.com/office/officeart/2005/8/layout/process1" loCatId="process" qsTypeId="urn:microsoft.com/office/officeart/2005/8/quickstyle/simple1" qsCatId="simple" csTypeId="urn:microsoft.com/office/officeart/2005/8/colors/accent5_2" csCatId="accent5" phldr="1"/>
      <dgm:spPr/>
    </dgm:pt>
    <dgm:pt modelId="{487E48FE-19E4-46FD-838B-E504E3312D5D}">
      <dgm:prSet phldrT="[Texte]" custT="1"/>
      <dgm:spPr/>
      <dgm:t>
        <a:bodyPr/>
        <a:lstStyle/>
        <a:p>
          <a:r>
            <a:rPr lang="fr-FR" sz="1600" b="1" dirty="0"/>
            <a:t>COV, méthane, benzène, hydrocarbures</a:t>
          </a:r>
          <a:endParaRPr lang="fr-FR" sz="1600" b="1" baseline="-25000" dirty="0"/>
        </a:p>
      </dgm:t>
    </dgm:pt>
    <dgm:pt modelId="{A23EB736-5EEC-4C36-8DAB-8BD1D2E5E6EE}" type="parTrans" cxnId="{0B326A98-4EE3-4C11-8498-D431051DF6EA}">
      <dgm:prSet/>
      <dgm:spPr/>
      <dgm:t>
        <a:bodyPr/>
        <a:lstStyle/>
        <a:p>
          <a:endParaRPr lang="fr-FR" b="1"/>
        </a:p>
      </dgm:t>
    </dgm:pt>
    <dgm:pt modelId="{8D992EDB-B90F-4F1E-9E24-6A333ABE6D3D}" type="sibTrans" cxnId="{0B326A98-4EE3-4C11-8498-D431051DF6EA}">
      <dgm:prSet/>
      <dgm:spPr/>
      <dgm:t>
        <a:bodyPr/>
        <a:lstStyle/>
        <a:p>
          <a:endParaRPr lang="fr-FR" b="1"/>
        </a:p>
      </dgm:t>
    </dgm:pt>
    <dgm:pt modelId="{B61F9771-4BBB-4336-A187-FAC115E2DAB7}">
      <dgm:prSet phldrT="[Texte]" custT="1"/>
      <dgm:spPr/>
      <dgm:t>
        <a:bodyPr/>
        <a:lstStyle/>
        <a:p>
          <a:r>
            <a:rPr lang="fr-FR" sz="1800" b="1" dirty="0"/>
            <a:t>Cancer des vies respiratoires et du système digestif</a:t>
          </a:r>
        </a:p>
      </dgm:t>
    </dgm:pt>
    <dgm:pt modelId="{F35AF885-07F5-4EB0-A28F-80F9BEF08359}" type="parTrans" cxnId="{46571401-BB6D-410C-8222-92468D294FAE}">
      <dgm:prSet/>
      <dgm:spPr/>
      <dgm:t>
        <a:bodyPr/>
        <a:lstStyle/>
        <a:p>
          <a:endParaRPr lang="fr-FR" b="1"/>
        </a:p>
      </dgm:t>
    </dgm:pt>
    <dgm:pt modelId="{BE680BCF-15DF-4DF3-A364-8728421C9FBC}" type="sibTrans" cxnId="{46571401-BB6D-410C-8222-92468D294FAE}">
      <dgm:prSet/>
      <dgm:spPr/>
      <dgm:t>
        <a:bodyPr/>
        <a:lstStyle/>
        <a:p>
          <a:endParaRPr lang="fr-FR" b="1"/>
        </a:p>
      </dgm:t>
    </dgm:pt>
    <dgm:pt modelId="{0CCADBAF-8854-453C-8B27-9695EDE7D673}" type="pres">
      <dgm:prSet presAssocID="{DE5A1251-AD68-435F-BD90-E13E038C25AD}" presName="Name0" presStyleCnt="0">
        <dgm:presLayoutVars>
          <dgm:dir/>
          <dgm:resizeHandles val="exact"/>
        </dgm:presLayoutVars>
      </dgm:prSet>
      <dgm:spPr/>
    </dgm:pt>
    <dgm:pt modelId="{72848653-8A5E-4718-AF8D-42FBD22CAA0B}" type="pres">
      <dgm:prSet presAssocID="{487E48FE-19E4-46FD-838B-E504E3312D5D}" presName="node" presStyleLbl="node1" presStyleIdx="0" presStyleCnt="2" custScaleX="60430">
        <dgm:presLayoutVars>
          <dgm:bulletEnabled val="1"/>
        </dgm:presLayoutVars>
      </dgm:prSet>
      <dgm:spPr/>
    </dgm:pt>
    <dgm:pt modelId="{0530EEB9-EE9E-4270-9088-2BB7BF67E10B}" type="pres">
      <dgm:prSet presAssocID="{8D992EDB-B90F-4F1E-9E24-6A333ABE6D3D}" presName="sibTrans" presStyleLbl="sibTrans2D1" presStyleIdx="0" presStyleCnt="1"/>
      <dgm:spPr/>
    </dgm:pt>
    <dgm:pt modelId="{66DD1D9C-DCCD-4154-9F0D-C9513FD3D586}" type="pres">
      <dgm:prSet presAssocID="{8D992EDB-B90F-4F1E-9E24-6A333ABE6D3D}" presName="connectorText" presStyleLbl="sibTrans2D1" presStyleIdx="0" presStyleCnt="1"/>
      <dgm:spPr/>
    </dgm:pt>
    <dgm:pt modelId="{7143C710-6920-4A9B-A1CB-FB30338B0623}" type="pres">
      <dgm:prSet presAssocID="{B61F9771-4BBB-4336-A187-FAC115E2DAB7}" presName="node" presStyleLbl="node1" presStyleIdx="1" presStyleCnt="2">
        <dgm:presLayoutVars>
          <dgm:bulletEnabled val="1"/>
        </dgm:presLayoutVars>
      </dgm:prSet>
      <dgm:spPr/>
    </dgm:pt>
  </dgm:ptLst>
  <dgm:cxnLst>
    <dgm:cxn modelId="{46571401-BB6D-410C-8222-92468D294FAE}" srcId="{DE5A1251-AD68-435F-BD90-E13E038C25AD}" destId="{B61F9771-4BBB-4336-A187-FAC115E2DAB7}" srcOrd="1" destOrd="0" parTransId="{F35AF885-07F5-4EB0-A28F-80F9BEF08359}" sibTransId="{BE680BCF-15DF-4DF3-A364-8728421C9FBC}"/>
    <dgm:cxn modelId="{2F986964-F111-44C8-9884-8071DA8C047D}" type="presOf" srcId="{487E48FE-19E4-46FD-838B-E504E3312D5D}" destId="{72848653-8A5E-4718-AF8D-42FBD22CAA0B}" srcOrd="0" destOrd="0" presId="urn:microsoft.com/office/officeart/2005/8/layout/process1"/>
    <dgm:cxn modelId="{0B326A98-4EE3-4C11-8498-D431051DF6EA}" srcId="{DE5A1251-AD68-435F-BD90-E13E038C25AD}" destId="{487E48FE-19E4-46FD-838B-E504E3312D5D}" srcOrd="0" destOrd="0" parTransId="{A23EB736-5EEC-4C36-8DAB-8BD1D2E5E6EE}" sibTransId="{8D992EDB-B90F-4F1E-9E24-6A333ABE6D3D}"/>
    <dgm:cxn modelId="{A15A24AB-C01C-42A0-AC67-B14B605D77E6}" type="presOf" srcId="{8D992EDB-B90F-4F1E-9E24-6A333ABE6D3D}" destId="{0530EEB9-EE9E-4270-9088-2BB7BF67E10B}" srcOrd="0" destOrd="0" presId="urn:microsoft.com/office/officeart/2005/8/layout/process1"/>
    <dgm:cxn modelId="{95F152B3-80C6-4FFF-950F-3A16F15BCB87}" type="presOf" srcId="{8D992EDB-B90F-4F1E-9E24-6A333ABE6D3D}" destId="{66DD1D9C-DCCD-4154-9F0D-C9513FD3D586}" srcOrd="1" destOrd="0" presId="urn:microsoft.com/office/officeart/2005/8/layout/process1"/>
    <dgm:cxn modelId="{A86CFAC7-2A06-49D8-ACF6-B90D7C18003B}" type="presOf" srcId="{DE5A1251-AD68-435F-BD90-E13E038C25AD}" destId="{0CCADBAF-8854-453C-8B27-9695EDE7D673}" srcOrd="0" destOrd="0" presId="urn:microsoft.com/office/officeart/2005/8/layout/process1"/>
    <dgm:cxn modelId="{8087AFCE-0C29-4DF1-BF4A-F6772BCA4D6A}" type="presOf" srcId="{B61F9771-4BBB-4336-A187-FAC115E2DAB7}" destId="{7143C710-6920-4A9B-A1CB-FB30338B0623}" srcOrd="0" destOrd="0" presId="urn:microsoft.com/office/officeart/2005/8/layout/process1"/>
    <dgm:cxn modelId="{3D3C22C3-E7D4-44D4-B1E3-CB1EB98D7AE5}" type="presParOf" srcId="{0CCADBAF-8854-453C-8B27-9695EDE7D673}" destId="{72848653-8A5E-4718-AF8D-42FBD22CAA0B}" srcOrd="0" destOrd="0" presId="urn:microsoft.com/office/officeart/2005/8/layout/process1"/>
    <dgm:cxn modelId="{F6F8E029-DF6D-48D2-A9C8-04B03E55B675}" type="presParOf" srcId="{0CCADBAF-8854-453C-8B27-9695EDE7D673}" destId="{0530EEB9-EE9E-4270-9088-2BB7BF67E10B}" srcOrd="1" destOrd="0" presId="urn:microsoft.com/office/officeart/2005/8/layout/process1"/>
    <dgm:cxn modelId="{16B47597-2770-4A11-8A96-CD16430D5B3B}" type="presParOf" srcId="{0530EEB9-EE9E-4270-9088-2BB7BF67E10B}" destId="{66DD1D9C-DCCD-4154-9F0D-C9513FD3D586}" srcOrd="0" destOrd="0" presId="urn:microsoft.com/office/officeart/2005/8/layout/process1"/>
    <dgm:cxn modelId="{ED2F9BCC-9560-4C1C-9741-2E71903AB180}" type="presParOf" srcId="{0CCADBAF-8854-453C-8B27-9695EDE7D673}" destId="{7143C710-6920-4A9B-A1CB-FB30338B0623}" srcOrd="2" destOrd="0" presId="urn:microsoft.com/office/officeart/2005/8/layout/process1"/>
  </dgm:cxnLst>
  <dgm:bg/>
  <dgm:whole/>
  <dgm:extLst>
    <a:ext uri="http://schemas.microsoft.com/office/drawing/2008/diagram">
      <dsp:dataModelExt xmlns:dsp="http://schemas.microsoft.com/office/drawing/2008/diagram" relId="rId3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943F804-C4C7-4B9D-914A-BA9943307FE8}"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2D6AED14-9B1F-42E6-BECE-436B1C006E8E}">
      <dgm:prSet phldrT="[Texte]" custT="1"/>
      <dgm:spPr/>
      <dgm:t>
        <a:bodyPr/>
        <a:lstStyle/>
        <a:p>
          <a:r>
            <a:rPr lang="fr-FR" sz="2000" b="1" dirty="0">
              <a:solidFill>
                <a:schemeClr val="bg1"/>
              </a:solidFill>
            </a:rPr>
            <a:t>CMR</a:t>
          </a:r>
        </a:p>
        <a:p>
          <a:r>
            <a:rPr lang="fr-FR" sz="1800" b="1" dirty="0">
              <a:solidFill>
                <a:schemeClr val="bg1"/>
              </a:solidFill>
            </a:rPr>
            <a:t>Cancérogènes, mutagènes ou reprotoxiques</a:t>
          </a:r>
        </a:p>
      </dgm:t>
    </dgm:pt>
    <dgm:pt modelId="{0C0F5D3E-77A6-4446-8DFC-BD9B7CAD2421}" type="parTrans" cxnId="{CDF741F2-CA6E-441D-931F-DA6AB2897142}">
      <dgm:prSet/>
      <dgm:spPr/>
      <dgm:t>
        <a:bodyPr/>
        <a:lstStyle/>
        <a:p>
          <a:endParaRPr lang="fr-FR" sz="1800" b="1">
            <a:solidFill>
              <a:schemeClr val="bg1"/>
            </a:solidFill>
          </a:endParaRPr>
        </a:p>
      </dgm:t>
    </dgm:pt>
    <dgm:pt modelId="{BEFC6EA1-EEDD-42B2-9183-007D11BFF749}" type="sibTrans" cxnId="{CDF741F2-CA6E-441D-931F-DA6AB2897142}">
      <dgm:prSet/>
      <dgm:spPr/>
      <dgm:t>
        <a:bodyPr/>
        <a:lstStyle/>
        <a:p>
          <a:endParaRPr lang="fr-FR" sz="1800" b="1">
            <a:solidFill>
              <a:schemeClr val="bg1"/>
            </a:solidFill>
          </a:endParaRPr>
        </a:p>
      </dgm:t>
    </dgm:pt>
    <dgm:pt modelId="{15F3AF49-B6BA-477F-BAF4-2D128EB62C15}">
      <dgm:prSet phldrT="[Texte]" custT="1"/>
      <dgm:spPr/>
      <dgm:t>
        <a:bodyPr/>
        <a:lstStyle/>
        <a:p>
          <a:r>
            <a:rPr lang="fr-FR" sz="2000" b="1" dirty="0">
              <a:solidFill>
                <a:schemeClr val="bg1"/>
              </a:solidFill>
            </a:rPr>
            <a:t>PBT</a:t>
          </a:r>
        </a:p>
        <a:p>
          <a:r>
            <a:rPr lang="fr-FR" sz="1800" b="1" i="0" dirty="0">
              <a:solidFill>
                <a:schemeClr val="bg1"/>
              </a:solidFill>
              <a:effectLst/>
            </a:rPr>
            <a:t>Persistantes dans l’environnement ou les organismes (faiblement dégradable), bioaccumulables et toxiques </a:t>
          </a:r>
          <a:endParaRPr lang="fr-FR" sz="1800" b="1" dirty="0">
            <a:solidFill>
              <a:schemeClr val="bg1"/>
            </a:solidFill>
          </a:endParaRPr>
        </a:p>
      </dgm:t>
    </dgm:pt>
    <dgm:pt modelId="{D9C5CC37-AE72-473E-9785-037C3A60BC3D}" type="parTrans" cxnId="{EEC14F2C-C358-4E78-BC17-80FF4A648B4E}">
      <dgm:prSet/>
      <dgm:spPr/>
      <dgm:t>
        <a:bodyPr/>
        <a:lstStyle/>
        <a:p>
          <a:endParaRPr lang="fr-FR" sz="1800" b="1">
            <a:solidFill>
              <a:schemeClr val="bg1"/>
            </a:solidFill>
          </a:endParaRPr>
        </a:p>
      </dgm:t>
    </dgm:pt>
    <dgm:pt modelId="{75E0E1F7-E2FE-4C83-9F57-9C1A8ABADEA9}" type="sibTrans" cxnId="{EEC14F2C-C358-4E78-BC17-80FF4A648B4E}">
      <dgm:prSet/>
      <dgm:spPr/>
      <dgm:t>
        <a:bodyPr/>
        <a:lstStyle/>
        <a:p>
          <a:endParaRPr lang="fr-FR" sz="1800" b="1">
            <a:solidFill>
              <a:schemeClr val="bg1"/>
            </a:solidFill>
          </a:endParaRPr>
        </a:p>
      </dgm:t>
    </dgm:pt>
    <dgm:pt modelId="{3284555F-02DA-42D3-A432-58308CEF3870}">
      <dgm:prSet phldrT="[Texte]" custT="1"/>
      <dgm:spPr/>
      <dgm:t>
        <a:bodyPr/>
        <a:lstStyle/>
        <a:p>
          <a:r>
            <a:rPr lang="fr-FR" sz="2000" b="1" dirty="0" err="1">
              <a:solidFill>
                <a:schemeClr val="bg1"/>
              </a:solidFill>
            </a:rPr>
            <a:t>vPvB</a:t>
          </a:r>
          <a:endParaRPr lang="fr-FR" sz="2000" b="1" dirty="0">
            <a:solidFill>
              <a:schemeClr val="bg1"/>
            </a:solidFill>
          </a:endParaRPr>
        </a:p>
        <a:p>
          <a:r>
            <a:rPr lang="fr-FR" sz="1800" b="1" i="0" dirty="0">
              <a:solidFill>
                <a:schemeClr val="bg1"/>
              </a:solidFill>
              <a:effectLst/>
            </a:rPr>
            <a:t>Très persistantes et très bioaccumulables </a:t>
          </a:r>
          <a:endParaRPr lang="fr-FR" sz="1800" b="1" dirty="0">
            <a:solidFill>
              <a:schemeClr val="bg1"/>
            </a:solidFill>
          </a:endParaRPr>
        </a:p>
      </dgm:t>
    </dgm:pt>
    <dgm:pt modelId="{BCB24A1A-D4EA-4484-82F1-34D984B12886}" type="parTrans" cxnId="{CEFB6C20-8462-4609-A590-35F651B51505}">
      <dgm:prSet/>
      <dgm:spPr/>
      <dgm:t>
        <a:bodyPr/>
        <a:lstStyle/>
        <a:p>
          <a:endParaRPr lang="fr-FR" sz="1800" b="1">
            <a:solidFill>
              <a:schemeClr val="bg1"/>
            </a:solidFill>
          </a:endParaRPr>
        </a:p>
      </dgm:t>
    </dgm:pt>
    <dgm:pt modelId="{495F19CE-B4E8-4347-913E-D4E128532446}" type="sibTrans" cxnId="{CEFB6C20-8462-4609-A590-35F651B51505}">
      <dgm:prSet/>
      <dgm:spPr/>
      <dgm:t>
        <a:bodyPr/>
        <a:lstStyle/>
        <a:p>
          <a:endParaRPr lang="fr-FR" sz="1800" b="1">
            <a:solidFill>
              <a:schemeClr val="bg1"/>
            </a:solidFill>
          </a:endParaRPr>
        </a:p>
      </dgm:t>
    </dgm:pt>
    <dgm:pt modelId="{A0BC31FD-1595-4ED7-9951-F4AA13A8FB6F}">
      <dgm:prSet phldrT="[Texte]" custT="1"/>
      <dgm:spPr/>
      <dgm:t>
        <a:bodyPr/>
        <a:lstStyle/>
        <a:p>
          <a:r>
            <a:rPr lang="fr-FR" sz="1800" b="1" i="0" dirty="0">
              <a:solidFill>
                <a:schemeClr val="bg1"/>
              </a:solidFill>
              <a:effectLst/>
            </a:rPr>
            <a:t>Substances qui présentent un niveau de préoccupation équivalent aux substances précédentes</a:t>
          </a:r>
        </a:p>
        <a:p>
          <a:r>
            <a:rPr lang="fr-FR" sz="1800" b="1" i="0" dirty="0">
              <a:solidFill>
                <a:schemeClr val="bg1"/>
              </a:solidFill>
              <a:effectLst/>
            </a:rPr>
            <a:t>(ex perturbateurs endocriniens)</a:t>
          </a:r>
          <a:endParaRPr lang="fr-FR" sz="1800" b="1" dirty="0">
            <a:solidFill>
              <a:schemeClr val="bg1"/>
            </a:solidFill>
          </a:endParaRPr>
        </a:p>
      </dgm:t>
    </dgm:pt>
    <dgm:pt modelId="{50AA504F-A001-4AE7-A181-2C1C1855E2F3}" type="parTrans" cxnId="{1C3B8299-6EEE-4DFE-882E-EE91147F01BB}">
      <dgm:prSet/>
      <dgm:spPr/>
      <dgm:t>
        <a:bodyPr/>
        <a:lstStyle/>
        <a:p>
          <a:endParaRPr lang="fr-FR" sz="1800" b="1">
            <a:solidFill>
              <a:schemeClr val="bg1"/>
            </a:solidFill>
          </a:endParaRPr>
        </a:p>
      </dgm:t>
    </dgm:pt>
    <dgm:pt modelId="{4AC9AA38-D3C5-440D-9E64-DDF15A421025}" type="sibTrans" cxnId="{1C3B8299-6EEE-4DFE-882E-EE91147F01BB}">
      <dgm:prSet/>
      <dgm:spPr/>
      <dgm:t>
        <a:bodyPr/>
        <a:lstStyle/>
        <a:p>
          <a:endParaRPr lang="fr-FR" sz="1800" b="1">
            <a:solidFill>
              <a:schemeClr val="bg1"/>
            </a:solidFill>
          </a:endParaRPr>
        </a:p>
      </dgm:t>
    </dgm:pt>
    <dgm:pt modelId="{7E314876-4150-4F16-B774-AC0C2876A01E}" type="pres">
      <dgm:prSet presAssocID="{2943F804-C4C7-4B9D-914A-BA9943307FE8}" presName="diagram" presStyleCnt="0">
        <dgm:presLayoutVars>
          <dgm:dir/>
          <dgm:resizeHandles val="exact"/>
        </dgm:presLayoutVars>
      </dgm:prSet>
      <dgm:spPr/>
    </dgm:pt>
    <dgm:pt modelId="{B7F9AF2B-2886-4583-921C-A3B2F18ABB77}" type="pres">
      <dgm:prSet presAssocID="{2D6AED14-9B1F-42E6-BECE-436B1C006E8E}" presName="node" presStyleLbl="node1" presStyleIdx="0" presStyleCnt="4" custScaleY="206001">
        <dgm:presLayoutVars>
          <dgm:bulletEnabled val="1"/>
        </dgm:presLayoutVars>
      </dgm:prSet>
      <dgm:spPr/>
    </dgm:pt>
    <dgm:pt modelId="{1130D4DD-6F46-43F4-AC7B-28C8071D8099}" type="pres">
      <dgm:prSet presAssocID="{BEFC6EA1-EEDD-42B2-9183-007D11BFF749}" presName="sibTrans" presStyleCnt="0"/>
      <dgm:spPr/>
    </dgm:pt>
    <dgm:pt modelId="{D18EE9F5-DF0E-4A3B-9ABE-C5C1CBB2AF2C}" type="pres">
      <dgm:prSet presAssocID="{15F3AF49-B6BA-477F-BAF4-2D128EB62C15}" presName="node" presStyleLbl="node1" presStyleIdx="1" presStyleCnt="4" custScaleY="206001">
        <dgm:presLayoutVars>
          <dgm:bulletEnabled val="1"/>
        </dgm:presLayoutVars>
      </dgm:prSet>
      <dgm:spPr/>
    </dgm:pt>
    <dgm:pt modelId="{6BBCE9C7-F902-4444-AF65-D28D4735D637}" type="pres">
      <dgm:prSet presAssocID="{75E0E1F7-E2FE-4C83-9F57-9C1A8ABADEA9}" presName="sibTrans" presStyleCnt="0"/>
      <dgm:spPr/>
    </dgm:pt>
    <dgm:pt modelId="{6D5A06C3-32EE-4AB8-AFCA-C087A1EB2E80}" type="pres">
      <dgm:prSet presAssocID="{3284555F-02DA-42D3-A432-58308CEF3870}" presName="node" presStyleLbl="node1" presStyleIdx="2" presStyleCnt="4" custScaleY="206001">
        <dgm:presLayoutVars>
          <dgm:bulletEnabled val="1"/>
        </dgm:presLayoutVars>
      </dgm:prSet>
      <dgm:spPr/>
    </dgm:pt>
    <dgm:pt modelId="{6E4C64C6-350B-4D08-AC8C-AC85B57E67BB}" type="pres">
      <dgm:prSet presAssocID="{495F19CE-B4E8-4347-913E-D4E128532446}" presName="sibTrans" presStyleCnt="0"/>
      <dgm:spPr/>
    </dgm:pt>
    <dgm:pt modelId="{62F8A2F8-429A-4FFD-8D60-E3AD756D2556}" type="pres">
      <dgm:prSet presAssocID="{A0BC31FD-1595-4ED7-9951-F4AA13A8FB6F}" presName="node" presStyleLbl="node1" presStyleIdx="3" presStyleCnt="4" custScaleY="206001">
        <dgm:presLayoutVars>
          <dgm:bulletEnabled val="1"/>
        </dgm:presLayoutVars>
      </dgm:prSet>
      <dgm:spPr/>
    </dgm:pt>
  </dgm:ptLst>
  <dgm:cxnLst>
    <dgm:cxn modelId="{CEFB6C20-8462-4609-A590-35F651B51505}" srcId="{2943F804-C4C7-4B9D-914A-BA9943307FE8}" destId="{3284555F-02DA-42D3-A432-58308CEF3870}" srcOrd="2" destOrd="0" parTransId="{BCB24A1A-D4EA-4484-82F1-34D984B12886}" sibTransId="{495F19CE-B4E8-4347-913E-D4E128532446}"/>
    <dgm:cxn modelId="{EEC14F2C-C358-4E78-BC17-80FF4A648B4E}" srcId="{2943F804-C4C7-4B9D-914A-BA9943307FE8}" destId="{15F3AF49-B6BA-477F-BAF4-2D128EB62C15}" srcOrd="1" destOrd="0" parTransId="{D9C5CC37-AE72-473E-9785-037C3A60BC3D}" sibTransId="{75E0E1F7-E2FE-4C83-9F57-9C1A8ABADEA9}"/>
    <dgm:cxn modelId="{4DCD185D-8E1E-44DF-91AD-365954850DC3}" type="presOf" srcId="{3284555F-02DA-42D3-A432-58308CEF3870}" destId="{6D5A06C3-32EE-4AB8-AFCA-C087A1EB2E80}" srcOrd="0" destOrd="0" presId="urn:microsoft.com/office/officeart/2005/8/layout/default"/>
    <dgm:cxn modelId="{337F1577-3CCF-4110-B292-D06121E5C37E}" type="presOf" srcId="{A0BC31FD-1595-4ED7-9951-F4AA13A8FB6F}" destId="{62F8A2F8-429A-4FFD-8D60-E3AD756D2556}" srcOrd="0" destOrd="0" presId="urn:microsoft.com/office/officeart/2005/8/layout/default"/>
    <dgm:cxn modelId="{05A05E84-16BA-4657-AE2F-12AAAD6BBFD0}" type="presOf" srcId="{2D6AED14-9B1F-42E6-BECE-436B1C006E8E}" destId="{B7F9AF2B-2886-4583-921C-A3B2F18ABB77}" srcOrd="0" destOrd="0" presId="urn:microsoft.com/office/officeart/2005/8/layout/default"/>
    <dgm:cxn modelId="{1C3B8299-6EEE-4DFE-882E-EE91147F01BB}" srcId="{2943F804-C4C7-4B9D-914A-BA9943307FE8}" destId="{A0BC31FD-1595-4ED7-9951-F4AA13A8FB6F}" srcOrd="3" destOrd="0" parTransId="{50AA504F-A001-4AE7-A181-2C1C1855E2F3}" sibTransId="{4AC9AA38-D3C5-440D-9E64-DDF15A421025}"/>
    <dgm:cxn modelId="{3BB456B1-93B0-403E-9712-C32B5B737BD8}" type="presOf" srcId="{2943F804-C4C7-4B9D-914A-BA9943307FE8}" destId="{7E314876-4150-4F16-B774-AC0C2876A01E}" srcOrd="0" destOrd="0" presId="urn:microsoft.com/office/officeart/2005/8/layout/default"/>
    <dgm:cxn modelId="{7DA417CA-4DCB-428E-9ACF-2B8F2D0A2DFD}" type="presOf" srcId="{15F3AF49-B6BA-477F-BAF4-2D128EB62C15}" destId="{D18EE9F5-DF0E-4A3B-9ABE-C5C1CBB2AF2C}" srcOrd="0" destOrd="0" presId="urn:microsoft.com/office/officeart/2005/8/layout/default"/>
    <dgm:cxn modelId="{CDF741F2-CA6E-441D-931F-DA6AB2897142}" srcId="{2943F804-C4C7-4B9D-914A-BA9943307FE8}" destId="{2D6AED14-9B1F-42E6-BECE-436B1C006E8E}" srcOrd="0" destOrd="0" parTransId="{0C0F5D3E-77A6-4446-8DFC-BD9B7CAD2421}" sibTransId="{BEFC6EA1-EEDD-42B2-9183-007D11BFF749}"/>
    <dgm:cxn modelId="{F49B6D0C-36A2-4502-B37E-4F17D07C63B8}" type="presParOf" srcId="{7E314876-4150-4F16-B774-AC0C2876A01E}" destId="{B7F9AF2B-2886-4583-921C-A3B2F18ABB77}" srcOrd="0" destOrd="0" presId="urn:microsoft.com/office/officeart/2005/8/layout/default"/>
    <dgm:cxn modelId="{333416DC-80D1-48FC-ABE5-B83D557CDB70}" type="presParOf" srcId="{7E314876-4150-4F16-B774-AC0C2876A01E}" destId="{1130D4DD-6F46-43F4-AC7B-28C8071D8099}" srcOrd="1" destOrd="0" presId="urn:microsoft.com/office/officeart/2005/8/layout/default"/>
    <dgm:cxn modelId="{DF200730-316E-449F-A640-896544F210F3}" type="presParOf" srcId="{7E314876-4150-4F16-B774-AC0C2876A01E}" destId="{D18EE9F5-DF0E-4A3B-9ABE-C5C1CBB2AF2C}" srcOrd="2" destOrd="0" presId="urn:microsoft.com/office/officeart/2005/8/layout/default"/>
    <dgm:cxn modelId="{EAD2C5DF-BCB4-4DA9-BB4B-498A584AF8D9}" type="presParOf" srcId="{7E314876-4150-4F16-B774-AC0C2876A01E}" destId="{6BBCE9C7-F902-4444-AF65-D28D4735D637}" srcOrd="3" destOrd="0" presId="urn:microsoft.com/office/officeart/2005/8/layout/default"/>
    <dgm:cxn modelId="{30392150-C957-4802-9D78-032FFA14CD1F}" type="presParOf" srcId="{7E314876-4150-4F16-B774-AC0C2876A01E}" destId="{6D5A06C3-32EE-4AB8-AFCA-C087A1EB2E80}" srcOrd="4" destOrd="0" presId="urn:microsoft.com/office/officeart/2005/8/layout/default"/>
    <dgm:cxn modelId="{0AAC8576-05A3-4C01-BBE7-8E076DE98DC8}" type="presParOf" srcId="{7E314876-4150-4F16-B774-AC0C2876A01E}" destId="{6E4C64C6-350B-4D08-AC8C-AC85B57E67BB}" srcOrd="5" destOrd="0" presId="urn:microsoft.com/office/officeart/2005/8/layout/default"/>
    <dgm:cxn modelId="{24491552-EE6C-4744-B275-469DD8C6389A}" type="presParOf" srcId="{7E314876-4150-4F16-B774-AC0C2876A01E}" destId="{62F8A2F8-429A-4FFD-8D60-E3AD756D255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708C5B0-02CF-4A2E-9FB4-72A88E031267}" type="doc">
      <dgm:prSet loTypeId="urn:microsoft.com/office/officeart/2005/8/layout/radial4" loCatId="relationship" qsTypeId="urn:microsoft.com/office/officeart/2005/8/quickstyle/simple1" qsCatId="simple" csTypeId="urn:microsoft.com/office/officeart/2005/8/colors/accent5_2" csCatId="accent5" phldr="1"/>
      <dgm:spPr/>
      <dgm:t>
        <a:bodyPr/>
        <a:lstStyle/>
        <a:p>
          <a:endParaRPr lang="fr-FR"/>
        </a:p>
      </dgm:t>
    </dgm:pt>
    <dgm:pt modelId="{C62C1B2F-4B4F-4FF3-90F1-E1B19C0D344D}">
      <dgm:prSet phldrT="[Texte]" custT="1"/>
      <dgm:spPr/>
      <dgm:t>
        <a:bodyPr/>
        <a:lstStyle/>
        <a:p>
          <a:r>
            <a:rPr lang="fr-FR" sz="1800" b="1" dirty="0"/>
            <a:t>Appauvrissement de la teneur en oxygène de l’eau</a:t>
          </a:r>
        </a:p>
      </dgm:t>
    </dgm:pt>
    <dgm:pt modelId="{D8DDD97C-54A8-4DBD-9488-CAD9247BE289}" type="parTrans" cxnId="{2E42F1B6-057B-42D3-AFBD-3A3BF67A5407}">
      <dgm:prSet/>
      <dgm:spPr/>
      <dgm:t>
        <a:bodyPr/>
        <a:lstStyle/>
        <a:p>
          <a:endParaRPr lang="fr-FR" sz="1800" b="1"/>
        </a:p>
      </dgm:t>
    </dgm:pt>
    <dgm:pt modelId="{F299E9CB-2019-40C3-AE1C-311EDF5C2810}" type="sibTrans" cxnId="{2E42F1B6-057B-42D3-AFBD-3A3BF67A5407}">
      <dgm:prSet/>
      <dgm:spPr/>
      <dgm:t>
        <a:bodyPr/>
        <a:lstStyle/>
        <a:p>
          <a:endParaRPr lang="fr-FR" sz="1800" b="1"/>
        </a:p>
      </dgm:t>
    </dgm:pt>
    <dgm:pt modelId="{06496C2B-7247-4B7C-98F0-5F0A1DC68715}">
      <dgm:prSet phldrT="[Texte]" custT="1"/>
      <dgm:spPr/>
      <dgm:t>
        <a:bodyPr/>
        <a:lstStyle/>
        <a:p>
          <a:r>
            <a:rPr lang="fr-FR" sz="1800" b="1" dirty="0"/>
            <a:t>Polluants organiques biodégradables</a:t>
          </a:r>
        </a:p>
      </dgm:t>
    </dgm:pt>
    <dgm:pt modelId="{8CB467C0-B887-41BE-A48C-27559FEEC09F}" type="parTrans" cxnId="{7A451BD2-5BDB-46AF-92A5-5015C4D64406}">
      <dgm:prSet/>
      <dgm:spPr/>
      <dgm:t>
        <a:bodyPr/>
        <a:lstStyle/>
        <a:p>
          <a:endParaRPr lang="fr-FR" sz="1800" b="1"/>
        </a:p>
      </dgm:t>
    </dgm:pt>
    <dgm:pt modelId="{EA837BB6-050E-4379-8E83-BC29BA9AD228}" type="sibTrans" cxnId="{7A451BD2-5BDB-46AF-92A5-5015C4D64406}">
      <dgm:prSet/>
      <dgm:spPr/>
      <dgm:t>
        <a:bodyPr/>
        <a:lstStyle/>
        <a:p>
          <a:endParaRPr lang="fr-FR" sz="1800" b="1"/>
        </a:p>
      </dgm:t>
    </dgm:pt>
    <dgm:pt modelId="{FF2CBFE8-9E8B-4513-8DA4-B471A0DA70D4}">
      <dgm:prSet phldrT="[Texte]" custT="1"/>
      <dgm:spPr/>
      <dgm:t>
        <a:bodyPr/>
        <a:lstStyle/>
        <a:p>
          <a:r>
            <a:rPr lang="fr-FR" sz="1800" b="1" dirty="0"/>
            <a:t>Rejets excessifs de phosphate et d’azote</a:t>
          </a:r>
        </a:p>
      </dgm:t>
    </dgm:pt>
    <dgm:pt modelId="{D02B67DB-9724-4001-B6A9-CB3A03F4D1C1}" type="parTrans" cxnId="{0D5AC825-A020-46D6-A1DC-A9494EEC5072}">
      <dgm:prSet/>
      <dgm:spPr/>
      <dgm:t>
        <a:bodyPr/>
        <a:lstStyle/>
        <a:p>
          <a:endParaRPr lang="fr-FR" sz="1800" b="1"/>
        </a:p>
      </dgm:t>
    </dgm:pt>
    <dgm:pt modelId="{40147D37-3D26-4E46-9801-1C6AF7E262AD}" type="sibTrans" cxnId="{0D5AC825-A020-46D6-A1DC-A9494EEC5072}">
      <dgm:prSet/>
      <dgm:spPr/>
      <dgm:t>
        <a:bodyPr/>
        <a:lstStyle/>
        <a:p>
          <a:endParaRPr lang="fr-FR" sz="1800" b="1"/>
        </a:p>
      </dgm:t>
    </dgm:pt>
    <dgm:pt modelId="{7C21EAB5-4E99-4D4E-ACE7-56D91E96FD2F}" type="pres">
      <dgm:prSet presAssocID="{3708C5B0-02CF-4A2E-9FB4-72A88E031267}" presName="cycle" presStyleCnt="0">
        <dgm:presLayoutVars>
          <dgm:chMax val="1"/>
          <dgm:dir/>
          <dgm:animLvl val="ctr"/>
          <dgm:resizeHandles val="exact"/>
        </dgm:presLayoutVars>
      </dgm:prSet>
      <dgm:spPr/>
    </dgm:pt>
    <dgm:pt modelId="{6F6CBDE1-0C06-4456-979F-0B1AF95FD8E6}" type="pres">
      <dgm:prSet presAssocID="{C62C1B2F-4B4F-4FF3-90F1-E1B19C0D344D}" presName="centerShape" presStyleLbl="node0" presStyleIdx="0" presStyleCnt="1"/>
      <dgm:spPr/>
    </dgm:pt>
    <dgm:pt modelId="{C680ADB9-93ED-424B-92DD-64AA667571E5}" type="pres">
      <dgm:prSet presAssocID="{8CB467C0-B887-41BE-A48C-27559FEEC09F}" presName="parTrans" presStyleLbl="bgSibTrans2D1" presStyleIdx="0" presStyleCnt="2"/>
      <dgm:spPr/>
    </dgm:pt>
    <dgm:pt modelId="{14D4654B-D892-47C5-9ADB-317DDA09FB5B}" type="pres">
      <dgm:prSet presAssocID="{06496C2B-7247-4B7C-98F0-5F0A1DC68715}" presName="node" presStyleLbl="node1" presStyleIdx="0" presStyleCnt="2">
        <dgm:presLayoutVars>
          <dgm:bulletEnabled val="1"/>
        </dgm:presLayoutVars>
      </dgm:prSet>
      <dgm:spPr/>
    </dgm:pt>
    <dgm:pt modelId="{7BF9696D-84EF-4196-8E47-F2BB33B98A67}" type="pres">
      <dgm:prSet presAssocID="{D02B67DB-9724-4001-B6A9-CB3A03F4D1C1}" presName="parTrans" presStyleLbl="bgSibTrans2D1" presStyleIdx="1" presStyleCnt="2"/>
      <dgm:spPr/>
    </dgm:pt>
    <dgm:pt modelId="{36E1E6AA-9C01-44FA-8C42-0CED34A656E6}" type="pres">
      <dgm:prSet presAssocID="{FF2CBFE8-9E8B-4513-8DA4-B471A0DA70D4}" presName="node" presStyleLbl="node1" presStyleIdx="1" presStyleCnt="2">
        <dgm:presLayoutVars>
          <dgm:bulletEnabled val="1"/>
        </dgm:presLayoutVars>
      </dgm:prSet>
      <dgm:spPr/>
    </dgm:pt>
  </dgm:ptLst>
  <dgm:cxnLst>
    <dgm:cxn modelId="{1ACBEC22-1894-438E-9D52-8386B0584564}" type="presOf" srcId="{FF2CBFE8-9E8B-4513-8DA4-B471A0DA70D4}" destId="{36E1E6AA-9C01-44FA-8C42-0CED34A656E6}" srcOrd="0" destOrd="0" presId="urn:microsoft.com/office/officeart/2005/8/layout/radial4"/>
    <dgm:cxn modelId="{0D5AC825-A020-46D6-A1DC-A9494EEC5072}" srcId="{C62C1B2F-4B4F-4FF3-90F1-E1B19C0D344D}" destId="{FF2CBFE8-9E8B-4513-8DA4-B471A0DA70D4}" srcOrd="1" destOrd="0" parTransId="{D02B67DB-9724-4001-B6A9-CB3A03F4D1C1}" sibTransId="{40147D37-3D26-4E46-9801-1C6AF7E262AD}"/>
    <dgm:cxn modelId="{EA132B2E-A832-455F-B75F-6DD969BEC6FB}" type="presOf" srcId="{D02B67DB-9724-4001-B6A9-CB3A03F4D1C1}" destId="{7BF9696D-84EF-4196-8E47-F2BB33B98A67}" srcOrd="0" destOrd="0" presId="urn:microsoft.com/office/officeart/2005/8/layout/radial4"/>
    <dgm:cxn modelId="{5E1E3D36-F78C-462A-9070-E5B551064FF7}" type="presOf" srcId="{06496C2B-7247-4B7C-98F0-5F0A1DC68715}" destId="{14D4654B-D892-47C5-9ADB-317DDA09FB5B}" srcOrd="0" destOrd="0" presId="urn:microsoft.com/office/officeart/2005/8/layout/radial4"/>
    <dgm:cxn modelId="{E905E58B-C6F1-40C1-913E-B2E35B06D667}" type="presOf" srcId="{C62C1B2F-4B4F-4FF3-90F1-E1B19C0D344D}" destId="{6F6CBDE1-0C06-4456-979F-0B1AF95FD8E6}" srcOrd="0" destOrd="0" presId="urn:microsoft.com/office/officeart/2005/8/layout/radial4"/>
    <dgm:cxn modelId="{2E42F1B6-057B-42D3-AFBD-3A3BF67A5407}" srcId="{3708C5B0-02CF-4A2E-9FB4-72A88E031267}" destId="{C62C1B2F-4B4F-4FF3-90F1-E1B19C0D344D}" srcOrd="0" destOrd="0" parTransId="{D8DDD97C-54A8-4DBD-9488-CAD9247BE289}" sibTransId="{F299E9CB-2019-40C3-AE1C-311EDF5C2810}"/>
    <dgm:cxn modelId="{5FD0CCD1-44D3-46EE-BB11-2F9A80495FF6}" type="presOf" srcId="{3708C5B0-02CF-4A2E-9FB4-72A88E031267}" destId="{7C21EAB5-4E99-4D4E-ACE7-56D91E96FD2F}" srcOrd="0" destOrd="0" presId="urn:microsoft.com/office/officeart/2005/8/layout/radial4"/>
    <dgm:cxn modelId="{7A451BD2-5BDB-46AF-92A5-5015C4D64406}" srcId="{C62C1B2F-4B4F-4FF3-90F1-E1B19C0D344D}" destId="{06496C2B-7247-4B7C-98F0-5F0A1DC68715}" srcOrd="0" destOrd="0" parTransId="{8CB467C0-B887-41BE-A48C-27559FEEC09F}" sibTransId="{EA837BB6-050E-4379-8E83-BC29BA9AD228}"/>
    <dgm:cxn modelId="{78984CEE-B4A1-4279-883F-E91944173B5D}" type="presOf" srcId="{8CB467C0-B887-41BE-A48C-27559FEEC09F}" destId="{C680ADB9-93ED-424B-92DD-64AA667571E5}" srcOrd="0" destOrd="0" presId="urn:microsoft.com/office/officeart/2005/8/layout/radial4"/>
    <dgm:cxn modelId="{A14ED9AA-F229-4BD9-8399-A1052194EF4F}" type="presParOf" srcId="{7C21EAB5-4E99-4D4E-ACE7-56D91E96FD2F}" destId="{6F6CBDE1-0C06-4456-979F-0B1AF95FD8E6}" srcOrd="0" destOrd="0" presId="urn:microsoft.com/office/officeart/2005/8/layout/radial4"/>
    <dgm:cxn modelId="{49C29A8A-42C8-425B-AD65-B955AF466ABC}" type="presParOf" srcId="{7C21EAB5-4E99-4D4E-ACE7-56D91E96FD2F}" destId="{C680ADB9-93ED-424B-92DD-64AA667571E5}" srcOrd="1" destOrd="0" presId="urn:microsoft.com/office/officeart/2005/8/layout/radial4"/>
    <dgm:cxn modelId="{A99DA145-4F50-4BE3-A132-2694A4D4D1D6}" type="presParOf" srcId="{7C21EAB5-4E99-4D4E-ACE7-56D91E96FD2F}" destId="{14D4654B-D892-47C5-9ADB-317DDA09FB5B}" srcOrd="2" destOrd="0" presId="urn:microsoft.com/office/officeart/2005/8/layout/radial4"/>
    <dgm:cxn modelId="{4176D3D7-E6EA-487B-867A-1657E20404AC}" type="presParOf" srcId="{7C21EAB5-4E99-4D4E-ACE7-56D91E96FD2F}" destId="{7BF9696D-84EF-4196-8E47-F2BB33B98A67}" srcOrd="3" destOrd="0" presId="urn:microsoft.com/office/officeart/2005/8/layout/radial4"/>
    <dgm:cxn modelId="{1A2BBB10-ECF7-4B89-9F03-4A158405C9AB}" type="presParOf" srcId="{7C21EAB5-4E99-4D4E-ACE7-56D91E96FD2F}" destId="{36E1E6AA-9C01-44FA-8C42-0CED34A656E6}" srcOrd="4"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7BBB632-D8B5-4A81-8F6A-B8E557E2B7EE}"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4C2C0999-0950-4E79-8C1B-837F31BA58FE}">
      <dgm:prSet phldrT="[Texte]" custT="1"/>
      <dgm:spPr/>
      <dgm:t>
        <a:bodyPr/>
        <a:lstStyle/>
        <a:p>
          <a:r>
            <a:rPr lang="fr-FR" sz="1800" b="1" dirty="0"/>
            <a:t>Prévention de la pollution (conception, production, distribution, achats)</a:t>
          </a:r>
        </a:p>
      </dgm:t>
    </dgm:pt>
    <dgm:pt modelId="{F454162D-96BE-41E7-835A-7DA96D44AF8F}" type="parTrans" cxnId="{567E07E1-FE86-473B-8F8F-1233B8760608}">
      <dgm:prSet/>
      <dgm:spPr/>
      <dgm:t>
        <a:bodyPr/>
        <a:lstStyle/>
        <a:p>
          <a:endParaRPr lang="fr-FR" sz="1800" b="1"/>
        </a:p>
      </dgm:t>
    </dgm:pt>
    <dgm:pt modelId="{6BE9DBFF-C3A4-4DB4-980F-320CA812A785}" type="sibTrans" cxnId="{567E07E1-FE86-473B-8F8F-1233B8760608}">
      <dgm:prSet/>
      <dgm:spPr/>
      <dgm:t>
        <a:bodyPr/>
        <a:lstStyle/>
        <a:p>
          <a:endParaRPr lang="fr-FR" sz="1800" b="1"/>
        </a:p>
      </dgm:t>
    </dgm:pt>
    <dgm:pt modelId="{E77C7FBE-F772-4A65-8E43-698E93CA052D}">
      <dgm:prSet phldrT="[Texte]" custT="1"/>
      <dgm:spPr/>
      <dgm:t>
        <a:bodyPr/>
        <a:lstStyle/>
        <a:p>
          <a:r>
            <a:rPr lang="fr-FR" sz="1800" b="1" dirty="0"/>
            <a:t>Utilisation durable des ressources</a:t>
          </a:r>
        </a:p>
      </dgm:t>
    </dgm:pt>
    <dgm:pt modelId="{3EF94245-F5E6-42E7-B763-7C0318B7FC39}" type="parTrans" cxnId="{21F38589-7EF6-4F0F-B547-4287314EC190}">
      <dgm:prSet/>
      <dgm:spPr/>
      <dgm:t>
        <a:bodyPr/>
        <a:lstStyle/>
        <a:p>
          <a:endParaRPr lang="fr-FR" sz="1800" b="1"/>
        </a:p>
      </dgm:t>
    </dgm:pt>
    <dgm:pt modelId="{7873F60F-F309-48B1-A3D5-56D7D06730C6}" type="sibTrans" cxnId="{21F38589-7EF6-4F0F-B547-4287314EC190}">
      <dgm:prSet/>
      <dgm:spPr/>
      <dgm:t>
        <a:bodyPr/>
        <a:lstStyle/>
        <a:p>
          <a:endParaRPr lang="fr-FR" sz="1800" b="1"/>
        </a:p>
      </dgm:t>
    </dgm:pt>
    <dgm:pt modelId="{B555173D-AE11-4FDD-997D-4F098FB9B198}">
      <dgm:prSet phldrT="[Texte]" custT="1"/>
      <dgm:spPr/>
      <dgm:t>
        <a:bodyPr/>
        <a:lstStyle/>
        <a:p>
          <a:r>
            <a:rPr lang="fr-FR" sz="1800" b="1" dirty="0"/>
            <a:t>Atténuation des changements climatiques et adaptation</a:t>
          </a:r>
        </a:p>
      </dgm:t>
    </dgm:pt>
    <dgm:pt modelId="{FAF94BBC-C352-4E72-B62C-F45CCE8A1A81}" type="parTrans" cxnId="{F8F4116E-301E-4758-9ECA-732DF79673D5}">
      <dgm:prSet/>
      <dgm:spPr/>
      <dgm:t>
        <a:bodyPr/>
        <a:lstStyle/>
        <a:p>
          <a:endParaRPr lang="fr-FR" sz="1800" b="1"/>
        </a:p>
      </dgm:t>
    </dgm:pt>
    <dgm:pt modelId="{8EE20B72-8523-4290-871E-7DE7354A63AE}" type="sibTrans" cxnId="{F8F4116E-301E-4758-9ECA-732DF79673D5}">
      <dgm:prSet/>
      <dgm:spPr/>
      <dgm:t>
        <a:bodyPr/>
        <a:lstStyle/>
        <a:p>
          <a:endParaRPr lang="fr-FR" sz="1800" b="1"/>
        </a:p>
      </dgm:t>
    </dgm:pt>
    <dgm:pt modelId="{D1AF0C84-108F-4CCC-9299-6147A3016C5C}">
      <dgm:prSet phldrT="[Texte]" custT="1"/>
      <dgm:spPr/>
      <dgm:t>
        <a:bodyPr/>
        <a:lstStyle/>
        <a:p>
          <a:r>
            <a:rPr lang="fr-FR" sz="1800" b="1" dirty="0"/>
            <a:t>Protection de l’environnement, biodiversité et réhabilitation des habitats naturels</a:t>
          </a:r>
        </a:p>
      </dgm:t>
    </dgm:pt>
    <dgm:pt modelId="{D13C36CA-69CE-4088-BF47-D1768D94E5F3}" type="parTrans" cxnId="{4EE78F58-967B-4BE4-B14C-27696241205C}">
      <dgm:prSet/>
      <dgm:spPr/>
      <dgm:t>
        <a:bodyPr/>
        <a:lstStyle/>
        <a:p>
          <a:endParaRPr lang="fr-FR" sz="1800" b="1"/>
        </a:p>
      </dgm:t>
    </dgm:pt>
    <dgm:pt modelId="{324F8EC6-E283-4D10-BD14-81BF5437D674}" type="sibTrans" cxnId="{4EE78F58-967B-4BE4-B14C-27696241205C}">
      <dgm:prSet/>
      <dgm:spPr/>
      <dgm:t>
        <a:bodyPr/>
        <a:lstStyle/>
        <a:p>
          <a:endParaRPr lang="fr-FR" sz="1800" b="1"/>
        </a:p>
      </dgm:t>
    </dgm:pt>
    <dgm:pt modelId="{0F85CC70-CDE5-49CA-8D1D-FF20460A5274}" type="pres">
      <dgm:prSet presAssocID="{17BBB632-D8B5-4A81-8F6A-B8E557E2B7EE}" presName="diagram" presStyleCnt="0">
        <dgm:presLayoutVars>
          <dgm:dir/>
          <dgm:resizeHandles val="exact"/>
        </dgm:presLayoutVars>
      </dgm:prSet>
      <dgm:spPr/>
    </dgm:pt>
    <dgm:pt modelId="{EAFAA671-4894-4CE9-AE06-9564F6DB1ECC}" type="pres">
      <dgm:prSet presAssocID="{4C2C0999-0950-4E79-8C1B-837F31BA58FE}" presName="node" presStyleLbl="node1" presStyleIdx="0" presStyleCnt="4" custScaleY="153504">
        <dgm:presLayoutVars>
          <dgm:bulletEnabled val="1"/>
        </dgm:presLayoutVars>
      </dgm:prSet>
      <dgm:spPr/>
    </dgm:pt>
    <dgm:pt modelId="{3C056E54-06EC-49FB-8448-54E6E50CEEDB}" type="pres">
      <dgm:prSet presAssocID="{6BE9DBFF-C3A4-4DB4-980F-320CA812A785}" presName="sibTrans" presStyleCnt="0"/>
      <dgm:spPr/>
    </dgm:pt>
    <dgm:pt modelId="{7DA44E99-0CCD-42D4-95FC-3A09796618DB}" type="pres">
      <dgm:prSet presAssocID="{E77C7FBE-F772-4A65-8E43-698E93CA052D}" presName="node" presStyleLbl="node1" presStyleIdx="1" presStyleCnt="4" custScaleY="153504">
        <dgm:presLayoutVars>
          <dgm:bulletEnabled val="1"/>
        </dgm:presLayoutVars>
      </dgm:prSet>
      <dgm:spPr/>
    </dgm:pt>
    <dgm:pt modelId="{1AE6E10E-FCEF-466A-BC9D-5CD4E8B05488}" type="pres">
      <dgm:prSet presAssocID="{7873F60F-F309-48B1-A3D5-56D7D06730C6}" presName="sibTrans" presStyleCnt="0"/>
      <dgm:spPr/>
    </dgm:pt>
    <dgm:pt modelId="{DA0B4B0C-4149-4CAC-A3B5-BE4B9068CBEE}" type="pres">
      <dgm:prSet presAssocID="{B555173D-AE11-4FDD-997D-4F098FB9B198}" presName="node" presStyleLbl="node1" presStyleIdx="2" presStyleCnt="4" custScaleY="153504">
        <dgm:presLayoutVars>
          <dgm:bulletEnabled val="1"/>
        </dgm:presLayoutVars>
      </dgm:prSet>
      <dgm:spPr/>
    </dgm:pt>
    <dgm:pt modelId="{F3CCD007-4F1F-444E-9C80-8A7063F3CF11}" type="pres">
      <dgm:prSet presAssocID="{8EE20B72-8523-4290-871E-7DE7354A63AE}" presName="sibTrans" presStyleCnt="0"/>
      <dgm:spPr/>
    </dgm:pt>
    <dgm:pt modelId="{A382683D-A8AE-4F34-9638-7BEC47615427}" type="pres">
      <dgm:prSet presAssocID="{D1AF0C84-108F-4CCC-9299-6147A3016C5C}" presName="node" presStyleLbl="node1" presStyleIdx="3" presStyleCnt="4" custScaleY="153504">
        <dgm:presLayoutVars>
          <dgm:bulletEnabled val="1"/>
        </dgm:presLayoutVars>
      </dgm:prSet>
      <dgm:spPr/>
    </dgm:pt>
  </dgm:ptLst>
  <dgm:cxnLst>
    <dgm:cxn modelId="{BBC09D10-1F2E-4D63-8E5F-98307B55959C}" type="presOf" srcId="{17BBB632-D8B5-4A81-8F6A-B8E557E2B7EE}" destId="{0F85CC70-CDE5-49CA-8D1D-FF20460A5274}" srcOrd="0" destOrd="0" presId="urn:microsoft.com/office/officeart/2005/8/layout/default"/>
    <dgm:cxn modelId="{A4235B6B-40F6-45F1-98FB-0F22FA4BED92}" type="presOf" srcId="{4C2C0999-0950-4E79-8C1B-837F31BA58FE}" destId="{EAFAA671-4894-4CE9-AE06-9564F6DB1ECC}" srcOrd="0" destOrd="0" presId="urn:microsoft.com/office/officeart/2005/8/layout/default"/>
    <dgm:cxn modelId="{0838F16D-03F3-4974-A2D6-F37D81514736}" type="presOf" srcId="{D1AF0C84-108F-4CCC-9299-6147A3016C5C}" destId="{A382683D-A8AE-4F34-9638-7BEC47615427}" srcOrd="0" destOrd="0" presId="urn:microsoft.com/office/officeart/2005/8/layout/default"/>
    <dgm:cxn modelId="{F8F4116E-301E-4758-9ECA-732DF79673D5}" srcId="{17BBB632-D8B5-4A81-8F6A-B8E557E2B7EE}" destId="{B555173D-AE11-4FDD-997D-4F098FB9B198}" srcOrd="2" destOrd="0" parTransId="{FAF94BBC-C352-4E72-B62C-F45CCE8A1A81}" sibTransId="{8EE20B72-8523-4290-871E-7DE7354A63AE}"/>
    <dgm:cxn modelId="{4EE78F58-967B-4BE4-B14C-27696241205C}" srcId="{17BBB632-D8B5-4A81-8F6A-B8E557E2B7EE}" destId="{D1AF0C84-108F-4CCC-9299-6147A3016C5C}" srcOrd="3" destOrd="0" parTransId="{D13C36CA-69CE-4088-BF47-D1768D94E5F3}" sibTransId="{324F8EC6-E283-4D10-BD14-81BF5437D674}"/>
    <dgm:cxn modelId="{21F38589-7EF6-4F0F-B547-4287314EC190}" srcId="{17BBB632-D8B5-4A81-8F6A-B8E557E2B7EE}" destId="{E77C7FBE-F772-4A65-8E43-698E93CA052D}" srcOrd="1" destOrd="0" parTransId="{3EF94245-F5E6-42E7-B763-7C0318B7FC39}" sibTransId="{7873F60F-F309-48B1-A3D5-56D7D06730C6}"/>
    <dgm:cxn modelId="{BAAB28E0-0FE3-4963-9FAA-71F3BA16E388}" type="presOf" srcId="{E77C7FBE-F772-4A65-8E43-698E93CA052D}" destId="{7DA44E99-0CCD-42D4-95FC-3A09796618DB}" srcOrd="0" destOrd="0" presId="urn:microsoft.com/office/officeart/2005/8/layout/default"/>
    <dgm:cxn modelId="{567E07E1-FE86-473B-8F8F-1233B8760608}" srcId="{17BBB632-D8B5-4A81-8F6A-B8E557E2B7EE}" destId="{4C2C0999-0950-4E79-8C1B-837F31BA58FE}" srcOrd="0" destOrd="0" parTransId="{F454162D-96BE-41E7-835A-7DA96D44AF8F}" sibTransId="{6BE9DBFF-C3A4-4DB4-980F-320CA812A785}"/>
    <dgm:cxn modelId="{65C754EB-C2B5-4869-99E5-458CF61BE723}" type="presOf" srcId="{B555173D-AE11-4FDD-997D-4F098FB9B198}" destId="{DA0B4B0C-4149-4CAC-A3B5-BE4B9068CBEE}" srcOrd="0" destOrd="0" presId="urn:microsoft.com/office/officeart/2005/8/layout/default"/>
    <dgm:cxn modelId="{B490A6A5-25B4-4CA7-889C-FB0E3C644755}" type="presParOf" srcId="{0F85CC70-CDE5-49CA-8D1D-FF20460A5274}" destId="{EAFAA671-4894-4CE9-AE06-9564F6DB1ECC}" srcOrd="0" destOrd="0" presId="urn:microsoft.com/office/officeart/2005/8/layout/default"/>
    <dgm:cxn modelId="{B6599910-5075-4B6F-AC47-A2CEB2DA7636}" type="presParOf" srcId="{0F85CC70-CDE5-49CA-8D1D-FF20460A5274}" destId="{3C056E54-06EC-49FB-8448-54E6E50CEEDB}" srcOrd="1" destOrd="0" presId="urn:microsoft.com/office/officeart/2005/8/layout/default"/>
    <dgm:cxn modelId="{920FBE61-B7E5-402E-98E4-36D25AF40119}" type="presParOf" srcId="{0F85CC70-CDE5-49CA-8D1D-FF20460A5274}" destId="{7DA44E99-0CCD-42D4-95FC-3A09796618DB}" srcOrd="2" destOrd="0" presId="urn:microsoft.com/office/officeart/2005/8/layout/default"/>
    <dgm:cxn modelId="{A9C09D90-5849-4457-BA6F-7C42DEA07E46}" type="presParOf" srcId="{0F85CC70-CDE5-49CA-8D1D-FF20460A5274}" destId="{1AE6E10E-FCEF-466A-BC9D-5CD4E8B05488}" srcOrd="3" destOrd="0" presId="urn:microsoft.com/office/officeart/2005/8/layout/default"/>
    <dgm:cxn modelId="{BC7ADAED-5E89-45B2-BFB5-0AFA6F9DF07C}" type="presParOf" srcId="{0F85CC70-CDE5-49CA-8D1D-FF20460A5274}" destId="{DA0B4B0C-4149-4CAC-A3B5-BE4B9068CBEE}" srcOrd="4" destOrd="0" presId="urn:microsoft.com/office/officeart/2005/8/layout/default"/>
    <dgm:cxn modelId="{D77EC5A3-B6C0-4EA0-BDF8-025705132586}" type="presParOf" srcId="{0F85CC70-CDE5-49CA-8D1D-FF20460A5274}" destId="{F3CCD007-4F1F-444E-9C80-8A7063F3CF11}" srcOrd="5" destOrd="0" presId="urn:microsoft.com/office/officeart/2005/8/layout/default"/>
    <dgm:cxn modelId="{45DBB2D8-6339-4644-A73A-DB5BB2670B60}" type="presParOf" srcId="{0F85CC70-CDE5-49CA-8D1D-FF20460A5274}" destId="{A382683D-A8AE-4F34-9638-7BEC47615427}"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013D922-3D6B-48A8-90E5-9CA18061C126}"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4BE651B1-753B-40A4-932C-A3F08117C2BF}">
      <dgm:prSet phldrT="[Texte]" custT="1"/>
      <dgm:spPr/>
      <dgm:t>
        <a:bodyPr/>
        <a:lstStyle/>
        <a:p>
          <a:pPr>
            <a:buNone/>
          </a:pPr>
          <a:r>
            <a:rPr lang="fr-FR" sz="1800" b="1" dirty="0">
              <a:sym typeface="Wingdings" panose="05000000000000000000" pitchFamily="2" charset="2"/>
            </a:rPr>
            <a:t>Eviter la production de déchets</a:t>
          </a:r>
          <a:endParaRPr lang="fr-FR" sz="1800" b="1" dirty="0"/>
        </a:p>
      </dgm:t>
    </dgm:pt>
    <dgm:pt modelId="{9121A6EA-2FF1-45FE-ADA7-FE4F28D24699}" type="parTrans" cxnId="{CE0605EC-0EB5-4E91-9B92-71E7BD195451}">
      <dgm:prSet/>
      <dgm:spPr/>
      <dgm:t>
        <a:bodyPr/>
        <a:lstStyle/>
        <a:p>
          <a:endParaRPr lang="fr-FR" sz="1800" b="1"/>
        </a:p>
      </dgm:t>
    </dgm:pt>
    <dgm:pt modelId="{3B8CC05C-9275-4BB9-9C5C-6F63E2F9788D}" type="sibTrans" cxnId="{CE0605EC-0EB5-4E91-9B92-71E7BD195451}">
      <dgm:prSet/>
      <dgm:spPr/>
      <dgm:t>
        <a:bodyPr/>
        <a:lstStyle/>
        <a:p>
          <a:endParaRPr lang="fr-FR" sz="1800" b="1"/>
        </a:p>
      </dgm:t>
    </dgm:pt>
    <dgm:pt modelId="{9637376E-3272-4D22-BDE8-551BF98F0EC3}">
      <dgm:prSet phldrT="[Texte]" custT="1"/>
      <dgm:spPr/>
      <dgm:t>
        <a:bodyPr/>
        <a:lstStyle/>
        <a:p>
          <a:r>
            <a:rPr lang="fr-FR" sz="1800" b="1" dirty="0"/>
            <a:t>R</a:t>
          </a:r>
          <a:r>
            <a:rPr lang="fr-FR" sz="1800" b="1" dirty="0">
              <a:sym typeface="Wingdings" panose="05000000000000000000" pitchFamily="2" charset="2"/>
            </a:rPr>
            <a:t>éduire la dangerosité des déchets produits</a:t>
          </a:r>
          <a:endParaRPr lang="fr-FR" sz="1800" b="1" dirty="0"/>
        </a:p>
      </dgm:t>
    </dgm:pt>
    <dgm:pt modelId="{7C4DF922-71D5-4F7A-9D50-1443EBD755E5}" type="parTrans" cxnId="{DEBE4AD7-A362-4A52-A2C3-0C9BAF9D78E9}">
      <dgm:prSet/>
      <dgm:spPr/>
      <dgm:t>
        <a:bodyPr/>
        <a:lstStyle/>
        <a:p>
          <a:endParaRPr lang="fr-FR" sz="1800" b="1"/>
        </a:p>
      </dgm:t>
    </dgm:pt>
    <dgm:pt modelId="{CD59FCB0-E107-4D10-A13C-A9892CE2FACE}" type="sibTrans" cxnId="{DEBE4AD7-A362-4A52-A2C3-0C9BAF9D78E9}">
      <dgm:prSet/>
      <dgm:spPr/>
      <dgm:t>
        <a:bodyPr/>
        <a:lstStyle/>
        <a:p>
          <a:endParaRPr lang="fr-FR" sz="1800" b="1"/>
        </a:p>
      </dgm:t>
    </dgm:pt>
    <dgm:pt modelId="{6FCFE11B-F853-49BA-8023-46D931B02009}">
      <dgm:prSet phldrT="[Texte]" custT="1"/>
      <dgm:spPr/>
      <dgm:t>
        <a:bodyPr/>
        <a:lstStyle/>
        <a:p>
          <a:r>
            <a:rPr lang="fr-FR" sz="1800" b="1" dirty="0">
              <a:sym typeface="Wingdings" panose="05000000000000000000" pitchFamily="2" charset="2"/>
            </a:rPr>
            <a:t>Faciliter le traitement des déchets produits (éco-conception)</a:t>
          </a:r>
          <a:endParaRPr lang="fr-FR" sz="1800" b="1" dirty="0"/>
        </a:p>
      </dgm:t>
    </dgm:pt>
    <dgm:pt modelId="{7D13F9A8-5185-4ABC-8B01-9A676FAB7875}" type="parTrans" cxnId="{C60678B0-C375-46F7-8471-DDBE36D0D249}">
      <dgm:prSet/>
      <dgm:spPr/>
      <dgm:t>
        <a:bodyPr/>
        <a:lstStyle/>
        <a:p>
          <a:endParaRPr lang="fr-FR" sz="1800" b="1"/>
        </a:p>
      </dgm:t>
    </dgm:pt>
    <dgm:pt modelId="{5B0D64D6-DFB2-4B9E-AF5C-E62DC232990D}" type="sibTrans" cxnId="{C60678B0-C375-46F7-8471-DDBE36D0D249}">
      <dgm:prSet/>
      <dgm:spPr/>
      <dgm:t>
        <a:bodyPr/>
        <a:lstStyle/>
        <a:p>
          <a:endParaRPr lang="fr-FR" sz="1800" b="1"/>
        </a:p>
      </dgm:t>
    </dgm:pt>
    <dgm:pt modelId="{D56D6ADB-C0C9-4650-BFBB-995F67D63273}" type="pres">
      <dgm:prSet presAssocID="{8013D922-3D6B-48A8-90E5-9CA18061C126}" presName="diagram" presStyleCnt="0">
        <dgm:presLayoutVars>
          <dgm:dir/>
          <dgm:resizeHandles val="exact"/>
        </dgm:presLayoutVars>
      </dgm:prSet>
      <dgm:spPr/>
    </dgm:pt>
    <dgm:pt modelId="{1D7F5BE2-5032-4613-B543-B8C292DB0DFA}" type="pres">
      <dgm:prSet presAssocID="{4BE651B1-753B-40A4-932C-A3F08117C2BF}" presName="node" presStyleLbl="node1" presStyleIdx="0" presStyleCnt="3">
        <dgm:presLayoutVars>
          <dgm:bulletEnabled val="1"/>
        </dgm:presLayoutVars>
      </dgm:prSet>
      <dgm:spPr/>
    </dgm:pt>
    <dgm:pt modelId="{F3A41F08-55E4-4787-B539-4D1442172E90}" type="pres">
      <dgm:prSet presAssocID="{3B8CC05C-9275-4BB9-9C5C-6F63E2F9788D}" presName="sibTrans" presStyleCnt="0"/>
      <dgm:spPr/>
    </dgm:pt>
    <dgm:pt modelId="{6A9A75B5-67D2-4FD5-BF32-9ABD0EC54586}" type="pres">
      <dgm:prSet presAssocID="{9637376E-3272-4D22-BDE8-551BF98F0EC3}" presName="node" presStyleLbl="node1" presStyleIdx="1" presStyleCnt="3">
        <dgm:presLayoutVars>
          <dgm:bulletEnabled val="1"/>
        </dgm:presLayoutVars>
      </dgm:prSet>
      <dgm:spPr/>
    </dgm:pt>
    <dgm:pt modelId="{890FE484-848C-4C63-9722-A165BBC06E93}" type="pres">
      <dgm:prSet presAssocID="{CD59FCB0-E107-4D10-A13C-A9892CE2FACE}" presName="sibTrans" presStyleCnt="0"/>
      <dgm:spPr/>
    </dgm:pt>
    <dgm:pt modelId="{249B7507-F623-4971-AB86-6E1A317AE6FA}" type="pres">
      <dgm:prSet presAssocID="{6FCFE11B-F853-49BA-8023-46D931B02009}" presName="node" presStyleLbl="node1" presStyleIdx="2" presStyleCnt="3">
        <dgm:presLayoutVars>
          <dgm:bulletEnabled val="1"/>
        </dgm:presLayoutVars>
      </dgm:prSet>
      <dgm:spPr/>
    </dgm:pt>
  </dgm:ptLst>
  <dgm:cxnLst>
    <dgm:cxn modelId="{1912541E-CC21-4ED0-AB8A-C50A4F0EB60C}" type="presOf" srcId="{4BE651B1-753B-40A4-932C-A3F08117C2BF}" destId="{1D7F5BE2-5032-4613-B543-B8C292DB0DFA}" srcOrd="0" destOrd="0" presId="urn:microsoft.com/office/officeart/2005/8/layout/default"/>
    <dgm:cxn modelId="{9633DA25-9A9C-4BEE-BBB7-6F97488AD55C}" type="presOf" srcId="{6FCFE11B-F853-49BA-8023-46D931B02009}" destId="{249B7507-F623-4971-AB86-6E1A317AE6FA}" srcOrd="0" destOrd="0" presId="urn:microsoft.com/office/officeart/2005/8/layout/default"/>
    <dgm:cxn modelId="{9AED9765-A73C-45BF-9B74-51AEA030A988}" type="presOf" srcId="{8013D922-3D6B-48A8-90E5-9CA18061C126}" destId="{D56D6ADB-C0C9-4650-BFBB-995F67D63273}" srcOrd="0" destOrd="0" presId="urn:microsoft.com/office/officeart/2005/8/layout/default"/>
    <dgm:cxn modelId="{C60678B0-C375-46F7-8471-DDBE36D0D249}" srcId="{8013D922-3D6B-48A8-90E5-9CA18061C126}" destId="{6FCFE11B-F853-49BA-8023-46D931B02009}" srcOrd="2" destOrd="0" parTransId="{7D13F9A8-5185-4ABC-8B01-9A676FAB7875}" sibTransId="{5B0D64D6-DFB2-4B9E-AF5C-E62DC232990D}"/>
    <dgm:cxn modelId="{DEBE4AD7-A362-4A52-A2C3-0C9BAF9D78E9}" srcId="{8013D922-3D6B-48A8-90E5-9CA18061C126}" destId="{9637376E-3272-4D22-BDE8-551BF98F0EC3}" srcOrd="1" destOrd="0" parTransId="{7C4DF922-71D5-4F7A-9D50-1443EBD755E5}" sibTransId="{CD59FCB0-E107-4D10-A13C-A9892CE2FACE}"/>
    <dgm:cxn modelId="{CE0605EC-0EB5-4E91-9B92-71E7BD195451}" srcId="{8013D922-3D6B-48A8-90E5-9CA18061C126}" destId="{4BE651B1-753B-40A4-932C-A3F08117C2BF}" srcOrd="0" destOrd="0" parTransId="{9121A6EA-2FF1-45FE-ADA7-FE4F28D24699}" sibTransId="{3B8CC05C-9275-4BB9-9C5C-6F63E2F9788D}"/>
    <dgm:cxn modelId="{50B920F3-48CB-4C9F-9DCD-D9CD1C7B7C34}" type="presOf" srcId="{9637376E-3272-4D22-BDE8-551BF98F0EC3}" destId="{6A9A75B5-67D2-4FD5-BF32-9ABD0EC54586}" srcOrd="0" destOrd="0" presId="urn:microsoft.com/office/officeart/2005/8/layout/default"/>
    <dgm:cxn modelId="{A4B5A48B-0F2D-4D3D-8215-D599FDAA6B40}" type="presParOf" srcId="{D56D6ADB-C0C9-4650-BFBB-995F67D63273}" destId="{1D7F5BE2-5032-4613-B543-B8C292DB0DFA}" srcOrd="0" destOrd="0" presId="urn:microsoft.com/office/officeart/2005/8/layout/default"/>
    <dgm:cxn modelId="{1F9B2A7E-F2DA-41A8-9A50-66E07E8292B8}" type="presParOf" srcId="{D56D6ADB-C0C9-4650-BFBB-995F67D63273}" destId="{F3A41F08-55E4-4787-B539-4D1442172E90}" srcOrd="1" destOrd="0" presId="urn:microsoft.com/office/officeart/2005/8/layout/default"/>
    <dgm:cxn modelId="{16FA4DE5-0169-4F95-9414-1F5B824BC3FF}" type="presParOf" srcId="{D56D6ADB-C0C9-4650-BFBB-995F67D63273}" destId="{6A9A75B5-67D2-4FD5-BF32-9ABD0EC54586}" srcOrd="2" destOrd="0" presId="urn:microsoft.com/office/officeart/2005/8/layout/default"/>
    <dgm:cxn modelId="{3B00982A-C956-438C-BD44-2C58E5443D7F}" type="presParOf" srcId="{D56D6ADB-C0C9-4650-BFBB-995F67D63273}" destId="{890FE484-848C-4C63-9722-A165BBC06E93}" srcOrd="3" destOrd="0" presId="urn:microsoft.com/office/officeart/2005/8/layout/default"/>
    <dgm:cxn modelId="{AE1A30E1-F610-4CB2-958D-A168A1C465D3}" type="presParOf" srcId="{D56D6ADB-C0C9-4650-BFBB-995F67D63273}" destId="{249B7507-F623-4971-AB86-6E1A317AE6FA}"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951A033D-3C87-4C7E-906D-F836E37089BE}" type="doc">
      <dgm:prSet loTypeId="urn:microsoft.com/office/officeart/2005/8/layout/hierarchy3" loCatId="hierarchy" qsTypeId="urn:microsoft.com/office/officeart/2005/8/quickstyle/simple1" qsCatId="simple" csTypeId="urn:microsoft.com/office/officeart/2005/8/colors/accent5_2" csCatId="accent5" phldr="1"/>
      <dgm:spPr/>
      <dgm:t>
        <a:bodyPr/>
        <a:lstStyle/>
        <a:p>
          <a:endParaRPr lang="fr-FR"/>
        </a:p>
      </dgm:t>
    </dgm:pt>
    <dgm:pt modelId="{AA1E5A46-ED82-4F41-BD84-6D9D776E77A7}">
      <dgm:prSet phldrT="[Texte]" custT="1"/>
      <dgm:spPr/>
      <dgm:t>
        <a:bodyPr/>
        <a:lstStyle/>
        <a:p>
          <a:r>
            <a:rPr lang="fr-FR" sz="1800" b="1" dirty="0"/>
            <a:t>Non dangereux</a:t>
          </a:r>
        </a:p>
      </dgm:t>
    </dgm:pt>
    <dgm:pt modelId="{3A6A0960-1EEA-4167-AEE6-A37E7E1C43E0}" type="parTrans" cxnId="{4F339E6B-1C77-41EA-9FB3-C8DBB3C55F51}">
      <dgm:prSet/>
      <dgm:spPr/>
      <dgm:t>
        <a:bodyPr/>
        <a:lstStyle/>
        <a:p>
          <a:endParaRPr lang="fr-FR" sz="1800"/>
        </a:p>
      </dgm:t>
    </dgm:pt>
    <dgm:pt modelId="{D9015542-8D2F-4C99-8592-CFF7625C8E30}" type="sibTrans" cxnId="{4F339E6B-1C77-41EA-9FB3-C8DBB3C55F51}">
      <dgm:prSet/>
      <dgm:spPr/>
      <dgm:t>
        <a:bodyPr/>
        <a:lstStyle/>
        <a:p>
          <a:endParaRPr lang="fr-FR" sz="1800"/>
        </a:p>
      </dgm:t>
    </dgm:pt>
    <dgm:pt modelId="{5D937E5D-3517-4FF5-AC1E-F5AC8BBCFB2E}">
      <dgm:prSet phldrT="[Texte]" custT="1"/>
      <dgm:spPr/>
      <dgm:t>
        <a:bodyPr/>
        <a:lstStyle/>
        <a:p>
          <a:r>
            <a:rPr lang="fr-FR" sz="1800" dirty="0"/>
            <a:t>Emballages industriels et ménagers</a:t>
          </a:r>
        </a:p>
      </dgm:t>
    </dgm:pt>
    <dgm:pt modelId="{6B9D07FD-BAF9-4C28-958B-23D9E415E3FF}" type="parTrans" cxnId="{449ACCCB-900D-4116-BC62-A1E30E587ED1}">
      <dgm:prSet/>
      <dgm:spPr/>
      <dgm:t>
        <a:bodyPr/>
        <a:lstStyle/>
        <a:p>
          <a:endParaRPr lang="fr-FR" sz="1800"/>
        </a:p>
      </dgm:t>
    </dgm:pt>
    <dgm:pt modelId="{3A12D1AC-E15D-4B9B-8FB7-883F55A58D98}" type="sibTrans" cxnId="{449ACCCB-900D-4116-BC62-A1E30E587ED1}">
      <dgm:prSet/>
      <dgm:spPr/>
      <dgm:t>
        <a:bodyPr/>
        <a:lstStyle/>
        <a:p>
          <a:endParaRPr lang="fr-FR" sz="1800"/>
        </a:p>
      </dgm:t>
    </dgm:pt>
    <dgm:pt modelId="{2A7CD1CC-8E32-4336-9039-4B28942F3B2F}">
      <dgm:prSet phldrT="[Texte]" custT="1"/>
      <dgm:spPr/>
      <dgm:t>
        <a:bodyPr/>
        <a:lstStyle/>
        <a:p>
          <a:r>
            <a:rPr lang="fr-FR" sz="1800" dirty="0"/>
            <a:t>Déchets d’activités économiques</a:t>
          </a:r>
        </a:p>
      </dgm:t>
    </dgm:pt>
    <dgm:pt modelId="{FF9C2237-3049-487A-89D2-9A461C379B36}" type="parTrans" cxnId="{9956D871-0688-4D93-ADA9-783E8AC97573}">
      <dgm:prSet/>
      <dgm:spPr/>
      <dgm:t>
        <a:bodyPr/>
        <a:lstStyle/>
        <a:p>
          <a:endParaRPr lang="fr-FR" sz="1800"/>
        </a:p>
      </dgm:t>
    </dgm:pt>
    <dgm:pt modelId="{F4DC304F-D0D9-414B-86F6-0AC7CEE7856C}" type="sibTrans" cxnId="{9956D871-0688-4D93-ADA9-783E8AC97573}">
      <dgm:prSet/>
      <dgm:spPr/>
      <dgm:t>
        <a:bodyPr/>
        <a:lstStyle/>
        <a:p>
          <a:endParaRPr lang="fr-FR" sz="1800"/>
        </a:p>
      </dgm:t>
    </dgm:pt>
    <dgm:pt modelId="{1BA80218-FF1E-4E3C-9E09-050987446E34}">
      <dgm:prSet phldrT="[Texte]" custT="1"/>
      <dgm:spPr/>
      <dgm:t>
        <a:bodyPr/>
        <a:lstStyle/>
        <a:p>
          <a:r>
            <a:rPr lang="fr-FR" sz="1800" b="1" dirty="0"/>
            <a:t>Dangereux</a:t>
          </a:r>
        </a:p>
      </dgm:t>
    </dgm:pt>
    <dgm:pt modelId="{7D684CDB-F512-48BD-B2F4-2A05ED6583EC}" type="parTrans" cxnId="{00508681-2000-46A0-BD5D-2A946CD9C2E8}">
      <dgm:prSet/>
      <dgm:spPr/>
      <dgm:t>
        <a:bodyPr/>
        <a:lstStyle/>
        <a:p>
          <a:endParaRPr lang="fr-FR" sz="1800"/>
        </a:p>
      </dgm:t>
    </dgm:pt>
    <dgm:pt modelId="{F2C611C9-1FC5-4021-BEE0-45D7008C769E}" type="sibTrans" cxnId="{00508681-2000-46A0-BD5D-2A946CD9C2E8}">
      <dgm:prSet/>
      <dgm:spPr/>
      <dgm:t>
        <a:bodyPr/>
        <a:lstStyle/>
        <a:p>
          <a:endParaRPr lang="fr-FR" sz="1800"/>
        </a:p>
      </dgm:t>
    </dgm:pt>
    <dgm:pt modelId="{11A23EB8-333C-49E1-90C3-ACB8C1BE5213}">
      <dgm:prSet phldrT="[Texte]" custT="1"/>
      <dgm:spPr/>
      <dgm:t>
        <a:bodyPr/>
        <a:lstStyle/>
        <a:p>
          <a:r>
            <a:rPr lang="fr-FR" sz="1800" dirty="0"/>
            <a:t>Déchets industriels dangereux (DID)</a:t>
          </a:r>
        </a:p>
      </dgm:t>
    </dgm:pt>
    <dgm:pt modelId="{15EB58DB-0414-465F-9341-DCE95CAD7F49}" type="parTrans" cxnId="{19272FA7-6631-4022-88F9-0636B9C9E8F6}">
      <dgm:prSet/>
      <dgm:spPr/>
      <dgm:t>
        <a:bodyPr/>
        <a:lstStyle/>
        <a:p>
          <a:endParaRPr lang="fr-FR" sz="1800"/>
        </a:p>
      </dgm:t>
    </dgm:pt>
    <dgm:pt modelId="{F6BB325E-8BD5-49C1-856E-145AC03A05AA}" type="sibTrans" cxnId="{19272FA7-6631-4022-88F9-0636B9C9E8F6}">
      <dgm:prSet/>
      <dgm:spPr/>
      <dgm:t>
        <a:bodyPr/>
        <a:lstStyle/>
        <a:p>
          <a:endParaRPr lang="fr-FR" sz="1800"/>
        </a:p>
      </dgm:t>
    </dgm:pt>
    <dgm:pt modelId="{7929F8F8-854A-4D00-920B-BC4144F18DFC}">
      <dgm:prSet phldrT="[Texte]" custT="1"/>
      <dgm:spPr/>
      <dgm:t>
        <a:bodyPr/>
        <a:lstStyle/>
        <a:p>
          <a:r>
            <a:rPr lang="fr-FR" sz="1800" dirty="0"/>
            <a:t>Déchets d’activités de soins à risques infectieux (DASRI)</a:t>
          </a:r>
        </a:p>
      </dgm:t>
    </dgm:pt>
    <dgm:pt modelId="{4CE1E0A9-64B3-4E16-9AFF-E2E5BCA91D03}" type="parTrans" cxnId="{41BE875C-5091-4B77-A206-CD049F34B459}">
      <dgm:prSet/>
      <dgm:spPr/>
      <dgm:t>
        <a:bodyPr/>
        <a:lstStyle/>
        <a:p>
          <a:endParaRPr lang="fr-FR" sz="1800"/>
        </a:p>
      </dgm:t>
    </dgm:pt>
    <dgm:pt modelId="{8A4B8724-5787-448E-A989-ED9D8D7FEBC4}" type="sibTrans" cxnId="{41BE875C-5091-4B77-A206-CD049F34B459}">
      <dgm:prSet/>
      <dgm:spPr/>
      <dgm:t>
        <a:bodyPr/>
        <a:lstStyle/>
        <a:p>
          <a:endParaRPr lang="fr-FR" sz="1800"/>
        </a:p>
      </dgm:t>
    </dgm:pt>
    <dgm:pt modelId="{88CC3025-AC63-4702-AFD6-D92E75D8188A}">
      <dgm:prSet custT="1"/>
      <dgm:spPr/>
      <dgm:t>
        <a:bodyPr/>
        <a:lstStyle/>
        <a:p>
          <a:r>
            <a:rPr lang="fr-FR" sz="1800" b="1" dirty="0"/>
            <a:t>Inertes</a:t>
          </a:r>
        </a:p>
      </dgm:t>
    </dgm:pt>
    <dgm:pt modelId="{04DBC813-621C-45D2-A806-BB99E0E10711}" type="parTrans" cxnId="{35092DF5-4D15-44E7-8446-ACBE1DB3A9CD}">
      <dgm:prSet/>
      <dgm:spPr/>
      <dgm:t>
        <a:bodyPr/>
        <a:lstStyle/>
        <a:p>
          <a:endParaRPr lang="fr-FR" sz="1800"/>
        </a:p>
      </dgm:t>
    </dgm:pt>
    <dgm:pt modelId="{35104348-EF79-4A2C-A064-BFF97F846068}" type="sibTrans" cxnId="{35092DF5-4D15-44E7-8446-ACBE1DB3A9CD}">
      <dgm:prSet/>
      <dgm:spPr/>
      <dgm:t>
        <a:bodyPr/>
        <a:lstStyle/>
        <a:p>
          <a:endParaRPr lang="fr-FR" sz="1800"/>
        </a:p>
      </dgm:t>
    </dgm:pt>
    <dgm:pt modelId="{D4CE16DF-35E0-473A-8DBC-E9BD4093967F}">
      <dgm:prSet custT="1"/>
      <dgm:spPr/>
      <dgm:t>
        <a:bodyPr/>
        <a:lstStyle/>
        <a:p>
          <a:r>
            <a:rPr lang="fr-FR" sz="1800" dirty="0"/>
            <a:t>Déchets de chantiers</a:t>
          </a:r>
        </a:p>
      </dgm:t>
    </dgm:pt>
    <dgm:pt modelId="{CB0C4798-FD54-4633-A67E-AE2E82DBAF71}" type="parTrans" cxnId="{60176A3D-DD17-4650-A889-DEB63D184894}">
      <dgm:prSet/>
      <dgm:spPr/>
      <dgm:t>
        <a:bodyPr/>
        <a:lstStyle/>
        <a:p>
          <a:endParaRPr lang="fr-FR" sz="1800"/>
        </a:p>
      </dgm:t>
    </dgm:pt>
    <dgm:pt modelId="{BC430761-3947-4DBF-B4C4-86AA1E9AE12B}" type="sibTrans" cxnId="{60176A3D-DD17-4650-A889-DEB63D184894}">
      <dgm:prSet/>
      <dgm:spPr/>
      <dgm:t>
        <a:bodyPr/>
        <a:lstStyle/>
        <a:p>
          <a:endParaRPr lang="fr-FR" sz="1800"/>
        </a:p>
      </dgm:t>
    </dgm:pt>
    <dgm:pt modelId="{486B361A-129A-46B9-B76F-4614AF732B4E}">
      <dgm:prSet custT="1"/>
      <dgm:spPr/>
      <dgm:t>
        <a:bodyPr/>
        <a:lstStyle/>
        <a:p>
          <a:r>
            <a:rPr lang="fr-FR" sz="1800" dirty="0"/>
            <a:t>Déchets ménagers</a:t>
          </a:r>
        </a:p>
      </dgm:t>
    </dgm:pt>
    <dgm:pt modelId="{FE0AF494-3EE8-4F16-8C28-789E36AA9E45}" type="parTrans" cxnId="{97F4CC48-5F06-451F-B431-C83C3010B230}">
      <dgm:prSet/>
      <dgm:spPr/>
      <dgm:t>
        <a:bodyPr/>
        <a:lstStyle/>
        <a:p>
          <a:endParaRPr lang="fr-FR" sz="1800"/>
        </a:p>
      </dgm:t>
    </dgm:pt>
    <dgm:pt modelId="{C6A2E727-3D5E-4CCA-9B08-492DA7EA7CD4}" type="sibTrans" cxnId="{97F4CC48-5F06-451F-B431-C83C3010B230}">
      <dgm:prSet/>
      <dgm:spPr/>
      <dgm:t>
        <a:bodyPr/>
        <a:lstStyle/>
        <a:p>
          <a:endParaRPr lang="fr-FR" sz="1800"/>
        </a:p>
      </dgm:t>
    </dgm:pt>
    <dgm:pt modelId="{14C3D58C-2209-40FE-9FEA-1C2721AA9922}">
      <dgm:prSet custT="1"/>
      <dgm:spPr/>
      <dgm:t>
        <a:bodyPr/>
        <a:lstStyle/>
        <a:p>
          <a:r>
            <a:rPr lang="fr-FR" sz="1800" dirty="0"/>
            <a:t>DEEE</a:t>
          </a:r>
        </a:p>
      </dgm:t>
    </dgm:pt>
    <dgm:pt modelId="{45AC4012-232E-4E2D-8692-BCA1F4623ED6}" type="parTrans" cxnId="{B4A42284-812D-4121-9217-0BF88B27B7CC}">
      <dgm:prSet/>
      <dgm:spPr/>
      <dgm:t>
        <a:bodyPr/>
        <a:lstStyle/>
        <a:p>
          <a:endParaRPr lang="fr-FR" sz="1600"/>
        </a:p>
      </dgm:t>
    </dgm:pt>
    <dgm:pt modelId="{1625C4FF-8437-4457-918E-E78E5F735FDF}" type="sibTrans" cxnId="{B4A42284-812D-4121-9217-0BF88B27B7CC}">
      <dgm:prSet/>
      <dgm:spPr/>
      <dgm:t>
        <a:bodyPr/>
        <a:lstStyle/>
        <a:p>
          <a:endParaRPr lang="fr-FR" sz="1600"/>
        </a:p>
      </dgm:t>
    </dgm:pt>
    <dgm:pt modelId="{07F9B518-EF66-443E-9038-044262899475}" type="pres">
      <dgm:prSet presAssocID="{951A033D-3C87-4C7E-906D-F836E37089BE}" presName="diagram" presStyleCnt="0">
        <dgm:presLayoutVars>
          <dgm:chPref val="1"/>
          <dgm:dir/>
          <dgm:animOne val="branch"/>
          <dgm:animLvl val="lvl"/>
          <dgm:resizeHandles/>
        </dgm:presLayoutVars>
      </dgm:prSet>
      <dgm:spPr/>
    </dgm:pt>
    <dgm:pt modelId="{50A6F354-A9BB-4BDA-B129-F219942CE815}" type="pres">
      <dgm:prSet presAssocID="{AA1E5A46-ED82-4F41-BD84-6D9D776E77A7}" presName="root" presStyleCnt="0"/>
      <dgm:spPr/>
    </dgm:pt>
    <dgm:pt modelId="{07D69421-CFCB-4347-8EC9-06B06F1FBEA0}" type="pres">
      <dgm:prSet presAssocID="{AA1E5A46-ED82-4F41-BD84-6D9D776E77A7}" presName="rootComposite" presStyleCnt="0"/>
      <dgm:spPr/>
    </dgm:pt>
    <dgm:pt modelId="{187DFCEF-F6F6-4C26-B42C-768FDA4692AF}" type="pres">
      <dgm:prSet presAssocID="{AA1E5A46-ED82-4F41-BD84-6D9D776E77A7}" presName="rootText" presStyleLbl="node1" presStyleIdx="0" presStyleCnt="3" custScaleX="166463"/>
      <dgm:spPr/>
    </dgm:pt>
    <dgm:pt modelId="{0D6D7456-9F22-44BB-8A2F-CC75738A71F1}" type="pres">
      <dgm:prSet presAssocID="{AA1E5A46-ED82-4F41-BD84-6D9D776E77A7}" presName="rootConnector" presStyleLbl="node1" presStyleIdx="0" presStyleCnt="3"/>
      <dgm:spPr/>
    </dgm:pt>
    <dgm:pt modelId="{9C1ECDF3-851A-494B-9ABB-DE17570CFD19}" type="pres">
      <dgm:prSet presAssocID="{AA1E5A46-ED82-4F41-BD84-6D9D776E77A7}" presName="childShape" presStyleCnt="0"/>
      <dgm:spPr/>
    </dgm:pt>
    <dgm:pt modelId="{4B776583-83AC-43CF-9A12-51941E74079B}" type="pres">
      <dgm:prSet presAssocID="{6B9D07FD-BAF9-4C28-958B-23D9E415E3FF}" presName="Name13" presStyleLbl="parChTrans1D2" presStyleIdx="0" presStyleCnt="7"/>
      <dgm:spPr/>
    </dgm:pt>
    <dgm:pt modelId="{8C67A1EE-C384-469B-9DD7-C37FF7DCE763}" type="pres">
      <dgm:prSet presAssocID="{5D937E5D-3517-4FF5-AC1E-F5AC8BBCFB2E}" presName="childText" presStyleLbl="bgAcc1" presStyleIdx="0" presStyleCnt="7" custScaleX="161315">
        <dgm:presLayoutVars>
          <dgm:bulletEnabled val="1"/>
        </dgm:presLayoutVars>
      </dgm:prSet>
      <dgm:spPr/>
    </dgm:pt>
    <dgm:pt modelId="{7DC213F0-65E0-43B1-A1D0-B19A612B6209}" type="pres">
      <dgm:prSet presAssocID="{FF9C2237-3049-487A-89D2-9A461C379B36}" presName="Name13" presStyleLbl="parChTrans1D2" presStyleIdx="1" presStyleCnt="7"/>
      <dgm:spPr/>
    </dgm:pt>
    <dgm:pt modelId="{34AB3D17-BCDB-4A7D-9DA0-9CF51BF69927}" type="pres">
      <dgm:prSet presAssocID="{2A7CD1CC-8E32-4336-9039-4B28942F3B2F}" presName="childText" presStyleLbl="bgAcc1" presStyleIdx="1" presStyleCnt="7" custScaleX="161315">
        <dgm:presLayoutVars>
          <dgm:bulletEnabled val="1"/>
        </dgm:presLayoutVars>
      </dgm:prSet>
      <dgm:spPr/>
    </dgm:pt>
    <dgm:pt modelId="{1FBC3F29-7FF7-4CBF-87CF-1FFEFFD996F9}" type="pres">
      <dgm:prSet presAssocID="{FE0AF494-3EE8-4F16-8C28-789E36AA9E45}" presName="Name13" presStyleLbl="parChTrans1D2" presStyleIdx="2" presStyleCnt="7"/>
      <dgm:spPr/>
    </dgm:pt>
    <dgm:pt modelId="{57CE08A2-1378-4542-90DA-39EE9449134F}" type="pres">
      <dgm:prSet presAssocID="{486B361A-129A-46B9-B76F-4614AF732B4E}" presName="childText" presStyleLbl="bgAcc1" presStyleIdx="2" presStyleCnt="7" custScaleX="161315">
        <dgm:presLayoutVars>
          <dgm:bulletEnabled val="1"/>
        </dgm:presLayoutVars>
      </dgm:prSet>
      <dgm:spPr/>
    </dgm:pt>
    <dgm:pt modelId="{6E43A256-1E61-49A7-BDFE-94419678F8A5}" type="pres">
      <dgm:prSet presAssocID="{88CC3025-AC63-4702-AFD6-D92E75D8188A}" presName="root" presStyleCnt="0"/>
      <dgm:spPr/>
    </dgm:pt>
    <dgm:pt modelId="{FA3E0820-D5E8-4E7F-ADDC-8326FBDC40C8}" type="pres">
      <dgm:prSet presAssocID="{88CC3025-AC63-4702-AFD6-D92E75D8188A}" presName="rootComposite" presStyleCnt="0"/>
      <dgm:spPr/>
    </dgm:pt>
    <dgm:pt modelId="{EA5D042A-2FA6-45F6-B4DD-41F62A372B88}" type="pres">
      <dgm:prSet presAssocID="{88CC3025-AC63-4702-AFD6-D92E75D8188A}" presName="rootText" presStyleLbl="node1" presStyleIdx="1" presStyleCnt="3" custScaleX="166463"/>
      <dgm:spPr/>
    </dgm:pt>
    <dgm:pt modelId="{8C8F1DA6-1003-4776-916B-88986DAF91EA}" type="pres">
      <dgm:prSet presAssocID="{88CC3025-AC63-4702-AFD6-D92E75D8188A}" presName="rootConnector" presStyleLbl="node1" presStyleIdx="1" presStyleCnt="3"/>
      <dgm:spPr/>
    </dgm:pt>
    <dgm:pt modelId="{56610B80-6755-4FE1-8976-AC3F246F842B}" type="pres">
      <dgm:prSet presAssocID="{88CC3025-AC63-4702-AFD6-D92E75D8188A}" presName="childShape" presStyleCnt="0"/>
      <dgm:spPr/>
    </dgm:pt>
    <dgm:pt modelId="{063623B0-3642-4580-9198-072FF98CB389}" type="pres">
      <dgm:prSet presAssocID="{CB0C4798-FD54-4633-A67E-AE2E82DBAF71}" presName="Name13" presStyleLbl="parChTrans1D2" presStyleIdx="3" presStyleCnt="7"/>
      <dgm:spPr/>
    </dgm:pt>
    <dgm:pt modelId="{342CB45E-536F-449A-917F-7A7516EB0A10}" type="pres">
      <dgm:prSet presAssocID="{D4CE16DF-35E0-473A-8DBC-E9BD4093967F}" presName="childText" presStyleLbl="bgAcc1" presStyleIdx="3" presStyleCnt="7" custScaleX="161315">
        <dgm:presLayoutVars>
          <dgm:bulletEnabled val="1"/>
        </dgm:presLayoutVars>
      </dgm:prSet>
      <dgm:spPr/>
    </dgm:pt>
    <dgm:pt modelId="{EA76E5AE-BB3C-4271-B167-3ABA57781B9C}" type="pres">
      <dgm:prSet presAssocID="{1BA80218-FF1E-4E3C-9E09-050987446E34}" presName="root" presStyleCnt="0"/>
      <dgm:spPr/>
    </dgm:pt>
    <dgm:pt modelId="{D98C81FA-7533-412D-AB3B-FD9EF440A295}" type="pres">
      <dgm:prSet presAssocID="{1BA80218-FF1E-4E3C-9E09-050987446E34}" presName="rootComposite" presStyleCnt="0"/>
      <dgm:spPr/>
    </dgm:pt>
    <dgm:pt modelId="{AD55C465-8E25-4DE8-84DC-77AEB2AC88F8}" type="pres">
      <dgm:prSet presAssocID="{1BA80218-FF1E-4E3C-9E09-050987446E34}" presName="rootText" presStyleLbl="node1" presStyleIdx="2" presStyleCnt="3" custScaleX="190128"/>
      <dgm:spPr/>
    </dgm:pt>
    <dgm:pt modelId="{7E6D621B-FEED-40AC-B193-D0BFF2BD8538}" type="pres">
      <dgm:prSet presAssocID="{1BA80218-FF1E-4E3C-9E09-050987446E34}" presName="rootConnector" presStyleLbl="node1" presStyleIdx="2" presStyleCnt="3"/>
      <dgm:spPr/>
    </dgm:pt>
    <dgm:pt modelId="{3B75C1CC-1BDC-4CF1-B041-B8873666AD2B}" type="pres">
      <dgm:prSet presAssocID="{1BA80218-FF1E-4E3C-9E09-050987446E34}" presName="childShape" presStyleCnt="0"/>
      <dgm:spPr/>
    </dgm:pt>
    <dgm:pt modelId="{E61A10F5-2C09-4BDA-80E6-1F4E421EDECD}" type="pres">
      <dgm:prSet presAssocID="{15EB58DB-0414-465F-9341-DCE95CAD7F49}" presName="Name13" presStyleLbl="parChTrans1D2" presStyleIdx="4" presStyleCnt="7"/>
      <dgm:spPr/>
    </dgm:pt>
    <dgm:pt modelId="{5A10F689-C0D8-415C-9262-EFC2A7FE55C4}" type="pres">
      <dgm:prSet presAssocID="{11A23EB8-333C-49E1-90C3-ACB8C1BE5213}" presName="childText" presStyleLbl="bgAcc1" presStyleIdx="4" presStyleCnt="7" custScaleX="184248">
        <dgm:presLayoutVars>
          <dgm:bulletEnabled val="1"/>
        </dgm:presLayoutVars>
      </dgm:prSet>
      <dgm:spPr/>
    </dgm:pt>
    <dgm:pt modelId="{75420D72-ABC3-4065-9284-0D9C75EC22ED}" type="pres">
      <dgm:prSet presAssocID="{4CE1E0A9-64B3-4E16-9AFF-E2E5BCA91D03}" presName="Name13" presStyleLbl="parChTrans1D2" presStyleIdx="5" presStyleCnt="7"/>
      <dgm:spPr/>
    </dgm:pt>
    <dgm:pt modelId="{7B469C81-D268-4D27-8F5D-EC03F8BBDBD7}" type="pres">
      <dgm:prSet presAssocID="{7929F8F8-854A-4D00-920B-BC4144F18DFC}" presName="childText" presStyleLbl="bgAcc1" presStyleIdx="5" presStyleCnt="7" custScaleX="184248">
        <dgm:presLayoutVars>
          <dgm:bulletEnabled val="1"/>
        </dgm:presLayoutVars>
      </dgm:prSet>
      <dgm:spPr/>
    </dgm:pt>
    <dgm:pt modelId="{0FC495F1-ED76-414F-BD5D-2CF0CA0794C8}" type="pres">
      <dgm:prSet presAssocID="{45AC4012-232E-4E2D-8692-BCA1F4623ED6}" presName="Name13" presStyleLbl="parChTrans1D2" presStyleIdx="6" presStyleCnt="7"/>
      <dgm:spPr/>
    </dgm:pt>
    <dgm:pt modelId="{B3A3F46E-DDDB-4610-B51B-613B60748E36}" type="pres">
      <dgm:prSet presAssocID="{14C3D58C-2209-40FE-9FEA-1C2721AA9922}" presName="childText" presStyleLbl="bgAcc1" presStyleIdx="6" presStyleCnt="7" custScaleX="191071">
        <dgm:presLayoutVars>
          <dgm:bulletEnabled val="1"/>
        </dgm:presLayoutVars>
      </dgm:prSet>
      <dgm:spPr/>
    </dgm:pt>
  </dgm:ptLst>
  <dgm:cxnLst>
    <dgm:cxn modelId="{31F52A09-03F0-4C0F-99B5-5E21643D0CB8}" type="presOf" srcId="{7929F8F8-854A-4D00-920B-BC4144F18DFC}" destId="{7B469C81-D268-4D27-8F5D-EC03F8BBDBD7}" srcOrd="0" destOrd="0" presId="urn:microsoft.com/office/officeart/2005/8/layout/hierarchy3"/>
    <dgm:cxn modelId="{F82D410A-A0F8-4BB1-9368-72AAEF62A7A4}" type="presOf" srcId="{AA1E5A46-ED82-4F41-BD84-6D9D776E77A7}" destId="{0D6D7456-9F22-44BB-8A2F-CC75738A71F1}" srcOrd="1" destOrd="0" presId="urn:microsoft.com/office/officeart/2005/8/layout/hierarchy3"/>
    <dgm:cxn modelId="{63C66228-D4C3-4C90-B967-0EF40AF248D4}" type="presOf" srcId="{6B9D07FD-BAF9-4C28-958B-23D9E415E3FF}" destId="{4B776583-83AC-43CF-9A12-51941E74079B}" srcOrd="0" destOrd="0" presId="urn:microsoft.com/office/officeart/2005/8/layout/hierarchy3"/>
    <dgm:cxn modelId="{A9E5E02B-01DD-455A-9C62-62010F4BA624}" type="presOf" srcId="{88CC3025-AC63-4702-AFD6-D92E75D8188A}" destId="{8C8F1DA6-1003-4776-916B-88986DAF91EA}" srcOrd="1" destOrd="0" presId="urn:microsoft.com/office/officeart/2005/8/layout/hierarchy3"/>
    <dgm:cxn modelId="{60176A3D-DD17-4650-A889-DEB63D184894}" srcId="{88CC3025-AC63-4702-AFD6-D92E75D8188A}" destId="{D4CE16DF-35E0-473A-8DBC-E9BD4093967F}" srcOrd="0" destOrd="0" parTransId="{CB0C4798-FD54-4633-A67E-AE2E82DBAF71}" sibTransId="{BC430761-3947-4DBF-B4C4-86AA1E9AE12B}"/>
    <dgm:cxn modelId="{9E79EA3D-FD9E-41C9-8DE8-9DDB5742CA4E}" type="presOf" srcId="{15EB58DB-0414-465F-9341-DCE95CAD7F49}" destId="{E61A10F5-2C09-4BDA-80E6-1F4E421EDECD}" srcOrd="0" destOrd="0" presId="urn:microsoft.com/office/officeart/2005/8/layout/hierarchy3"/>
    <dgm:cxn modelId="{41BE875C-5091-4B77-A206-CD049F34B459}" srcId="{1BA80218-FF1E-4E3C-9E09-050987446E34}" destId="{7929F8F8-854A-4D00-920B-BC4144F18DFC}" srcOrd="1" destOrd="0" parTransId="{4CE1E0A9-64B3-4E16-9AFF-E2E5BCA91D03}" sibTransId="{8A4B8724-5787-448E-A989-ED9D8D7FEBC4}"/>
    <dgm:cxn modelId="{97F4CC48-5F06-451F-B431-C83C3010B230}" srcId="{AA1E5A46-ED82-4F41-BD84-6D9D776E77A7}" destId="{486B361A-129A-46B9-B76F-4614AF732B4E}" srcOrd="2" destOrd="0" parTransId="{FE0AF494-3EE8-4F16-8C28-789E36AA9E45}" sibTransId="{C6A2E727-3D5E-4CCA-9B08-492DA7EA7CD4}"/>
    <dgm:cxn modelId="{2FC3CD68-AE3C-48C8-9C86-50F5703E3E12}" type="presOf" srcId="{45AC4012-232E-4E2D-8692-BCA1F4623ED6}" destId="{0FC495F1-ED76-414F-BD5D-2CF0CA0794C8}" srcOrd="0" destOrd="0" presId="urn:microsoft.com/office/officeart/2005/8/layout/hierarchy3"/>
    <dgm:cxn modelId="{4F339E6B-1C77-41EA-9FB3-C8DBB3C55F51}" srcId="{951A033D-3C87-4C7E-906D-F836E37089BE}" destId="{AA1E5A46-ED82-4F41-BD84-6D9D776E77A7}" srcOrd="0" destOrd="0" parTransId="{3A6A0960-1EEA-4167-AEE6-A37E7E1C43E0}" sibTransId="{D9015542-8D2F-4C99-8592-CFF7625C8E30}"/>
    <dgm:cxn modelId="{4B888F50-DBFB-46E3-9EA6-8A8132FB60B1}" type="presOf" srcId="{951A033D-3C87-4C7E-906D-F836E37089BE}" destId="{07F9B518-EF66-443E-9038-044262899475}" srcOrd="0" destOrd="0" presId="urn:microsoft.com/office/officeart/2005/8/layout/hierarchy3"/>
    <dgm:cxn modelId="{9956D871-0688-4D93-ADA9-783E8AC97573}" srcId="{AA1E5A46-ED82-4F41-BD84-6D9D776E77A7}" destId="{2A7CD1CC-8E32-4336-9039-4B28942F3B2F}" srcOrd="1" destOrd="0" parTransId="{FF9C2237-3049-487A-89D2-9A461C379B36}" sibTransId="{F4DC304F-D0D9-414B-86F6-0AC7CEE7856C}"/>
    <dgm:cxn modelId="{A45BF571-EB9E-42D7-AE51-7A50914AD4F4}" type="presOf" srcId="{FE0AF494-3EE8-4F16-8C28-789E36AA9E45}" destId="{1FBC3F29-7FF7-4CBF-87CF-1FFEFFD996F9}" srcOrd="0" destOrd="0" presId="urn:microsoft.com/office/officeart/2005/8/layout/hierarchy3"/>
    <dgm:cxn modelId="{69829454-FB93-41A8-8EA8-FCB7677A6D17}" type="presOf" srcId="{4CE1E0A9-64B3-4E16-9AFF-E2E5BCA91D03}" destId="{75420D72-ABC3-4065-9284-0D9C75EC22ED}" srcOrd="0" destOrd="0" presId="urn:microsoft.com/office/officeart/2005/8/layout/hierarchy3"/>
    <dgm:cxn modelId="{48F0BD58-01BA-4391-93B7-A59F05D7AA75}" type="presOf" srcId="{88CC3025-AC63-4702-AFD6-D92E75D8188A}" destId="{EA5D042A-2FA6-45F6-B4DD-41F62A372B88}" srcOrd="0" destOrd="0" presId="urn:microsoft.com/office/officeart/2005/8/layout/hierarchy3"/>
    <dgm:cxn modelId="{F13E867A-DCFE-45E3-9ECE-F9BDEF27877E}" type="presOf" srcId="{FF9C2237-3049-487A-89D2-9A461C379B36}" destId="{7DC213F0-65E0-43B1-A1D0-B19A612B6209}" srcOrd="0" destOrd="0" presId="urn:microsoft.com/office/officeart/2005/8/layout/hierarchy3"/>
    <dgm:cxn modelId="{00508681-2000-46A0-BD5D-2A946CD9C2E8}" srcId="{951A033D-3C87-4C7E-906D-F836E37089BE}" destId="{1BA80218-FF1E-4E3C-9E09-050987446E34}" srcOrd="2" destOrd="0" parTransId="{7D684CDB-F512-48BD-B2F4-2A05ED6583EC}" sibTransId="{F2C611C9-1FC5-4021-BEE0-45D7008C769E}"/>
    <dgm:cxn modelId="{B4A42284-812D-4121-9217-0BF88B27B7CC}" srcId="{1BA80218-FF1E-4E3C-9E09-050987446E34}" destId="{14C3D58C-2209-40FE-9FEA-1C2721AA9922}" srcOrd="2" destOrd="0" parTransId="{45AC4012-232E-4E2D-8692-BCA1F4623ED6}" sibTransId="{1625C4FF-8437-4457-918E-E78E5F735FDF}"/>
    <dgm:cxn modelId="{34B23C87-228C-4469-A1AE-A33AC734A793}" type="presOf" srcId="{2A7CD1CC-8E32-4336-9039-4B28942F3B2F}" destId="{34AB3D17-BCDB-4A7D-9DA0-9CF51BF69927}" srcOrd="0" destOrd="0" presId="urn:microsoft.com/office/officeart/2005/8/layout/hierarchy3"/>
    <dgm:cxn modelId="{A11A058B-BDE0-4091-816F-29ED4D868202}" type="presOf" srcId="{1BA80218-FF1E-4E3C-9E09-050987446E34}" destId="{7E6D621B-FEED-40AC-B193-D0BFF2BD8538}" srcOrd="1" destOrd="0" presId="urn:microsoft.com/office/officeart/2005/8/layout/hierarchy3"/>
    <dgm:cxn modelId="{FE70E0A1-5BF0-4BB8-9078-1780EEF10B40}" type="presOf" srcId="{CB0C4798-FD54-4633-A67E-AE2E82DBAF71}" destId="{063623B0-3642-4580-9198-072FF98CB389}" srcOrd="0" destOrd="0" presId="urn:microsoft.com/office/officeart/2005/8/layout/hierarchy3"/>
    <dgm:cxn modelId="{19272FA7-6631-4022-88F9-0636B9C9E8F6}" srcId="{1BA80218-FF1E-4E3C-9E09-050987446E34}" destId="{11A23EB8-333C-49E1-90C3-ACB8C1BE5213}" srcOrd="0" destOrd="0" parTransId="{15EB58DB-0414-465F-9341-DCE95CAD7F49}" sibTransId="{F6BB325E-8BD5-49C1-856E-145AC03A05AA}"/>
    <dgm:cxn modelId="{37C7D4AC-B171-44F4-9823-5AA25401F003}" type="presOf" srcId="{AA1E5A46-ED82-4F41-BD84-6D9D776E77A7}" destId="{187DFCEF-F6F6-4C26-B42C-768FDA4692AF}" srcOrd="0" destOrd="0" presId="urn:microsoft.com/office/officeart/2005/8/layout/hierarchy3"/>
    <dgm:cxn modelId="{79E63AC4-0EC9-4DB5-BC72-9FB705670434}" type="presOf" srcId="{11A23EB8-333C-49E1-90C3-ACB8C1BE5213}" destId="{5A10F689-C0D8-415C-9262-EFC2A7FE55C4}" srcOrd="0" destOrd="0" presId="urn:microsoft.com/office/officeart/2005/8/layout/hierarchy3"/>
    <dgm:cxn modelId="{449ACCCB-900D-4116-BC62-A1E30E587ED1}" srcId="{AA1E5A46-ED82-4F41-BD84-6D9D776E77A7}" destId="{5D937E5D-3517-4FF5-AC1E-F5AC8BBCFB2E}" srcOrd="0" destOrd="0" parTransId="{6B9D07FD-BAF9-4C28-958B-23D9E415E3FF}" sibTransId="{3A12D1AC-E15D-4B9B-8FB7-883F55A58D98}"/>
    <dgm:cxn modelId="{7FE2C3DD-6184-40DE-99FF-022A5F442A39}" type="presOf" srcId="{14C3D58C-2209-40FE-9FEA-1C2721AA9922}" destId="{B3A3F46E-DDDB-4610-B51B-613B60748E36}" srcOrd="0" destOrd="0" presId="urn:microsoft.com/office/officeart/2005/8/layout/hierarchy3"/>
    <dgm:cxn modelId="{4531CADD-D83F-4CE8-93EF-B6F14A544E61}" type="presOf" srcId="{486B361A-129A-46B9-B76F-4614AF732B4E}" destId="{57CE08A2-1378-4542-90DA-39EE9449134F}" srcOrd="0" destOrd="0" presId="urn:microsoft.com/office/officeart/2005/8/layout/hierarchy3"/>
    <dgm:cxn modelId="{5DA507E8-504E-4A64-AA8F-2C708EE8E796}" type="presOf" srcId="{5D937E5D-3517-4FF5-AC1E-F5AC8BBCFB2E}" destId="{8C67A1EE-C384-469B-9DD7-C37FF7DCE763}" srcOrd="0" destOrd="0" presId="urn:microsoft.com/office/officeart/2005/8/layout/hierarchy3"/>
    <dgm:cxn modelId="{F9CEF6ED-E171-41B2-AE07-B29293C9BE4F}" type="presOf" srcId="{D4CE16DF-35E0-473A-8DBC-E9BD4093967F}" destId="{342CB45E-536F-449A-917F-7A7516EB0A10}" srcOrd="0" destOrd="0" presId="urn:microsoft.com/office/officeart/2005/8/layout/hierarchy3"/>
    <dgm:cxn modelId="{35092DF5-4D15-44E7-8446-ACBE1DB3A9CD}" srcId="{951A033D-3C87-4C7E-906D-F836E37089BE}" destId="{88CC3025-AC63-4702-AFD6-D92E75D8188A}" srcOrd="1" destOrd="0" parTransId="{04DBC813-621C-45D2-A806-BB99E0E10711}" sibTransId="{35104348-EF79-4A2C-A064-BFF97F846068}"/>
    <dgm:cxn modelId="{BD2FC5FF-00CD-477B-8412-E4133931E38C}" type="presOf" srcId="{1BA80218-FF1E-4E3C-9E09-050987446E34}" destId="{AD55C465-8E25-4DE8-84DC-77AEB2AC88F8}" srcOrd="0" destOrd="0" presId="urn:microsoft.com/office/officeart/2005/8/layout/hierarchy3"/>
    <dgm:cxn modelId="{F394770E-CE7C-4C65-811D-8D9891EDC94E}" type="presParOf" srcId="{07F9B518-EF66-443E-9038-044262899475}" destId="{50A6F354-A9BB-4BDA-B129-F219942CE815}" srcOrd="0" destOrd="0" presId="urn:microsoft.com/office/officeart/2005/8/layout/hierarchy3"/>
    <dgm:cxn modelId="{A8EF1089-4326-45E1-A4EB-AAB44FD3A989}" type="presParOf" srcId="{50A6F354-A9BB-4BDA-B129-F219942CE815}" destId="{07D69421-CFCB-4347-8EC9-06B06F1FBEA0}" srcOrd="0" destOrd="0" presId="urn:microsoft.com/office/officeart/2005/8/layout/hierarchy3"/>
    <dgm:cxn modelId="{D8ABE972-995A-4492-AD58-2C2F82C59416}" type="presParOf" srcId="{07D69421-CFCB-4347-8EC9-06B06F1FBEA0}" destId="{187DFCEF-F6F6-4C26-B42C-768FDA4692AF}" srcOrd="0" destOrd="0" presId="urn:microsoft.com/office/officeart/2005/8/layout/hierarchy3"/>
    <dgm:cxn modelId="{8F258393-4452-46C9-B73C-F33D1A5222D6}" type="presParOf" srcId="{07D69421-CFCB-4347-8EC9-06B06F1FBEA0}" destId="{0D6D7456-9F22-44BB-8A2F-CC75738A71F1}" srcOrd="1" destOrd="0" presId="urn:microsoft.com/office/officeart/2005/8/layout/hierarchy3"/>
    <dgm:cxn modelId="{F1BAA948-3C41-46D3-A338-A187FBFEA8C0}" type="presParOf" srcId="{50A6F354-A9BB-4BDA-B129-F219942CE815}" destId="{9C1ECDF3-851A-494B-9ABB-DE17570CFD19}" srcOrd="1" destOrd="0" presId="urn:microsoft.com/office/officeart/2005/8/layout/hierarchy3"/>
    <dgm:cxn modelId="{CDDA19E0-E90B-4222-8B37-965694E59094}" type="presParOf" srcId="{9C1ECDF3-851A-494B-9ABB-DE17570CFD19}" destId="{4B776583-83AC-43CF-9A12-51941E74079B}" srcOrd="0" destOrd="0" presId="urn:microsoft.com/office/officeart/2005/8/layout/hierarchy3"/>
    <dgm:cxn modelId="{3751F4F8-BDBF-4076-8CD1-790FD99E24DA}" type="presParOf" srcId="{9C1ECDF3-851A-494B-9ABB-DE17570CFD19}" destId="{8C67A1EE-C384-469B-9DD7-C37FF7DCE763}" srcOrd="1" destOrd="0" presId="urn:microsoft.com/office/officeart/2005/8/layout/hierarchy3"/>
    <dgm:cxn modelId="{B9792FA7-0CAF-4E87-922B-8A227B46DF06}" type="presParOf" srcId="{9C1ECDF3-851A-494B-9ABB-DE17570CFD19}" destId="{7DC213F0-65E0-43B1-A1D0-B19A612B6209}" srcOrd="2" destOrd="0" presId="urn:microsoft.com/office/officeart/2005/8/layout/hierarchy3"/>
    <dgm:cxn modelId="{B2E1A08C-0450-49AA-B6C5-81C2C931F682}" type="presParOf" srcId="{9C1ECDF3-851A-494B-9ABB-DE17570CFD19}" destId="{34AB3D17-BCDB-4A7D-9DA0-9CF51BF69927}" srcOrd="3" destOrd="0" presId="urn:microsoft.com/office/officeart/2005/8/layout/hierarchy3"/>
    <dgm:cxn modelId="{24F94B3F-1941-4ACE-A088-E1747A081600}" type="presParOf" srcId="{9C1ECDF3-851A-494B-9ABB-DE17570CFD19}" destId="{1FBC3F29-7FF7-4CBF-87CF-1FFEFFD996F9}" srcOrd="4" destOrd="0" presId="urn:microsoft.com/office/officeart/2005/8/layout/hierarchy3"/>
    <dgm:cxn modelId="{BBC38B3F-D72D-45E4-9B2C-1493D9A42F29}" type="presParOf" srcId="{9C1ECDF3-851A-494B-9ABB-DE17570CFD19}" destId="{57CE08A2-1378-4542-90DA-39EE9449134F}" srcOrd="5" destOrd="0" presId="urn:microsoft.com/office/officeart/2005/8/layout/hierarchy3"/>
    <dgm:cxn modelId="{C87645B8-863E-4947-97F9-44F0F9F755BF}" type="presParOf" srcId="{07F9B518-EF66-443E-9038-044262899475}" destId="{6E43A256-1E61-49A7-BDFE-94419678F8A5}" srcOrd="1" destOrd="0" presId="urn:microsoft.com/office/officeart/2005/8/layout/hierarchy3"/>
    <dgm:cxn modelId="{976E16C7-908D-42DB-AB77-07F9C0C5EBC9}" type="presParOf" srcId="{6E43A256-1E61-49A7-BDFE-94419678F8A5}" destId="{FA3E0820-D5E8-4E7F-ADDC-8326FBDC40C8}" srcOrd="0" destOrd="0" presId="urn:microsoft.com/office/officeart/2005/8/layout/hierarchy3"/>
    <dgm:cxn modelId="{32BAD2D0-CB67-46B2-966B-57541767AD98}" type="presParOf" srcId="{FA3E0820-D5E8-4E7F-ADDC-8326FBDC40C8}" destId="{EA5D042A-2FA6-45F6-B4DD-41F62A372B88}" srcOrd="0" destOrd="0" presId="urn:microsoft.com/office/officeart/2005/8/layout/hierarchy3"/>
    <dgm:cxn modelId="{02A3A90B-EF9B-4717-ADE5-C96DEFEEDC68}" type="presParOf" srcId="{FA3E0820-D5E8-4E7F-ADDC-8326FBDC40C8}" destId="{8C8F1DA6-1003-4776-916B-88986DAF91EA}" srcOrd="1" destOrd="0" presId="urn:microsoft.com/office/officeart/2005/8/layout/hierarchy3"/>
    <dgm:cxn modelId="{377E4187-0D62-4F5B-BEE4-F1574B57E4F9}" type="presParOf" srcId="{6E43A256-1E61-49A7-BDFE-94419678F8A5}" destId="{56610B80-6755-4FE1-8976-AC3F246F842B}" srcOrd="1" destOrd="0" presId="urn:microsoft.com/office/officeart/2005/8/layout/hierarchy3"/>
    <dgm:cxn modelId="{B2DFB97B-DF49-4808-90EE-D0E165C2D044}" type="presParOf" srcId="{56610B80-6755-4FE1-8976-AC3F246F842B}" destId="{063623B0-3642-4580-9198-072FF98CB389}" srcOrd="0" destOrd="0" presId="urn:microsoft.com/office/officeart/2005/8/layout/hierarchy3"/>
    <dgm:cxn modelId="{CC8692B2-E820-4B47-ABEC-74530913F551}" type="presParOf" srcId="{56610B80-6755-4FE1-8976-AC3F246F842B}" destId="{342CB45E-536F-449A-917F-7A7516EB0A10}" srcOrd="1" destOrd="0" presId="urn:microsoft.com/office/officeart/2005/8/layout/hierarchy3"/>
    <dgm:cxn modelId="{41EA8E39-E2BD-459A-A1ED-E31259F29DEB}" type="presParOf" srcId="{07F9B518-EF66-443E-9038-044262899475}" destId="{EA76E5AE-BB3C-4271-B167-3ABA57781B9C}" srcOrd="2" destOrd="0" presId="urn:microsoft.com/office/officeart/2005/8/layout/hierarchy3"/>
    <dgm:cxn modelId="{BBAC055B-2613-4A10-A78E-674DA152CD59}" type="presParOf" srcId="{EA76E5AE-BB3C-4271-B167-3ABA57781B9C}" destId="{D98C81FA-7533-412D-AB3B-FD9EF440A295}" srcOrd="0" destOrd="0" presId="urn:microsoft.com/office/officeart/2005/8/layout/hierarchy3"/>
    <dgm:cxn modelId="{0B7F2DBB-1A5A-46B5-B84C-510E2A358DED}" type="presParOf" srcId="{D98C81FA-7533-412D-AB3B-FD9EF440A295}" destId="{AD55C465-8E25-4DE8-84DC-77AEB2AC88F8}" srcOrd="0" destOrd="0" presId="urn:microsoft.com/office/officeart/2005/8/layout/hierarchy3"/>
    <dgm:cxn modelId="{DE784C2F-2725-4610-BB42-275D728D998B}" type="presParOf" srcId="{D98C81FA-7533-412D-AB3B-FD9EF440A295}" destId="{7E6D621B-FEED-40AC-B193-D0BFF2BD8538}" srcOrd="1" destOrd="0" presId="urn:microsoft.com/office/officeart/2005/8/layout/hierarchy3"/>
    <dgm:cxn modelId="{9987E439-841D-4D9C-ACA1-49EA52C6F0AE}" type="presParOf" srcId="{EA76E5AE-BB3C-4271-B167-3ABA57781B9C}" destId="{3B75C1CC-1BDC-4CF1-B041-B8873666AD2B}" srcOrd="1" destOrd="0" presId="urn:microsoft.com/office/officeart/2005/8/layout/hierarchy3"/>
    <dgm:cxn modelId="{0C30FF4B-4DB6-4671-AD64-3A5FF430E7FE}" type="presParOf" srcId="{3B75C1CC-1BDC-4CF1-B041-B8873666AD2B}" destId="{E61A10F5-2C09-4BDA-80E6-1F4E421EDECD}" srcOrd="0" destOrd="0" presId="urn:microsoft.com/office/officeart/2005/8/layout/hierarchy3"/>
    <dgm:cxn modelId="{173385A6-21E7-4893-95E5-FC5C5E0F7982}" type="presParOf" srcId="{3B75C1CC-1BDC-4CF1-B041-B8873666AD2B}" destId="{5A10F689-C0D8-415C-9262-EFC2A7FE55C4}" srcOrd="1" destOrd="0" presId="urn:microsoft.com/office/officeart/2005/8/layout/hierarchy3"/>
    <dgm:cxn modelId="{DA71EC91-D248-44DC-BDB7-FEC45C55FE2E}" type="presParOf" srcId="{3B75C1CC-1BDC-4CF1-B041-B8873666AD2B}" destId="{75420D72-ABC3-4065-9284-0D9C75EC22ED}" srcOrd="2" destOrd="0" presId="urn:microsoft.com/office/officeart/2005/8/layout/hierarchy3"/>
    <dgm:cxn modelId="{80CF79AA-7714-4325-BA05-B4C3EB37A02E}" type="presParOf" srcId="{3B75C1CC-1BDC-4CF1-B041-B8873666AD2B}" destId="{7B469C81-D268-4D27-8F5D-EC03F8BBDBD7}" srcOrd="3" destOrd="0" presId="urn:microsoft.com/office/officeart/2005/8/layout/hierarchy3"/>
    <dgm:cxn modelId="{EE0BBB70-EB23-49ED-A881-5C3B4672B92E}" type="presParOf" srcId="{3B75C1CC-1BDC-4CF1-B041-B8873666AD2B}" destId="{0FC495F1-ED76-414F-BD5D-2CF0CA0794C8}" srcOrd="4" destOrd="0" presId="urn:microsoft.com/office/officeart/2005/8/layout/hierarchy3"/>
    <dgm:cxn modelId="{F90AF8ED-D2B8-472E-B7B5-A71F9B3A4A40}" type="presParOf" srcId="{3B75C1CC-1BDC-4CF1-B041-B8873666AD2B}" destId="{B3A3F46E-DDDB-4610-B51B-613B60748E36}"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E130877-C538-47CD-B57A-51E28179C90D}"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8495365C-00EB-44A6-82EC-4F521217BBD1}">
      <dgm:prSet phldrT="[Texte]" custT="1"/>
      <dgm:spPr/>
      <dgm:t>
        <a:bodyPr/>
        <a:lstStyle/>
        <a:p>
          <a:r>
            <a:rPr lang="fr-FR" sz="1800" b="1" dirty="0"/>
            <a:t>Développer le recyclage de certains déchets / augmenter la performance de recyclage des déchets</a:t>
          </a:r>
        </a:p>
      </dgm:t>
    </dgm:pt>
    <dgm:pt modelId="{059A2F4B-9D0C-440F-A141-857E8A1B7247}" type="parTrans" cxnId="{0A96E65F-BB60-4620-BDF4-75252D06013D}">
      <dgm:prSet/>
      <dgm:spPr/>
      <dgm:t>
        <a:bodyPr/>
        <a:lstStyle/>
        <a:p>
          <a:endParaRPr lang="fr-FR" sz="1800" b="1"/>
        </a:p>
      </dgm:t>
    </dgm:pt>
    <dgm:pt modelId="{5B630540-1A4A-40D6-8408-74140DF52C50}" type="sibTrans" cxnId="{0A96E65F-BB60-4620-BDF4-75252D06013D}">
      <dgm:prSet/>
      <dgm:spPr/>
      <dgm:t>
        <a:bodyPr/>
        <a:lstStyle/>
        <a:p>
          <a:endParaRPr lang="fr-FR" sz="1800" b="1"/>
        </a:p>
      </dgm:t>
    </dgm:pt>
    <dgm:pt modelId="{0B4DDF77-B404-4DD2-870F-58D46897B44E}">
      <dgm:prSet phldrT="[Texte]" custT="1"/>
      <dgm:spPr/>
      <dgm:t>
        <a:bodyPr/>
        <a:lstStyle/>
        <a:p>
          <a:r>
            <a:rPr lang="fr-FR" sz="1800" b="1" dirty="0"/>
            <a:t>Rendre les producteurs responsables des coûts et de la gestion des déchets liés aux produits qu’ils fabriquent</a:t>
          </a:r>
        </a:p>
      </dgm:t>
    </dgm:pt>
    <dgm:pt modelId="{DFB3FD49-7BA8-40F1-8427-CF163094960F}" type="parTrans" cxnId="{A534C437-5528-4A67-A319-7CD039CC9CE6}">
      <dgm:prSet/>
      <dgm:spPr/>
      <dgm:t>
        <a:bodyPr/>
        <a:lstStyle/>
        <a:p>
          <a:endParaRPr lang="fr-FR" sz="1800" b="1"/>
        </a:p>
      </dgm:t>
    </dgm:pt>
    <dgm:pt modelId="{9D08F04E-9EA8-43CA-9C32-624207C9712D}" type="sibTrans" cxnId="{A534C437-5528-4A67-A319-7CD039CC9CE6}">
      <dgm:prSet/>
      <dgm:spPr/>
      <dgm:t>
        <a:bodyPr/>
        <a:lstStyle/>
        <a:p>
          <a:endParaRPr lang="fr-FR" sz="1800" b="1"/>
        </a:p>
      </dgm:t>
    </dgm:pt>
    <dgm:pt modelId="{3042AA03-9A71-493D-A909-848059448DA3}">
      <dgm:prSet phldrT="[Texte]" custT="1"/>
      <dgm:spPr/>
      <dgm:t>
        <a:bodyPr/>
        <a:lstStyle/>
        <a:p>
          <a:r>
            <a:rPr lang="fr-FR" sz="1800" b="1" dirty="0"/>
            <a:t>Développer l’éco-conception (barèmes selon la qualité environnementale des produits)</a:t>
          </a:r>
        </a:p>
      </dgm:t>
    </dgm:pt>
    <dgm:pt modelId="{9D680CD4-14A3-4DD8-A43D-595EF070DBEC}" type="parTrans" cxnId="{0EFFCF82-4572-426B-95CB-C7B3EE145126}">
      <dgm:prSet/>
      <dgm:spPr/>
      <dgm:t>
        <a:bodyPr/>
        <a:lstStyle/>
        <a:p>
          <a:endParaRPr lang="fr-FR" sz="1800" b="1"/>
        </a:p>
      </dgm:t>
    </dgm:pt>
    <dgm:pt modelId="{4E33DC10-806B-490C-A859-3B6F098E35DD}" type="sibTrans" cxnId="{0EFFCF82-4572-426B-95CB-C7B3EE145126}">
      <dgm:prSet/>
      <dgm:spPr/>
      <dgm:t>
        <a:bodyPr/>
        <a:lstStyle/>
        <a:p>
          <a:endParaRPr lang="fr-FR" sz="1800" b="1"/>
        </a:p>
      </dgm:t>
    </dgm:pt>
    <dgm:pt modelId="{7E341A96-E22A-4B63-BB38-EC6090AFB2CD}" type="pres">
      <dgm:prSet presAssocID="{6E130877-C538-47CD-B57A-51E28179C90D}" presName="diagram" presStyleCnt="0">
        <dgm:presLayoutVars>
          <dgm:dir/>
          <dgm:resizeHandles val="exact"/>
        </dgm:presLayoutVars>
      </dgm:prSet>
      <dgm:spPr/>
    </dgm:pt>
    <dgm:pt modelId="{48CBD094-9327-4246-B460-40A128774D80}" type="pres">
      <dgm:prSet presAssocID="{8495365C-00EB-44A6-82EC-4F521217BBD1}" presName="node" presStyleLbl="node1" presStyleIdx="0" presStyleCnt="3" custScaleY="158188">
        <dgm:presLayoutVars>
          <dgm:bulletEnabled val="1"/>
        </dgm:presLayoutVars>
      </dgm:prSet>
      <dgm:spPr/>
    </dgm:pt>
    <dgm:pt modelId="{0C274F99-F35D-4962-B801-17EAD5E0F197}" type="pres">
      <dgm:prSet presAssocID="{5B630540-1A4A-40D6-8408-74140DF52C50}" presName="sibTrans" presStyleCnt="0"/>
      <dgm:spPr/>
    </dgm:pt>
    <dgm:pt modelId="{1DD13905-0C9C-45EB-A6DB-25E926A962E1}" type="pres">
      <dgm:prSet presAssocID="{0B4DDF77-B404-4DD2-870F-58D46897B44E}" presName="node" presStyleLbl="node1" presStyleIdx="1" presStyleCnt="3" custScaleY="158188">
        <dgm:presLayoutVars>
          <dgm:bulletEnabled val="1"/>
        </dgm:presLayoutVars>
      </dgm:prSet>
      <dgm:spPr/>
    </dgm:pt>
    <dgm:pt modelId="{03479791-058C-45B7-9728-1ED5AAECF4B4}" type="pres">
      <dgm:prSet presAssocID="{9D08F04E-9EA8-43CA-9C32-624207C9712D}" presName="sibTrans" presStyleCnt="0"/>
      <dgm:spPr/>
    </dgm:pt>
    <dgm:pt modelId="{504C8D9E-9CD4-4F8C-B8A4-6D535A47F0C0}" type="pres">
      <dgm:prSet presAssocID="{3042AA03-9A71-493D-A909-848059448DA3}" presName="node" presStyleLbl="node1" presStyleIdx="2" presStyleCnt="3" custScaleY="158188">
        <dgm:presLayoutVars>
          <dgm:bulletEnabled val="1"/>
        </dgm:presLayoutVars>
      </dgm:prSet>
      <dgm:spPr/>
    </dgm:pt>
  </dgm:ptLst>
  <dgm:cxnLst>
    <dgm:cxn modelId="{938CB503-E870-467C-9346-719192A4CA90}" type="presOf" srcId="{0B4DDF77-B404-4DD2-870F-58D46897B44E}" destId="{1DD13905-0C9C-45EB-A6DB-25E926A962E1}" srcOrd="0" destOrd="0" presId="urn:microsoft.com/office/officeart/2005/8/layout/default"/>
    <dgm:cxn modelId="{A534C437-5528-4A67-A319-7CD039CC9CE6}" srcId="{6E130877-C538-47CD-B57A-51E28179C90D}" destId="{0B4DDF77-B404-4DD2-870F-58D46897B44E}" srcOrd="1" destOrd="0" parTransId="{DFB3FD49-7BA8-40F1-8427-CF163094960F}" sibTransId="{9D08F04E-9EA8-43CA-9C32-624207C9712D}"/>
    <dgm:cxn modelId="{D55ECE38-59FF-4C48-94C8-35A8F46D7912}" type="presOf" srcId="{8495365C-00EB-44A6-82EC-4F521217BBD1}" destId="{48CBD094-9327-4246-B460-40A128774D80}" srcOrd="0" destOrd="0" presId="urn:microsoft.com/office/officeart/2005/8/layout/default"/>
    <dgm:cxn modelId="{0A96E65F-BB60-4620-BDF4-75252D06013D}" srcId="{6E130877-C538-47CD-B57A-51E28179C90D}" destId="{8495365C-00EB-44A6-82EC-4F521217BBD1}" srcOrd="0" destOrd="0" parTransId="{059A2F4B-9D0C-440F-A141-857E8A1B7247}" sibTransId="{5B630540-1A4A-40D6-8408-74140DF52C50}"/>
    <dgm:cxn modelId="{908F9B54-7221-4AFC-9288-628B0FD9BD78}" type="presOf" srcId="{3042AA03-9A71-493D-A909-848059448DA3}" destId="{504C8D9E-9CD4-4F8C-B8A4-6D535A47F0C0}" srcOrd="0" destOrd="0" presId="urn:microsoft.com/office/officeart/2005/8/layout/default"/>
    <dgm:cxn modelId="{0EFFCF82-4572-426B-95CB-C7B3EE145126}" srcId="{6E130877-C538-47CD-B57A-51E28179C90D}" destId="{3042AA03-9A71-493D-A909-848059448DA3}" srcOrd="2" destOrd="0" parTransId="{9D680CD4-14A3-4DD8-A43D-595EF070DBEC}" sibTransId="{4E33DC10-806B-490C-A859-3B6F098E35DD}"/>
    <dgm:cxn modelId="{478DF595-F79E-4B94-8778-A7FFDF4EDA39}" type="presOf" srcId="{6E130877-C538-47CD-B57A-51E28179C90D}" destId="{7E341A96-E22A-4B63-BB38-EC6090AFB2CD}" srcOrd="0" destOrd="0" presId="urn:microsoft.com/office/officeart/2005/8/layout/default"/>
    <dgm:cxn modelId="{288CF7B6-BC81-4FB7-BE6D-8195409D7B8B}" type="presParOf" srcId="{7E341A96-E22A-4B63-BB38-EC6090AFB2CD}" destId="{48CBD094-9327-4246-B460-40A128774D80}" srcOrd="0" destOrd="0" presId="urn:microsoft.com/office/officeart/2005/8/layout/default"/>
    <dgm:cxn modelId="{1ABFE29F-E8DD-452F-B841-896B9B5B0886}" type="presParOf" srcId="{7E341A96-E22A-4B63-BB38-EC6090AFB2CD}" destId="{0C274F99-F35D-4962-B801-17EAD5E0F197}" srcOrd="1" destOrd="0" presId="urn:microsoft.com/office/officeart/2005/8/layout/default"/>
    <dgm:cxn modelId="{8442BC2B-1235-4B4A-B0FB-805C45A9E330}" type="presParOf" srcId="{7E341A96-E22A-4B63-BB38-EC6090AFB2CD}" destId="{1DD13905-0C9C-45EB-A6DB-25E926A962E1}" srcOrd="2" destOrd="0" presId="urn:microsoft.com/office/officeart/2005/8/layout/default"/>
    <dgm:cxn modelId="{A22250CF-112D-492C-985C-E2649057D6F2}" type="presParOf" srcId="{7E341A96-E22A-4B63-BB38-EC6090AFB2CD}" destId="{03479791-058C-45B7-9728-1ED5AAECF4B4}" srcOrd="3" destOrd="0" presId="urn:microsoft.com/office/officeart/2005/8/layout/default"/>
    <dgm:cxn modelId="{5AD97387-A6F1-48AC-9294-DC4781C1D985}" type="presParOf" srcId="{7E341A96-E22A-4B63-BB38-EC6090AFB2CD}" destId="{504C8D9E-9CD4-4F8C-B8A4-6D535A47F0C0}"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5990B0E-518D-49CC-B3D6-196E61E0F3CF}" type="doc">
      <dgm:prSet loTypeId="urn:microsoft.com/office/officeart/2005/8/layout/arrow6" loCatId="relationship" qsTypeId="urn:microsoft.com/office/officeart/2005/8/quickstyle/simple1" qsCatId="simple" csTypeId="urn:microsoft.com/office/officeart/2005/8/colors/accent5_2" csCatId="accent5" phldr="1"/>
      <dgm:spPr/>
      <dgm:t>
        <a:bodyPr/>
        <a:lstStyle/>
        <a:p>
          <a:endParaRPr lang="fr-FR"/>
        </a:p>
      </dgm:t>
    </dgm:pt>
    <dgm:pt modelId="{36E9B074-8B15-4BBB-9D53-615E73F6A980}">
      <dgm:prSet phldrT="[Texte]" custT="1"/>
      <dgm:spPr/>
      <dgm:t>
        <a:bodyPr/>
        <a:lstStyle/>
        <a:p>
          <a:r>
            <a:rPr lang="fr-FR" sz="1800" b="1" dirty="0"/>
            <a:t>Consommations d’eau</a:t>
          </a:r>
        </a:p>
      </dgm:t>
    </dgm:pt>
    <dgm:pt modelId="{2E6E29C2-910B-40E8-83A7-6395690839AE}" type="parTrans" cxnId="{3DF7C3A9-ACC4-499D-8D6D-FEA70AFF9B88}">
      <dgm:prSet/>
      <dgm:spPr/>
      <dgm:t>
        <a:bodyPr/>
        <a:lstStyle/>
        <a:p>
          <a:endParaRPr lang="fr-FR" sz="1800" b="1"/>
        </a:p>
      </dgm:t>
    </dgm:pt>
    <dgm:pt modelId="{BA1A24D9-C6C5-49F2-B89E-89C4C5069648}" type="sibTrans" cxnId="{3DF7C3A9-ACC4-499D-8D6D-FEA70AFF9B88}">
      <dgm:prSet/>
      <dgm:spPr/>
      <dgm:t>
        <a:bodyPr/>
        <a:lstStyle/>
        <a:p>
          <a:endParaRPr lang="fr-FR" sz="1800" b="1"/>
        </a:p>
      </dgm:t>
    </dgm:pt>
    <dgm:pt modelId="{3C4D0130-1EAF-4892-945D-0EB53D01D2BD}">
      <dgm:prSet phldrT="[Texte]" custT="1"/>
      <dgm:spPr/>
      <dgm:t>
        <a:bodyPr/>
        <a:lstStyle/>
        <a:p>
          <a:r>
            <a:rPr lang="fr-FR" sz="1800" b="1" dirty="0"/>
            <a:t>Rejets</a:t>
          </a:r>
        </a:p>
      </dgm:t>
    </dgm:pt>
    <dgm:pt modelId="{E174DEFD-8C04-435D-AED1-2B6B3EA6C8FC}" type="parTrans" cxnId="{56A8E5DF-7DA0-46A7-B1C8-87AA55A174D4}">
      <dgm:prSet/>
      <dgm:spPr/>
      <dgm:t>
        <a:bodyPr/>
        <a:lstStyle/>
        <a:p>
          <a:endParaRPr lang="fr-FR" sz="1800" b="1"/>
        </a:p>
      </dgm:t>
    </dgm:pt>
    <dgm:pt modelId="{489AD612-C780-47C9-9F3F-FEA271CD6B2A}" type="sibTrans" cxnId="{56A8E5DF-7DA0-46A7-B1C8-87AA55A174D4}">
      <dgm:prSet/>
      <dgm:spPr/>
      <dgm:t>
        <a:bodyPr/>
        <a:lstStyle/>
        <a:p>
          <a:endParaRPr lang="fr-FR" sz="1800" b="1"/>
        </a:p>
      </dgm:t>
    </dgm:pt>
    <dgm:pt modelId="{90A164B9-BB84-4301-B7C6-28F883CE4C60}" type="pres">
      <dgm:prSet presAssocID="{15990B0E-518D-49CC-B3D6-196E61E0F3CF}" presName="compositeShape" presStyleCnt="0">
        <dgm:presLayoutVars>
          <dgm:chMax val="2"/>
          <dgm:dir/>
          <dgm:resizeHandles val="exact"/>
        </dgm:presLayoutVars>
      </dgm:prSet>
      <dgm:spPr/>
    </dgm:pt>
    <dgm:pt modelId="{ABBAE270-5474-415B-9C28-69A155282D83}" type="pres">
      <dgm:prSet presAssocID="{15990B0E-518D-49CC-B3D6-196E61E0F3CF}" presName="ribbon" presStyleLbl="node1" presStyleIdx="0" presStyleCnt="1"/>
      <dgm:spPr/>
    </dgm:pt>
    <dgm:pt modelId="{B9D8F7C7-E1AA-44EC-BD6D-CEA9DFDC827E}" type="pres">
      <dgm:prSet presAssocID="{15990B0E-518D-49CC-B3D6-196E61E0F3CF}" presName="leftArrowText" presStyleLbl="node1" presStyleIdx="0" presStyleCnt="1" custScaleX="115593">
        <dgm:presLayoutVars>
          <dgm:chMax val="0"/>
          <dgm:bulletEnabled val="1"/>
        </dgm:presLayoutVars>
      </dgm:prSet>
      <dgm:spPr/>
    </dgm:pt>
    <dgm:pt modelId="{B33142F4-A0BF-4055-9E86-65B6C5F7750B}" type="pres">
      <dgm:prSet presAssocID="{15990B0E-518D-49CC-B3D6-196E61E0F3CF}" presName="rightArrowText" presStyleLbl="node1" presStyleIdx="0" presStyleCnt="1">
        <dgm:presLayoutVars>
          <dgm:chMax val="0"/>
          <dgm:bulletEnabled val="1"/>
        </dgm:presLayoutVars>
      </dgm:prSet>
      <dgm:spPr/>
    </dgm:pt>
  </dgm:ptLst>
  <dgm:cxnLst>
    <dgm:cxn modelId="{B5E8EB5E-A5C4-4489-9DFA-B8D242B7B801}" type="presOf" srcId="{15990B0E-518D-49CC-B3D6-196E61E0F3CF}" destId="{90A164B9-BB84-4301-B7C6-28F883CE4C60}" srcOrd="0" destOrd="0" presId="urn:microsoft.com/office/officeart/2005/8/layout/arrow6"/>
    <dgm:cxn modelId="{3DF7C3A9-ACC4-499D-8D6D-FEA70AFF9B88}" srcId="{15990B0E-518D-49CC-B3D6-196E61E0F3CF}" destId="{36E9B074-8B15-4BBB-9D53-615E73F6A980}" srcOrd="0" destOrd="0" parTransId="{2E6E29C2-910B-40E8-83A7-6395690839AE}" sibTransId="{BA1A24D9-C6C5-49F2-B89E-89C4C5069648}"/>
    <dgm:cxn modelId="{56A8E5DF-7DA0-46A7-B1C8-87AA55A174D4}" srcId="{15990B0E-518D-49CC-B3D6-196E61E0F3CF}" destId="{3C4D0130-1EAF-4892-945D-0EB53D01D2BD}" srcOrd="1" destOrd="0" parTransId="{E174DEFD-8C04-435D-AED1-2B6B3EA6C8FC}" sibTransId="{489AD612-C780-47C9-9F3F-FEA271CD6B2A}"/>
    <dgm:cxn modelId="{42AFB4E3-205C-4A4B-8C2F-833BCC7F004A}" type="presOf" srcId="{3C4D0130-1EAF-4892-945D-0EB53D01D2BD}" destId="{B33142F4-A0BF-4055-9E86-65B6C5F7750B}" srcOrd="0" destOrd="0" presId="urn:microsoft.com/office/officeart/2005/8/layout/arrow6"/>
    <dgm:cxn modelId="{037BCFF0-6487-4471-A521-7A449C2611B7}" type="presOf" srcId="{36E9B074-8B15-4BBB-9D53-615E73F6A980}" destId="{B9D8F7C7-E1AA-44EC-BD6D-CEA9DFDC827E}" srcOrd="0" destOrd="0" presId="urn:microsoft.com/office/officeart/2005/8/layout/arrow6"/>
    <dgm:cxn modelId="{A659730C-F008-46DE-ABEE-363C0B85097E}" type="presParOf" srcId="{90A164B9-BB84-4301-B7C6-28F883CE4C60}" destId="{ABBAE270-5474-415B-9C28-69A155282D83}" srcOrd="0" destOrd="0" presId="urn:microsoft.com/office/officeart/2005/8/layout/arrow6"/>
    <dgm:cxn modelId="{DF823951-A2AA-4926-B3F2-A91BBAE85916}" type="presParOf" srcId="{90A164B9-BB84-4301-B7C6-28F883CE4C60}" destId="{B9D8F7C7-E1AA-44EC-BD6D-CEA9DFDC827E}" srcOrd="1" destOrd="0" presId="urn:microsoft.com/office/officeart/2005/8/layout/arrow6"/>
    <dgm:cxn modelId="{A6369C41-3FED-4E0F-A80C-A4926C378AA7}" type="presParOf" srcId="{90A164B9-BB84-4301-B7C6-28F883CE4C60}" destId="{B33142F4-A0BF-4055-9E86-65B6C5F7750B}"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B4B89F47-A902-4619-88EB-6BEE55DAD12A}"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1D7C2113-DE91-4806-A965-B0707A2CA058}">
      <dgm:prSet phldrT="[Texte]" custT="1"/>
      <dgm:spPr/>
      <dgm:t>
        <a:bodyPr/>
        <a:lstStyle/>
        <a:p>
          <a:r>
            <a:rPr lang="fr-FR" sz="1800" b="1" dirty="0"/>
            <a:t>Insolvabilité de l’exploitant</a:t>
          </a:r>
        </a:p>
      </dgm:t>
    </dgm:pt>
    <dgm:pt modelId="{A0E2CCDB-6AE4-46C2-AD45-B692C12DACF1}" type="parTrans" cxnId="{22477231-DCB3-4B35-A8D6-45F640190A26}">
      <dgm:prSet/>
      <dgm:spPr/>
      <dgm:t>
        <a:bodyPr/>
        <a:lstStyle/>
        <a:p>
          <a:endParaRPr lang="fr-FR" sz="1800" b="1"/>
        </a:p>
      </dgm:t>
    </dgm:pt>
    <dgm:pt modelId="{E3333BA4-BB44-4FE0-B725-3D99B4EB4C84}" type="sibTrans" cxnId="{22477231-DCB3-4B35-A8D6-45F640190A26}">
      <dgm:prSet/>
      <dgm:spPr/>
      <dgm:t>
        <a:bodyPr/>
        <a:lstStyle/>
        <a:p>
          <a:endParaRPr lang="fr-FR" sz="1800" b="1"/>
        </a:p>
      </dgm:t>
    </dgm:pt>
    <dgm:pt modelId="{E6C8644D-9FAC-4251-8011-9C1D80533569}">
      <dgm:prSet phldrT="[Texte]" custT="1"/>
      <dgm:spPr/>
      <dgm:t>
        <a:bodyPr/>
        <a:lstStyle/>
        <a:p>
          <a:r>
            <a:rPr lang="fr-FR" sz="1800" b="1" dirty="0"/>
            <a:t>Mise en œuvre d’une procédure de liquidation judiciaire</a:t>
          </a:r>
        </a:p>
      </dgm:t>
    </dgm:pt>
    <dgm:pt modelId="{79658DFA-2584-4489-9136-E24AC41A929A}" type="parTrans" cxnId="{70D29D96-D32E-4615-9931-B33D28185D8C}">
      <dgm:prSet/>
      <dgm:spPr/>
      <dgm:t>
        <a:bodyPr/>
        <a:lstStyle/>
        <a:p>
          <a:endParaRPr lang="fr-FR" sz="1800" b="1"/>
        </a:p>
      </dgm:t>
    </dgm:pt>
    <dgm:pt modelId="{1B9A9D29-2B05-4136-92AA-E271689265B1}" type="sibTrans" cxnId="{70D29D96-D32E-4615-9931-B33D28185D8C}">
      <dgm:prSet/>
      <dgm:spPr/>
      <dgm:t>
        <a:bodyPr/>
        <a:lstStyle/>
        <a:p>
          <a:endParaRPr lang="fr-FR" sz="1800" b="1"/>
        </a:p>
      </dgm:t>
    </dgm:pt>
    <dgm:pt modelId="{66D6029D-FCDF-4B3E-B452-9E7FD0117DEF}">
      <dgm:prSet custT="1"/>
      <dgm:spPr/>
      <dgm:t>
        <a:bodyPr/>
        <a:lstStyle/>
        <a:p>
          <a:r>
            <a:rPr lang="fr-FR" sz="1800" b="1" dirty="0"/>
            <a:t>Disparition de l’ancien exploitant</a:t>
          </a:r>
        </a:p>
      </dgm:t>
    </dgm:pt>
    <dgm:pt modelId="{8AF4FECA-80DF-4886-A76D-4048E6FC5E60}" type="parTrans" cxnId="{74EA70C5-8456-4FB4-BE81-06D99F96758F}">
      <dgm:prSet/>
      <dgm:spPr/>
      <dgm:t>
        <a:bodyPr/>
        <a:lstStyle/>
        <a:p>
          <a:endParaRPr lang="fr-FR" sz="1600"/>
        </a:p>
      </dgm:t>
    </dgm:pt>
    <dgm:pt modelId="{AD0DEC74-2BE8-4A94-A3B2-D1F5DD1C5FEF}" type="sibTrans" cxnId="{74EA70C5-8456-4FB4-BE81-06D99F96758F}">
      <dgm:prSet/>
      <dgm:spPr/>
      <dgm:t>
        <a:bodyPr/>
        <a:lstStyle/>
        <a:p>
          <a:endParaRPr lang="fr-FR" sz="1600"/>
        </a:p>
      </dgm:t>
    </dgm:pt>
    <dgm:pt modelId="{087DC092-04C0-4FC8-8399-AD8809010B22}" type="pres">
      <dgm:prSet presAssocID="{B4B89F47-A902-4619-88EB-6BEE55DAD12A}" presName="diagram" presStyleCnt="0">
        <dgm:presLayoutVars>
          <dgm:dir/>
          <dgm:resizeHandles val="exact"/>
        </dgm:presLayoutVars>
      </dgm:prSet>
      <dgm:spPr/>
    </dgm:pt>
    <dgm:pt modelId="{A09F82AA-E29E-411C-B5DE-1BB2B35838BC}" type="pres">
      <dgm:prSet presAssocID="{66D6029D-FCDF-4B3E-B452-9E7FD0117DEF}" presName="node" presStyleLbl="node1" presStyleIdx="0" presStyleCnt="3">
        <dgm:presLayoutVars>
          <dgm:bulletEnabled val="1"/>
        </dgm:presLayoutVars>
      </dgm:prSet>
      <dgm:spPr/>
    </dgm:pt>
    <dgm:pt modelId="{7F07D3AA-172B-43C8-8FC9-699840ED5D66}" type="pres">
      <dgm:prSet presAssocID="{AD0DEC74-2BE8-4A94-A3B2-D1F5DD1C5FEF}" presName="sibTrans" presStyleCnt="0"/>
      <dgm:spPr/>
    </dgm:pt>
    <dgm:pt modelId="{6797C0E8-2240-4906-ACAD-9568D557BC97}" type="pres">
      <dgm:prSet presAssocID="{1D7C2113-DE91-4806-A965-B0707A2CA058}" presName="node" presStyleLbl="node1" presStyleIdx="1" presStyleCnt="3">
        <dgm:presLayoutVars>
          <dgm:bulletEnabled val="1"/>
        </dgm:presLayoutVars>
      </dgm:prSet>
      <dgm:spPr/>
    </dgm:pt>
    <dgm:pt modelId="{1AEACB79-2A8B-4B5B-BB14-8DE5F158CEA7}" type="pres">
      <dgm:prSet presAssocID="{E3333BA4-BB44-4FE0-B725-3D99B4EB4C84}" presName="sibTrans" presStyleCnt="0"/>
      <dgm:spPr/>
    </dgm:pt>
    <dgm:pt modelId="{7DC36A1F-FFB5-4B5A-B8BB-22E166CDCBAC}" type="pres">
      <dgm:prSet presAssocID="{E6C8644D-9FAC-4251-8011-9C1D80533569}" presName="node" presStyleLbl="node1" presStyleIdx="2" presStyleCnt="3">
        <dgm:presLayoutVars>
          <dgm:bulletEnabled val="1"/>
        </dgm:presLayoutVars>
      </dgm:prSet>
      <dgm:spPr/>
    </dgm:pt>
  </dgm:ptLst>
  <dgm:cxnLst>
    <dgm:cxn modelId="{22477231-DCB3-4B35-A8D6-45F640190A26}" srcId="{B4B89F47-A902-4619-88EB-6BEE55DAD12A}" destId="{1D7C2113-DE91-4806-A965-B0707A2CA058}" srcOrd="1" destOrd="0" parTransId="{A0E2CCDB-6AE4-46C2-AD45-B692C12DACF1}" sibTransId="{E3333BA4-BB44-4FE0-B725-3D99B4EB4C84}"/>
    <dgm:cxn modelId="{70D29D96-D32E-4615-9931-B33D28185D8C}" srcId="{B4B89F47-A902-4619-88EB-6BEE55DAD12A}" destId="{E6C8644D-9FAC-4251-8011-9C1D80533569}" srcOrd="2" destOrd="0" parTransId="{79658DFA-2584-4489-9136-E24AC41A929A}" sibTransId="{1B9A9D29-2B05-4136-92AA-E271689265B1}"/>
    <dgm:cxn modelId="{E4489CB7-C823-49DA-96A7-33C76FC1FB59}" type="presOf" srcId="{1D7C2113-DE91-4806-A965-B0707A2CA058}" destId="{6797C0E8-2240-4906-ACAD-9568D557BC97}" srcOrd="0" destOrd="0" presId="urn:microsoft.com/office/officeart/2005/8/layout/default"/>
    <dgm:cxn modelId="{0D2844B9-B11C-4C3C-995C-B1A7A33A6B5D}" type="presOf" srcId="{B4B89F47-A902-4619-88EB-6BEE55DAD12A}" destId="{087DC092-04C0-4FC8-8399-AD8809010B22}" srcOrd="0" destOrd="0" presId="urn:microsoft.com/office/officeart/2005/8/layout/default"/>
    <dgm:cxn modelId="{74EA70C5-8456-4FB4-BE81-06D99F96758F}" srcId="{B4B89F47-A902-4619-88EB-6BEE55DAD12A}" destId="{66D6029D-FCDF-4B3E-B452-9E7FD0117DEF}" srcOrd="0" destOrd="0" parTransId="{8AF4FECA-80DF-4886-A76D-4048E6FC5E60}" sibTransId="{AD0DEC74-2BE8-4A94-A3B2-D1F5DD1C5FEF}"/>
    <dgm:cxn modelId="{B72D0AF9-5BDB-419C-961A-9C011065C40C}" type="presOf" srcId="{E6C8644D-9FAC-4251-8011-9C1D80533569}" destId="{7DC36A1F-FFB5-4B5A-B8BB-22E166CDCBAC}" srcOrd="0" destOrd="0" presId="urn:microsoft.com/office/officeart/2005/8/layout/default"/>
    <dgm:cxn modelId="{EFE33BFC-B4D5-4ADD-A302-CA5DD8456501}" type="presOf" srcId="{66D6029D-FCDF-4B3E-B452-9E7FD0117DEF}" destId="{A09F82AA-E29E-411C-B5DE-1BB2B35838BC}" srcOrd="0" destOrd="0" presId="urn:microsoft.com/office/officeart/2005/8/layout/default"/>
    <dgm:cxn modelId="{C779809D-E590-41E6-83B8-733457BA0B03}" type="presParOf" srcId="{087DC092-04C0-4FC8-8399-AD8809010B22}" destId="{A09F82AA-E29E-411C-B5DE-1BB2B35838BC}" srcOrd="0" destOrd="0" presId="urn:microsoft.com/office/officeart/2005/8/layout/default"/>
    <dgm:cxn modelId="{1730278B-8FC5-49D1-9585-C6BDE440EA9A}" type="presParOf" srcId="{087DC092-04C0-4FC8-8399-AD8809010B22}" destId="{7F07D3AA-172B-43C8-8FC9-699840ED5D66}" srcOrd="1" destOrd="0" presId="urn:microsoft.com/office/officeart/2005/8/layout/default"/>
    <dgm:cxn modelId="{4A609672-19F9-4984-AECD-8A0B7CF49C09}" type="presParOf" srcId="{087DC092-04C0-4FC8-8399-AD8809010B22}" destId="{6797C0E8-2240-4906-ACAD-9568D557BC97}" srcOrd="2" destOrd="0" presId="urn:microsoft.com/office/officeart/2005/8/layout/default"/>
    <dgm:cxn modelId="{0C90F04D-FB7F-4852-961C-073B541276EA}" type="presParOf" srcId="{087DC092-04C0-4FC8-8399-AD8809010B22}" destId="{1AEACB79-2A8B-4B5B-BB14-8DE5F158CEA7}" srcOrd="3" destOrd="0" presId="urn:microsoft.com/office/officeart/2005/8/layout/default"/>
    <dgm:cxn modelId="{C1201C16-451D-45FF-8DEA-74ABE9861352}" type="presParOf" srcId="{087DC092-04C0-4FC8-8399-AD8809010B22}" destId="{7DC36A1F-FFB5-4B5A-B8BB-22E166CDCBAC}"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3F20328-5BF5-4FD7-8C2A-BD928F61716F}"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D40DA033-134F-4923-AE51-99649908A64B}">
      <dgm:prSet phldrT="[Texte]" custT="1"/>
      <dgm:spPr/>
      <dgm:t>
        <a:bodyPr/>
        <a:lstStyle/>
        <a:p>
          <a:r>
            <a:rPr lang="fr-FR" sz="1600" b="1" dirty="0"/>
            <a:t>Gestion des FDS</a:t>
          </a:r>
        </a:p>
        <a:p>
          <a:r>
            <a:rPr lang="fr-FR" sz="1600" b="1" dirty="0"/>
            <a:t>(en français + conforme à REACH)</a:t>
          </a:r>
        </a:p>
      </dgm:t>
    </dgm:pt>
    <dgm:pt modelId="{0366345A-5812-4087-A407-1FEDC56A385C}" type="parTrans" cxnId="{19C0DCF9-40E0-40DC-8877-88258B001D64}">
      <dgm:prSet/>
      <dgm:spPr/>
      <dgm:t>
        <a:bodyPr/>
        <a:lstStyle/>
        <a:p>
          <a:endParaRPr lang="fr-FR" sz="1600" b="1"/>
        </a:p>
      </dgm:t>
    </dgm:pt>
    <dgm:pt modelId="{6DB12FC9-5D94-4677-9582-D347A817442C}" type="sibTrans" cxnId="{19C0DCF9-40E0-40DC-8877-88258B001D64}">
      <dgm:prSet/>
      <dgm:spPr/>
      <dgm:t>
        <a:bodyPr/>
        <a:lstStyle/>
        <a:p>
          <a:endParaRPr lang="fr-FR" sz="1600" b="1"/>
        </a:p>
      </dgm:t>
    </dgm:pt>
    <dgm:pt modelId="{1B905B30-458E-4C0A-A58D-C7CC0CA70100}">
      <dgm:prSet phldrT="[Texte]" custT="1"/>
      <dgm:spPr/>
      <dgm:t>
        <a:bodyPr/>
        <a:lstStyle/>
        <a:p>
          <a:r>
            <a:rPr lang="fr-FR" sz="1600" b="1" dirty="0"/>
            <a:t>Substitution</a:t>
          </a:r>
        </a:p>
      </dgm:t>
    </dgm:pt>
    <dgm:pt modelId="{C0C3FB57-87FB-41E0-BC76-CF280A651428}" type="parTrans" cxnId="{C18EA6D9-9B15-4FBE-BF66-9D47BE56A8D9}">
      <dgm:prSet/>
      <dgm:spPr/>
      <dgm:t>
        <a:bodyPr/>
        <a:lstStyle/>
        <a:p>
          <a:endParaRPr lang="fr-FR" sz="1600" b="1"/>
        </a:p>
      </dgm:t>
    </dgm:pt>
    <dgm:pt modelId="{D797AD76-1CA3-4F72-9894-D63EE1C81070}" type="sibTrans" cxnId="{C18EA6D9-9B15-4FBE-BF66-9D47BE56A8D9}">
      <dgm:prSet/>
      <dgm:spPr/>
      <dgm:t>
        <a:bodyPr/>
        <a:lstStyle/>
        <a:p>
          <a:endParaRPr lang="fr-FR" sz="1600" b="1"/>
        </a:p>
      </dgm:t>
    </dgm:pt>
    <dgm:pt modelId="{65139B19-4F7B-4E09-BECA-B01C24FB8129}">
      <dgm:prSet phldrT="[Texte]" custT="1"/>
      <dgm:spPr/>
      <dgm:t>
        <a:bodyPr/>
        <a:lstStyle/>
        <a:p>
          <a:r>
            <a:rPr lang="fr-FR" sz="1600" b="1" dirty="0"/>
            <a:t>Rejets</a:t>
          </a:r>
        </a:p>
      </dgm:t>
    </dgm:pt>
    <dgm:pt modelId="{0ECB0C8B-75A9-4EE3-95C5-5B1835DBBFE5}" type="parTrans" cxnId="{90ED817D-2CA8-48F3-98A3-C891B63B4829}">
      <dgm:prSet/>
      <dgm:spPr/>
      <dgm:t>
        <a:bodyPr/>
        <a:lstStyle/>
        <a:p>
          <a:endParaRPr lang="fr-FR" sz="1600" b="1"/>
        </a:p>
      </dgm:t>
    </dgm:pt>
    <dgm:pt modelId="{0073F9DA-D68D-4B3A-8960-C7CD9292597A}" type="sibTrans" cxnId="{90ED817D-2CA8-48F3-98A3-C891B63B4829}">
      <dgm:prSet/>
      <dgm:spPr/>
      <dgm:t>
        <a:bodyPr/>
        <a:lstStyle/>
        <a:p>
          <a:endParaRPr lang="fr-FR" sz="1600" b="1"/>
        </a:p>
      </dgm:t>
    </dgm:pt>
    <dgm:pt modelId="{8478C1AD-B8DC-4AFA-BAD6-9E435B9F1DA5}">
      <dgm:prSet custT="1"/>
      <dgm:spPr/>
      <dgm:t>
        <a:bodyPr/>
        <a:lstStyle/>
        <a:p>
          <a:r>
            <a:rPr lang="fr-FR" sz="1600" b="1" dirty="0"/>
            <a:t>Règles de stockage</a:t>
          </a:r>
        </a:p>
      </dgm:t>
    </dgm:pt>
    <dgm:pt modelId="{03744BA1-306D-4F39-9C42-EDEB768B5A09}" type="parTrans" cxnId="{010A8E58-ED20-4FAC-A3FB-5169206DBF1F}">
      <dgm:prSet/>
      <dgm:spPr/>
      <dgm:t>
        <a:bodyPr/>
        <a:lstStyle/>
        <a:p>
          <a:endParaRPr lang="fr-FR" sz="1600" b="1"/>
        </a:p>
      </dgm:t>
    </dgm:pt>
    <dgm:pt modelId="{765FAE16-12C6-4233-A135-8CA76B89586B}" type="sibTrans" cxnId="{010A8E58-ED20-4FAC-A3FB-5169206DBF1F}">
      <dgm:prSet/>
      <dgm:spPr/>
      <dgm:t>
        <a:bodyPr/>
        <a:lstStyle/>
        <a:p>
          <a:endParaRPr lang="fr-FR" sz="1600" b="1"/>
        </a:p>
      </dgm:t>
    </dgm:pt>
    <dgm:pt modelId="{8AF35484-CAE6-4BA2-93C1-3848C7DF44B5}">
      <dgm:prSet custT="1"/>
      <dgm:spPr/>
      <dgm:t>
        <a:bodyPr/>
        <a:lstStyle/>
        <a:p>
          <a:r>
            <a:rPr lang="fr-FR" sz="1600" b="1" dirty="0"/>
            <a:t>Règles de déchargement</a:t>
          </a:r>
        </a:p>
      </dgm:t>
    </dgm:pt>
    <dgm:pt modelId="{F3D96AB1-9C41-41ED-852C-6D45B5780467}" type="parTrans" cxnId="{44CFA2BC-7D6C-499E-8CA9-82BB901685AD}">
      <dgm:prSet/>
      <dgm:spPr/>
      <dgm:t>
        <a:bodyPr/>
        <a:lstStyle/>
        <a:p>
          <a:endParaRPr lang="fr-FR" sz="1600" b="1"/>
        </a:p>
      </dgm:t>
    </dgm:pt>
    <dgm:pt modelId="{685A6278-4E28-45C3-8490-8995DFBA467C}" type="sibTrans" cxnId="{44CFA2BC-7D6C-499E-8CA9-82BB901685AD}">
      <dgm:prSet/>
      <dgm:spPr/>
      <dgm:t>
        <a:bodyPr/>
        <a:lstStyle/>
        <a:p>
          <a:endParaRPr lang="fr-FR" sz="1600" b="1"/>
        </a:p>
      </dgm:t>
    </dgm:pt>
    <dgm:pt modelId="{D9F89F8F-5C9C-4D29-BA4B-46F60EA728ED}">
      <dgm:prSet custT="1"/>
      <dgm:spPr/>
      <dgm:t>
        <a:bodyPr/>
        <a:lstStyle/>
        <a:p>
          <a:r>
            <a:rPr lang="fr-FR" sz="1600" b="1" dirty="0"/>
            <a:t>Règles de reconditionnement</a:t>
          </a:r>
        </a:p>
      </dgm:t>
    </dgm:pt>
    <dgm:pt modelId="{AC20021A-CB0E-4BC4-82EC-26290AD8DC2F}" type="parTrans" cxnId="{976A101D-229E-4002-AEB6-44CD560B2039}">
      <dgm:prSet/>
      <dgm:spPr/>
      <dgm:t>
        <a:bodyPr/>
        <a:lstStyle/>
        <a:p>
          <a:endParaRPr lang="fr-FR" sz="1600" b="1"/>
        </a:p>
      </dgm:t>
    </dgm:pt>
    <dgm:pt modelId="{8C83FD55-E915-4231-8B5D-73FEF368544B}" type="sibTrans" cxnId="{976A101D-229E-4002-AEB6-44CD560B2039}">
      <dgm:prSet/>
      <dgm:spPr/>
      <dgm:t>
        <a:bodyPr/>
        <a:lstStyle/>
        <a:p>
          <a:endParaRPr lang="fr-FR" sz="1600" b="1"/>
        </a:p>
      </dgm:t>
    </dgm:pt>
    <dgm:pt modelId="{98010ADB-AED1-4FF0-B34C-B5938B07D05F}">
      <dgm:prSet custT="1"/>
      <dgm:spPr/>
      <dgm:t>
        <a:bodyPr/>
        <a:lstStyle/>
        <a:p>
          <a:r>
            <a:rPr lang="fr-FR" sz="1600" b="1" dirty="0"/>
            <a:t>Consignes en cas de situation d’urgence</a:t>
          </a:r>
        </a:p>
      </dgm:t>
    </dgm:pt>
    <dgm:pt modelId="{D51324CB-9B31-4FD8-B41A-57B243AB1BC2}" type="parTrans" cxnId="{EC7F0358-0F0B-4E92-A764-125EC43E352A}">
      <dgm:prSet/>
      <dgm:spPr/>
      <dgm:t>
        <a:bodyPr/>
        <a:lstStyle/>
        <a:p>
          <a:endParaRPr lang="fr-FR" sz="1600" b="1"/>
        </a:p>
      </dgm:t>
    </dgm:pt>
    <dgm:pt modelId="{E852E8AB-49D7-4F39-8A9B-37AE73385F48}" type="sibTrans" cxnId="{EC7F0358-0F0B-4E92-A764-125EC43E352A}">
      <dgm:prSet/>
      <dgm:spPr/>
      <dgm:t>
        <a:bodyPr/>
        <a:lstStyle/>
        <a:p>
          <a:endParaRPr lang="fr-FR" sz="1600" b="1"/>
        </a:p>
      </dgm:t>
    </dgm:pt>
    <dgm:pt modelId="{21A59A6D-15E4-45D6-A954-07D0E5F1CCCB}">
      <dgm:prSet custT="1"/>
      <dgm:spPr/>
      <dgm:t>
        <a:bodyPr/>
        <a:lstStyle/>
        <a:p>
          <a:r>
            <a:rPr lang="fr-FR" sz="1600" b="1" dirty="0"/>
            <a:t>Prévention du risque ATEX</a:t>
          </a:r>
        </a:p>
      </dgm:t>
    </dgm:pt>
    <dgm:pt modelId="{CDD2C25B-A76A-4A79-B50B-0721FAF05222}" type="parTrans" cxnId="{70C252A9-568E-4023-BD5D-371FCC819D8B}">
      <dgm:prSet/>
      <dgm:spPr/>
      <dgm:t>
        <a:bodyPr/>
        <a:lstStyle/>
        <a:p>
          <a:endParaRPr lang="fr-FR" sz="1600" b="1"/>
        </a:p>
      </dgm:t>
    </dgm:pt>
    <dgm:pt modelId="{097678A7-A927-4F36-A09E-08CACF69A2F7}" type="sibTrans" cxnId="{70C252A9-568E-4023-BD5D-371FCC819D8B}">
      <dgm:prSet/>
      <dgm:spPr/>
      <dgm:t>
        <a:bodyPr/>
        <a:lstStyle/>
        <a:p>
          <a:endParaRPr lang="fr-FR" sz="1600" b="1"/>
        </a:p>
      </dgm:t>
    </dgm:pt>
    <dgm:pt modelId="{6D66A26C-7D91-481A-B61D-71AE9FCBB05D}">
      <dgm:prSet custT="1"/>
      <dgm:spPr/>
      <dgm:t>
        <a:bodyPr/>
        <a:lstStyle/>
        <a:p>
          <a:r>
            <a:rPr lang="fr-FR" sz="1600" b="1" dirty="0"/>
            <a:t>…</a:t>
          </a:r>
        </a:p>
      </dgm:t>
    </dgm:pt>
    <dgm:pt modelId="{6EBDDB06-1088-43D1-A530-E895A77A1954}" type="parTrans" cxnId="{EEE3C6E9-BA2D-4DAD-B96E-6E07F31D64FF}">
      <dgm:prSet/>
      <dgm:spPr/>
      <dgm:t>
        <a:bodyPr/>
        <a:lstStyle/>
        <a:p>
          <a:endParaRPr lang="fr-FR" sz="1600"/>
        </a:p>
      </dgm:t>
    </dgm:pt>
    <dgm:pt modelId="{E95734A9-6BF9-4B4C-9C2E-99F61FDCD60A}" type="sibTrans" cxnId="{EEE3C6E9-BA2D-4DAD-B96E-6E07F31D64FF}">
      <dgm:prSet/>
      <dgm:spPr/>
      <dgm:t>
        <a:bodyPr/>
        <a:lstStyle/>
        <a:p>
          <a:endParaRPr lang="fr-FR" sz="1600"/>
        </a:p>
      </dgm:t>
    </dgm:pt>
    <dgm:pt modelId="{363F90F5-5AB2-4F6B-A0C7-37B2B3885620}" type="pres">
      <dgm:prSet presAssocID="{A3F20328-5BF5-4FD7-8C2A-BD928F61716F}" presName="diagram" presStyleCnt="0">
        <dgm:presLayoutVars>
          <dgm:dir/>
          <dgm:resizeHandles val="exact"/>
        </dgm:presLayoutVars>
      </dgm:prSet>
      <dgm:spPr/>
    </dgm:pt>
    <dgm:pt modelId="{BAB16898-A5A8-4306-98C1-F1D2074E0FD6}" type="pres">
      <dgm:prSet presAssocID="{D40DA033-134F-4923-AE51-99649908A64B}" presName="node" presStyleLbl="node1" presStyleIdx="0" presStyleCnt="9">
        <dgm:presLayoutVars>
          <dgm:bulletEnabled val="1"/>
        </dgm:presLayoutVars>
      </dgm:prSet>
      <dgm:spPr/>
    </dgm:pt>
    <dgm:pt modelId="{39152D31-6228-4D90-A456-03B01281A709}" type="pres">
      <dgm:prSet presAssocID="{6DB12FC9-5D94-4677-9582-D347A817442C}" presName="sibTrans" presStyleCnt="0"/>
      <dgm:spPr/>
    </dgm:pt>
    <dgm:pt modelId="{9F2DA3A6-F474-4648-B783-32C7F24FF962}" type="pres">
      <dgm:prSet presAssocID="{1B905B30-458E-4C0A-A58D-C7CC0CA70100}" presName="node" presStyleLbl="node1" presStyleIdx="1" presStyleCnt="9">
        <dgm:presLayoutVars>
          <dgm:bulletEnabled val="1"/>
        </dgm:presLayoutVars>
      </dgm:prSet>
      <dgm:spPr/>
    </dgm:pt>
    <dgm:pt modelId="{685DB5AB-95E9-40CF-AC86-D17F5EBC288D}" type="pres">
      <dgm:prSet presAssocID="{D797AD76-1CA3-4F72-9894-D63EE1C81070}" presName="sibTrans" presStyleCnt="0"/>
      <dgm:spPr/>
    </dgm:pt>
    <dgm:pt modelId="{80DFC2E1-2C80-4068-82E1-2A6AB2EF0038}" type="pres">
      <dgm:prSet presAssocID="{65139B19-4F7B-4E09-BECA-B01C24FB8129}" presName="node" presStyleLbl="node1" presStyleIdx="2" presStyleCnt="9">
        <dgm:presLayoutVars>
          <dgm:bulletEnabled val="1"/>
        </dgm:presLayoutVars>
      </dgm:prSet>
      <dgm:spPr/>
    </dgm:pt>
    <dgm:pt modelId="{E09EDD63-AE96-4DDC-B7AA-BB05846A2EB1}" type="pres">
      <dgm:prSet presAssocID="{0073F9DA-D68D-4B3A-8960-C7CD9292597A}" presName="sibTrans" presStyleCnt="0"/>
      <dgm:spPr/>
    </dgm:pt>
    <dgm:pt modelId="{D27D826A-D68F-4EE7-A908-13DFFDA89734}" type="pres">
      <dgm:prSet presAssocID="{8478C1AD-B8DC-4AFA-BAD6-9E435B9F1DA5}" presName="node" presStyleLbl="node1" presStyleIdx="3" presStyleCnt="9">
        <dgm:presLayoutVars>
          <dgm:bulletEnabled val="1"/>
        </dgm:presLayoutVars>
      </dgm:prSet>
      <dgm:spPr/>
    </dgm:pt>
    <dgm:pt modelId="{6102A47F-6E79-46FB-BD16-2140EDD388F5}" type="pres">
      <dgm:prSet presAssocID="{765FAE16-12C6-4233-A135-8CA76B89586B}" presName="sibTrans" presStyleCnt="0"/>
      <dgm:spPr/>
    </dgm:pt>
    <dgm:pt modelId="{41BAAC00-0379-47CF-959A-558F93D904FF}" type="pres">
      <dgm:prSet presAssocID="{8AF35484-CAE6-4BA2-93C1-3848C7DF44B5}" presName="node" presStyleLbl="node1" presStyleIdx="4" presStyleCnt="9">
        <dgm:presLayoutVars>
          <dgm:bulletEnabled val="1"/>
        </dgm:presLayoutVars>
      </dgm:prSet>
      <dgm:spPr/>
    </dgm:pt>
    <dgm:pt modelId="{5EFAAE74-A4A5-44C2-AC8C-0EA3B855DEC5}" type="pres">
      <dgm:prSet presAssocID="{685A6278-4E28-45C3-8490-8995DFBA467C}" presName="sibTrans" presStyleCnt="0"/>
      <dgm:spPr/>
    </dgm:pt>
    <dgm:pt modelId="{32579D07-74C6-4FA4-A8EE-FEB076754A7E}" type="pres">
      <dgm:prSet presAssocID="{D9F89F8F-5C9C-4D29-BA4B-46F60EA728ED}" presName="node" presStyleLbl="node1" presStyleIdx="5" presStyleCnt="9">
        <dgm:presLayoutVars>
          <dgm:bulletEnabled val="1"/>
        </dgm:presLayoutVars>
      </dgm:prSet>
      <dgm:spPr/>
    </dgm:pt>
    <dgm:pt modelId="{6BB6B32E-87FA-4BA9-AAF9-190A82B14C22}" type="pres">
      <dgm:prSet presAssocID="{8C83FD55-E915-4231-8B5D-73FEF368544B}" presName="sibTrans" presStyleCnt="0"/>
      <dgm:spPr/>
    </dgm:pt>
    <dgm:pt modelId="{44D7C264-81C3-4CEF-AC5A-8BCA3A5D2937}" type="pres">
      <dgm:prSet presAssocID="{98010ADB-AED1-4FF0-B34C-B5938B07D05F}" presName="node" presStyleLbl="node1" presStyleIdx="6" presStyleCnt="9">
        <dgm:presLayoutVars>
          <dgm:bulletEnabled val="1"/>
        </dgm:presLayoutVars>
      </dgm:prSet>
      <dgm:spPr/>
    </dgm:pt>
    <dgm:pt modelId="{EB3304EC-139E-494D-9919-888275E1B087}" type="pres">
      <dgm:prSet presAssocID="{E852E8AB-49D7-4F39-8A9B-37AE73385F48}" presName="sibTrans" presStyleCnt="0"/>
      <dgm:spPr/>
    </dgm:pt>
    <dgm:pt modelId="{FD7862C5-C447-46E6-83A9-8FB8B5BB4B60}" type="pres">
      <dgm:prSet presAssocID="{21A59A6D-15E4-45D6-A954-07D0E5F1CCCB}" presName="node" presStyleLbl="node1" presStyleIdx="7" presStyleCnt="9">
        <dgm:presLayoutVars>
          <dgm:bulletEnabled val="1"/>
        </dgm:presLayoutVars>
      </dgm:prSet>
      <dgm:spPr/>
    </dgm:pt>
    <dgm:pt modelId="{C6B6F42C-DC78-461B-BD67-7D0BEFF43594}" type="pres">
      <dgm:prSet presAssocID="{097678A7-A927-4F36-A09E-08CACF69A2F7}" presName="sibTrans" presStyleCnt="0"/>
      <dgm:spPr/>
    </dgm:pt>
    <dgm:pt modelId="{D3C6DABB-A806-49EC-85BC-90287AF29A5C}" type="pres">
      <dgm:prSet presAssocID="{6D66A26C-7D91-481A-B61D-71AE9FCBB05D}" presName="node" presStyleLbl="node1" presStyleIdx="8" presStyleCnt="9">
        <dgm:presLayoutVars>
          <dgm:bulletEnabled val="1"/>
        </dgm:presLayoutVars>
      </dgm:prSet>
      <dgm:spPr/>
    </dgm:pt>
  </dgm:ptLst>
  <dgm:cxnLst>
    <dgm:cxn modelId="{6FB43C1B-5AA0-4290-BD43-AB735FE5FB32}" type="presOf" srcId="{21A59A6D-15E4-45D6-A954-07D0E5F1CCCB}" destId="{FD7862C5-C447-46E6-83A9-8FB8B5BB4B60}" srcOrd="0" destOrd="0" presId="urn:microsoft.com/office/officeart/2005/8/layout/default"/>
    <dgm:cxn modelId="{976A101D-229E-4002-AEB6-44CD560B2039}" srcId="{A3F20328-5BF5-4FD7-8C2A-BD928F61716F}" destId="{D9F89F8F-5C9C-4D29-BA4B-46F60EA728ED}" srcOrd="5" destOrd="0" parTransId="{AC20021A-CB0E-4BC4-82EC-26290AD8DC2F}" sibTransId="{8C83FD55-E915-4231-8B5D-73FEF368544B}"/>
    <dgm:cxn modelId="{11E82F39-670E-4488-AA93-E3272FC6BE0E}" type="presOf" srcId="{65139B19-4F7B-4E09-BECA-B01C24FB8129}" destId="{80DFC2E1-2C80-4068-82E1-2A6AB2EF0038}" srcOrd="0" destOrd="0" presId="urn:microsoft.com/office/officeart/2005/8/layout/default"/>
    <dgm:cxn modelId="{22E7AF44-A06D-45D7-A600-8DE66BBF653D}" type="presOf" srcId="{D9F89F8F-5C9C-4D29-BA4B-46F60EA728ED}" destId="{32579D07-74C6-4FA4-A8EE-FEB076754A7E}" srcOrd="0" destOrd="0" presId="urn:microsoft.com/office/officeart/2005/8/layout/default"/>
    <dgm:cxn modelId="{F61A2873-23FE-419F-A87C-0A73F64A12C1}" type="presOf" srcId="{D40DA033-134F-4923-AE51-99649908A64B}" destId="{BAB16898-A5A8-4306-98C1-F1D2074E0FD6}" srcOrd="0" destOrd="0" presId="urn:microsoft.com/office/officeart/2005/8/layout/default"/>
    <dgm:cxn modelId="{EC7F0358-0F0B-4E92-A764-125EC43E352A}" srcId="{A3F20328-5BF5-4FD7-8C2A-BD928F61716F}" destId="{98010ADB-AED1-4FF0-B34C-B5938B07D05F}" srcOrd="6" destOrd="0" parTransId="{D51324CB-9B31-4FD8-B41A-57B243AB1BC2}" sibTransId="{E852E8AB-49D7-4F39-8A9B-37AE73385F48}"/>
    <dgm:cxn modelId="{010A8E58-ED20-4FAC-A3FB-5169206DBF1F}" srcId="{A3F20328-5BF5-4FD7-8C2A-BD928F61716F}" destId="{8478C1AD-B8DC-4AFA-BAD6-9E435B9F1DA5}" srcOrd="3" destOrd="0" parTransId="{03744BA1-306D-4F39-9C42-EDEB768B5A09}" sibTransId="{765FAE16-12C6-4233-A135-8CA76B89586B}"/>
    <dgm:cxn modelId="{B21A9B7B-CE8E-4E19-BD0A-0F53CCE0D305}" type="presOf" srcId="{98010ADB-AED1-4FF0-B34C-B5938B07D05F}" destId="{44D7C264-81C3-4CEF-AC5A-8BCA3A5D2937}" srcOrd="0" destOrd="0" presId="urn:microsoft.com/office/officeart/2005/8/layout/default"/>
    <dgm:cxn modelId="{90ED817D-2CA8-48F3-98A3-C891B63B4829}" srcId="{A3F20328-5BF5-4FD7-8C2A-BD928F61716F}" destId="{65139B19-4F7B-4E09-BECA-B01C24FB8129}" srcOrd="2" destOrd="0" parTransId="{0ECB0C8B-75A9-4EE3-95C5-5B1835DBBFE5}" sibTransId="{0073F9DA-D68D-4B3A-8960-C7CD9292597A}"/>
    <dgm:cxn modelId="{31C1708A-339E-4457-B913-61F1D30473BA}" type="presOf" srcId="{A3F20328-5BF5-4FD7-8C2A-BD928F61716F}" destId="{363F90F5-5AB2-4F6B-A0C7-37B2B3885620}" srcOrd="0" destOrd="0" presId="urn:microsoft.com/office/officeart/2005/8/layout/default"/>
    <dgm:cxn modelId="{BB009E8F-F58B-45D1-8127-2DAF41A84718}" type="presOf" srcId="{1B905B30-458E-4C0A-A58D-C7CC0CA70100}" destId="{9F2DA3A6-F474-4648-B783-32C7F24FF962}" srcOrd="0" destOrd="0" presId="urn:microsoft.com/office/officeart/2005/8/layout/default"/>
    <dgm:cxn modelId="{70C252A9-568E-4023-BD5D-371FCC819D8B}" srcId="{A3F20328-5BF5-4FD7-8C2A-BD928F61716F}" destId="{21A59A6D-15E4-45D6-A954-07D0E5F1CCCB}" srcOrd="7" destOrd="0" parTransId="{CDD2C25B-A76A-4A79-B50B-0721FAF05222}" sibTransId="{097678A7-A927-4F36-A09E-08CACF69A2F7}"/>
    <dgm:cxn modelId="{44CFA2BC-7D6C-499E-8CA9-82BB901685AD}" srcId="{A3F20328-5BF5-4FD7-8C2A-BD928F61716F}" destId="{8AF35484-CAE6-4BA2-93C1-3848C7DF44B5}" srcOrd="4" destOrd="0" parTransId="{F3D96AB1-9C41-41ED-852C-6D45B5780467}" sibTransId="{685A6278-4E28-45C3-8490-8995DFBA467C}"/>
    <dgm:cxn modelId="{2D855EC7-6351-4DE0-8CED-5D7C8FF6EADC}" type="presOf" srcId="{8AF35484-CAE6-4BA2-93C1-3848C7DF44B5}" destId="{41BAAC00-0379-47CF-959A-558F93D904FF}" srcOrd="0" destOrd="0" presId="urn:microsoft.com/office/officeart/2005/8/layout/default"/>
    <dgm:cxn modelId="{C18EA6D9-9B15-4FBE-BF66-9D47BE56A8D9}" srcId="{A3F20328-5BF5-4FD7-8C2A-BD928F61716F}" destId="{1B905B30-458E-4C0A-A58D-C7CC0CA70100}" srcOrd="1" destOrd="0" parTransId="{C0C3FB57-87FB-41E0-BC76-CF280A651428}" sibTransId="{D797AD76-1CA3-4F72-9894-D63EE1C81070}"/>
    <dgm:cxn modelId="{0F70D0DD-D309-41C6-86A2-D8038B746DC8}" type="presOf" srcId="{6D66A26C-7D91-481A-B61D-71AE9FCBB05D}" destId="{D3C6DABB-A806-49EC-85BC-90287AF29A5C}" srcOrd="0" destOrd="0" presId="urn:microsoft.com/office/officeart/2005/8/layout/default"/>
    <dgm:cxn modelId="{0D7914E9-5AE1-414B-BC22-47820E39181F}" type="presOf" srcId="{8478C1AD-B8DC-4AFA-BAD6-9E435B9F1DA5}" destId="{D27D826A-D68F-4EE7-A908-13DFFDA89734}" srcOrd="0" destOrd="0" presId="urn:microsoft.com/office/officeart/2005/8/layout/default"/>
    <dgm:cxn modelId="{EEE3C6E9-BA2D-4DAD-B96E-6E07F31D64FF}" srcId="{A3F20328-5BF5-4FD7-8C2A-BD928F61716F}" destId="{6D66A26C-7D91-481A-B61D-71AE9FCBB05D}" srcOrd="8" destOrd="0" parTransId="{6EBDDB06-1088-43D1-A530-E895A77A1954}" sibTransId="{E95734A9-6BF9-4B4C-9C2E-99F61FDCD60A}"/>
    <dgm:cxn modelId="{19C0DCF9-40E0-40DC-8877-88258B001D64}" srcId="{A3F20328-5BF5-4FD7-8C2A-BD928F61716F}" destId="{D40DA033-134F-4923-AE51-99649908A64B}" srcOrd="0" destOrd="0" parTransId="{0366345A-5812-4087-A407-1FEDC56A385C}" sibTransId="{6DB12FC9-5D94-4677-9582-D347A817442C}"/>
    <dgm:cxn modelId="{3DDD940A-CECE-45B3-83A1-B300E7ECD399}" type="presParOf" srcId="{363F90F5-5AB2-4F6B-A0C7-37B2B3885620}" destId="{BAB16898-A5A8-4306-98C1-F1D2074E0FD6}" srcOrd="0" destOrd="0" presId="urn:microsoft.com/office/officeart/2005/8/layout/default"/>
    <dgm:cxn modelId="{1A801587-D05A-41FB-A8CF-F6044FC577C4}" type="presParOf" srcId="{363F90F5-5AB2-4F6B-A0C7-37B2B3885620}" destId="{39152D31-6228-4D90-A456-03B01281A709}" srcOrd="1" destOrd="0" presId="urn:microsoft.com/office/officeart/2005/8/layout/default"/>
    <dgm:cxn modelId="{A3819701-365E-4EDA-9E05-1CA142054617}" type="presParOf" srcId="{363F90F5-5AB2-4F6B-A0C7-37B2B3885620}" destId="{9F2DA3A6-F474-4648-B783-32C7F24FF962}" srcOrd="2" destOrd="0" presId="urn:microsoft.com/office/officeart/2005/8/layout/default"/>
    <dgm:cxn modelId="{228BA15C-0A13-4998-9798-3279C2C9B9A4}" type="presParOf" srcId="{363F90F5-5AB2-4F6B-A0C7-37B2B3885620}" destId="{685DB5AB-95E9-40CF-AC86-D17F5EBC288D}" srcOrd="3" destOrd="0" presId="urn:microsoft.com/office/officeart/2005/8/layout/default"/>
    <dgm:cxn modelId="{BF39D34D-95E2-43C7-94F9-4F7D7F7B671F}" type="presParOf" srcId="{363F90F5-5AB2-4F6B-A0C7-37B2B3885620}" destId="{80DFC2E1-2C80-4068-82E1-2A6AB2EF0038}" srcOrd="4" destOrd="0" presId="urn:microsoft.com/office/officeart/2005/8/layout/default"/>
    <dgm:cxn modelId="{EB774267-2145-4FA6-8884-8413533B0BB0}" type="presParOf" srcId="{363F90F5-5AB2-4F6B-A0C7-37B2B3885620}" destId="{E09EDD63-AE96-4DDC-B7AA-BB05846A2EB1}" srcOrd="5" destOrd="0" presId="urn:microsoft.com/office/officeart/2005/8/layout/default"/>
    <dgm:cxn modelId="{05488980-F373-4042-926D-788766293959}" type="presParOf" srcId="{363F90F5-5AB2-4F6B-A0C7-37B2B3885620}" destId="{D27D826A-D68F-4EE7-A908-13DFFDA89734}" srcOrd="6" destOrd="0" presId="urn:microsoft.com/office/officeart/2005/8/layout/default"/>
    <dgm:cxn modelId="{AC64DB92-3D7D-484F-91E1-8418FE86578B}" type="presParOf" srcId="{363F90F5-5AB2-4F6B-A0C7-37B2B3885620}" destId="{6102A47F-6E79-46FB-BD16-2140EDD388F5}" srcOrd="7" destOrd="0" presId="urn:microsoft.com/office/officeart/2005/8/layout/default"/>
    <dgm:cxn modelId="{3BC47E8F-089F-41D6-AB51-195D3C9431C9}" type="presParOf" srcId="{363F90F5-5AB2-4F6B-A0C7-37B2B3885620}" destId="{41BAAC00-0379-47CF-959A-558F93D904FF}" srcOrd="8" destOrd="0" presId="urn:microsoft.com/office/officeart/2005/8/layout/default"/>
    <dgm:cxn modelId="{82C69496-B2D1-45C0-A6DF-2855267D7644}" type="presParOf" srcId="{363F90F5-5AB2-4F6B-A0C7-37B2B3885620}" destId="{5EFAAE74-A4A5-44C2-AC8C-0EA3B855DEC5}" srcOrd="9" destOrd="0" presId="urn:microsoft.com/office/officeart/2005/8/layout/default"/>
    <dgm:cxn modelId="{7B48A92A-8A75-47BD-8D95-2BB3FA80E963}" type="presParOf" srcId="{363F90F5-5AB2-4F6B-A0C7-37B2B3885620}" destId="{32579D07-74C6-4FA4-A8EE-FEB076754A7E}" srcOrd="10" destOrd="0" presId="urn:microsoft.com/office/officeart/2005/8/layout/default"/>
    <dgm:cxn modelId="{A0E7946E-F09D-4A18-B67C-563F82FDAA41}" type="presParOf" srcId="{363F90F5-5AB2-4F6B-A0C7-37B2B3885620}" destId="{6BB6B32E-87FA-4BA9-AAF9-190A82B14C22}" srcOrd="11" destOrd="0" presId="urn:microsoft.com/office/officeart/2005/8/layout/default"/>
    <dgm:cxn modelId="{D0896A32-B7BF-4FE5-837C-4686D62E2897}" type="presParOf" srcId="{363F90F5-5AB2-4F6B-A0C7-37B2B3885620}" destId="{44D7C264-81C3-4CEF-AC5A-8BCA3A5D2937}" srcOrd="12" destOrd="0" presId="urn:microsoft.com/office/officeart/2005/8/layout/default"/>
    <dgm:cxn modelId="{2C774516-C118-46B9-B15F-E7726F598D36}" type="presParOf" srcId="{363F90F5-5AB2-4F6B-A0C7-37B2B3885620}" destId="{EB3304EC-139E-494D-9919-888275E1B087}" srcOrd="13" destOrd="0" presId="urn:microsoft.com/office/officeart/2005/8/layout/default"/>
    <dgm:cxn modelId="{61A6BA2F-069E-4187-896D-695321F0799D}" type="presParOf" srcId="{363F90F5-5AB2-4F6B-A0C7-37B2B3885620}" destId="{FD7862C5-C447-46E6-83A9-8FB8B5BB4B60}" srcOrd="14" destOrd="0" presId="urn:microsoft.com/office/officeart/2005/8/layout/default"/>
    <dgm:cxn modelId="{EEF5C599-8B37-429F-9D16-4C156775BCC6}" type="presParOf" srcId="{363F90F5-5AB2-4F6B-A0C7-37B2B3885620}" destId="{C6B6F42C-DC78-461B-BD67-7D0BEFF43594}" srcOrd="15" destOrd="0" presId="urn:microsoft.com/office/officeart/2005/8/layout/default"/>
    <dgm:cxn modelId="{6F9FDA18-EE15-4C11-A764-7DAC47DD82BB}" type="presParOf" srcId="{363F90F5-5AB2-4F6B-A0C7-37B2B3885620}" destId="{D3C6DABB-A806-49EC-85BC-90287AF29A5C}"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8ACCB300-9948-4BF8-858A-269C2B132CA3}"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E8F5EB95-5C8B-4D80-8779-39CBBD47CE2B}">
      <dgm:prSet phldrT="[Texte]" custT="1"/>
      <dgm:spPr/>
      <dgm:t>
        <a:bodyPr/>
        <a:lstStyle/>
        <a:p>
          <a:r>
            <a:rPr lang="fr-FR" sz="1800" b="1" dirty="0"/>
            <a:t>Eteindre l’inutile</a:t>
          </a:r>
        </a:p>
      </dgm:t>
    </dgm:pt>
    <dgm:pt modelId="{4064C254-97E4-4FBE-A4BC-B44AE460E0DD}" type="parTrans" cxnId="{19E3DE9B-66D8-4CA6-88EC-EBA07C76213D}">
      <dgm:prSet/>
      <dgm:spPr/>
      <dgm:t>
        <a:bodyPr/>
        <a:lstStyle/>
        <a:p>
          <a:endParaRPr lang="fr-FR" sz="1800" b="1"/>
        </a:p>
      </dgm:t>
    </dgm:pt>
    <dgm:pt modelId="{1995892A-DD4C-455C-B3F9-6741C4FF7848}" type="sibTrans" cxnId="{19E3DE9B-66D8-4CA6-88EC-EBA07C76213D}">
      <dgm:prSet/>
      <dgm:spPr/>
      <dgm:t>
        <a:bodyPr/>
        <a:lstStyle/>
        <a:p>
          <a:endParaRPr lang="fr-FR" sz="1800" b="1"/>
        </a:p>
      </dgm:t>
    </dgm:pt>
    <dgm:pt modelId="{1593B63B-2B0C-47FD-9A26-85E314EB3035}">
      <dgm:prSet phldrT="[Texte]" custT="1"/>
      <dgm:spPr/>
      <dgm:t>
        <a:bodyPr/>
        <a:lstStyle/>
        <a:p>
          <a:r>
            <a:rPr lang="fr-FR" sz="1800" b="1" dirty="0"/>
            <a:t>Réparer toute fuite d’air comprimé</a:t>
          </a:r>
        </a:p>
      </dgm:t>
    </dgm:pt>
    <dgm:pt modelId="{230E57EE-6944-4CF7-A3E9-1EA3B3C98A56}" type="parTrans" cxnId="{AB0DF923-689E-4FF5-A6A2-D32397B4B83B}">
      <dgm:prSet/>
      <dgm:spPr/>
      <dgm:t>
        <a:bodyPr/>
        <a:lstStyle/>
        <a:p>
          <a:endParaRPr lang="fr-FR" sz="1800" b="1"/>
        </a:p>
      </dgm:t>
    </dgm:pt>
    <dgm:pt modelId="{1E3643F9-77F5-4147-A70B-ACFA8D533E5B}" type="sibTrans" cxnId="{AB0DF923-689E-4FF5-A6A2-D32397B4B83B}">
      <dgm:prSet/>
      <dgm:spPr/>
      <dgm:t>
        <a:bodyPr/>
        <a:lstStyle/>
        <a:p>
          <a:endParaRPr lang="fr-FR" sz="1800" b="1"/>
        </a:p>
      </dgm:t>
    </dgm:pt>
    <dgm:pt modelId="{6CDEC05C-C8DF-43C6-8BD9-137B4D7E88E5}">
      <dgm:prSet phldrT="[Texte]" custT="1"/>
      <dgm:spPr/>
      <dgm:t>
        <a:bodyPr/>
        <a:lstStyle/>
        <a:p>
          <a:r>
            <a:rPr lang="fr-FR" sz="1800" b="1" dirty="0"/>
            <a:t>Participer à la production d’énergies renouvelables</a:t>
          </a:r>
        </a:p>
      </dgm:t>
    </dgm:pt>
    <dgm:pt modelId="{F1F17D28-D29D-4483-94F9-C8720A753212}" type="parTrans" cxnId="{2493F2AC-651D-4723-8C77-95F6C09CFB96}">
      <dgm:prSet/>
      <dgm:spPr/>
      <dgm:t>
        <a:bodyPr/>
        <a:lstStyle/>
        <a:p>
          <a:endParaRPr lang="fr-FR" sz="1800" b="1"/>
        </a:p>
      </dgm:t>
    </dgm:pt>
    <dgm:pt modelId="{E17274E4-FFE3-48C3-A685-35462C3BFE83}" type="sibTrans" cxnId="{2493F2AC-651D-4723-8C77-95F6C09CFB96}">
      <dgm:prSet/>
      <dgm:spPr/>
      <dgm:t>
        <a:bodyPr/>
        <a:lstStyle/>
        <a:p>
          <a:endParaRPr lang="fr-FR" sz="1800" b="1"/>
        </a:p>
      </dgm:t>
    </dgm:pt>
    <dgm:pt modelId="{1E63F92D-1621-4544-9C7A-ACA5FD9E55EE}">
      <dgm:prSet phldrT="[Texte]" custT="1"/>
      <dgm:spPr/>
      <dgm:t>
        <a:bodyPr/>
        <a:lstStyle/>
        <a:p>
          <a:r>
            <a:rPr lang="fr-FR" sz="1800" b="1" dirty="0"/>
            <a:t>Remplacer la matériel énergivore</a:t>
          </a:r>
        </a:p>
      </dgm:t>
    </dgm:pt>
    <dgm:pt modelId="{1E292341-A959-42F6-BD01-C09F355A114B}" type="parTrans" cxnId="{E6DE7EF8-7EB8-41E4-A542-156C26E0E66A}">
      <dgm:prSet/>
      <dgm:spPr/>
      <dgm:t>
        <a:bodyPr/>
        <a:lstStyle/>
        <a:p>
          <a:endParaRPr lang="fr-FR" sz="1800" b="1"/>
        </a:p>
      </dgm:t>
    </dgm:pt>
    <dgm:pt modelId="{732294F0-74F6-4780-9896-42ACA28ABA05}" type="sibTrans" cxnId="{E6DE7EF8-7EB8-41E4-A542-156C26E0E66A}">
      <dgm:prSet/>
      <dgm:spPr/>
      <dgm:t>
        <a:bodyPr/>
        <a:lstStyle/>
        <a:p>
          <a:endParaRPr lang="fr-FR" sz="1800" b="1"/>
        </a:p>
      </dgm:t>
    </dgm:pt>
    <dgm:pt modelId="{B86FFF57-B80B-4A6A-8B00-B19447F8ED7A}" type="pres">
      <dgm:prSet presAssocID="{8ACCB300-9948-4BF8-858A-269C2B132CA3}" presName="diagram" presStyleCnt="0">
        <dgm:presLayoutVars>
          <dgm:dir/>
          <dgm:resizeHandles val="exact"/>
        </dgm:presLayoutVars>
      </dgm:prSet>
      <dgm:spPr/>
    </dgm:pt>
    <dgm:pt modelId="{4401C3F9-658A-4EEF-97BD-1433E3B24207}" type="pres">
      <dgm:prSet presAssocID="{E8F5EB95-5C8B-4D80-8779-39CBBD47CE2B}" presName="node" presStyleLbl="node1" presStyleIdx="0" presStyleCnt="4">
        <dgm:presLayoutVars>
          <dgm:bulletEnabled val="1"/>
        </dgm:presLayoutVars>
      </dgm:prSet>
      <dgm:spPr/>
    </dgm:pt>
    <dgm:pt modelId="{C7061A8F-7A72-4C9F-9F5C-F012FE7295D2}" type="pres">
      <dgm:prSet presAssocID="{1995892A-DD4C-455C-B3F9-6741C4FF7848}" presName="sibTrans" presStyleCnt="0"/>
      <dgm:spPr/>
    </dgm:pt>
    <dgm:pt modelId="{5EBDE485-D2CC-41CC-BC2F-15B92C9DD631}" type="pres">
      <dgm:prSet presAssocID="{1593B63B-2B0C-47FD-9A26-85E314EB3035}" presName="node" presStyleLbl="node1" presStyleIdx="1" presStyleCnt="4">
        <dgm:presLayoutVars>
          <dgm:bulletEnabled val="1"/>
        </dgm:presLayoutVars>
      </dgm:prSet>
      <dgm:spPr/>
    </dgm:pt>
    <dgm:pt modelId="{99C6BDC1-5C40-4E3C-B5E0-D4C22A2F8180}" type="pres">
      <dgm:prSet presAssocID="{1E3643F9-77F5-4147-A70B-ACFA8D533E5B}" presName="sibTrans" presStyleCnt="0"/>
      <dgm:spPr/>
    </dgm:pt>
    <dgm:pt modelId="{AB685B23-00BF-4ACA-804D-44116AD50046}" type="pres">
      <dgm:prSet presAssocID="{6CDEC05C-C8DF-43C6-8BD9-137B4D7E88E5}" presName="node" presStyleLbl="node1" presStyleIdx="2" presStyleCnt="4">
        <dgm:presLayoutVars>
          <dgm:bulletEnabled val="1"/>
        </dgm:presLayoutVars>
      </dgm:prSet>
      <dgm:spPr/>
    </dgm:pt>
    <dgm:pt modelId="{C9A83AED-93A5-4AFE-89F4-75F15D73B248}" type="pres">
      <dgm:prSet presAssocID="{E17274E4-FFE3-48C3-A685-35462C3BFE83}" presName="sibTrans" presStyleCnt="0"/>
      <dgm:spPr/>
    </dgm:pt>
    <dgm:pt modelId="{D86A5FD0-8D0C-4F4E-84C6-55CB82B25E1F}" type="pres">
      <dgm:prSet presAssocID="{1E63F92D-1621-4544-9C7A-ACA5FD9E55EE}" presName="node" presStyleLbl="node1" presStyleIdx="3" presStyleCnt="4">
        <dgm:presLayoutVars>
          <dgm:bulletEnabled val="1"/>
        </dgm:presLayoutVars>
      </dgm:prSet>
      <dgm:spPr/>
    </dgm:pt>
  </dgm:ptLst>
  <dgm:cxnLst>
    <dgm:cxn modelId="{AB0DF923-689E-4FF5-A6A2-D32397B4B83B}" srcId="{8ACCB300-9948-4BF8-858A-269C2B132CA3}" destId="{1593B63B-2B0C-47FD-9A26-85E314EB3035}" srcOrd="1" destOrd="0" parTransId="{230E57EE-6944-4CF7-A3E9-1EA3B3C98A56}" sibTransId="{1E3643F9-77F5-4147-A70B-ACFA8D533E5B}"/>
    <dgm:cxn modelId="{FAC87A62-9B84-42C9-82FC-3E41CCF5FB3F}" type="presOf" srcId="{1E63F92D-1621-4544-9C7A-ACA5FD9E55EE}" destId="{D86A5FD0-8D0C-4F4E-84C6-55CB82B25E1F}" srcOrd="0" destOrd="0" presId="urn:microsoft.com/office/officeart/2005/8/layout/default"/>
    <dgm:cxn modelId="{29468943-A783-494B-B1F5-CD80DA48E299}" type="presOf" srcId="{E8F5EB95-5C8B-4D80-8779-39CBBD47CE2B}" destId="{4401C3F9-658A-4EEF-97BD-1433E3B24207}" srcOrd="0" destOrd="0" presId="urn:microsoft.com/office/officeart/2005/8/layout/default"/>
    <dgm:cxn modelId="{19E3DE9B-66D8-4CA6-88EC-EBA07C76213D}" srcId="{8ACCB300-9948-4BF8-858A-269C2B132CA3}" destId="{E8F5EB95-5C8B-4D80-8779-39CBBD47CE2B}" srcOrd="0" destOrd="0" parTransId="{4064C254-97E4-4FBE-A4BC-B44AE460E0DD}" sibTransId="{1995892A-DD4C-455C-B3F9-6741C4FF7848}"/>
    <dgm:cxn modelId="{2493F2AC-651D-4723-8C77-95F6C09CFB96}" srcId="{8ACCB300-9948-4BF8-858A-269C2B132CA3}" destId="{6CDEC05C-C8DF-43C6-8BD9-137B4D7E88E5}" srcOrd="2" destOrd="0" parTransId="{F1F17D28-D29D-4483-94F9-C8720A753212}" sibTransId="{E17274E4-FFE3-48C3-A685-35462C3BFE83}"/>
    <dgm:cxn modelId="{1A3447B1-0F83-45B4-B7EB-62FEDCC5F805}" type="presOf" srcId="{8ACCB300-9948-4BF8-858A-269C2B132CA3}" destId="{B86FFF57-B80B-4A6A-8B00-B19447F8ED7A}" srcOrd="0" destOrd="0" presId="urn:microsoft.com/office/officeart/2005/8/layout/default"/>
    <dgm:cxn modelId="{47808CDD-210F-4823-B75E-DDFA7100005D}" type="presOf" srcId="{1593B63B-2B0C-47FD-9A26-85E314EB3035}" destId="{5EBDE485-D2CC-41CC-BC2F-15B92C9DD631}" srcOrd="0" destOrd="0" presId="urn:microsoft.com/office/officeart/2005/8/layout/default"/>
    <dgm:cxn modelId="{4CA1E7E2-BC7E-4107-842D-157854D7C554}" type="presOf" srcId="{6CDEC05C-C8DF-43C6-8BD9-137B4D7E88E5}" destId="{AB685B23-00BF-4ACA-804D-44116AD50046}" srcOrd="0" destOrd="0" presId="urn:microsoft.com/office/officeart/2005/8/layout/default"/>
    <dgm:cxn modelId="{E6DE7EF8-7EB8-41E4-A542-156C26E0E66A}" srcId="{8ACCB300-9948-4BF8-858A-269C2B132CA3}" destId="{1E63F92D-1621-4544-9C7A-ACA5FD9E55EE}" srcOrd="3" destOrd="0" parTransId="{1E292341-A959-42F6-BD01-C09F355A114B}" sibTransId="{732294F0-74F6-4780-9896-42ACA28ABA05}"/>
    <dgm:cxn modelId="{B042A268-B189-4985-8D1D-A45479699F23}" type="presParOf" srcId="{B86FFF57-B80B-4A6A-8B00-B19447F8ED7A}" destId="{4401C3F9-658A-4EEF-97BD-1433E3B24207}" srcOrd="0" destOrd="0" presId="urn:microsoft.com/office/officeart/2005/8/layout/default"/>
    <dgm:cxn modelId="{06EDCE5C-9F6B-4780-94F5-45E685480C50}" type="presParOf" srcId="{B86FFF57-B80B-4A6A-8B00-B19447F8ED7A}" destId="{C7061A8F-7A72-4C9F-9F5C-F012FE7295D2}" srcOrd="1" destOrd="0" presId="urn:microsoft.com/office/officeart/2005/8/layout/default"/>
    <dgm:cxn modelId="{6C838107-5A8F-44C6-A630-466670C4D170}" type="presParOf" srcId="{B86FFF57-B80B-4A6A-8B00-B19447F8ED7A}" destId="{5EBDE485-D2CC-41CC-BC2F-15B92C9DD631}" srcOrd="2" destOrd="0" presId="urn:microsoft.com/office/officeart/2005/8/layout/default"/>
    <dgm:cxn modelId="{63C346A2-AB0C-4384-BB50-A523AB3420D0}" type="presParOf" srcId="{B86FFF57-B80B-4A6A-8B00-B19447F8ED7A}" destId="{99C6BDC1-5C40-4E3C-B5E0-D4C22A2F8180}" srcOrd="3" destOrd="0" presId="urn:microsoft.com/office/officeart/2005/8/layout/default"/>
    <dgm:cxn modelId="{A5EDA80F-B9B0-43C4-B429-BA1920B9AA61}" type="presParOf" srcId="{B86FFF57-B80B-4A6A-8B00-B19447F8ED7A}" destId="{AB685B23-00BF-4ACA-804D-44116AD50046}" srcOrd="4" destOrd="0" presId="urn:microsoft.com/office/officeart/2005/8/layout/default"/>
    <dgm:cxn modelId="{D953E40E-98F5-4292-B221-0FD4D64802E5}" type="presParOf" srcId="{B86FFF57-B80B-4A6A-8B00-B19447F8ED7A}" destId="{C9A83AED-93A5-4AFE-89F4-75F15D73B248}" srcOrd="5" destOrd="0" presId="urn:microsoft.com/office/officeart/2005/8/layout/default"/>
    <dgm:cxn modelId="{06799550-19C6-422C-88C6-FD6E4E22B585}" type="presParOf" srcId="{B86FFF57-B80B-4A6A-8B00-B19447F8ED7A}" destId="{D86A5FD0-8D0C-4F4E-84C6-55CB82B25E1F}"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D6C69F29-DC55-4E4B-9F4F-7A242F0AB323}" type="doc">
      <dgm:prSet loTypeId="urn:microsoft.com/office/officeart/2005/8/layout/cycle7" loCatId="cycle" qsTypeId="urn:microsoft.com/office/officeart/2005/8/quickstyle/simple1" qsCatId="simple" csTypeId="urn:microsoft.com/office/officeart/2005/8/colors/accent5_2" csCatId="accent5" phldr="1"/>
      <dgm:spPr/>
      <dgm:t>
        <a:bodyPr/>
        <a:lstStyle/>
        <a:p>
          <a:endParaRPr lang="fr-FR"/>
        </a:p>
      </dgm:t>
    </dgm:pt>
    <dgm:pt modelId="{332804D2-1E22-4F7D-B015-16579BE2A3E3}">
      <dgm:prSet phldrT="[Texte]" custT="1"/>
      <dgm:spPr/>
      <dgm:t>
        <a:bodyPr/>
        <a:lstStyle/>
        <a:p>
          <a:pPr>
            <a:spcAft>
              <a:spcPts val="0"/>
            </a:spcAft>
          </a:pPr>
          <a:r>
            <a:rPr lang="fr-FR" sz="1800" b="1" dirty="0"/>
            <a:t>Actions de mutualisation </a:t>
          </a:r>
        </a:p>
      </dgm:t>
    </dgm:pt>
    <dgm:pt modelId="{7165331E-4A3B-43A7-AB62-1E3A254FFF58}" type="parTrans" cxnId="{9ACB7BCB-AC40-4F3E-8AA9-A74A5F5E71C8}">
      <dgm:prSet/>
      <dgm:spPr/>
      <dgm:t>
        <a:bodyPr/>
        <a:lstStyle/>
        <a:p>
          <a:endParaRPr lang="fr-FR" sz="1600"/>
        </a:p>
      </dgm:t>
    </dgm:pt>
    <dgm:pt modelId="{CF8FFCEF-BD00-4A25-A203-381010C60675}" type="sibTrans" cxnId="{9ACB7BCB-AC40-4F3E-8AA9-A74A5F5E71C8}">
      <dgm:prSet custT="1"/>
      <dgm:spPr/>
      <dgm:t>
        <a:bodyPr/>
        <a:lstStyle/>
        <a:p>
          <a:endParaRPr lang="fr-FR" sz="1600"/>
        </a:p>
      </dgm:t>
    </dgm:pt>
    <dgm:pt modelId="{E9071F56-0EE8-4FCB-9588-05E8CA160F06}">
      <dgm:prSet phldrT="[Texte]" custT="1"/>
      <dgm:spPr/>
      <dgm:t>
        <a:bodyPr/>
        <a:lstStyle/>
        <a:p>
          <a:r>
            <a:rPr lang="fr-FR" sz="1800" b="1"/>
            <a:t>Création de nouvelles activités </a:t>
          </a:r>
          <a:endParaRPr lang="fr-FR" sz="1800" b="1" dirty="0"/>
        </a:p>
      </dgm:t>
    </dgm:pt>
    <dgm:pt modelId="{165387B9-0B7B-4D19-AAF6-F44847490717}" type="parTrans" cxnId="{B96BD59D-1DBD-45B9-A621-78D6749733CA}">
      <dgm:prSet/>
      <dgm:spPr/>
      <dgm:t>
        <a:bodyPr/>
        <a:lstStyle/>
        <a:p>
          <a:endParaRPr lang="fr-FR" sz="1600"/>
        </a:p>
      </dgm:t>
    </dgm:pt>
    <dgm:pt modelId="{0DE11301-6ED1-4477-B96D-49D1EA246AF0}" type="sibTrans" cxnId="{B96BD59D-1DBD-45B9-A621-78D6749733CA}">
      <dgm:prSet custT="1"/>
      <dgm:spPr/>
      <dgm:t>
        <a:bodyPr/>
        <a:lstStyle/>
        <a:p>
          <a:endParaRPr lang="fr-FR" sz="1600"/>
        </a:p>
      </dgm:t>
    </dgm:pt>
    <dgm:pt modelId="{55B68EAF-5B6C-4160-9892-815C1C8A9C54}">
      <dgm:prSet phldrT="[Texte]" custT="1"/>
      <dgm:spPr/>
      <dgm:t>
        <a:bodyPr/>
        <a:lstStyle/>
        <a:p>
          <a:r>
            <a:rPr lang="fr-FR" sz="1800" b="1"/>
            <a:t>Actions de substitution</a:t>
          </a:r>
          <a:endParaRPr lang="fr-FR" sz="1800" dirty="0"/>
        </a:p>
      </dgm:t>
    </dgm:pt>
    <dgm:pt modelId="{2312F474-F15A-45DC-802A-A0EB085103A6}" type="parTrans" cxnId="{A2EB2468-DFE7-4BD0-8A70-A063D036D04D}">
      <dgm:prSet/>
      <dgm:spPr/>
      <dgm:t>
        <a:bodyPr/>
        <a:lstStyle/>
        <a:p>
          <a:endParaRPr lang="fr-FR" sz="1600"/>
        </a:p>
      </dgm:t>
    </dgm:pt>
    <dgm:pt modelId="{59FA57E4-A7BB-4AE7-9701-E03D6D1A1F21}" type="sibTrans" cxnId="{A2EB2468-DFE7-4BD0-8A70-A063D036D04D}">
      <dgm:prSet custT="1"/>
      <dgm:spPr/>
      <dgm:t>
        <a:bodyPr/>
        <a:lstStyle/>
        <a:p>
          <a:endParaRPr lang="fr-FR" sz="1600"/>
        </a:p>
      </dgm:t>
    </dgm:pt>
    <dgm:pt modelId="{F32B1A47-C865-410B-80F6-11DEEC76002C}" type="pres">
      <dgm:prSet presAssocID="{D6C69F29-DC55-4E4B-9F4F-7A242F0AB323}" presName="Name0" presStyleCnt="0">
        <dgm:presLayoutVars>
          <dgm:dir/>
          <dgm:resizeHandles val="exact"/>
        </dgm:presLayoutVars>
      </dgm:prSet>
      <dgm:spPr/>
    </dgm:pt>
    <dgm:pt modelId="{87CF8C54-D491-420D-B0D4-B9A8130131C2}" type="pres">
      <dgm:prSet presAssocID="{332804D2-1E22-4F7D-B015-16579BE2A3E3}" presName="node" presStyleLbl="node1" presStyleIdx="0" presStyleCnt="3" custScaleX="121570" custRadScaleRad="98940" custRadScaleInc="-7075">
        <dgm:presLayoutVars>
          <dgm:bulletEnabled val="1"/>
        </dgm:presLayoutVars>
      </dgm:prSet>
      <dgm:spPr/>
    </dgm:pt>
    <dgm:pt modelId="{5FBB69C0-B03F-4257-898D-48350B552194}" type="pres">
      <dgm:prSet presAssocID="{CF8FFCEF-BD00-4A25-A203-381010C60675}" presName="sibTrans" presStyleLbl="sibTrans2D1" presStyleIdx="0" presStyleCnt="3" custScaleX="95337"/>
      <dgm:spPr/>
    </dgm:pt>
    <dgm:pt modelId="{2AA4AA7F-3FAA-4C95-B4AA-2AC95A528B29}" type="pres">
      <dgm:prSet presAssocID="{CF8FFCEF-BD00-4A25-A203-381010C60675}" presName="connectorText" presStyleLbl="sibTrans2D1" presStyleIdx="0" presStyleCnt="3"/>
      <dgm:spPr/>
    </dgm:pt>
    <dgm:pt modelId="{31AF20B0-0E6B-40C4-AED6-CAFDFFD51484}" type="pres">
      <dgm:prSet presAssocID="{E9071F56-0EE8-4FCB-9588-05E8CA160F06}" presName="node" presStyleLbl="node1" presStyleIdx="1" presStyleCnt="3" custScaleX="121570" custRadScaleRad="114453" custRadScaleInc="-6209">
        <dgm:presLayoutVars>
          <dgm:bulletEnabled val="1"/>
        </dgm:presLayoutVars>
      </dgm:prSet>
      <dgm:spPr/>
    </dgm:pt>
    <dgm:pt modelId="{9CA4C4B2-BE5C-4B16-8F61-9244C3235856}" type="pres">
      <dgm:prSet presAssocID="{0DE11301-6ED1-4477-B96D-49D1EA246AF0}" presName="sibTrans" presStyleLbl="sibTrans2D1" presStyleIdx="1" presStyleCnt="3"/>
      <dgm:spPr/>
    </dgm:pt>
    <dgm:pt modelId="{8CBAAC84-D3F6-462D-90BA-8ED24DC7B7B6}" type="pres">
      <dgm:prSet presAssocID="{0DE11301-6ED1-4477-B96D-49D1EA246AF0}" presName="connectorText" presStyleLbl="sibTrans2D1" presStyleIdx="1" presStyleCnt="3"/>
      <dgm:spPr/>
    </dgm:pt>
    <dgm:pt modelId="{51326D60-B96C-4121-BBDF-B9B5B57ED8F2}" type="pres">
      <dgm:prSet presAssocID="{55B68EAF-5B6C-4160-9892-815C1C8A9C54}" presName="node" presStyleLbl="node1" presStyleIdx="2" presStyleCnt="3" custScaleX="121570" custRadScaleRad="129272" custRadScaleInc="12076">
        <dgm:presLayoutVars>
          <dgm:bulletEnabled val="1"/>
        </dgm:presLayoutVars>
      </dgm:prSet>
      <dgm:spPr/>
    </dgm:pt>
    <dgm:pt modelId="{FAC681AF-7DB5-459A-BAC6-54A98D27B780}" type="pres">
      <dgm:prSet presAssocID="{59FA57E4-A7BB-4AE7-9701-E03D6D1A1F21}" presName="sibTrans" presStyleLbl="sibTrans2D1" presStyleIdx="2" presStyleCnt="3" custScaleX="95337"/>
      <dgm:spPr/>
    </dgm:pt>
    <dgm:pt modelId="{2D2F77F4-68EF-4C5F-AF7E-BD5574F525E9}" type="pres">
      <dgm:prSet presAssocID="{59FA57E4-A7BB-4AE7-9701-E03D6D1A1F21}" presName="connectorText" presStyleLbl="sibTrans2D1" presStyleIdx="2" presStyleCnt="3"/>
      <dgm:spPr/>
    </dgm:pt>
  </dgm:ptLst>
  <dgm:cxnLst>
    <dgm:cxn modelId="{82A5C81B-E19D-4A92-BA0C-62B392380FE6}" type="presOf" srcId="{0DE11301-6ED1-4477-B96D-49D1EA246AF0}" destId="{9CA4C4B2-BE5C-4B16-8F61-9244C3235856}" srcOrd="0" destOrd="0" presId="urn:microsoft.com/office/officeart/2005/8/layout/cycle7"/>
    <dgm:cxn modelId="{8874DE1D-2F14-43DC-B829-58674472D4DF}" type="presOf" srcId="{55B68EAF-5B6C-4160-9892-815C1C8A9C54}" destId="{51326D60-B96C-4121-BBDF-B9B5B57ED8F2}" srcOrd="0" destOrd="0" presId="urn:microsoft.com/office/officeart/2005/8/layout/cycle7"/>
    <dgm:cxn modelId="{8F3F2337-3CA1-4C6D-B1CC-B57E6271CD52}" type="presOf" srcId="{332804D2-1E22-4F7D-B015-16579BE2A3E3}" destId="{87CF8C54-D491-420D-B0D4-B9A8130131C2}" srcOrd="0" destOrd="0" presId="urn:microsoft.com/office/officeart/2005/8/layout/cycle7"/>
    <dgm:cxn modelId="{6AA7783D-F7D9-464B-9DF7-153112AECFAC}" type="presOf" srcId="{CF8FFCEF-BD00-4A25-A203-381010C60675}" destId="{2AA4AA7F-3FAA-4C95-B4AA-2AC95A528B29}" srcOrd="1" destOrd="0" presId="urn:microsoft.com/office/officeart/2005/8/layout/cycle7"/>
    <dgm:cxn modelId="{D726CE3F-D791-40D2-BF3E-2D9B2514E13B}" type="presOf" srcId="{D6C69F29-DC55-4E4B-9F4F-7A242F0AB323}" destId="{F32B1A47-C865-410B-80F6-11DEEC76002C}" srcOrd="0" destOrd="0" presId="urn:microsoft.com/office/officeart/2005/8/layout/cycle7"/>
    <dgm:cxn modelId="{A2EB2468-DFE7-4BD0-8A70-A063D036D04D}" srcId="{D6C69F29-DC55-4E4B-9F4F-7A242F0AB323}" destId="{55B68EAF-5B6C-4160-9892-815C1C8A9C54}" srcOrd="2" destOrd="0" parTransId="{2312F474-F15A-45DC-802A-A0EB085103A6}" sibTransId="{59FA57E4-A7BB-4AE7-9701-E03D6D1A1F21}"/>
    <dgm:cxn modelId="{C8116C6E-CC48-48EF-A46C-ED00E3BCF278}" type="presOf" srcId="{CF8FFCEF-BD00-4A25-A203-381010C60675}" destId="{5FBB69C0-B03F-4257-898D-48350B552194}" srcOrd="0" destOrd="0" presId="urn:microsoft.com/office/officeart/2005/8/layout/cycle7"/>
    <dgm:cxn modelId="{19079E7A-E4FE-4A21-8A44-A71093C52722}" type="presOf" srcId="{59FA57E4-A7BB-4AE7-9701-E03D6D1A1F21}" destId="{FAC681AF-7DB5-459A-BAC6-54A98D27B780}" srcOrd="0" destOrd="0" presId="urn:microsoft.com/office/officeart/2005/8/layout/cycle7"/>
    <dgm:cxn modelId="{85E57989-42C7-4C9E-BA5A-8BBBA0C217C7}" type="presOf" srcId="{59FA57E4-A7BB-4AE7-9701-E03D6D1A1F21}" destId="{2D2F77F4-68EF-4C5F-AF7E-BD5574F525E9}" srcOrd="1" destOrd="0" presId="urn:microsoft.com/office/officeart/2005/8/layout/cycle7"/>
    <dgm:cxn modelId="{B96BD59D-1DBD-45B9-A621-78D6749733CA}" srcId="{D6C69F29-DC55-4E4B-9F4F-7A242F0AB323}" destId="{E9071F56-0EE8-4FCB-9588-05E8CA160F06}" srcOrd="1" destOrd="0" parTransId="{165387B9-0B7B-4D19-AAF6-F44847490717}" sibTransId="{0DE11301-6ED1-4477-B96D-49D1EA246AF0}"/>
    <dgm:cxn modelId="{C2B60EB6-619E-47DE-A289-AE0EB71449B0}" type="presOf" srcId="{E9071F56-0EE8-4FCB-9588-05E8CA160F06}" destId="{31AF20B0-0E6B-40C4-AED6-CAFDFFD51484}" srcOrd="0" destOrd="0" presId="urn:microsoft.com/office/officeart/2005/8/layout/cycle7"/>
    <dgm:cxn modelId="{495476B9-1D0D-429A-A658-537AD2DD72F5}" type="presOf" srcId="{0DE11301-6ED1-4477-B96D-49D1EA246AF0}" destId="{8CBAAC84-D3F6-462D-90BA-8ED24DC7B7B6}" srcOrd="1" destOrd="0" presId="urn:microsoft.com/office/officeart/2005/8/layout/cycle7"/>
    <dgm:cxn modelId="{9ACB7BCB-AC40-4F3E-8AA9-A74A5F5E71C8}" srcId="{D6C69F29-DC55-4E4B-9F4F-7A242F0AB323}" destId="{332804D2-1E22-4F7D-B015-16579BE2A3E3}" srcOrd="0" destOrd="0" parTransId="{7165331E-4A3B-43A7-AB62-1E3A254FFF58}" sibTransId="{CF8FFCEF-BD00-4A25-A203-381010C60675}"/>
    <dgm:cxn modelId="{A4775978-86F4-4DB6-808F-95FEC9717AE2}" type="presParOf" srcId="{F32B1A47-C865-410B-80F6-11DEEC76002C}" destId="{87CF8C54-D491-420D-B0D4-B9A8130131C2}" srcOrd="0" destOrd="0" presId="urn:microsoft.com/office/officeart/2005/8/layout/cycle7"/>
    <dgm:cxn modelId="{DAD7CB71-3E9B-4CB6-9779-5D4AC41892D9}" type="presParOf" srcId="{F32B1A47-C865-410B-80F6-11DEEC76002C}" destId="{5FBB69C0-B03F-4257-898D-48350B552194}" srcOrd="1" destOrd="0" presId="urn:microsoft.com/office/officeart/2005/8/layout/cycle7"/>
    <dgm:cxn modelId="{385EB3A6-8459-4CFD-A5FF-76C5B92A83A6}" type="presParOf" srcId="{5FBB69C0-B03F-4257-898D-48350B552194}" destId="{2AA4AA7F-3FAA-4C95-B4AA-2AC95A528B29}" srcOrd="0" destOrd="0" presId="urn:microsoft.com/office/officeart/2005/8/layout/cycle7"/>
    <dgm:cxn modelId="{CB5D65AF-6035-434E-9B76-DB989A42D734}" type="presParOf" srcId="{F32B1A47-C865-410B-80F6-11DEEC76002C}" destId="{31AF20B0-0E6B-40C4-AED6-CAFDFFD51484}" srcOrd="2" destOrd="0" presId="urn:microsoft.com/office/officeart/2005/8/layout/cycle7"/>
    <dgm:cxn modelId="{DBB62BC5-BD6D-44F0-975A-82A83A02A73E}" type="presParOf" srcId="{F32B1A47-C865-410B-80F6-11DEEC76002C}" destId="{9CA4C4B2-BE5C-4B16-8F61-9244C3235856}" srcOrd="3" destOrd="0" presId="urn:microsoft.com/office/officeart/2005/8/layout/cycle7"/>
    <dgm:cxn modelId="{394320DE-2595-4E5B-8D3E-CE114F488159}" type="presParOf" srcId="{9CA4C4B2-BE5C-4B16-8F61-9244C3235856}" destId="{8CBAAC84-D3F6-462D-90BA-8ED24DC7B7B6}" srcOrd="0" destOrd="0" presId="urn:microsoft.com/office/officeart/2005/8/layout/cycle7"/>
    <dgm:cxn modelId="{919EF87E-C10C-4415-ABC0-A2DD507E6270}" type="presParOf" srcId="{F32B1A47-C865-410B-80F6-11DEEC76002C}" destId="{51326D60-B96C-4121-BBDF-B9B5B57ED8F2}" srcOrd="4" destOrd="0" presId="urn:microsoft.com/office/officeart/2005/8/layout/cycle7"/>
    <dgm:cxn modelId="{D63356AB-1E8C-4B61-8EB6-4BB68FC70CFE}" type="presParOf" srcId="{F32B1A47-C865-410B-80F6-11DEEC76002C}" destId="{FAC681AF-7DB5-459A-BAC6-54A98D27B780}" srcOrd="5" destOrd="0" presId="urn:microsoft.com/office/officeart/2005/8/layout/cycle7"/>
    <dgm:cxn modelId="{D2C5393C-62B6-4218-8D8B-3CD804EDB17E}" type="presParOf" srcId="{FAC681AF-7DB5-459A-BAC6-54A98D27B780}" destId="{2D2F77F4-68EF-4C5F-AF7E-BD5574F525E9}"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95197BE4-DFAE-4030-B6FB-97AD4EFCAAC9}" type="doc">
      <dgm:prSet loTypeId="urn:microsoft.com/office/officeart/2009/3/layout/PlusandMinus" loCatId="relationship" qsTypeId="urn:microsoft.com/office/officeart/2005/8/quickstyle/simple1" qsCatId="simple" csTypeId="urn:microsoft.com/office/officeart/2005/8/colors/accent5_2" csCatId="accent5" phldr="1"/>
      <dgm:spPr/>
      <dgm:t>
        <a:bodyPr/>
        <a:lstStyle/>
        <a:p>
          <a:endParaRPr lang="fr-FR"/>
        </a:p>
      </dgm:t>
    </dgm:pt>
    <dgm:pt modelId="{93BF43B1-D167-4350-96CB-13C5FB974C77}">
      <dgm:prSet phldrT="[Texte]" custT="1"/>
      <dgm:spPr/>
      <dgm:t>
        <a:bodyPr/>
        <a:lstStyle/>
        <a:p>
          <a:r>
            <a:rPr lang="fr-FR" sz="1800" dirty="0"/>
            <a:t>+ Réduire les prélèvements de ressources</a:t>
          </a:r>
        </a:p>
        <a:p>
          <a:r>
            <a:rPr lang="fr-FR" sz="1800" dirty="0"/>
            <a:t>+ Réduire la production de déchets</a:t>
          </a:r>
        </a:p>
        <a:p>
          <a:r>
            <a:rPr lang="fr-FR" sz="1800" dirty="0"/>
            <a:t>+ Limiter les consommations d’énergies</a:t>
          </a:r>
        </a:p>
        <a:p>
          <a:r>
            <a:rPr lang="fr-FR" sz="1800" dirty="0"/>
            <a:t>+ Sécuriser les apports en matières premières</a:t>
          </a:r>
        </a:p>
        <a:p>
          <a:r>
            <a:rPr lang="fr-FR" sz="1800" dirty="0"/>
            <a:t>(&gt;50% sont importés et 75% sont d’origine non renouvelable)</a:t>
          </a:r>
        </a:p>
        <a:p>
          <a:r>
            <a:rPr lang="fr-FR" sz="1800" dirty="0"/>
            <a:t>+ Réindustrialiser les territoires</a:t>
          </a:r>
        </a:p>
      </dgm:t>
    </dgm:pt>
    <dgm:pt modelId="{E3DC4DEA-5F08-4D4A-9036-6F0AA055353A}" type="parTrans" cxnId="{2905733D-F6E0-484F-8173-DF14E013B594}">
      <dgm:prSet/>
      <dgm:spPr/>
      <dgm:t>
        <a:bodyPr/>
        <a:lstStyle/>
        <a:p>
          <a:endParaRPr lang="fr-FR"/>
        </a:p>
      </dgm:t>
    </dgm:pt>
    <dgm:pt modelId="{28BEC2EA-9A3D-428F-92F4-9D7B22BB5E2B}" type="sibTrans" cxnId="{2905733D-F6E0-484F-8173-DF14E013B594}">
      <dgm:prSet/>
      <dgm:spPr/>
      <dgm:t>
        <a:bodyPr/>
        <a:lstStyle/>
        <a:p>
          <a:endParaRPr lang="fr-FR"/>
        </a:p>
      </dgm:t>
    </dgm:pt>
    <dgm:pt modelId="{4E04B203-0CCD-4D3D-A259-93BC9FF7B491}">
      <dgm:prSet phldrT="[Texte]" custT="1"/>
      <dgm:spPr/>
      <dgm:t>
        <a:bodyPr/>
        <a:lstStyle/>
        <a:p>
          <a:r>
            <a:rPr lang="fr-FR" sz="1800" dirty="0"/>
            <a:t>- Obsolescence programmée</a:t>
          </a:r>
        </a:p>
        <a:p>
          <a:r>
            <a:rPr lang="fr-FR" sz="1800" dirty="0"/>
            <a:t>- Valeur potentielle des « déchets » (métaux précieux, plastiques…)</a:t>
          </a:r>
        </a:p>
        <a:p>
          <a:r>
            <a:rPr lang="fr-FR" sz="1800" dirty="0"/>
            <a:t>- Fragilité de certaines filières (plastiques…)</a:t>
          </a:r>
        </a:p>
        <a:p>
          <a:r>
            <a:rPr lang="fr-FR" sz="1800" dirty="0"/>
            <a:t>- Trop faible structuration de filières industrielles</a:t>
          </a:r>
        </a:p>
      </dgm:t>
    </dgm:pt>
    <dgm:pt modelId="{69AABECA-E264-4A38-868B-CA9D1F400255}" type="parTrans" cxnId="{C39CA31A-4B07-4327-BFE2-7A73AB0EDDCA}">
      <dgm:prSet/>
      <dgm:spPr/>
      <dgm:t>
        <a:bodyPr/>
        <a:lstStyle/>
        <a:p>
          <a:endParaRPr lang="fr-FR"/>
        </a:p>
      </dgm:t>
    </dgm:pt>
    <dgm:pt modelId="{EE1B7316-4883-4DDA-8CBD-E6F73E107B0C}" type="sibTrans" cxnId="{C39CA31A-4B07-4327-BFE2-7A73AB0EDDCA}">
      <dgm:prSet/>
      <dgm:spPr/>
      <dgm:t>
        <a:bodyPr/>
        <a:lstStyle/>
        <a:p>
          <a:endParaRPr lang="fr-FR"/>
        </a:p>
      </dgm:t>
    </dgm:pt>
    <dgm:pt modelId="{53980C62-B2D9-4778-A99D-CAD1113CD234}" type="pres">
      <dgm:prSet presAssocID="{95197BE4-DFAE-4030-B6FB-97AD4EFCAAC9}" presName="Name0" presStyleCnt="0">
        <dgm:presLayoutVars>
          <dgm:chMax val="2"/>
          <dgm:chPref val="2"/>
          <dgm:dir/>
          <dgm:animOne/>
          <dgm:resizeHandles val="exact"/>
        </dgm:presLayoutVars>
      </dgm:prSet>
      <dgm:spPr/>
    </dgm:pt>
    <dgm:pt modelId="{F3272D5A-6B12-4527-AE4D-DC58079CB99F}" type="pres">
      <dgm:prSet presAssocID="{95197BE4-DFAE-4030-B6FB-97AD4EFCAAC9}" presName="Background" presStyleLbl="bgImgPlace1" presStyleIdx="0" presStyleCnt="1" custScaleY="110715"/>
      <dgm:spPr>
        <a:solidFill>
          <a:schemeClr val="accent5">
            <a:lumMod val="40000"/>
            <a:lumOff val="60000"/>
          </a:schemeClr>
        </a:solidFill>
      </dgm:spPr>
    </dgm:pt>
    <dgm:pt modelId="{7847C257-EB8F-4D62-BD7D-C0039CA0B71B}" type="pres">
      <dgm:prSet presAssocID="{95197BE4-DFAE-4030-B6FB-97AD4EFCAAC9}" presName="ParentText1" presStyleLbl="revTx" presStyleIdx="0" presStyleCnt="2">
        <dgm:presLayoutVars>
          <dgm:chMax val="0"/>
          <dgm:chPref val="0"/>
          <dgm:bulletEnabled val="1"/>
        </dgm:presLayoutVars>
      </dgm:prSet>
      <dgm:spPr/>
    </dgm:pt>
    <dgm:pt modelId="{A452F069-9C94-4725-AA7E-44D2FECF8AC7}" type="pres">
      <dgm:prSet presAssocID="{95197BE4-DFAE-4030-B6FB-97AD4EFCAAC9}" presName="ParentText2" presStyleLbl="revTx" presStyleIdx="1" presStyleCnt="2">
        <dgm:presLayoutVars>
          <dgm:chMax val="0"/>
          <dgm:chPref val="0"/>
          <dgm:bulletEnabled val="1"/>
        </dgm:presLayoutVars>
      </dgm:prSet>
      <dgm:spPr/>
    </dgm:pt>
    <dgm:pt modelId="{A19567ED-CA58-4BD6-B199-D453D0089308}" type="pres">
      <dgm:prSet presAssocID="{95197BE4-DFAE-4030-B6FB-97AD4EFCAAC9}" presName="Plus" presStyleLbl="alignNode1" presStyleIdx="0" presStyleCnt="2"/>
      <dgm:spPr/>
    </dgm:pt>
    <dgm:pt modelId="{1954C4ED-8D92-4BA5-B6F9-FA491B99AD18}" type="pres">
      <dgm:prSet presAssocID="{95197BE4-DFAE-4030-B6FB-97AD4EFCAAC9}" presName="Minus" presStyleLbl="alignNode1" presStyleIdx="1" presStyleCnt="2"/>
      <dgm:spPr/>
    </dgm:pt>
    <dgm:pt modelId="{DFA078C6-B4A6-484C-ACBF-1418C58DC6D3}" type="pres">
      <dgm:prSet presAssocID="{95197BE4-DFAE-4030-B6FB-97AD4EFCAAC9}" presName="Divider" presStyleLbl="parChTrans1D1" presStyleIdx="0" presStyleCnt="1"/>
      <dgm:spPr/>
    </dgm:pt>
  </dgm:ptLst>
  <dgm:cxnLst>
    <dgm:cxn modelId="{C39CA31A-4B07-4327-BFE2-7A73AB0EDDCA}" srcId="{95197BE4-DFAE-4030-B6FB-97AD4EFCAAC9}" destId="{4E04B203-0CCD-4D3D-A259-93BC9FF7B491}" srcOrd="1" destOrd="0" parTransId="{69AABECA-E264-4A38-868B-CA9D1F400255}" sibTransId="{EE1B7316-4883-4DDA-8CBD-E6F73E107B0C}"/>
    <dgm:cxn modelId="{8311372B-D374-4CA8-90C1-A5C3DBC6B0D4}" type="presOf" srcId="{4E04B203-0CCD-4D3D-A259-93BC9FF7B491}" destId="{A452F069-9C94-4725-AA7E-44D2FECF8AC7}" srcOrd="0" destOrd="0" presId="urn:microsoft.com/office/officeart/2009/3/layout/PlusandMinus"/>
    <dgm:cxn modelId="{2905733D-F6E0-484F-8173-DF14E013B594}" srcId="{95197BE4-DFAE-4030-B6FB-97AD4EFCAAC9}" destId="{93BF43B1-D167-4350-96CB-13C5FB974C77}" srcOrd="0" destOrd="0" parTransId="{E3DC4DEA-5F08-4D4A-9036-6F0AA055353A}" sibTransId="{28BEC2EA-9A3D-428F-92F4-9D7B22BB5E2B}"/>
    <dgm:cxn modelId="{CF4ACF7F-56AB-4200-837B-7345F5748F86}" type="presOf" srcId="{93BF43B1-D167-4350-96CB-13C5FB974C77}" destId="{7847C257-EB8F-4D62-BD7D-C0039CA0B71B}" srcOrd="0" destOrd="0" presId="urn:microsoft.com/office/officeart/2009/3/layout/PlusandMinus"/>
    <dgm:cxn modelId="{25CD16AA-2E2D-43E3-A228-B732744F8B1D}" type="presOf" srcId="{95197BE4-DFAE-4030-B6FB-97AD4EFCAAC9}" destId="{53980C62-B2D9-4778-A99D-CAD1113CD234}" srcOrd="0" destOrd="0" presId="urn:microsoft.com/office/officeart/2009/3/layout/PlusandMinus"/>
    <dgm:cxn modelId="{3D6A1B5C-8937-4F4E-8FF4-9840B4A3D9CA}" type="presParOf" srcId="{53980C62-B2D9-4778-A99D-CAD1113CD234}" destId="{F3272D5A-6B12-4527-AE4D-DC58079CB99F}" srcOrd="0" destOrd="0" presId="urn:microsoft.com/office/officeart/2009/3/layout/PlusandMinus"/>
    <dgm:cxn modelId="{94563220-35D2-4287-92A0-BCDFF865B430}" type="presParOf" srcId="{53980C62-B2D9-4778-A99D-CAD1113CD234}" destId="{7847C257-EB8F-4D62-BD7D-C0039CA0B71B}" srcOrd="1" destOrd="0" presId="urn:microsoft.com/office/officeart/2009/3/layout/PlusandMinus"/>
    <dgm:cxn modelId="{187502E4-469D-40D1-8CD0-DF41DA7B29AF}" type="presParOf" srcId="{53980C62-B2D9-4778-A99D-CAD1113CD234}" destId="{A452F069-9C94-4725-AA7E-44D2FECF8AC7}" srcOrd="2" destOrd="0" presId="urn:microsoft.com/office/officeart/2009/3/layout/PlusandMinus"/>
    <dgm:cxn modelId="{44809CB6-C36A-45E7-BFB7-15C6449706F0}" type="presParOf" srcId="{53980C62-B2D9-4778-A99D-CAD1113CD234}" destId="{A19567ED-CA58-4BD6-B199-D453D0089308}" srcOrd="3" destOrd="0" presId="urn:microsoft.com/office/officeart/2009/3/layout/PlusandMinus"/>
    <dgm:cxn modelId="{D091B728-CA1F-494E-988C-4F8B22310D65}" type="presParOf" srcId="{53980C62-B2D9-4778-A99D-CAD1113CD234}" destId="{1954C4ED-8D92-4BA5-B6F9-FA491B99AD18}" srcOrd="4" destOrd="0" presId="urn:microsoft.com/office/officeart/2009/3/layout/PlusandMinus"/>
    <dgm:cxn modelId="{990D806F-AA18-4705-9F32-2C19B6F91CDC}" type="presParOf" srcId="{53980C62-B2D9-4778-A99D-CAD1113CD234}" destId="{DFA078C6-B4A6-484C-ACBF-1418C58DC6D3}" srcOrd="5" destOrd="0" presId="urn:microsoft.com/office/officeart/2009/3/layout/PlusandMinu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711185E8-A6F3-4064-A2BE-95C04AD85B46}" type="doc">
      <dgm:prSet loTypeId="urn:microsoft.com/office/officeart/2005/8/layout/process1" loCatId="process" qsTypeId="urn:microsoft.com/office/officeart/2005/8/quickstyle/simple1" qsCatId="simple" csTypeId="urn:microsoft.com/office/officeart/2005/8/colors/accent5_2" csCatId="accent5" phldr="1"/>
      <dgm:spPr/>
    </dgm:pt>
    <dgm:pt modelId="{A1EF2F4A-B871-4103-BD68-055878ACB959}">
      <dgm:prSet phldrT="[Texte]" custT="1"/>
      <dgm:spPr/>
      <dgm:t>
        <a:bodyPr/>
        <a:lstStyle/>
        <a:p>
          <a:r>
            <a:rPr lang="fr-FR" sz="1800" b="1" dirty="0">
              <a:solidFill>
                <a:schemeClr val="bg1"/>
              </a:solidFill>
              <a:latin typeface="+mn-lt"/>
            </a:rPr>
            <a:t>2011  - </a:t>
          </a:r>
          <a:r>
            <a:rPr lang="fr-FR" sz="1800" b="1" dirty="0" err="1">
              <a:solidFill>
                <a:schemeClr val="bg1"/>
              </a:solidFill>
              <a:latin typeface="+mn-lt"/>
            </a:rPr>
            <a:t>Reporting</a:t>
          </a:r>
          <a:r>
            <a:rPr lang="fr-FR" sz="1800" b="1" dirty="0">
              <a:solidFill>
                <a:schemeClr val="bg1"/>
              </a:solidFill>
              <a:latin typeface="+mn-lt"/>
            </a:rPr>
            <a:t> extra-financier:</a:t>
          </a:r>
        </a:p>
        <a:p>
          <a:r>
            <a:rPr lang="fr-FR" sz="1600" b="1" dirty="0">
              <a:solidFill>
                <a:schemeClr val="bg1"/>
              </a:solidFill>
              <a:latin typeface="+mn-lt"/>
            </a:rPr>
            <a:t>-Conséquences sociales et environnementales de l’activité</a:t>
          </a:r>
        </a:p>
        <a:p>
          <a:pPr>
            <a:buFont typeface="Arial" panose="020B0604020202020204" pitchFamily="34" charset="0"/>
            <a:buChar char="•"/>
          </a:pPr>
          <a:r>
            <a:rPr lang="fr-FR" sz="1600" b="1" dirty="0">
              <a:solidFill>
                <a:schemeClr val="bg1"/>
              </a:solidFill>
              <a:latin typeface="+mn-lt"/>
            </a:rPr>
            <a:t>-Engagements en faveur du développement durable</a:t>
          </a:r>
        </a:p>
      </dgm:t>
    </dgm:pt>
    <dgm:pt modelId="{BB511074-DBB9-413E-A99A-B7D51E551365}" type="parTrans" cxnId="{788B6942-5B38-4A18-A2CA-FF9E59B7E73A}">
      <dgm:prSet/>
      <dgm:spPr/>
      <dgm:t>
        <a:bodyPr/>
        <a:lstStyle/>
        <a:p>
          <a:endParaRPr lang="fr-FR" sz="2000" b="1"/>
        </a:p>
      </dgm:t>
    </dgm:pt>
    <dgm:pt modelId="{763A0713-A579-48F7-9798-A3B8A8A792C6}" type="sibTrans" cxnId="{788B6942-5B38-4A18-A2CA-FF9E59B7E73A}">
      <dgm:prSet custT="1"/>
      <dgm:spPr/>
      <dgm:t>
        <a:bodyPr/>
        <a:lstStyle/>
        <a:p>
          <a:endParaRPr lang="fr-FR" sz="2000" b="1"/>
        </a:p>
      </dgm:t>
    </dgm:pt>
    <dgm:pt modelId="{EDBF20F2-B1F6-4997-8D9D-15B3C1C57217}">
      <dgm:prSet phldrT="[Texte]" custT="1"/>
      <dgm:spPr/>
      <dgm:t>
        <a:bodyPr/>
        <a:lstStyle/>
        <a:p>
          <a:r>
            <a:rPr lang="fr-FR" sz="2000" b="1" dirty="0"/>
            <a:t>2024 - Directive CSRD, </a:t>
          </a:r>
          <a:r>
            <a:rPr lang="fr-FR" sz="1600" b="1" dirty="0"/>
            <a:t>obligeant </a:t>
          </a:r>
          <a:r>
            <a:rPr lang="fr-FR" sz="1600" b="1" i="0" dirty="0">
              <a:solidFill>
                <a:schemeClr val="bg1"/>
              </a:solidFill>
              <a:effectLst/>
              <a:latin typeface="+mn-lt"/>
            </a:rPr>
            <a:t>inclure des informations sur leur impact environnemental, social et de gouvernance (ESG) dans leurs rapports financiers</a:t>
          </a:r>
          <a:r>
            <a:rPr lang="fr-FR" sz="1600" b="1" dirty="0">
              <a:solidFill>
                <a:schemeClr val="bg1"/>
              </a:solidFill>
              <a:latin typeface="+mn-lt"/>
            </a:rPr>
            <a:t> </a:t>
          </a:r>
          <a:endParaRPr lang="fr-FR" sz="2000" b="1" dirty="0">
            <a:solidFill>
              <a:schemeClr val="bg1"/>
            </a:solidFill>
            <a:latin typeface="+mn-lt"/>
          </a:endParaRPr>
        </a:p>
      </dgm:t>
    </dgm:pt>
    <dgm:pt modelId="{7AA9B718-FA1B-4E30-BE11-3F773D64D65F}" type="parTrans" cxnId="{AF38686A-7C69-4058-AC9E-535C56385016}">
      <dgm:prSet/>
      <dgm:spPr/>
      <dgm:t>
        <a:bodyPr/>
        <a:lstStyle/>
        <a:p>
          <a:endParaRPr lang="fr-FR" sz="2000" b="1"/>
        </a:p>
      </dgm:t>
    </dgm:pt>
    <dgm:pt modelId="{2701DE12-004C-4B8B-B6FC-6E7BBF01B483}" type="sibTrans" cxnId="{AF38686A-7C69-4058-AC9E-535C56385016}">
      <dgm:prSet/>
      <dgm:spPr/>
      <dgm:t>
        <a:bodyPr/>
        <a:lstStyle/>
        <a:p>
          <a:endParaRPr lang="fr-FR" sz="2000" b="1"/>
        </a:p>
      </dgm:t>
    </dgm:pt>
    <dgm:pt modelId="{DB8D2B9C-7E6B-44A9-B269-825F48386D93}" type="pres">
      <dgm:prSet presAssocID="{711185E8-A6F3-4064-A2BE-95C04AD85B46}" presName="Name0" presStyleCnt="0">
        <dgm:presLayoutVars>
          <dgm:dir/>
          <dgm:resizeHandles val="exact"/>
        </dgm:presLayoutVars>
      </dgm:prSet>
      <dgm:spPr/>
    </dgm:pt>
    <dgm:pt modelId="{5986AE12-E687-445D-BCD1-3FE4402DC658}" type="pres">
      <dgm:prSet presAssocID="{A1EF2F4A-B871-4103-BD68-055878ACB959}" presName="node" presStyleLbl="node1" presStyleIdx="0" presStyleCnt="2">
        <dgm:presLayoutVars>
          <dgm:bulletEnabled val="1"/>
        </dgm:presLayoutVars>
      </dgm:prSet>
      <dgm:spPr/>
    </dgm:pt>
    <dgm:pt modelId="{37FE9F62-4CA2-4D1D-B0F3-8A6A795F1285}" type="pres">
      <dgm:prSet presAssocID="{763A0713-A579-48F7-9798-A3B8A8A792C6}" presName="sibTrans" presStyleLbl="sibTrans2D1" presStyleIdx="0" presStyleCnt="1"/>
      <dgm:spPr/>
    </dgm:pt>
    <dgm:pt modelId="{737F88C0-9634-446E-A680-8400D96185EF}" type="pres">
      <dgm:prSet presAssocID="{763A0713-A579-48F7-9798-A3B8A8A792C6}" presName="connectorText" presStyleLbl="sibTrans2D1" presStyleIdx="0" presStyleCnt="1"/>
      <dgm:spPr/>
    </dgm:pt>
    <dgm:pt modelId="{5B2AA04F-8E65-4A94-82A0-A709FD38CEBE}" type="pres">
      <dgm:prSet presAssocID="{EDBF20F2-B1F6-4997-8D9D-15B3C1C57217}" presName="node" presStyleLbl="node1" presStyleIdx="1" presStyleCnt="2">
        <dgm:presLayoutVars>
          <dgm:bulletEnabled val="1"/>
        </dgm:presLayoutVars>
      </dgm:prSet>
      <dgm:spPr/>
    </dgm:pt>
  </dgm:ptLst>
  <dgm:cxnLst>
    <dgm:cxn modelId="{3E8EEC17-8EF0-435B-9C5B-86CA2DFE3166}" type="presOf" srcId="{711185E8-A6F3-4064-A2BE-95C04AD85B46}" destId="{DB8D2B9C-7E6B-44A9-B269-825F48386D93}" srcOrd="0" destOrd="0" presId="urn:microsoft.com/office/officeart/2005/8/layout/process1"/>
    <dgm:cxn modelId="{8ADC7C2C-9CFB-4104-B790-FF0F601FD860}" type="presOf" srcId="{EDBF20F2-B1F6-4997-8D9D-15B3C1C57217}" destId="{5B2AA04F-8E65-4A94-82A0-A709FD38CEBE}" srcOrd="0" destOrd="0" presId="urn:microsoft.com/office/officeart/2005/8/layout/process1"/>
    <dgm:cxn modelId="{13A00C42-75B6-4898-AFA9-A58568DD6FAB}" type="presOf" srcId="{A1EF2F4A-B871-4103-BD68-055878ACB959}" destId="{5986AE12-E687-445D-BCD1-3FE4402DC658}" srcOrd="0" destOrd="0" presId="urn:microsoft.com/office/officeart/2005/8/layout/process1"/>
    <dgm:cxn modelId="{788B6942-5B38-4A18-A2CA-FF9E59B7E73A}" srcId="{711185E8-A6F3-4064-A2BE-95C04AD85B46}" destId="{A1EF2F4A-B871-4103-BD68-055878ACB959}" srcOrd="0" destOrd="0" parTransId="{BB511074-DBB9-413E-A99A-B7D51E551365}" sibTransId="{763A0713-A579-48F7-9798-A3B8A8A792C6}"/>
    <dgm:cxn modelId="{AF38686A-7C69-4058-AC9E-535C56385016}" srcId="{711185E8-A6F3-4064-A2BE-95C04AD85B46}" destId="{EDBF20F2-B1F6-4997-8D9D-15B3C1C57217}" srcOrd="1" destOrd="0" parTransId="{7AA9B718-FA1B-4E30-BE11-3F773D64D65F}" sibTransId="{2701DE12-004C-4B8B-B6FC-6E7BBF01B483}"/>
    <dgm:cxn modelId="{2207229F-EF3D-4171-AF1A-E9B1543ACB44}" type="presOf" srcId="{763A0713-A579-48F7-9798-A3B8A8A792C6}" destId="{737F88C0-9634-446E-A680-8400D96185EF}" srcOrd="1" destOrd="0" presId="urn:microsoft.com/office/officeart/2005/8/layout/process1"/>
    <dgm:cxn modelId="{C0DF89B8-9622-4553-9F60-FC381234044F}" type="presOf" srcId="{763A0713-A579-48F7-9798-A3B8A8A792C6}" destId="{37FE9F62-4CA2-4D1D-B0F3-8A6A795F1285}" srcOrd="0" destOrd="0" presId="urn:microsoft.com/office/officeart/2005/8/layout/process1"/>
    <dgm:cxn modelId="{FAA4AD71-C07F-4ECF-80C3-6576A444DF8F}" type="presParOf" srcId="{DB8D2B9C-7E6B-44A9-B269-825F48386D93}" destId="{5986AE12-E687-445D-BCD1-3FE4402DC658}" srcOrd="0" destOrd="0" presId="urn:microsoft.com/office/officeart/2005/8/layout/process1"/>
    <dgm:cxn modelId="{868241A0-3918-481B-9EFD-ABB90369169E}" type="presParOf" srcId="{DB8D2B9C-7E6B-44A9-B269-825F48386D93}" destId="{37FE9F62-4CA2-4D1D-B0F3-8A6A795F1285}" srcOrd="1" destOrd="0" presId="urn:microsoft.com/office/officeart/2005/8/layout/process1"/>
    <dgm:cxn modelId="{CEEAE810-0F6C-48FF-AF14-182E039BD1D3}" type="presParOf" srcId="{37FE9F62-4CA2-4D1D-B0F3-8A6A795F1285}" destId="{737F88C0-9634-446E-A680-8400D96185EF}" srcOrd="0" destOrd="0" presId="urn:microsoft.com/office/officeart/2005/8/layout/process1"/>
    <dgm:cxn modelId="{D28A3783-50AA-40DB-A55E-4FF59B810DA2}" type="presParOf" srcId="{DB8D2B9C-7E6B-44A9-B269-825F48386D93}" destId="{5B2AA04F-8E65-4A94-82A0-A709FD38CEBE}"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E092B31E-DF0C-412D-8BD4-B8D8495211E9}"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fr-FR"/>
        </a:p>
      </dgm:t>
    </dgm:pt>
    <dgm:pt modelId="{1C19BC63-5A92-4981-94E5-57C78EA4D9F3}">
      <dgm:prSet phldrT="[Texte]" custT="1"/>
      <dgm:spPr/>
      <dgm:t>
        <a:bodyPr/>
        <a:lstStyle/>
        <a:p>
          <a:r>
            <a:rPr lang="fr-FR" sz="2000" b="1" dirty="0"/>
            <a:t>Planification</a:t>
          </a:r>
        </a:p>
      </dgm:t>
    </dgm:pt>
    <dgm:pt modelId="{17CD54CE-4E17-4CAD-BE3B-261BA4A9AC6B}" type="parTrans" cxnId="{96EE811D-F16A-4306-B4DE-D2F9B30F6709}">
      <dgm:prSet/>
      <dgm:spPr/>
      <dgm:t>
        <a:bodyPr/>
        <a:lstStyle/>
        <a:p>
          <a:endParaRPr lang="fr-FR" sz="2000" b="1"/>
        </a:p>
      </dgm:t>
    </dgm:pt>
    <dgm:pt modelId="{4B23A607-EA31-4280-8F79-D5E569FFE82A}" type="sibTrans" cxnId="{96EE811D-F16A-4306-B4DE-D2F9B30F6709}">
      <dgm:prSet/>
      <dgm:spPr/>
      <dgm:t>
        <a:bodyPr/>
        <a:lstStyle/>
        <a:p>
          <a:endParaRPr lang="fr-FR" sz="2000" b="1"/>
        </a:p>
      </dgm:t>
    </dgm:pt>
    <dgm:pt modelId="{0F18F500-511E-4B7D-BFDF-1492D64577EB}">
      <dgm:prSet phldrT="[Texte]" custT="1"/>
      <dgm:spPr/>
      <dgm:t>
        <a:bodyPr/>
        <a:lstStyle/>
        <a:p>
          <a:r>
            <a:rPr lang="fr-FR" sz="2000" b="1" dirty="0"/>
            <a:t>Maîtrise opérationnelle</a:t>
          </a:r>
        </a:p>
      </dgm:t>
    </dgm:pt>
    <dgm:pt modelId="{1A5C130C-7EE8-464A-8019-158A76B27DB8}" type="parTrans" cxnId="{D68091D6-B317-4334-8FB4-055AA0F56539}">
      <dgm:prSet/>
      <dgm:spPr/>
      <dgm:t>
        <a:bodyPr/>
        <a:lstStyle/>
        <a:p>
          <a:endParaRPr lang="fr-FR" sz="2000" b="1"/>
        </a:p>
      </dgm:t>
    </dgm:pt>
    <dgm:pt modelId="{C5F1D0EE-5435-47A3-9A7D-2922B1443F06}" type="sibTrans" cxnId="{D68091D6-B317-4334-8FB4-055AA0F56539}">
      <dgm:prSet/>
      <dgm:spPr/>
      <dgm:t>
        <a:bodyPr/>
        <a:lstStyle/>
        <a:p>
          <a:endParaRPr lang="fr-FR" sz="2000" b="1"/>
        </a:p>
      </dgm:t>
    </dgm:pt>
    <dgm:pt modelId="{74779776-ED1A-4685-BD92-E904B761EC41}">
      <dgm:prSet phldrT="[Texte]" custT="1"/>
      <dgm:spPr/>
      <dgm:t>
        <a:bodyPr/>
        <a:lstStyle/>
        <a:p>
          <a:r>
            <a:rPr lang="fr-FR" sz="2000" b="1" dirty="0"/>
            <a:t>Préparation et réponse aux situations d’urgence</a:t>
          </a:r>
        </a:p>
      </dgm:t>
    </dgm:pt>
    <dgm:pt modelId="{24E67D57-9465-42DF-B741-3BE2D9D87C23}" type="parTrans" cxnId="{A7FEE27A-6770-4A83-9D0A-8153A8B74E7B}">
      <dgm:prSet/>
      <dgm:spPr/>
      <dgm:t>
        <a:bodyPr/>
        <a:lstStyle/>
        <a:p>
          <a:endParaRPr lang="fr-FR" sz="2000" b="1"/>
        </a:p>
      </dgm:t>
    </dgm:pt>
    <dgm:pt modelId="{729C49F1-DAE4-45C4-9F69-EC622FDE1268}" type="sibTrans" cxnId="{A7FEE27A-6770-4A83-9D0A-8153A8B74E7B}">
      <dgm:prSet/>
      <dgm:spPr/>
      <dgm:t>
        <a:bodyPr/>
        <a:lstStyle/>
        <a:p>
          <a:endParaRPr lang="fr-FR" sz="2000" b="1"/>
        </a:p>
      </dgm:t>
    </dgm:pt>
    <dgm:pt modelId="{4FB187CA-1861-4464-AB3F-880B8AC8B74A}" type="pres">
      <dgm:prSet presAssocID="{E092B31E-DF0C-412D-8BD4-B8D8495211E9}" presName="diagram" presStyleCnt="0">
        <dgm:presLayoutVars>
          <dgm:dir/>
          <dgm:resizeHandles val="exact"/>
        </dgm:presLayoutVars>
      </dgm:prSet>
      <dgm:spPr/>
    </dgm:pt>
    <dgm:pt modelId="{5EF98119-0EB0-43A0-84B8-E69648DCD488}" type="pres">
      <dgm:prSet presAssocID="{1C19BC63-5A92-4981-94E5-57C78EA4D9F3}" presName="node" presStyleLbl="node1" presStyleIdx="0" presStyleCnt="3">
        <dgm:presLayoutVars>
          <dgm:bulletEnabled val="1"/>
        </dgm:presLayoutVars>
      </dgm:prSet>
      <dgm:spPr/>
    </dgm:pt>
    <dgm:pt modelId="{73ACC5E4-7B18-4366-8113-A26D4925F25B}" type="pres">
      <dgm:prSet presAssocID="{4B23A607-EA31-4280-8F79-D5E569FFE82A}" presName="sibTrans" presStyleCnt="0"/>
      <dgm:spPr/>
    </dgm:pt>
    <dgm:pt modelId="{64C9A38D-9C81-4F9F-90EC-EB6B60617DB3}" type="pres">
      <dgm:prSet presAssocID="{0F18F500-511E-4B7D-BFDF-1492D64577EB}" presName="node" presStyleLbl="node1" presStyleIdx="1" presStyleCnt="3">
        <dgm:presLayoutVars>
          <dgm:bulletEnabled val="1"/>
        </dgm:presLayoutVars>
      </dgm:prSet>
      <dgm:spPr/>
    </dgm:pt>
    <dgm:pt modelId="{F7C4A716-A11B-489B-A994-39DC99B72874}" type="pres">
      <dgm:prSet presAssocID="{C5F1D0EE-5435-47A3-9A7D-2922B1443F06}" presName="sibTrans" presStyleCnt="0"/>
      <dgm:spPr/>
    </dgm:pt>
    <dgm:pt modelId="{F6773477-4185-4A8F-9DA2-6BC3C0E466B1}" type="pres">
      <dgm:prSet presAssocID="{74779776-ED1A-4685-BD92-E904B761EC41}" presName="node" presStyleLbl="node1" presStyleIdx="2" presStyleCnt="3">
        <dgm:presLayoutVars>
          <dgm:bulletEnabled val="1"/>
        </dgm:presLayoutVars>
      </dgm:prSet>
      <dgm:spPr/>
    </dgm:pt>
  </dgm:ptLst>
  <dgm:cxnLst>
    <dgm:cxn modelId="{96EE811D-F16A-4306-B4DE-D2F9B30F6709}" srcId="{E092B31E-DF0C-412D-8BD4-B8D8495211E9}" destId="{1C19BC63-5A92-4981-94E5-57C78EA4D9F3}" srcOrd="0" destOrd="0" parTransId="{17CD54CE-4E17-4CAD-BE3B-261BA4A9AC6B}" sibTransId="{4B23A607-EA31-4280-8F79-D5E569FFE82A}"/>
    <dgm:cxn modelId="{9005192F-4CCA-4089-85CC-0A06EF258C62}" type="presOf" srcId="{E092B31E-DF0C-412D-8BD4-B8D8495211E9}" destId="{4FB187CA-1861-4464-AB3F-880B8AC8B74A}" srcOrd="0" destOrd="0" presId="urn:microsoft.com/office/officeart/2005/8/layout/default"/>
    <dgm:cxn modelId="{A7FEE27A-6770-4A83-9D0A-8153A8B74E7B}" srcId="{E092B31E-DF0C-412D-8BD4-B8D8495211E9}" destId="{74779776-ED1A-4685-BD92-E904B761EC41}" srcOrd="2" destOrd="0" parTransId="{24E67D57-9465-42DF-B741-3BE2D9D87C23}" sibTransId="{729C49F1-DAE4-45C4-9F69-EC622FDE1268}"/>
    <dgm:cxn modelId="{EAFF9E8C-76E2-4181-8B5C-131C8FF187BB}" type="presOf" srcId="{74779776-ED1A-4685-BD92-E904B761EC41}" destId="{F6773477-4185-4A8F-9DA2-6BC3C0E466B1}" srcOrd="0" destOrd="0" presId="urn:microsoft.com/office/officeart/2005/8/layout/default"/>
    <dgm:cxn modelId="{29D97BAC-EB4C-4472-84BE-2E166381D104}" type="presOf" srcId="{1C19BC63-5A92-4981-94E5-57C78EA4D9F3}" destId="{5EF98119-0EB0-43A0-84B8-E69648DCD488}" srcOrd="0" destOrd="0" presId="urn:microsoft.com/office/officeart/2005/8/layout/default"/>
    <dgm:cxn modelId="{956959C9-408E-4931-816B-10E569DFE9A3}" type="presOf" srcId="{0F18F500-511E-4B7D-BFDF-1492D64577EB}" destId="{64C9A38D-9C81-4F9F-90EC-EB6B60617DB3}" srcOrd="0" destOrd="0" presId="urn:microsoft.com/office/officeart/2005/8/layout/default"/>
    <dgm:cxn modelId="{D68091D6-B317-4334-8FB4-055AA0F56539}" srcId="{E092B31E-DF0C-412D-8BD4-B8D8495211E9}" destId="{0F18F500-511E-4B7D-BFDF-1492D64577EB}" srcOrd="1" destOrd="0" parTransId="{1A5C130C-7EE8-464A-8019-158A76B27DB8}" sibTransId="{C5F1D0EE-5435-47A3-9A7D-2922B1443F06}"/>
    <dgm:cxn modelId="{7665983C-F700-4DB6-BCD0-8A01AF99F234}" type="presParOf" srcId="{4FB187CA-1861-4464-AB3F-880B8AC8B74A}" destId="{5EF98119-0EB0-43A0-84B8-E69648DCD488}" srcOrd="0" destOrd="0" presId="urn:microsoft.com/office/officeart/2005/8/layout/default"/>
    <dgm:cxn modelId="{D27F4916-F6C8-413D-A282-CF417C875ED4}" type="presParOf" srcId="{4FB187CA-1861-4464-AB3F-880B8AC8B74A}" destId="{73ACC5E4-7B18-4366-8113-A26D4925F25B}" srcOrd="1" destOrd="0" presId="urn:microsoft.com/office/officeart/2005/8/layout/default"/>
    <dgm:cxn modelId="{4D7C89ED-65AF-4A9E-AE58-84D745CD2E47}" type="presParOf" srcId="{4FB187CA-1861-4464-AB3F-880B8AC8B74A}" destId="{64C9A38D-9C81-4F9F-90EC-EB6B60617DB3}" srcOrd="2" destOrd="0" presId="urn:microsoft.com/office/officeart/2005/8/layout/default"/>
    <dgm:cxn modelId="{FA2AE876-96C8-44A2-91A4-125D94847438}" type="presParOf" srcId="{4FB187CA-1861-4464-AB3F-880B8AC8B74A}" destId="{F7C4A716-A11B-489B-A994-39DC99B72874}" srcOrd="3" destOrd="0" presId="urn:microsoft.com/office/officeart/2005/8/layout/default"/>
    <dgm:cxn modelId="{36B62BCE-04FF-4E14-BF9F-A83FAB1E5CB6}" type="presParOf" srcId="{4FB187CA-1861-4464-AB3F-880B8AC8B74A}" destId="{F6773477-4185-4A8F-9DA2-6BC3C0E466B1}"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F23A6-07B3-4F5B-8EF2-D75116B82CB8}">
      <dsp:nvSpPr>
        <dsp:cNvPr id="0" name=""/>
        <dsp:cNvSpPr/>
      </dsp:nvSpPr>
      <dsp:spPr>
        <a:xfrm rot="5400000">
          <a:off x="3325231" y="-1541779"/>
          <a:ext cx="807913" cy="4096512"/>
        </a:xfrm>
        <a:prstGeom prst="round2Same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fr-FR" sz="2000" b="0" kern="1200" dirty="0"/>
            <a:t>La responsabilité environnementale</a:t>
          </a:r>
        </a:p>
      </dsp:txBody>
      <dsp:txXfrm rot="-5400000">
        <a:off x="1680932" y="141959"/>
        <a:ext cx="4057073" cy="729035"/>
      </dsp:txXfrm>
    </dsp:sp>
    <dsp:sp modelId="{B35F7A22-78A4-4B45-8141-ADE5937977F8}">
      <dsp:nvSpPr>
        <dsp:cNvPr id="0" name=""/>
        <dsp:cNvSpPr/>
      </dsp:nvSpPr>
      <dsp:spPr>
        <a:xfrm>
          <a:off x="623355" y="1530"/>
          <a:ext cx="1057576" cy="100989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b="1" kern="1200" dirty="0"/>
            <a:t>1</a:t>
          </a:r>
        </a:p>
      </dsp:txBody>
      <dsp:txXfrm>
        <a:off x="672654" y="50829"/>
        <a:ext cx="958978" cy="911293"/>
      </dsp:txXfrm>
    </dsp:sp>
    <dsp:sp modelId="{52226437-4125-4222-BF04-9956A4A7C5EB}">
      <dsp:nvSpPr>
        <dsp:cNvPr id="0" name=""/>
        <dsp:cNvSpPr/>
      </dsp:nvSpPr>
      <dsp:spPr>
        <a:xfrm rot="5400000">
          <a:off x="3325231" y="-481393"/>
          <a:ext cx="807913" cy="4096512"/>
        </a:xfrm>
        <a:prstGeom prst="round2Same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fr-FR" sz="2000" b="0" kern="1200" dirty="0"/>
            <a:t>Les impacts environnementaux</a:t>
          </a:r>
        </a:p>
      </dsp:txBody>
      <dsp:txXfrm rot="-5400000">
        <a:off x="1680932" y="1202345"/>
        <a:ext cx="4057073" cy="729035"/>
      </dsp:txXfrm>
    </dsp:sp>
    <dsp:sp modelId="{7D3AC168-8E83-4457-A69A-4375FB15D741}">
      <dsp:nvSpPr>
        <dsp:cNvPr id="0" name=""/>
        <dsp:cNvSpPr/>
      </dsp:nvSpPr>
      <dsp:spPr>
        <a:xfrm>
          <a:off x="623355" y="1061916"/>
          <a:ext cx="1057576" cy="100989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b="1" kern="1200" dirty="0"/>
            <a:t>2</a:t>
          </a:r>
        </a:p>
      </dsp:txBody>
      <dsp:txXfrm>
        <a:off x="672654" y="1111215"/>
        <a:ext cx="958978" cy="911293"/>
      </dsp:txXfrm>
    </dsp:sp>
    <dsp:sp modelId="{DE701536-5709-420A-9281-64C717D30A45}">
      <dsp:nvSpPr>
        <dsp:cNvPr id="0" name=""/>
        <dsp:cNvSpPr/>
      </dsp:nvSpPr>
      <dsp:spPr>
        <a:xfrm rot="5400000">
          <a:off x="3325231" y="578992"/>
          <a:ext cx="807913" cy="4096512"/>
        </a:xfrm>
        <a:prstGeom prst="round2Same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fr-FR" sz="2000" b="0" kern="1200" dirty="0"/>
            <a:t>Les domaines d’actions</a:t>
          </a:r>
        </a:p>
      </dsp:txBody>
      <dsp:txXfrm rot="-5400000">
        <a:off x="1680932" y="2262731"/>
        <a:ext cx="4057073" cy="729035"/>
      </dsp:txXfrm>
    </dsp:sp>
    <dsp:sp modelId="{CE55AC18-F402-4E60-BA25-08DAFD056C31}">
      <dsp:nvSpPr>
        <dsp:cNvPr id="0" name=""/>
        <dsp:cNvSpPr/>
      </dsp:nvSpPr>
      <dsp:spPr>
        <a:xfrm>
          <a:off x="623355" y="2122303"/>
          <a:ext cx="1057576" cy="100989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b="1" kern="1200" dirty="0"/>
            <a:t>3</a:t>
          </a:r>
        </a:p>
      </dsp:txBody>
      <dsp:txXfrm>
        <a:off x="672654" y="2171602"/>
        <a:ext cx="958978" cy="9112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F53EE-1418-4EB3-9411-C15EBA3A5577}">
      <dsp:nvSpPr>
        <dsp:cNvPr id="0" name=""/>
        <dsp:cNvSpPr/>
      </dsp:nvSpPr>
      <dsp:spPr>
        <a:xfrm>
          <a:off x="38" y="26057"/>
          <a:ext cx="3685337" cy="11520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FR" sz="1800" b="1" kern="1200" dirty="0"/>
            <a:t>Les nuisances directes</a:t>
          </a:r>
        </a:p>
      </dsp:txBody>
      <dsp:txXfrm>
        <a:off x="38" y="26057"/>
        <a:ext cx="3685337" cy="1152000"/>
      </dsp:txXfrm>
    </dsp:sp>
    <dsp:sp modelId="{07CF52BB-167A-4895-8FA5-86C4BDBD980E}">
      <dsp:nvSpPr>
        <dsp:cNvPr id="0" name=""/>
        <dsp:cNvSpPr/>
      </dsp:nvSpPr>
      <dsp:spPr>
        <a:xfrm>
          <a:off x="38" y="1178057"/>
          <a:ext cx="3685337" cy="1756800"/>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FR" sz="1800" kern="1200" dirty="0"/>
            <a:t>Pollutions </a:t>
          </a:r>
        </a:p>
        <a:p>
          <a:pPr marL="171450" lvl="1" indent="-171450" algn="l" defTabSz="800100">
            <a:lnSpc>
              <a:spcPct val="90000"/>
            </a:lnSpc>
            <a:spcBef>
              <a:spcPct val="0"/>
            </a:spcBef>
            <a:spcAft>
              <a:spcPct val="15000"/>
            </a:spcAft>
            <a:buChar char="•"/>
          </a:pPr>
          <a:r>
            <a:rPr lang="fr-FR" sz="1800" kern="1200" dirty="0"/>
            <a:t>Bruits</a:t>
          </a:r>
        </a:p>
        <a:p>
          <a:pPr marL="171450" lvl="1" indent="-171450" algn="l" defTabSz="800100">
            <a:lnSpc>
              <a:spcPct val="90000"/>
            </a:lnSpc>
            <a:spcBef>
              <a:spcPct val="0"/>
            </a:spcBef>
            <a:spcAft>
              <a:spcPct val="15000"/>
            </a:spcAft>
            <a:buChar char="•"/>
          </a:pPr>
          <a:r>
            <a:rPr lang="fr-FR" sz="1800" kern="1200" dirty="0"/>
            <a:t>Odeurs</a:t>
          </a:r>
        </a:p>
        <a:p>
          <a:pPr marL="171450" lvl="1" indent="-171450" algn="l" defTabSz="800100">
            <a:lnSpc>
              <a:spcPct val="90000"/>
            </a:lnSpc>
            <a:spcBef>
              <a:spcPct val="0"/>
            </a:spcBef>
            <a:spcAft>
              <a:spcPct val="15000"/>
            </a:spcAft>
            <a:buChar char="•"/>
          </a:pPr>
          <a:r>
            <a:rPr lang="fr-FR" sz="1800" kern="1200" dirty="0"/>
            <a:t>Désagréments visuels</a:t>
          </a:r>
        </a:p>
        <a:p>
          <a:pPr marL="171450" lvl="1" indent="-171450" algn="l" defTabSz="800100">
            <a:lnSpc>
              <a:spcPct val="90000"/>
            </a:lnSpc>
            <a:spcBef>
              <a:spcPct val="0"/>
            </a:spcBef>
            <a:spcAft>
              <a:spcPct val="15000"/>
            </a:spcAft>
            <a:buChar char="•"/>
          </a:pPr>
          <a:r>
            <a:rPr lang="fr-FR" sz="1800" kern="1200" dirty="0"/>
            <a:t>…</a:t>
          </a:r>
        </a:p>
      </dsp:txBody>
      <dsp:txXfrm>
        <a:off x="38" y="1178057"/>
        <a:ext cx="3685337" cy="1756800"/>
      </dsp:txXfrm>
    </dsp:sp>
    <dsp:sp modelId="{99EA5E19-AC66-45B2-B130-AC50FBA04E5D}">
      <dsp:nvSpPr>
        <dsp:cNvPr id="0" name=""/>
        <dsp:cNvSpPr/>
      </dsp:nvSpPr>
      <dsp:spPr>
        <a:xfrm>
          <a:off x="4201323" y="26057"/>
          <a:ext cx="3685337" cy="11520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FR" sz="1800" b="1" kern="1200" dirty="0"/>
            <a:t>Les nuisances indirectes</a:t>
          </a:r>
        </a:p>
      </dsp:txBody>
      <dsp:txXfrm>
        <a:off x="4201323" y="26057"/>
        <a:ext cx="3685337" cy="1152000"/>
      </dsp:txXfrm>
    </dsp:sp>
    <dsp:sp modelId="{D40C174D-57B7-44AE-82D4-95F0281F10A0}">
      <dsp:nvSpPr>
        <dsp:cNvPr id="0" name=""/>
        <dsp:cNvSpPr/>
      </dsp:nvSpPr>
      <dsp:spPr>
        <a:xfrm>
          <a:off x="4201323" y="1178057"/>
          <a:ext cx="3685337" cy="1756800"/>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FR" sz="1800" kern="1200" dirty="0"/>
            <a:t>Perturbation des espèces animales et végétales</a:t>
          </a:r>
        </a:p>
      </dsp:txBody>
      <dsp:txXfrm>
        <a:off x="4201323" y="1178057"/>
        <a:ext cx="3685337" cy="1756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800D38-2656-4ACA-86D3-1AE927DF21B1}">
      <dsp:nvSpPr>
        <dsp:cNvPr id="0" name=""/>
        <dsp:cNvSpPr/>
      </dsp:nvSpPr>
      <dsp:spPr>
        <a:xfrm>
          <a:off x="40" y="310392"/>
          <a:ext cx="3838787" cy="83225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FR" sz="1800" b="1" kern="1200" dirty="0"/>
            <a:t>Prévention</a:t>
          </a:r>
        </a:p>
      </dsp:txBody>
      <dsp:txXfrm>
        <a:off x="40" y="310392"/>
        <a:ext cx="3838787" cy="832251"/>
      </dsp:txXfrm>
    </dsp:sp>
    <dsp:sp modelId="{770880E7-4A3E-48DE-884C-8FF54E809F92}">
      <dsp:nvSpPr>
        <dsp:cNvPr id="0" name=""/>
        <dsp:cNvSpPr/>
      </dsp:nvSpPr>
      <dsp:spPr>
        <a:xfrm>
          <a:off x="40" y="1048392"/>
          <a:ext cx="3838787" cy="3359880"/>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FR" sz="1800" kern="1200" dirty="0"/>
            <a:t>Empêcher la réalisation d’un dommage en cas de menace imminente</a:t>
          </a:r>
        </a:p>
        <a:p>
          <a:pPr marL="171450" lvl="1" indent="-171450" algn="l" defTabSz="800100">
            <a:lnSpc>
              <a:spcPct val="90000"/>
            </a:lnSpc>
            <a:spcBef>
              <a:spcPct val="0"/>
            </a:spcBef>
            <a:spcAft>
              <a:spcPct val="15000"/>
            </a:spcAft>
            <a:buChar char="•"/>
          </a:pPr>
          <a:r>
            <a:rPr lang="fr-FR" sz="1800" kern="1200" dirty="0"/>
            <a:t>Informer l’autorité compétente en cas de persistance de la menace</a:t>
          </a:r>
        </a:p>
        <a:p>
          <a:pPr marL="171450" lvl="1" indent="-171450" algn="l" defTabSz="800100">
            <a:lnSpc>
              <a:spcPct val="90000"/>
            </a:lnSpc>
            <a:spcBef>
              <a:spcPct val="0"/>
            </a:spcBef>
            <a:spcAft>
              <a:spcPct val="15000"/>
            </a:spcAft>
            <a:buChar char="•"/>
          </a:pPr>
          <a:r>
            <a:rPr lang="fr-FR" sz="1800" kern="1200" dirty="0"/>
            <a:t>En cas de dommage, informer la préfecture et prendre toutes les mesures pour:</a:t>
          </a:r>
        </a:p>
        <a:p>
          <a:pPr marL="342900" lvl="2" indent="-171450" algn="l" defTabSz="800100">
            <a:lnSpc>
              <a:spcPct val="90000"/>
            </a:lnSpc>
            <a:spcBef>
              <a:spcPct val="0"/>
            </a:spcBef>
            <a:spcAft>
              <a:spcPct val="15000"/>
            </a:spcAft>
            <a:buChar char="•"/>
          </a:pPr>
          <a:r>
            <a:rPr lang="fr-FR" sz="1800" kern="1200" dirty="0"/>
            <a:t>Mettre fin à ses causes</a:t>
          </a:r>
        </a:p>
        <a:p>
          <a:pPr marL="342900" lvl="2" indent="-171450" algn="l" defTabSz="800100">
            <a:lnSpc>
              <a:spcPct val="90000"/>
            </a:lnSpc>
            <a:spcBef>
              <a:spcPct val="0"/>
            </a:spcBef>
            <a:spcAft>
              <a:spcPct val="15000"/>
            </a:spcAft>
            <a:buChar char="•"/>
          </a:pPr>
          <a:r>
            <a:rPr lang="fr-FR" sz="1800" kern="1200" dirty="0"/>
            <a:t>Prévenir ou limiter son aggravation</a:t>
          </a:r>
        </a:p>
      </dsp:txBody>
      <dsp:txXfrm>
        <a:off x="40" y="1048392"/>
        <a:ext cx="3838787" cy="3359880"/>
      </dsp:txXfrm>
    </dsp:sp>
    <dsp:sp modelId="{C873014A-6893-4507-B5F9-E28E29D35C0D}">
      <dsp:nvSpPr>
        <dsp:cNvPr id="0" name=""/>
        <dsp:cNvSpPr/>
      </dsp:nvSpPr>
      <dsp:spPr>
        <a:xfrm>
          <a:off x="4376258" y="310392"/>
          <a:ext cx="3838787" cy="83225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FR" sz="1800" b="1" kern="1200" dirty="0"/>
            <a:t>Réparation</a:t>
          </a:r>
        </a:p>
      </dsp:txBody>
      <dsp:txXfrm>
        <a:off x="4376258" y="310392"/>
        <a:ext cx="3838787" cy="832251"/>
      </dsp:txXfrm>
    </dsp:sp>
    <dsp:sp modelId="{DF588D65-EFC6-4AE7-86A4-5C5CDABFB423}">
      <dsp:nvSpPr>
        <dsp:cNvPr id="0" name=""/>
        <dsp:cNvSpPr/>
      </dsp:nvSpPr>
      <dsp:spPr>
        <a:xfrm>
          <a:off x="4376258" y="1048392"/>
          <a:ext cx="3838787" cy="3359880"/>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FR" sz="1800" kern="1200" dirty="0"/>
            <a:t>Procédure d’approbation des mesures envisagées (préfecture, collectivités, associations de protection de l’environnement, et toute personne potentiellement affectée par ces mesures)</a:t>
          </a:r>
        </a:p>
        <a:p>
          <a:pPr marL="171450" lvl="1" indent="-171450" algn="l" defTabSz="800100">
            <a:lnSpc>
              <a:spcPct val="90000"/>
            </a:lnSpc>
            <a:spcBef>
              <a:spcPct val="0"/>
            </a:spcBef>
            <a:spcAft>
              <a:spcPct val="15000"/>
            </a:spcAft>
            <a:buChar char="•"/>
          </a:pPr>
          <a:r>
            <a:rPr lang="fr-FR" sz="1800" kern="1200" dirty="0"/>
            <a:t>Supprimer tout risque d’atteinte grave à la santé en cas de contamination des sols</a:t>
          </a:r>
        </a:p>
        <a:p>
          <a:pPr marL="171450" lvl="1" indent="-171450" algn="l" defTabSz="800100">
            <a:lnSpc>
              <a:spcPct val="90000"/>
            </a:lnSpc>
            <a:spcBef>
              <a:spcPct val="0"/>
            </a:spcBef>
            <a:spcAft>
              <a:spcPct val="15000"/>
            </a:spcAft>
            <a:buChar char="•"/>
          </a:pPr>
          <a:r>
            <a:rPr lang="fr-FR" sz="1800" kern="1200" dirty="0"/>
            <a:t>Rétablir les ressources naturelles et les services écologiques dans leur état initial</a:t>
          </a:r>
        </a:p>
      </dsp:txBody>
      <dsp:txXfrm>
        <a:off x="4376258" y="1048392"/>
        <a:ext cx="3838787" cy="3359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610067-2072-43F5-B086-FBAF587F9C8D}">
      <dsp:nvSpPr>
        <dsp:cNvPr id="0" name=""/>
        <dsp:cNvSpPr/>
      </dsp:nvSpPr>
      <dsp:spPr>
        <a:xfrm>
          <a:off x="3947" y="0"/>
          <a:ext cx="3797014" cy="4038085"/>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Responsabilité pénale</a:t>
          </a:r>
        </a:p>
      </dsp:txBody>
      <dsp:txXfrm>
        <a:off x="3947" y="0"/>
        <a:ext cx="3797014" cy="1211425"/>
      </dsp:txXfrm>
    </dsp:sp>
    <dsp:sp modelId="{16EF8C12-6613-4090-BA49-C594B1634169}">
      <dsp:nvSpPr>
        <dsp:cNvPr id="0" name=""/>
        <dsp:cNvSpPr/>
      </dsp:nvSpPr>
      <dsp:spPr>
        <a:xfrm>
          <a:off x="383648" y="1211850"/>
          <a:ext cx="3037611" cy="167008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fr-FR" sz="1800" b="1" kern="1200" dirty="0"/>
            <a:t>Concerne le pollueur, en tant que personne physique et/ou personne morale </a:t>
          </a:r>
        </a:p>
        <a:p>
          <a:pPr marL="0" lvl="0" indent="0" algn="ctr" defTabSz="800100">
            <a:lnSpc>
              <a:spcPct val="90000"/>
            </a:lnSpc>
            <a:spcBef>
              <a:spcPct val="0"/>
            </a:spcBef>
            <a:spcAft>
              <a:spcPct val="35000"/>
            </a:spcAft>
            <a:buNone/>
          </a:pPr>
          <a:r>
            <a:rPr lang="fr-FR" sz="1800" b="0" kern="1200" dirty="0"/>
            <a:t>(Personne morale depuis 1994, sauf l’état)</a:t>
          </a:r>
        </a:p>
      </dsp:txBody>
      <dsp:txXfrm>
        <a:off x="432563" y="1260765"/>
        <a:ext cx="2939781" cy="1572255"/>
      </dsp:txXfrm>
    </dsp:sp>
    <dsp:sp modelId="{045BE40E-6032-4250-B9A4-539875254937}">
      <dsp:nvSpPr>
        <dsp:cNvPr id="0" name=""/>
        <dsp:cNvSpPr/>
      </dsp:nvSpPr>
      <dsp:spPr>
        <a:xfrm>
          <a:off x="383648" y="3009111"/>
          <a:ext cx="3037611" cy="82664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fr-FR" sz="1800" b="1" kern="1200" dirty="0"/>
            <a:t>Possibilité de délégation de pouvoir</a:t>
          </a:r>
        </a:p>
      </dsp:txBody>
      <dsp:txXfrm>
        <a:off x="407860" y="3033323"/>
        <a:ext cx="2989187" cy="778220"/>
      </dsp:txXfrm>
    </dsp:sp>
    <dsp:sp modelId="{B4FD5D7F-DFFB-46F3-A541-61C40EC5C160}">
      <dsp:nvSpPr>
        <dsp:cNvPr id="0" name=""/>
        <dsp:cNvSpPr/>
      </dsp:nvSpPr>
      <dsp:spPr>
        <a:xfrm>
          <a:off x="4085738" y="0"/>
          <a:ext cx="3797014" cy="4038085"/>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Responsabilité civile</a:t>
          </a:r>
        </a:p>
      </dsp:txBody>
      <dsp:txXfrm>
        <a:off x="4085738" y="0"/>
        <a:ext cx="3797014" cy="1211425"/>
      </dsp:txXfrm>
    </dsp:sp>
    <dsp:sp modelId="{6D2F24F4-B7F8-44E0-BF88-CCDF86188A44}">
      <dsp:nvSpPr>
        <dsp:cNvPr id="0" name=""/>
        <dsp:cNvSpPr/>
      </dsp:nvSpPr>
      <dsp:spPr>
        <a:xfrm>
          <a:off x="4465439" y="1212608"/>
          <a:ext cx="3037611" cy="121753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fr-FR" sz="1800" b="1" kern="1200" dirty="0"/>
            <a:t>En cas de sinistre</a:t>
          </a:r>
        </a:p>
      </dsp:txBody>
      <dsp:txXfrm>
        <a:off x="4501099" y="1248268"/>
        <a:ext cx="2966291" cy="1146217"/>
      </dsp:txXfrm>
    </dsp:sp>
    <dsp:sp modelId="{C5C890CB-176E-49D7-8CC5-623EB6FFA8FC}">
      <dsp:nvSpPr>
        <dsp:cNvPr id="0" name=""/>
        <dsp:cNvSpPr/>
      </dsp:nvSpPr>
      <dsp:spPr>
        <a:xfrm>
          <a:off x="4465439" y="2617459"/>
          <a:ext cx="3037611" cy="121753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fr-FR" sz="1800" b="1" kern="1200" dirty="0"/>
            <a:t>Concerne l’entreprise</a:t>
          </a:r>
        </a:p>
      </dsp:txBody>
      <dsp:txXfrm>
        <a:off x="4501099" y="2653119"/>
        <a:ext cx="2966291" cy="11462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C5F48-1615-4AAC-B2B1-3641336D7B36}">
      <dsp:nvSpPr>
        <dsp:cNvPr id="0" name=""/>
        <dsp:cNvSpPr/>
      </dsp:nvSpPr>
      <dsp:spPr>
        <a:xfrm>
          <a:off x="521272" y="1868"/>
          <a:ext cx="2185434" cy="131126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Doit émaner du chef d’entreprise</a:t>
          </a:r>
        </a:p>
      </dsp:txBody>
      <dsp:txXfrm>
        <a:off x="521272" y="1868"/>
        <a:ext cx="2185434" cy="1311260"/>
      </dsp:txXfrm>
    </dsp:sp>
    <dsp:sp modelId="{2A62F162-937E-492E-81D9-980967E16E75}">
      <dsp:nvSpPr>
        <dsp:cNvPr id="0" name=""/>
        <dsp:cNvSpPr/>
      </dsp:nvSpPr>
      <dsp:spPr>
        <a:xfrm>
          <a:off x="2925250" y="1868"/>
          <a:ext cx="2304038" cy="131126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Doit être faite longtemps avant les faits criminels</a:t>
          </a:r>
        </a:p>
      </dsp:txBody>
      <dsp:txXfrm>
        <a:off x="2925250" y="1868"/>
        <a:ext cx="2304038" cy="1311260"/>
      </dsp:txXfrm>
    </dsp:sp>
    <dsp:sp modelId="{0411CE29-3CDE-422F-B088-D3ED8941FDFA}">
      <dsp:nvSpPr>
        <dsp:cNvPr id="0" name=""/>
        <dsp:cNvSpPr/>
      </dsp:nvSpPr>
      <dsp:spPr>
        <a:xfrm>
          <a:off x="5447831" y="1868"/>
          <a:ext cx="2304038" cy="131126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Doit être justifiée</a:t>
          </a:r>
        </a:p>
      </dsp:txBody>
      <dsp:txXfrm>
        <a:off x="5447831" y="1868"/>
        <a:ext cx="2304038" cy="1311260"/>
      </dsp:txXfrm>
    </dsp:sp>
    <dsp:sp modelId="{AC79646F-DFA6-4257-906F-9519E7B8F462}">
      <dsp:nvSpPr>
        <dsp:cNvPr id="0" name=""/>
        <dsp:cNvSpPr/>
      </dsp:nvSpPr>
      <dsp:spPr>
        <a:xfrm>
          <a:off x="551540" y="1531672"/>
          <a:ext cx="2185434" cy="131126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Doit être limitée dans son objet</a:t>
          </a:r>
        </a:p>
      </dsp:txBody>
      <dsp:txXfrm>
        <a:off x="551540" y="1531672"/>
        <a:ext cx="2185434" cy="1311260"/>
      </dsp:txXfrm>
    </dsp:sp>
    <dsp:sp modelId="{80D8A1F5-09EE-48F9-B6F9-7EF961A5B763}">
      <dsp:nvSpPr>
        <dsp:cNvPr id="0" name=""/>
        <dsp:cNvSpPr/>
      </dsp:nvSpPr>
      <dsp:spPr>
        <a:xfrm>
          <a:off x="2955518" y="1531672"/>
          <a:ext cx="4766082" cy="131126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Doit être donnée à une personne ayant les compétences techniques et juridiques et ayant les moyens de veiller au respect des prescriptions en causes</a:t>
          </a:r>
        </a:p>
      </dsp:txBody>
      <dsp:txXfrm>
        <a:off x="2955518" y="1531672"/>
        <a:ext cx="4766082" cy="13112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6A8A9-2175-4251-A1A8-7C47AD43C978}">
      <dsp:nvSpPr>
        <dsp:cNvPr id="0" name=""/>
        <dsp:cNvSpPr/>
      </dsp:nvSpPr>
      <dsp:spPr>
        <a:xfrm>
          <a:off x="2103" y="195833"/>
          <a:ext cx="2098476" cy="104923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Sanctions administratives</a:t>
          </a:r>
        </a:p>
      </dsp:txBody>
      <dsp:txXfrm>
        <a:off x="32834" y="226564"/>
        <a:ext cx="2037014" cy="987776"/>
      </dsp:txXfrm>
    </dsp:sp>
    <dsp:sp modelId="{C3510480-B532-4FD8-8CDF-F86243E2D6ED}">
      <dsp:nvSpPr>
        <dsp:cNvPr id="0" name=""/>
        <dsp:cNvSpPr/>
      </dsp:nvSpPr>
      <dsp:spPr>
        <a:xfrm>
          <a:off x="211950" y="1245071"/>
          <a:ext cx="209847" cy="786928"/>
        </a:xfrm>
        <a:custGeom>
          <a:avLst/>
          <a:gdLst/>
          <a:ahLst/>
          <a:cxnLst/>
          <a:rect l="0" t="0" r="0" b="0"/>
          <a:pathLst>
            <a:path>
              <a:moveTo>
                <a:pt x="0" y="0"/>
              </a:moveTo>
              <a:lnTo>
                <a:pt x="0" y="786928"/>
              </a:lnTo>
              <a:lnTo>
                <a:pt x="209847" y="786928"/>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9B2264-DD63-424C-BB93-139BF39EEF37}">
      <dsp:nvSpPr>
        <dsp:cNvPr id="0" name=""/>
        <dsp:cNvSpPr/>
      </dsp:nvSpPr>
      <dsp:spPr>
        <a:xfrm>
          <a:off x="421798" y="1507380"/>
          <a:ext cx="2573739" cy="1049238"/>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Consignation financière</a:t>
          </a:r>
        </a:p>
      </dsp:txBody>
      <dsp:txXfrm>
        <a:off x="452529" y="1538111"/>
        <a:ext cx="2512277" cy="987776"/>
      </dsp:txXfrm>
    </dsp:sp>
    <dsp:sp modelId="{A197B92A-6733-4783-BBB8-9BF7261BF3DF}">
      <dsp:nvSpPr>
        <dsp:cNvPr id="0" name=""/>
        <dsp:cNvSpPr/>
      </dsp:nvSpPr>
      <dsp:spPr>
        <a:xfrm>
          <a:off x="211950" y="1245071"/>
          <a:ext cx="209847" cy="2098476"/>
        </a:xfrm>
        <a:custGeom>
          <a:avLst/>
          <a:gdLst/>
          <a:ahLst/>
          <a:cxnLst/>
          <a:rect l="0" t="0" r="0" b="0"/>
          <a:pathLst>
            <a:path>
              <a:moveTo>
                <a:pt x="0" y="0"/>
              </a:moveTo>
              <a:lnTo>
                <a:pt x="0" y="2098476"/>
              </a:lnTo>
              <a:lnTo>
                <a:pt x="209847" y="2098476"/>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8FDD6C-6E64-45AA-BD28-7085EB3B3FA2}">
      <dsp:nvSpPr>
        <dsp:cNvPr id="0" name=""/>
        <dsp:cNvSpPr/>
      </dsp:nvSpPr>
      <dsp:spPr>
        <a:xfrm>
          <a:off x="421798" y="2818928"/>
          <a:ext cx="2573739" cy="1049238"/>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Travaux réalisés d’office, aux frais de l’exploitant</a:t>
          </a:r>
        </a:p>
      </dsp:txBody>
      <dsp:txXfrm>
        <a:off x="452529" y="2849659"/>
        <a:ext cx="2512277" cy="987776"/>
      </dsp:txXfrm>
    </dsp:sp>
    <dsp:sp modelId="{AAFE4CE4-C478-4E8E-B73B-4C21E8E33496}">
      <dsp:nvSpPr>
        <dsp:cNvPr id="0" name=""/>
        <dsp:cNvSpPr/>
      </dsp:nvSpPr>
      <dsp:spPr>
        <a:xfrm>
          <a:off x="3100461" y="195833"/>
          <a:ext cx="2098476" cy="104923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Sanctions pénales</a:t>
          </a:r>
        </a:p>
      </dsp:txBody>
      <dsp:txXfrm>
        <a:off x="3131192" y="226564"/>
        <a:ext cx="2037014" cy="987776"/>
      </dsp:txXfrm>
    </dsp:sp>
    <dsp:sp modelId="{5F3A6E7B-01EE-48BA-8FD9-D836D871AECC}">
      <dsp:nvSpPr>
        <dsp:cNvPr id="0" name=""/>
        <dsp:cNvSpPr/>
      </dsp:nvSpPr>
      <dsp:spPr>
        <a:xfrm>
          <a:off x="3310309" y="1245071"/>
          <a:ext cx="209847" cy="786928"/>
        </a:xfrm>
        <a:custGeom>
          <a:avLst/>
          <a:gdLst/>
          <a:ahLst/>
          <a:cxnLst/>
          <a:rect l="0" t="0" r="0" b="0"/>
          <a:pathLst>
            <a:path>
              <a:moveTo>
                <a:pt x="0" y="0"/>
              </a:moveTo>
              <a:lnTo>
                <a:pt x="0" y="786928"/>
              </a:lnTo>
              <a:lnTo>
                <a:pt x="209847" y="786928"/>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48A733-B67F-43F8-B2A9-F0F5E59268CF}">
      <dsp:nvSpPr>
        <dsp:cNvPr id="0" name=""/>
        <dsp:cNvSpPr/>
      </dsp:nvSpPr>
      <dsp:spPr>
        <a:xfrm>
          <a:off x="3520157" y="1507380"/>
          <a:ext cx="2573739" cy="1049238"/>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Emprisonnement et amende</a:t>
          </a:r>
        </a:p>
      </dsp:txBody>
      <dsp:txXfrm>
        <a:off x="3550888" y="1538111"/>
        <a:ext cx="2512277" cy="9877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BDCBFF-2592-4102-BE19-B800D704B048}">
      <dsp:nvSpPr>
        <dsp:cNvPr id="0" name=""/>
        <dsp:cNvSpPr/>
      </dsp:nvSpPr>
      <dsp:spPr>
        <a:xfrm>
          <a:off x="0" y="812799"/>
          <a:ext cx="6096000" cy="2438400"/>
        </a:xfrm>
        <a:prstGeom prst="leftRightRibb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EF816F-5FB8-4CC3-B5A3-BC09A1046D3F}">
      <dsp:nvSpPr>
        <dsp:cNvPr id="0" name=""/>
        <dsp:cNvSpPr/>
      </dsp:nvSpPr>
      <dsp:spPr>
        <a:xfrm>
          <a:off x="731520" y="1239519"/>
          <a:ext cx="2011680" cy="11948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Attachée aux contrats liés à l’environnement</a:t>
          </a:r>
        </a:p>
      </dsp:txBody>
      <dsp:txXfrm>
        <a:off x="731520" y="1239519"/>
        <a:ext cx="2011680" cy="1194816"/>
      </dsp:txXfrm>
    </dsp:sp>
    <dsp:sp modelId="{C4FB6E4F-5608-413D-BC27-6DBCF58AFFCF}">
      <dsp:nvSpPr>
        <dsp:cNvPr id="0" name=""/>
        <dsp:cNvSpPr/>
      </dsp:nvSpPr>
      <dsp:spPr>
        <a:xfrm>
          <a:off x="3048000" y="1629663"/>
          <a:ext cx="2377440" cy="11948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Hors contrat</a:t>
          </a:r>
        </a:p>
      </dsp:txBody>
      <dsp:txXfrm>
        <a:off x="3048000" y="1629663"/>
        <a:ext cx="2377440" cy="11948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2BC206-A36A-4ABE-8602-549F1A22840D}">
      <dsp:nvSpPr>
        <dsp:cNvPr id="0" name=""/>
        <dsp:cNvSpPr/>
      </dsp:nvSpPr>
      <dsp:spPr>
        <a:xfrm>
          <a:off x="806038" y="0"/>
          <a:ext cx="2884713" cy="2884713"/>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r-FR" sz="2000" b="1" kern="1200" dirty="0"/>
            <a:t>Préfecture</a:t>
          </a:r>
        </a:p>
      </dsp:txBody>
      <dsp:txXfrm>
        <a:off x="1491157" y="216353"/>
        <a:ext cx="1514474" cy="490401"/>
      </dsp:txXfrm>
    </dsp:sp>
    <dsp:sp modelId="{E592747B-C65B-4174-8901-A4D804905EF8}">
      <dsp:nvSpPr>
        <dsp:cNvPr id="0" name=""/>
        <dsp:cNvSpPr/>
      </dsp:nvSpPr>
      <dsp:spPr>
        <a:xfrm>
          <a:off x="1055215" y="898858"/>
          <a:ext cx="2386358" cy="1808174"/>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r-FR" sz="2000" b="1" kern="1200"/>
            <a:t>DREAL</a:t>
          </a:r>
          <a:endParaRPr lang="fr-FR" sz="2000" b="1" kern="1200" dirty="0"/>
        </a:p>
        <a:p>
          <a:pPr marL="0" lvl="0" indent="0" algn="ctr" defTabSz="889000">
            <a:lnSpc>
              <a:spcPct val="90000"/>
            </a:lnSpc>
            <a:spcBef>
              <a:spcPct val="0"/>
            </a:spcBef>
            <a:spcAft>
              <a:spcPct val="35000"/>
            </a:spcAft>
            <a:buNone/>
          </a:pPr>
          <a:r>
            <a:rPr lang="fr-FR" sz="1500" b="1" i="0" kern="1200" dirty="0"/>
            <a:t>Direction régionale de l’environnement, de l’aménagement et du logement</a:t>
          </a:r>
          <a:endParaRPr lang="fr-FR" sz="1500" b="1" kern="1200" dirty="0"/>
        </a:p>
      </dsp:txBody>
      <dsp:txXfrm>
        <a:off x="1404690" y="1350902"/>
        <a:ext cx="1687409" cy="9040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3317C1-6CF5-484C-9345-CEB90D539B55}">
      <dsp:nvSpPr>
        <dsp:cNvPr id="0" name=""/>
        <dsp:cNvSpPr/>
      </dsp:nvSpPr>
      <dsp:spPr>
        <a:xfrm>
          <a:off x="2523" y="124987"/>
          <a:ext cx="2002040" cy="120122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Matières premières et consommables</a:t>
          </a:r>
        </a:p>
      </dsp:txBody>
      <dsp:txXfrm>
        <a:off x="2523" y="124987"/>
        <a:ext cx="2002040" cy="1201224"/>
      </dsp:txXfrm>
    </dsp:sp>
    <dsp:sp modelId="{19C412DF-553C-425C-AB2F-6B282F8C1D84}">
      <dsp:nvSpPr>
        <dsp:cNvPr id="0" name=""/>
        <dsp:cNvSpPr/>
      </dsp:nvSpPr>
      <dsp:spPr>
        <a:xfrm>
          <a:off x="2204768" y="124987"/>
          <a:ext cx="2002040" cy="120122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Déchets</a:t>
          </a:r>
        </a:p>
      </dsp:txBody>
      <dsp:txXfrm>
        <a:off x="2204768" y="124987"/>
        <a:ext cx="2002040" cy="1201224"/>
      </dsp:txXfrm>
    </dsp:sp>
    <dsp:sp modelId="{322960FD-E618-4A86-92A4-0962F4536065}">
      <dsp:nvSpPr>
        <dsp:cNvPr id="0" name=""/>
        <dsp:cNvSpPr/>
      </dsp:nvSpPr>
      <dsp:spPr>
        <a:xfrm>
          <a:off x="4407013" y="124987"/>
          <a:ext cx="2002040" cy="120122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Energie</a:t>
          </a:r>
        </a:p>
      </dsp:txBody>
      <dsp:txXfrm>
        <a:off x="4407013" y="124987"/>
        <a:ext cx="2002040" cy="1201224"/>
      </dsp:txXfrm>
    </dsp:sp>
    <dsp:sp modelId="{62B0544A-21CB-4EBB-95EC-34A46C5E67ED}">
      <dsp:nvSpPr>
        <dsp:cNvPr id="0" name=""/>
        <dsp:cNvSpPr/>
      </dsp:nvSpPr>
      <dsp:spPr>
        <a:xfrm>
          <a:off x="6609258" y="124987"/>
          <a:ext cx="2002040" cy="120122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Eaux</a:t>
          </a:r>
        </a:p>
      </dsp:txBody>
      <dsp:txXfrm>
        <a:off x="6609258" y="124987"/>
        <a:ext cx="2002040" cy="1201224"/>
      </dsp:txXfrm>
    </dsp:sp>
    <dsp:sp modelId="{8DA2D02C-8950-4CF0-90A0-0BF1424DD1E6}">
      <dsp:nvSpPr>
        <dsp:cNvPr id="0" name=""/>
        <dsp:cNvSpPr/>
      </dsp:nvSpPr>
      <dsp:spPr>
        <a:xfrm>
          <a:off x="1103646" y="1526416"/>
          <a:ext cx="2002040" cy="120122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Air</a:t>
          </a:r>
        </a:p>
      </dsp:txBody>
      <dsp:txXfrm>
        <a:off x="1103646" y="1526416"/>
        <a:ext cx="2002040" cy="1201224"/>
      </dsp:txXfrm>
    </dsp:sp>
    <dsp:sp modelId="{724E1570-3087-4457-83AC-89833E232FD0}">
      <dsp:nvSpPr>
        <dsp:cNvPr id="0" name=""/>
        <dsp:cNvSpPr/>
      </dsp:nvSpPr>
      <dsp:spPr>
        <a:xfrm>
          <a:off x="3305891" y="1526416"/>
          <a:ext cx="2002040" cy="120122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Sol</a:t>
          </a:r>
        </a:p>
      </dsp:txBody>
      <dsp:txXfrm>
        <a:off x="3305891" y="1526416"/>
        <a:ext cx="2002040" cy="1201224"/>
      </dsp:txXfrm>
    </dsp:sp>
    <dsp:sp modelId="{D1FF3F4C-DD9B-489D-8472-A477085D9C38}">
      <dsp:nvSpPr>
        <dsp:cNvPr id="0" name=""/>
        <dsp:cNvSpPr/>
      </dsp:nvSpPr>
      <dsp:spPr>
        <a:xfrm>
          <a:off x="5508136" y="1526416"/>
          <a:ext cx="2002040" cy="120122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Nuisances </a:t>
          </a:r>
        </a:p>
        <a:p>
          <a:pPr marL="0" lvl="0" indent="0" algn="ctr" defTabSz="800100">
            <a:lnSpc>
              <a:spcPct val="90000"/>
            </a:lnSpc>
            <a:spcBef>
              <a:spcPct val="0"/>
            </a:spcBef>
            <a:spcAft>
              <a:spcPct val="35000"/>
            </a:spcAft>
            <a:buNone/>
          </a:pPr>
          <a:r>
            <a:rPr lang="fr-FR" sz="1800" b="1" kern="1200" dirty="0"/>
            <a:t>(bruit, vue, odeurs)</a:t>
          </a:r>
        </a:p>
      </dsp:txBody>
      <dsp:txXfrm>
        <a:off x="5508136" y="1526416"/>
        <a:ext cx="2002040" cy="120122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8EF79C-538D-405E-BE1A-0ED9DBEB7FBA}">
      <dsp:nvSpPr>
        <dsp:cNvPr id="0" name=""/>
        <dsp:cNvSpPr/>
      </dsp:nvSpPr>
      <dsp:spPr>
        <a:xfrm>
          <a:off x="0" y="812799"/>
          <a:ext cx="6096000" cy="2438400"/>
        </a:xfrm>
        <a:prstGeom prst="leftRightRibb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125A09-4F94-4D12-AECB-0F15DF12C755}">
      <dsp:nvSpPr>
        <dsp:cNvPr id="0" name=""/>
        <dsp:cNvSpPr/>
      </dsp:nvSpPr>
      <dsp:spPr>
        <a:xfrm>
          <a:off x="731520" y="1239519"/>
          <a:ext cx="2011680" cy="11948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Produits dangereux utilisés</a:t>
          </a:r>
        </a:p>
      </dsp:txBody>
      <dsp:txXfrm>
        <a:off x="731520" y="1239519"/>
        <a:ext cx="2011680" cy="1194816"/>
      </dsp:txXfrm>
    </dsp:sp>
    <dsp:sp modelId="{2BFB5A9A-F99B-4735-8067-B13D44B77292}">
      <dsp:nvSpPr>
        <dsp:cNvPr id="0" name=""/>
        <dsp:cNvSpPr/>
      </dsp:nvSpPr>
      <dsp:spPr>
        <a:xfrm>
          <a:off x="3048000" y="1629663"/>
          <a:ext cx="2377440" cy="11948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Produits fabriqués</a:t>
          </a:r>
        </a:p>
      </dsp:txBody>
      <dsp:txXfrm>
        <a:off x="3048000" y="1629663"/>
        <a:ext cx="2377440" cy="11948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48653-8A5E-4718-AF8D-42FBD22CAA0B}">
      <dsp:nvSpPr>
        <dsp:cNvPr id="0" name=""/>
        <dsp:cNvSpPr/>
      </dsp:nvSpPr>
      <dsp:spPr>
        <a:xfrm>
          <a:off x="401" y="0"/>
          <a:ext cx="2375990"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SO</a:t>
          </a:r>
          <a:r>
            <a:rPr lang="fr-FR" sz="1800" b="1" kern="1200" baseline="-25000" dirty="0"/>
            <a:t>2</a:t>
          </a:r>
        </a:p>
      </dsp:txBody>
      <dsp:txXfrm>
        <a:off x="12855" y="12454"/>
        <a:ext cx="2351082" cy="400298"/>
      </dsp:txXfrm>
    </dsp:sp>
    <dsp:sp modelId="{0530EEB9-EE9E-4270-9088-2BB7BF67E10B}">
      <dsp:nvSpPr>
        <dsp:cNvPr id="0" name=""/>
        <dsp:cNvSpPr/>
      </dsp:nvSpPr>
      <dsp:spPr>
        <a:xfrm>
          <a:off x="2769956" y="0"/>
          <a:ext cx="834357" cy="42520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b="1" kern="1200"/>
        </a:p>
      </dsp:txBody>
      <dsp:txXfrm>
        <a:off x="2769956" y="85041"/>
        <a:ext cx="706795" cy="255124"/>
      </dsp:txXfrm>
    </dsp:sp>
    <dsp:sp modelId="{7143C710-6920-4A9B-A1CB-FB30338B0623}">
      <dsp:nvSpPr>
        <dsp:cNvPr id="0" name=""/>
        <dsp:cNvSpPr/>
      </dsp:nvSpPr>
      <dsp:spPr>
        <a:xfrm>
          <a:off x="3950650" y="0"/>
          <a:ext cx="3935648"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Asthme</a:t>
          </a:r>
        </a:p>
      </dsp:txBody>
      <dsp:txXfrm>
        <a:off x="3963104" y="12454"/>
        <a:ext cx="3910740" cy="40029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48653-8A5E-4718-AF8D-42FBD22CAA0B}">
      <dsp:nvSpPr>
        <dsp:cNvPr id="0" name=""/>
        <dsp:cNvSpPr/>
      </dsp:nvSpPr>
      <dsp:spPr>
        <a:xfrm>
          <a:off x="401" y="0"/>
          <a:ext cx="2375990"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NO</a:t>
          </a:r>
          <a:r>
            <a:rPr lang="fr-FR" sz="1800" b="1" kern="1200" baseline="-25000" dirty="0"/>
            <a:t>x</a:t>
          </a:r>
        </a:p>
      </dsp:txBody>
      <dsp:txXfrm>
        <a:off x="12855" y="12454"/>
        <a:ext cx="2351082" cy="400298"/>
      </dsp:txXfrm>
    </dsp:sp>
    <dsp:sp modelId="{0530EEB9-EE9E-4270-9088-2BB7BF67E10B}">
      <dsp:nvSpPr>
        <dsp:cNvPr id="0" name=""/>
        <dsp:cNvSpPr/>
      </dsp:nvSpPr>
      <dsp:spPr>
        <a:xfrm>
          <a:off x="2769956" y="0"/>
          <a:ext cx="834357" cy="42520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b="1" kern="1200"/>
        </a:p>
      </dsp:txBody>
      <dsp:txXfrm>
        <a:off x="2769956" y="85041"/>
        <a:ext cx="706795" cy="255124"/>
      </dsp:txXfrm>
    </dsp:sp>
    <dsp:sp modelId="{7143C710-6920-4A9B-A1CB-FB30338B0623}">
      <dsp:nvSpPr>
        <dsp:cNvPr id="0" name=""/>
        <dsp:cNvSpPr/>
      </dsp:nvSpPr>
      <dsp:spPr>
        <a:xfrm>
          <a:off x="3950650" y="0"/>
          <a:ext cx="3935648"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Troubles respiratoires</a:t>
          </a:r>
        </a:p>
      </dsp:txBody>
      <dsp:txXfrm>
        <a:off x="3963104" y="12454"/>
        <a:ext cx="3910740" cy="40029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48653-8A5E-4718-AF8D-42FBD22CAA0B}">
      <dsp:nvSpPr>
        <dsp:cNvPr id="0" name=""/>
        <dsp:cNvSpPr/>
      </dsp:nvSpPr>
      <dsp:spPr>
        <a:xfrm>
          <a:off x="6947" y="0"/>
          <a:ext cx="2373664"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Cr</a:t>
          </a:r>
          <a:endParaRPr lang="fr-FR" sz="1800" b="1" kern="1200" baseline="-25000" dirty="0"/>
        </a:p>
      </dsp:txBody>
      <dsp:txXfrm>
        <a:off x="19401" y="12454"/>
        <a:ext cx="2348756" cy="400298"/>
      </dsp:txXfrm>
    </dsp:sp>
    <dsp:sp modelId="{0530EEB9-EE9E-4270-9088-2BB7BF67E10B}">
      <dsp:nvSpPr>
        <dsp:cNvPr id="0" name=""/>
        <dsp:cNvSpPr/>
      </dsp:nvSpPr>
      <dsp:spPr>
        <a:xfrm>
          <a:off x="2773407" y="0"/>
          <a:ext cx="832727" cy="42520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b="1" kern="1200"/>
        </a:p>
      </dsp:txBody>
      <dsp:txXfrm>
        <a:off x="2773407" y="85041"/>
        <a:ext cx="705165" cy="255124"/>
      </dsp:txXfrm>
    </dsp:sp>
    <dsp:sp modelId="{7143C710-6920-4A9B-A1CB-FB30338B0623}">
      <dsp:nvSpPr>
        <dsp:cNvPr id="0" name=""/>
        <dsp:cNvSpPr/>
      </dsp:nvSpPr>
      <dsp:spPr>
        <a:xfrm>
          <a:off x="3951795" y="0"/>
          <a:ext cx="3927957"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Dermatites, cancer du poumon ou gastro-intestinal</a:t>
          </a:r>
        </a:p>
      </dsp:txBody>
      <dsp:txXfrm>
        <a:off x="3964249" y="12454"/>
        <a:ext cx="3903049" cy="40029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48653-8A5E-4718-AF8D-42FBD22CAA0B}">
      <dsp:nvSpPr>
        <dsp:cNvPr id="0" name=""/>
        <dsp:cNvSpPr/>
      </dsp:nvSpPr>
      <dsp:spPr>
        <a:xfrm>
          <a:off x="6947" y="0"/>
          <a:ext cx="2373664"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Ni</a:t>
          </a:r>
          <a:endParaRPr lang="fr-FR" sz="1800" b="1" kern="1200" baseline="-25000" dirty="0"/>
        </a:p>
      </dsp:txBody>
      <dsp:txXfrm>
        <a:off x="19401" y="12454"/>
        <a:ext cx="2348756" cy="400298"/>
      </dsp:txXfrm>
    </dsp:sp>
    <dsp:sp modelId="{0530EEB9-EE9E-4270-9088-2BB7BF67E10B}">
      <dsp:nvSpPr>
        <dsp:cNvPr id="0" name=""/>
        <dsp:cNvSpPr/>
      </dsp:nvSpPr>
      <dsp:spPr>
        <a:xfrm>
          <a:off x="2773407" y="0"/>
          <a:ext cx="832727" cy="42520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b="1" kern="1200"/>
        </a:p>
      </dsp:txBody>
      <dsp:txXfrm>
        <a:off x="2773407" y="85041"/>
        <a:ext cx="705165" cy="255124"/>
      </dsp:txXfrm>
    </dsp:sp>
    <dsp:sp modelId="{7143C710-6920-4A9B-A1CB-FB30338B0623}">
      <dsp:nvSpPr>
        <dsp:cNvPr id="0" name=""/>
        <dsp:cNvSpPr/>
      </dsp:nvSpPr>
      <dsp:spPr>
        <a:xfrm>
          <a:off x="3951795" y="0"/>
          <a:ext cx="3927957"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Maladies respiratoires, malformation congénitale, cancer des poumons</a:t>
          </a:r>
        </a:p>
      </dsp:txBody>
      <dsp:txXfrm>
        <a:off x="3964249" y="12454"/>
        <a:ext cx="3903049" cy="40029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48653-8A5E-4718-AF8D-42FBD22CAA0B}">
      <dsp:nvSpPr>
        <dsp:cNvPr id="0" name=""/>
        <dsp:cNvSpPr/>
      </dsp:nvSpPr>
      <dsp:spPr>
        <a:xfrm>
          <a:off x="401" y="0"/>
          <a:ext cx="2375990"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CO</a:t>
          </a:r>
          <a:endParaRPr lang="fr-FR" sz="1800" b="1" kern="1200" baseline="-25000" dirty="0"/>
        </a:p>
      </dsp:txBody>
      <dsp:txXfrm>
        <a:off x="12855" y="12454"/>
        <a:ext cx="2351082" cy="400298"/>
      </dsp:txXfrm>
    </dsp:sp>
    <dsp:sp modelId="{0530EEB9-EE9E-4270-9088-2BB7BF67E10B}">
      <dsp:nvSpPr>
        <dsp:cNvPr id="0" name=""/>
        <dsp:cNvSpPr/>
      </dsp:nvSpPr>
      <dsp:spPr>
        <a:xfrm>
          <a:off x="2769956" y="0"/>
          <a:ext cx="834357" cy="42520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b="1" kern="1200"/>
        </a:p>
      </dsp:txBody>
      <dsp:txXfrm>
        <a:off x="2769956" y="85041"/>
        <a:ext cx="706795" cy="255124"/>
      </dsp:txXfrm>
    </dsp:sp>
    <dsp:sp modelId="{7143C710-6920-4A9B-A1CB-FB30338B0623}">
      <dsp:nvSpPr>
        <dsp:cNvPr id="0" name=""/>
        <dsp:cNvSpPr/>
      </dsp:nvSpPr>
      <dsp:spPr>
        <a:xfrm>
          <a:off x="3950650" y="0"/>
          <a:ext cx="3935648"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Intoxication aigüe</a:t>
          </a:r>
        </a:p>
      </dsp:txBody>
      <dsp:txXfrm>
        <a:off x="3963104" y="12454"/>
        <a:ext cx="3910740" cy="40029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48653-8A5E-4718-AF8D-42FBD22CAA0B}">
      <dsp:nvSpPr>
        <dsp:cNvPr id="0" name=""/>
        <dsp:cNvSpPr/>
      </dsp:nvSpPr>
      <dsp:spPr>
        <a:xfrm>
          <a:off x="676" y="0"/>
          <a:ext cx="2375439"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As</a:t>
          </a:r>
          <a:endParaRPr lang="fr-FR" sz="1800" b="1" kern="1200" baseline="-25000" dirty="0"/>
        </a:p>
      </dsp:txBody>
      <dsp:txXfrm>
        <a:off x="13130" y="12454"/>
        <a:ext cx="2350531" cy="400298"/>
      </dsp:txXfrm>
    </dsp:sp>
    <dsp:sp modelId="{0530EEB9-EE9E-4270-9088-2BB7BF67E10B}">
      <dsp:nvSpPr>
        <dsp:cNvPr id="0" name=""/>
        <dsp:cNvSpPr/>
      </dsp:nvSpPr>
      <dsp:spPr>
        <a:xfrm>
          <a:off x="2769680" y="0"/>
          <a:ext cx="834357" cy="42520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b="1" kern="1200"/>
        </a:p>
      </dsp:txBody>
      <dsp:txXfrm>
        <a:off x="2769680" y="85041"/>
        <a:ext cx="706795" cy="255124"/>
      </dsp:txXfrm>
    </dsp:sp>
    <dsp:sp modelId="{7143C710-6920-4A9B-A1CB-FB30338B0623}">
      <dsp:nvSpPr>
        <dsp:cNvPr id="0" name=""/>
        <dsp:cNvSpPr/>
      </dsp:nvSpPr>
      <dsp:spPr>
        <a:xfrm>
          <a:off x="3950375" y="0"/>
          <a:ext cx="3935648"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Dermatites, cancer des poumons</a:t>
          </a:r>
        </a:p>
      </dsp:txBody>
      <dsp:txXfrm>
        <a:off x="3962829" y="12454"/>
        <a:ext cx="3910740" cy="40029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48653-8A5E-4718-AF8D-42FBD22CAA0B}">
      <dsp:nvSpPr>
        <dsp:cNvPr id="0" name=""/>
        <dsp:cNvSpPr/>
      </dsp:nvSpPr>
      <dsp:spPr>
        <a:xfrm>
          <a:off x="6947" y="0"/>
          <a:ext cx="2373664"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COV, méthane, benzène, hydrocarbures</a:t>
          </a:r>
          <a:endParaRPr lang="fr-FR" sz="1600" b="1" kern="1200" baseline="-25000" dirty="0"/>
        </a:p>
      </dsp:txBody>
      <dsp:txXfrm>
        <a:off x="19401" y="12454"/>
        <a:ext cx="2348756" cy="400298"/>
      </dsp:txXfrm>
    </dsp:sp>
    <dsp:sp modelId="{0530EEB9-EE9E-4270-9088-2BB7BF67E10B}">
      <dsp:nvSpPr>
        <dsp:cNvPr id="0" name=""/>
        <dsp:cNvSpPr/>
      </dsp:nvSpPr>
      <dsp:spPr>
        <a:xfrm>
          <a:off x="2773407" y="0"/>
          <a:ext cx="832727" cy="42520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fr-FR" sz="1800" b="1" kern="1200"/>
        </a:p>
      </dsp:txBody>
      <dsp:txXfrm>
        <a:off x="2773407" y="85041"/>
        <a:ext cx="705165" cy="255124"/>
      </dsp:txXfrm>
    </dsp:sp>
    <dsp:sp modelId="{7143C710-6920-4A9B-A1CB-FB30338B0623}">
      <dsp:nvSpPr>
        <dsp:cNvPr id="0" name=""/>
        <dsp:cNvSpPr/>
      </dsp:nvSpPr>
      <dsp:spPr>
        <a:xfrm>
          <a:off x="3951795" y="0"/>
          <a:ext cx="3927957" cy="4252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Cancer des vies respiratoires et du système digestif</a:t>
          </a:r>
        </a:p>
      </dsp:txBody>
      <dsp:txXfrm>
        <a:off x="3964249" y="12454"/>
        <a:ext cx="3903049" cy="40029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F9AF2B-2886-4583-921C-A3B2F18ABB77}">
      <dsp:nvSpPr>
        <dsp:cNvPr id="0" name=""/>
        <dsp:cNvSpPr/>
      </dsp:nvSpPr>
      <dsp:spPr>
        <a:xfrm>
          <a:off x="2534" y="203199"/>
          <a:ext cx="2010568" cy="24850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solidFill>
                <a:schemeClr val="bg1"/>
              </a:solidFill>
            </a:rPr>
            <a:t>CMR</a:t>
          </a:r>
        </a:p>
        <a:p>
          <a:pPr marL="0" lvl="0" indent="0" algn="ctr" defTabSz="889000">
            <a:lnSpc>
              <a:spcPct val="90000"/>
            </a:lnSpc>
            <a:spcBef>
              <a:spcPct val="0"/>
            </a:spcBef>
            <a:spcAft>
              <a:spcPct val="35000"/>
            </a:spcAft>
            <a:buNone/>
          </a:pPr>
          <a:r>
            <a:rPr lang="fr-FR" sz="1800" b="1" kern="1200" dirty="0">
              <a:solidFill>
                <a:schemeClr val="bg1"/>
              </a:solidFill>
            </a:rPr>
            <a:t>Cancérogènes, mutagènes ou reprotoxiques</a:t>
          </a:r>
        </a:p>
      </dsp:txBody>
      <dsp:txXfrm>
        <a:off x="2534" y="203199"/>
        <a:ext cx="2010568" cy="2485074"/>
      </dsp:txXfrm>
    </dsp:sp>
    <dsp:sp modelId="{D18EE9F5-DF0E-4A3B-9ABE-C5C1CBB2AF2C}">
      <dsp:nvSpPr>
        <dsp:cNvPr id="0" name=""/>
        <dsp:cNvSpPr/>
      </dsp:nvSpPr>
      <dsp:spPr>
        <a:xfrm>
          <a:off x="2214159" y="203199"/>
          <a:ext cx="2010568" cy="24850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solidFill>
                <a:schemeClr val="bg1"/>
              </a:solidFill>
            </a:rPr>
            <a:t>PBT</a:t>
          </a:r>
        </a:p>
        <a:p>
          <a:pPr marL="0" lvl="0" indent="0" algn="ctr" defTabSz="889000">
            <a:lnSpc>
              <a:spcPct val="90000"/>
            </a:lnSpc>
            <a:spcBef>
              <a:spcPct val="0"/>
            </a:spcBef>
            <a:spcAft>
              <a:spcPct val="35000"/>
            </a:spcAft>
            <a:buNone/>
          </a:pPr>
          <a:r>
            <a:rPr lang="fr-FR" sz="1800" b="1" i="0" kern="1200" dirty="0">
              <a:solidFill>
                <a:schemeClr val="bg1"/>
              </a:solidFill>
              <a:effectLst/>
            </a:rPr>
            <a:t>Persistantes dans l’environnement ou les organismes (faiblement dégradable), bioaccumulables et toxiques </a:t>
          </a:r>
          <a:endParaRPr lang="fr-FR" sz="1800" b="1" kern="1200" dirty="0">
            <a:solidFill>
              <a:schemeClr val="bg1"/>
            </a:solidFill>
          </a:endParaRPr>
        </a:p>
      </dsp:txBody>
      <dsp:txXfrm>
        <a:off x="2214159" y="203199"/>
        <a:ext cx="2010568" cy="2485074"/>
      </dsp:txXfrm>
    </dsp:sp>
    <dsp:sp modelId="{6D5A06C3-32EE-4AB8-AFCA-C087A1EB2E80}">
      <dsp:nvSpPr>
        <dsp:cNvPr id="0" name=""/>
        <dsp:cNvSpPr/>
      </dsp:nvSpPr>
      <dsp:spPr>
        <a:xfrm>
          <a:off x="4425784" y="203199"/>
          <a:ext cx="2010568" cy="24850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err="1">
              <a:solidFill>
                <a:schemeClr val="bg1"/>
              </a:solidFill>
            </a:rPr>
            <a:t>vPvB</a:t>
          </a:r>
          <a:endParaRPr lang="fr-FR" sz="2000" b="1" kern="1200" dirty="0">
            <a:solidFill>
              <a:schemeClr val="bg1"/>
            </a:solidFill>
          </a:endParaRPr>
        </a:p>
        <a:p>
          <a:pPr marL="0" lvl="0" indent="0" algn="ctr" defTabSz="889000">
            <a:lnSpc>
              <a:spcPct val="90000"/>
            </a:lnSpc>
            <a:spcBef>
              <a:spcPct val="0"/>
            </a:spcBef>
            <a:spcAft>
              <a:spcPct val="35000"/>
            </a:spcAft>
            <a:buNone/>
          </a:pPr>
          <a:r>
            <a:rPr lang="fr-FR" sz="1800" b="1" i="0" kern="1200" dirty="0">
              <a:solidFill>
                <a:schemeClr val="bg1"/>
              </a:solidFill>
              <a:effectLst/>
            </a:rPr>
            <a:t>Très persistantes et très bioaccumulables </a:t>
          </a:r>
          <a:endParaRPr lang="fr-FR" sz="1800" b="1" kern="1200" dirty="0">
            <a:solidFill>
              <a:schemeClr val="bg1"/>
            </a:solidFill>
          </a:endParaRPr>
        </a:p>
      </dsp:txBody>
      <dsp:txXfrm>
        <a:off x="4425784" y="203199"/>
        <a:ext cx="2010568" cy="2485074"/>
      </dsp:txXfrm>
    </dsp:sp>
    <dsp:sp modelId="{62F8A2F8-429A-4FFD-8D60-E3AD756D2556}">
      <dsp:nvSpPr>
        <dsp:cNvPr id="0" name=""/>
        <dsp:cNvSpPr/>
      </dsp:nvSpPr>
      <dsp:spPr>
        <a:xfrm>
          <a:off x="6637410" y="203199"/>
          <a:ext cx="2010568" cy="24850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i="0" kern="1200" dirty="0">
              <a:solidFill>
                <a:schemeClr val="bg1"/>
              </a:solidFill>
              <a:effectLst/>
            </a:rPr>
            <a:t>Substances qui présentent un niveau de préoccupation équivalent aux substances précédentes</a:t>
          </a:r>
        </a:p>
        <a:p>
          <a:pPr marL="0" lvl="0" indent="0" algn="ctr" defTabSz="800100">
            <a:lnSpc>
              <a:spcPct val="90000"/>
            </a:lnSpc>
            <a:spcBef>
              <a:spcPct val="0"/>
            </a:spcBef>
            <a:spcAft>
              <a:spcPct val="35000"/>
            </a:spcAft>
            <a:buNone/>
          </a:pPr>
          <a:r>
            <a:rPr lang="fr-FR" sz="1800" b="1" i="0" kern="1200" dirty="0">
              <a:solidFill>
                <a:schemeClr val="bg1"/>
              </a:solidFill>
              <a:effectLst/>
            </a:rPr>
            <a:t>(ex perturbateurs endocriniens)</a:t>
          </a:r>
          <a:endParaRPr lang="fr-FR" sz="1800" b="1" kern="1200" dirty="0">
            <a:solidFill>
              <a:schemeClr val="bg1"/>
            </a:solidFill>
          </a:endParaRPr>
        </a:p>
      </dsp:txBody>
      <dsp:txXfrm>
        <a:off x="6637410" y="203199"/>
        <a:ext cx="2010568" cy="248507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CBDE1-0C06-4456-979F-0B1AF95FD8E6}">
      <dsp:nvSpPr>
        <dsp:cNvPr id="0" name=""/>
        <dsp:cNvSpPr/>
      </dsp:nvSpPr>
      <dsp:spPr>
        <a:xfrm>
          <a:off x="2085974" y="1700046"/>
          <a:ext cx="1924050" cy="1924050"/>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t>Appauvrissement de la teneur en oxygène de l’eau</a:t>
          </a:r>
        </a:p>
      </dsp:txBody>
      <dsp:txXfrm>
        <a:off x="2367745" y="1981817"/>
        <a:ext cx="1360508" cy="1360508"/>
      </dsp:txXfrm>
    </dsp:sp>
    <dsp:sp modelId="{C680ADB9-93ED-424B-92DD-64AA667571E5}">
      <dsp:nvSpPr>
        <dsp:cNvPr id="0" name=""/>
        <dsp:cNvSpPr/>
      </dsp:nvSpPr>
      <dsp:spPr>
        <a:xfrm rot="12900000">
          <a:off x="778662" y="1340653"/>
          <a:ext cx="1547443" cy="548354"/>
        </a:xfrm>
        <a:prstGeom prst="lef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D4654B-D892-47C5-9ADB-317DDA09FB5B}">
      <dsp:nvSpPr>
        <dsp:cNvPr id="0" name=""/>
        <dsp:cNvSpPr/>
      </dsp:nvSpPr>
      <dsp:spPr>
        <a:xfrm>
          <a:off x="4664" y="439903"/>
          <a:ext cx="1827847" cy="146227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fr-FR" sz="1800" b="1" kern="1200" dirty="0"/>
            <a:t>Polluants organiques biodégradables</a:t>
          </a:r>
        </a:p>
      </dsp:txBody>
      <dsp:txXfrm>
        <a:off x="47493" y="482732"/>
        <a:ext cx="1742189" cy="1376620"/>
      </dsp:txXfrm>
    </dsp:sp>
    <dsp:sp modelId="{7BF9696D-84EF-4196-8E47-F2BB33B98A67}">
      <dsp:nvSpPr>
        <dsp:cNvPr id="0" name=""/>
        <dsp:cNvSpPr/>
      </dsp:nvSpPr>
      <dsp:spPr>
        <a:xfrm rot="19500000">
          <a:off x="3769893" y="1340653"/>
          <a:ext cx="1547443" cy="548354"/>
        </a:xfrm>
        <a:prstGeom prst="lef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6E1E6AA-9C01-44FA-8C42-0CED34A656E6}">
      <dsp:nvSpPr>
        <dsp:cNvPr id="0" name=""/>
        <dsp:cNvSpPr/>
      </dsp:nvSpPr>
      <dsp:spPr>
        <a:xfrm>
          <a:off x="4263487" y="439903"/>
          <a:ext cx="1827847" cy="146227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fr-FR" sz="1800" b="1" kern="1200" dirty="0"/>
            <a:t>Rejets excessifs de phosphate et d’azote</a:t>
          </a:r>
        </a:p>
      </dsp:txBody>
      <dsp:txXfrm>
        <a:off x="4306316" y="482732"/>
        <a:ext cx="1742189" cy="137662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AA671-4894-4CE9-AE06-9564F6DB1ECC}">
      <dsp:nvSpPr>
        <dsp:cNvPr id="0" name=""/>
        <dsp:cNvSpPr/>
      </dsp:nvSpPr>
      <dsp:spPr>
        <a:xfrm>
          <a:off x="2468" y="279704"/>
          <a:ext cx="1958650" cy="180396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Prévention de la pollution (conception, production, distribution, achats)</a:t>
          </a:r>
        </a:p>
      </dsp:txBody>
      <dsp:txXfrm>
        <a:off x="2468" y="279704"/>
        <a:ext cx="1958650" cy="1803963"/>
      </dsp:txXfrm>
    </dsp:sp>
    <dsp:sp modelId="{7DA44E99-0CCD-42D4-95FC-3A09796618DB}">
      <dsp:nvSpPr>
        <dsp:cNvPr id="0" name=""/>
        <dsp:cNvSpPr/>
      </dsp:nvSpPr>
      <dsp:spPr>
        <a:xfrm>
          <a:off x="2156984" y="279704"/>
          <a:ext cx="1958650" cy="180396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Utilisation durable des ressources</a:t>
          </a:r>
        </a:p>
      </dsp:txBody>
      <dsp:txXfrm>
        <a:off x="2156984" y="279704"/>
        <a:ext cx="1958650" cy="1803963"/>
      </dsp:txXfrm>
    </dsp:sp>
    <dsp:sp modelId="{DA0B4B0C-4149-4CAC-A3B5-BE4B9068CBEE}">
      <dsp:nvSpPr>
        <dsp:cNvPr id="0" name=""/>
        <dsp:cNvSpPr/>
      </dsp:nvSpPr>
      <dsp:spPr>
        <a:xfrm>
          <a:off x="4311499" y="279704"/>
          <a:ext cx="1958650" cy="180396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Atténuation des changements climatiques et adaptation</a:t>
          </a:r>
        </a:p>
      </dsp:txBody>
      <dsp:txXfrm>
        <a:off x="4311499" y="279704"/>
        <a:ext cx="1958650" cy="1803963"/>
      </dsp:txXfrm>
    </dsp:sp>
    <dsp:sp modelId="{A382683D-A8AE-4F34-9638-7BEC47615427}">
      <dsp:nvSpPr>
        <dsp:cNvPr id="0" name=""/>
        <dsp:cNvSpPr/>
      </dsp:nvSpPr>
      <dsp:spPr>
        <a:xfrm>
          <a:off x="6466014" y="279704"/>
          <a:ext cx="1958650" cy="180396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Protection de l’environnement, biodiversité et réhabilitation des habitats naturels</a:t>
          </a:r>
        </a:p>
      </dsp:txBody>
      <dsp:txXfrm>
        <a:off x="6466014" y="279704"/>
        <a:ext cx="1958650" cy="180396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F5BE2-5032-4613-B543-B8C292DB0DFA}">
      <dsp:nvSpPr>
        <dsp:cNvPr id="0" name=""/>
        <dsp:cNvSpPr/>
      </dsp:nvSpPr>
      <dsp:spPr>
        <a:xfrm>
          <a:off x="0" y="8617"/>
          <a:ext cx="2335892" cy="140153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sym typeface="Wingdings" panose="05000000000000000000" pitchFamily="2" charset="2"/>
            </a:rPr>
            <a:t>Eviter la production de déchets</a:t>
          </a:r>
          <a:endParaRPr lang="fr-FR" sz="1800" b="1" kern="1200" dirty="0"/>
        </a:p>
      </dsp:txBody>
      <dsp:txXfrm>
        <a:off x="0" y="8617"/>
        <a:ext cx="2335892" cy="1401535"/>
      </dsp:txXfrm>
    </dsp:sp>
    <dsp:sp modelId="{6A9A75B5-67D2-4FD5-BF32-9ABD0EC54586}">
      <dsp:nvSpPr>
        <dsp:cNvPr id="0" name=""/>
        <dsp:cNvSpPr/>
      </dsp:nvSpPr>
      <dsp:spPr>
        <a:xfrm>
          <a:off x="2569482" y="8617"/>
          <a:ext cx="2335892" cy="140153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R</a:t>
          </a:r>
          <a:r>
            <a:rPr lang="fr-FR" sz="1800" b="1" kern="1200" dirty="0">
              <a:sym typeface="Wingdings" panose="05000000000000000000" pitchFamily="2" charset="2"/>
            </a:rPr>
            <a:t>éduire la dangerosité des déchets produits</a:t>
          </a:r>
          <a:endParaRPr lang="fr-FR" sz="1800" b="1" kern="1200" dirty="0"/>
        </a:p>
      </dsp:txBody>
      <dsp:txXfrm>
        <a:off x="2569482" y="8617"/>
        <a:ext cx="2335892" cy="1401535"/>
      </dsp:txXfrm>
    </dsp:sp>
    <dsp:sp modelId="{249B7507-F623-4971-AB86-6E1A317AE6FA}">
      <dsp:nvSpPr>
        <dsp:cNvPr id="0" name=""/>
        <dsp:cNvSpPr/>
      </dsp:nvSpPr>
      <dsp:spPr>
        <a:xfrm>
          <a:off x="5138964" y="8617"/>
          <a:ext cx="2335892" cy="140153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sym typeface="Wingdings" panose="05000000000000000000" pitchFamily="2" charset="2"/>
            </a:rPr>
            <a:t>Faciliter le traitement des déchets produits (éco-conception)</a:t>
          </a:r>
          <a:endParaRPr lang="fr-FR" sz="1800" b="1" kern="1200" dirty="0"/>
        </a:p>
      </dsp:txBody>
      <dsp:txXfrm>
        <a:off x="5138964" y="8617"/>
        <a:ext cx="2335892" cy="140153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DFCEF-F6F6-4C26-B42C-768FDA4692AF}">
      <dsp:nvSpPr>
        <dsp:cNvPr id="0" name=""/>
        <dsp:cNvSpPr/>
      </dsp:nvSpPr>
      <dsp:spPr>
        <a:xfrm>
          <a:off x="5095" y="37856"/>
          <a:ext cx="2548681" cy="76554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Non dangereux</a:t>
          </a:r>
        </a:p>
      </dsp:txBody>
      <dsp:txXfrm>
        <a:off x="27517" y="60278"/>
        <a:ext cx="2503837" cy="720696"/>
      </dsp:txXfrm>
    </dsp:sp>
    <dsp:sp modelId="{4B776583-83AC-43CF-9A12-51941E74079B}">
      <dsp:nvSpPr>
        <dsp:cNvPr id="0" name=""/>
        <dsp:cNvSpPr/>
      </dsp:nvSpPr>
      <dsp:spPr>
        <a:xfrm>
          <a:off x="259964" y="803396"/>
          <a:ext cx="254868" cy="574155"/>
        </a:xfrm>
        <a:custGeom>
          <a:avLst/>
          <a:gdLst/>
          <a:ahLst/>
          <a:cxnLst/>
          <a:rect l="0" t="0" r="0" b="0"/>
          <a:pathLst>
            <a:path>
              <a:moveTo>
                <a:pt x="0" y="0"/>
              </a:moveTo>
              <a:lnTo>
                <a:pt x="0" y="574155"/>
              </a:lnTo>
              <a:lnTo>
                <a:pt x="254868" y="574155"/>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67A1EE-C384-469B-9DD7-C37FF7DCE763}">
      <dsp:nvSpPr>
        <dsp:cNvPr id="0" name=""/>
        <dsp:cNvSpPr/>
      </dsp:nvSpPr>
      <dsp:spPr>
        <a:xfrm>
          <a:off x="514832" y="994781"/>
          <a:ext cx="1975889" cy="7655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Emballages industriels et ménagers</a:t>
          </a:r>
        </a:p>
      </dsp:txBody>
      <dsp:txXfrm>
        <a:off x="537254" y="1017203"/>
        <a:ext cx="1931045" cy="720696"/>
      </dsp:txXfrm>
    </dsp:sp>
    <dsp:sp modelId="{7DC213F0-65E0-43B1-A1D0-B19A612B6209}">
      <dsp:nvSpPr>
        <dsp:cNvPr id="0" name=""/>
        <dsp:cNvSpPr/>
      </dsp:nvSpPr>
      <dsp:spPr>
        <a:xfrm>
          <a:off x="259964" y="803396"/>
          <a:ext cx="254868" cy="1531080"/>
        </a:xfrm>
        <a:custGeom>
          <a:avLst/>
          <a:gdLst/>
          <a:ahLst/>
          <a:cxnLst/>
          <a:rect l="0" t="0" r="0" b="0"/>
          <a:pathLst>
            <a:path>
              <a:moveTo>
                <a:pt x="0" y="0"/>
              </a:moveTo>
              <a:lnTo>
                <a:pt x="0" y="1531080"/>
              </a:lnTo>
              <a:lnTo>
                <a:pt x="254868" y="1531080"/>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AB3D17-BCDB-4A7D-9DA0-9CF51BF69927}">
      <dsp:nvSpPr>
        <dsp:cNvPr id="0" name=""/>
        <dsp:cNvSpPr/>
      </dsp:nvSpPr>
      <dsp:spPr>
        <a:xfrm>
          <a:off x="514832" y="1951707"/>
          <a:ext cx="1975889" cy="7655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Déchets d’activités économiques</a:t>
          </a:r>
        </a:p>
      </dsp:txBody>
      <dsp:txXfrm>
        <a:off x="537254" y="1974129"/>
        <a:ext cx="1931045" cy="720696"/>
      </dsp:txXfrm>
    </dsp:sp>
    <dsp:sp modelId="{1FBC3F29-7FF7-4CBF-87CF-1FFEFFD996F9}">
      <dsp:nvSpPr>
        <dsp:cNvPr id="0" name=""/>
        <dsp:cNvSpPr/>
      </dsp:nvSpPr>
      <dsp:spPr>
        <a:xfrm>
          <a:off x="259964" y="803396"/>
          <a:ext cx="254868" cy="2488005"/>
        </a:xfrm>
        <a:custGeom>
          <a:avLst/>
          <a:gdLst/>
          <a:ahLst/>
          <a:cxnLst/>
          <a:rect l="0" t="0" r="0" b="0"/>
          <a:pathLst>
            <a:path>
              <a:moveTo>
                <a:pt x="0" y="0"/>
              </a:moveTo>
              <a:lnTo>
                <a:pt x="0" y="2488005"/>
              </a:lnTo>
              <a:lnTo>
                <a:pt x="254868" y="2488005"/>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CE08A2-1378-4542-90DA-39EE9449134F}">
      <dsp:nvSpPr>
        <dsp:cNvPr id="0" name=""/>
        <dsp:cNvSpPr/>
      </dsp:nvSpPr>
      <dsp:spPr>
        <a:xfrm>
          <a:off x="514832" y="2908632"/>
          <a:ext cx="1975889" cy="7655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Déchets ménagers</a:t>
          </a:r>
        </a:p>
      </dsp:txBody>
      <dsp:txXfrm>
        <a:off x="537254" y="2931054"/>
        <a:ext cx="1931045" cy="720696"/>
      </dsp:txXfrm>
    </dsp:sp>
    <dsp:sp modelId="{EA5D042A-2FA6-45F6-B4DD-41F62A372B88}">
      <dsp:nvSpPr>
        <dsp:cNvPr id="0" name=""/>
        <dsp:cNvSpPr/>
      </dsp:nvSpPr>
      <dsp:spPr>
        <a:xfrm>
          <a:off x="2936547" y="37856"/>
          <a:ext cx="2548681" cy="76554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Inertes</a:t>
          </a:r>
        </a:p>
      </dsp:txBody>
      <dsp:txXfrm>
        <a:off x="2958969" y="60278"/>
        <a:ext cx="2503837" cy="720696"/>
      </dsp:txXfrm>
    </dsp:sp>
    <dsp:sp modelId="{063623B0-3642-4580-9198-072FF98CB389}">
      <dsp:nvSpPr>
        <dsp:cNvPr id="0" name=""/>
        <dsp:cNvSpPr/>
      </dsp:nvSpPr>
      <dsp:spPr>
        <a:xfrm>
          <a:off x="3191415" y="803396"/>
          <a:ext cx="254868" cy="574155"/>
        </a:xfrm>
        <a:custGeom>
          <a:avLst/>
          <a:gdLst/>
          <a:ahLst/>
          <a:cxnLst/>
          <a:rect l="0" t="0" r="0" b="0"/>
          <a:pathLst>
            <a:path>
              <a:moveTo>
                <a:pt x="0" y="0"/>
              </a:moveTo>
              <a:lnTo>
                <a:pt x="0" y="574155"/>
              </a:lnTo>
              <a:lnTo>
                <a:pt x="254868" y="574155"/>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2CB45E-536F-449A-917F-7A7516EB0A10}">
      <dsp:nvSpPr>
        <dsp:cNvPr id="0" name=""/>
        <dsp:cNvSpPr/>
      </dsp:nvSpPr>
      <dsp:spPr>
        <a:xfrm>
          <a:off x="3446284" y="994781"/>
          <a:ext cx="1975889" cy="7655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Déchets de chantiers</a:t>
          </a:r>
        </a:p>
      </dsp:txBody>
      <dsp:txXfrm>
        <a:off x="3468706" y="1017203"/>
        <a:ext cx="1931045" cy="720696"/>
      </dsp:txXfrm>
    </dsp:sp>
    <dsp:sp modelId="{AD55C465-8E25-4DE8-84DC-77AEB2AC88F8}">
      <dsp:nvSpPr>
        <dsp:cNvPr id="0" name=""/>
        <dsp:cNvSpPr/>
      </dsp:nvSpPr>
      <dsp:spPr>
        <a:xfrm>
          <a:off x="5867999" y="37856"/>
          <a:ext cx="2911012" cy="76554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Dangereux</a:t>
          </a:r>
        </a:p>
      </dsp:txBody>
      <dsp:txXfrm>
        <a:off x="5890421" y="60278"/>
        <a:ext cx="2866168" cy="720696"/>
      </dsp:txXfrm>
    </dsp:sp>
    <dsp:sp modelId="{E61A10F5-2C09-4BDA-80E6-1F4E421EDECD}">
      <dsp:nvSpPr>
        <dsp:cNvPr id="0" name=""/>
        <dsp:cNvSpPr/>
      </dsp:nvSpPr>
      <dsp:spPr>
        <a:xfrm>
          <a:off x="6159100" y="803396"/>
          <a:ext cx="291101" cy="574155"/>
        </a:xfrm>
        <a:custGeom>
          <a:avLst/>
          <a:gdLst/>
          <a:ahLst/>
          <a:cxnLst/>
          <a:rect l="0" t="0" r="0" b="0"/>
          <a:pathLst>
            <a:path>
              <a:moveTo>
                <a:pt x="0" y="0"/>
              </a:moveTo>
              <a:lnTo>
                <a:pt x="0" y="574155"/>
              </a:lnTo>
              <a:lnTo>
                <a:pt x="291101" y="574155"/>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10F689-C0D8-415C-9262-EFC2A7FE55C4}">
      <dsp:nvSpPr>
        <dsp:cNvPr id="0" name=""/>
        <dsp:cNvSpPr/>
      </dsp:nvSpPr>
      <dsp:spPr>
        <a:xfrm>
          <a:off x="6450202" y="994781"/>
          <a:ext cx="2256787" cy="7655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Déchets industriels dangereux (DID)</a:t>
          </a:r>
        </a:p>
      </dsp:txBody>
      <dsp:txXfrm>
        <a:off x="6472624" y="1017203"/>
        <a:ext cx="2211943" cy="720696"/>
      </dsp:txXfrm>
    </dsp:sp>
    <dsp:sp modelId="{75420D72-ABC3-4065-9284-0D9C75EC22ED}">
      <dsp:nvSpPr>
        <dsp:cNvPr id="0" name=""/>
        <dsp:cNvSpPr/>
      </dsp:nvSpPr>
      <dsp:spPr>
        <a:xfrm>
          <a:off x="6159100" y="803396"/>
          <a:ext cx="291101" cy="1531080"/>
        </a:xfrm>
        <a:custGeom>
          <a:avLst/>
          <a:gdLst/>
          <a:ahLst/>
          <a:cxnLst/>
          <a:rect l="0" t="0" r="0" b="0"/>
          <a:pathLst>
            <a:path>
              <a:moveTo>
                <a:pt x="0" y="0"/>
              </a:moveTo>
              <a:lnTo>
                <a:pt x="0" y="1531080"/>
              </a:lnTo>
              <a:lnTo>
                <a:pt x="291101" y="1531080"/>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469C81-D268-4D27-8F5D-EC03F8BBDBD7}">
      <dsp:nvSpPr>
        <dsp:cNvPr id="0" name=""/>
        <dsp:cNvSpPr/>
      </dsp:nvSpPr>
      <dsp:spPr>
        <a:xfrm>
          <a:off x="6450202" y="1951707"/>
          <a:ext cx="2256787" cy="7655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Déchets d’activités de soins à risques infectieux (DASRI)</a:t>
          </a:r>
        </a:p>
      </dsp:txBody>
      <dsp:txXfrm>
        <a:off x="6472624" y="1974129"/>
        <a:ext cx="2211943" cy="720696"/>
      </dsp:txXfrm>
    </dsp:sp>
    <dsp:sp modelId="{0FC495F1-ED76-414F-BD5D-2CF0CA0794C8}">
      <dsp:nvSpPr>
        <dsp:cNvPr id="0" name=""/>
        <dsp:cNvSpPr/>
      </dsp:nvSpPr>
      <dsp:spPr>
        <a:xfrm>
          <a:off x="6159100" y="803396"/>
          <a:ext cx="291101" cy="2488005"/>
        </a:xfrm>
        <a:custGeom>
          <a:avLst/>
          <a:gdLst/>
          <a:ahLst/>
          <a:cxnLst/>
          <a:rect l="0" t="0" r="0" b="0"/>
          <a:pathLst>
            <a:path>
              <a:moveTo>
                <a:pt x="0" y="0"/>
              </a:moveTo>
              <a:lnTo>
                <a:pt x="0" y="2488005"/>
              </a:lnTo>
              <a:lnTo>
                <a:pt x="291101" y="2488005"/>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3F46E-DDDB-4610-B51B-613B60748E36}">
      <dsp:nvSpPr>
        <dsp:cNvPr id="0" name=""/>
        <dsp:cNvSpPr/>
      </dsp:nvSpPr>
      <dsp:spPr>
        <a:xfrm>
          <a:off x="6450202" y="2908632"/>
          <a:ext cx="2340360" cy="7655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t>DEEE</a:t>
          </a:r>
        </a:p>
      </dsp:txBody>
      <dsp:txXfrm>
        <a:off x="6472624" y="2931054"/>
        <a:ext cx="2295516" cy="72069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BD094-9327-4246-B460-40A128774D80}">
      <dsp:nvSpPr>
        <dsp:cNvPr id="0" name=""/>
        <dsp:cNvSpPr/>
      </dsp:nvSpPr>
      <dsp:spPr>
        <a:xfrm>
          <a:off x="755987" y="632"/>
          <a:ext cx="2068641" cy="196340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Développer le recyclage de certains déchets / augmenter la performance de recyclage des déchets</a:t>
          </a:r>
        </a:p>
      </dsp:txBody>
      <dsp:txXfrm>
        <a:off x="755987" y="632"/>
        <a:ext cx="2068641" cy="1963405"/>
      </dsp:txXfrm>
    </dsp:sp>
    <dsp:sp modelId="{1DD13905-0C9C-45EB-A6DB-25E926A962E1}">
      <dsp:nvSpPr>
        <dsp:cNvPr id="0" name=""/>
        <dsp:cNvSpPr/>
      </dsp:nvSpPr>
      <dsp:spPr>
        <a:xfrm>
          <a:off x="3031493" y="632"/>
          <a:ext cx="2068641" cy="196340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Rendre les producteurs responsables des coûts et de la gestion des déchets liés aux produits qu’ils fabriquent</a:t>
          </a:r>
        </a:p>
      </dsp:txBody>
      <dsp:txXfrm>
        <a:off x="3031493" y="632"/>
        <a:ext cx="2068641" cy="1963405"/>
      </dsp:txXfrm>
    </dsp:sp>
    <dsp:sp modelId="{504C8D9E-9CD4-4F8C-B8A4-6D535A47F0C0}">
      <dsp:nvSpPr>
        <dsp:cNvPr id="0" name=""/>
        <dsp:cNvSpPr/>
      </dsp:nvSpPr>
      <dsp:spPr>
        <a:xfrm>
          <a:off x="5306999" y="632"/>
          <a:ext cx="2068641" cy="196340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Développer l’éco-conception (barèmes selon la qualité environnementale des produits)</a:t>
          </a:r>
        </a:p>
      </dsp:txBody>
      <dsp:txXfrm>
        <a:off x="5306999" y="632"/>
        <a:ext cx="2068641" cy="196340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BAE270-5474-415B-9C28-69A155282D83}">
      <dsp:nvSpPr>
        <dsp:cNvPr id="0" name=""/>
        <dsp:cNvSpPr/>
      </dsp:nvSpPr>
      <dsp:spPr>
        <a:xfrm>
          <a:off x="622992" y="0"/>
          <a:ext cx="4981312" cy="1992525"/>
        </a:xfrm>
        <a:prstGeom prst="leftRightRibb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D8F7C7-E1AA-44EC-BD6D-CEA9DFDC827E}">
      <dsp:nvSpPr>
        <dsp:cNvPr id="0" name=""/>
        <dsp:cNvSpPr/>
      </dsp:nvSpPr>
      <dsp:spPr>
        <a:xfrm>
          <a:off x="1092588" y="348691"/>
          <a:ext cx="1900156" cy="97633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Consommations d’eau</a:t>
          </a:r>
        </a:p>
      </dsp:txBody>
      <dsp:txXfrm>
        <a:off x="1092588" y="348691"/>
        <a:ext cx="1900156" cy="976337"/>
      </dsp:txXfrm>
    </dsp:sp>
    <dsp:sp modelId="{B33142F4-A0BF-4055-9E86-65B6C5F7750B}">
      <dsp:nvSpPr>
        <dsp:cNvPr id="0" name=""/>
        <dsp:cNvSpPr/>
      </dsp:nvSpPr>
      <dsp:spPr>
        <a:xfrm>
          <a:off x="3113649" y="667495"/>
          <a:ext cx="1942711" cy="97633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Rejets</a:t>
          </a:r>
        </a:p>
      </dsp:txBody>
      <dsp:txXfrm>
        <a:off x="3113649" y="667495"/>
        <a:ext cx="1942711" cy="97633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9F82AA-E29E-411C-B5DE-1BB2B35838BC}">
      <dsp:nvSpPr>
        <dsp:cNvPr id="0" name=""/>
        <dsp:cNvSpPr/>
      </dsp:nvSpPr>
      <dsp:spPr>
        <a:xfrm>
          <a:off x="0" y="166007"/>
          <a:ext cx="2295071" cy="137704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Disparition de l’ancien exploitant</a:t>
          </a:r>
        </a:p>
      </dsp:txBody>
      <dsp:txXfrm>
        <a:off x="0" y="166007"/>
        <a:ext cx="2295071" cy="1377042"/>
      </dsp:txXfrm>
    </dsp:sp>
    <dsp:sp modelId="{6797C0E8-2240-4906-ACAD-9568D557BC97}">
      <dsp:nvSpPr>
        <dsp:cNvPr id="0" name=""/>
        <dsp:cNvSpPr/>
      </dsp:nvSpPr>
      <dsp:spPr>
        <a:xfrm>
          <a:off x="2524578" y="166007"/>
          <a:ext cx="2295071" cy="137704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Insolvabilité de l’exploitant</a:t>
          </a:r>
        </a:p>
      </dsp:txBody>
      <dsp:txXfrm>
        <a:off x="2524578" y="166007"/>
        <a:ext cx="2295071" cy="1377042"/>
      </dsp:txXfrm>
    </dsp:sp>
    <dsp:sp modelId="{7DC36A1F-FFB5-4B5A-B8BB-22E166CDCBAC}">
      <dsp:nvSpPr>
        <dsp:cNvPr id="0" name=""/>
        <dsp:cNvSpPr/>
      </dsp:nvSpPr>
      <dsp:spPr>
        <a:xfrm>
          <a:off x="5049156" y="166007"/>
          <a:ext cx="2295071" cy="137704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Mise en œuvre d’une procédure de liquidation judiciaire</a:t>
          </a:r>
        </a:p>
      </dsp:txBody>
      <dsp:txXfrm>
        <a:off x="5049156" y="166007"/>
        <a:ext cx="2295071" cy="137704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B16898-A5A8-4306-98C1-F1D2074E0FD6}">
      <dsp:nvSpPr>
        <dsp:cNvPr id="0" name=""/>
        <dsp:cNvSpPr/>
      </dsp:nvSpPr>
      <dsp:spPr>
        <a:xfrm>
          <a:off x="825638" y="1476"/>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Gestion des FDS</a:t>
          </a:r>
        </a:p>
        <a:p>
          <a:pPr marL="0" lvl="0" indent="0" algn="ctr" defTabSz="711200">
            <a:lnSpc>
              <a:spcPct val="90000"/>
            </a:lnSpc>
            <a:spcBef>
              <a:spcPct val="0"/>
            </a:spcBef>
            <a:spcAft>
              <a:spcPct val="35000"/>
            </a:spcAft>
            <a:buNone/>
          </a:pPr>
          <a:r>
            <a:rPr lang="fr-FR" sz="1600" b="1" kern="1200" dirty="0"/>
            <a:t>(en français + conforme à REACH)</a:t>
          </a:r>
        </a:p>
      </dsp:txBody>
      <dsp:txXfrm>
        <a:off x="825638" y="1476"/>
        <a:ext cx="1948569" cy="1169141"/>
      </dsp:txXfrm>
    </dsp:sp>
    <dsp:sp modelId="{9F2DA3A6-F474-4648-B783-32C7F24FF962}">
      <dsp:nvSpPr>
        <dsp:cNvPr id="0" name=""/>
        <dsp:cNvSpPr/>
      </dsp:nvSpPr>
      <dsp:spPr>
        <a:xfrm>
          <a:off x="2969065" y="1476"/>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Substitution</a:t>
          </a:r>
        </a:p>
      </dsp:txBody>
      <dsp:txXfrm>
        <a:off x="2969065" y="1476"/>
        <a:ext cx="1948569" cy="1169141"/>
      </dsp:txXfrm>
    </dsp:sp>
    <dsp:sp modelId="{80DFC2E1-2C80-4068-82E1-2A6AB2EF0038}">
      <dsp:nvSpPr>
        <dsp:cNvPr id="0" name=""/>
        <dsp:cNvSpPr/>
      </dsp:nvSpPr>
      <dsp:spPr>
        <a:xfrm>
          <a:off x="5112491" y="1476"/>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Rejets</a:t>
          </a:r>
        </a:p>
      </dsp:txBody>
      <dsp:txXfrm>
        <a:off x="5112491" y="1476"/>
        <a:ext cx="1948569" cy="1169141"/>
      </dsp:txXfrm>
    </dsp:sp>
    <dsp:sp modelId="{D27D826A-D68F-4EE7-A908-13DFFDA89734}">
      <dsp:nvSpPr>
        <dsp:cNvPr id="0" name=""/>
        <dsp:cNvSpPr/>
      </dsp:nvSpPr>
      <dsp:spPr>
        <a:xfrm>
          <a:off x="825638" y="1365474"/>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Règles de stockage</a:t>
          </a:r>
        </a:p>
      </dsp:txBody>
      <dsp:txXfrm>
        <a:off x="825638" y="1365474"/>
        <a:ext cx="1948569" cy="1169141"/>
      </dsp:txXfrm>
    </dsp:sp>
    <dsp:sp modelId="{41BAAC00-0379-47CF-959A-558F93D904FF}">
      <dsp:nvSpPr>
        <dsp:cNvPr id="0" name=""/>
        <dsp:cNvSpPr/>
      </dsp:nvSpPr>
      <dsp:spPr>
        <a:xfrm>
          <a:off x="2969065" y="1365474"/>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Règles de déchargement</a:t>
          </a:r>
        </a:p>
      </dsp:txBody>
      <dsp:txXfrm>
        <a:off x="2969065" y="1365474"/>
        <a:ext cx="1948569" cy="1169141"/>
      </dsp:txXfrm>
    </dsp:sp>
    <dsp:sp modelId="{32579D07-74C6-4FA4-A8EE-FEB076754A7E}">
      <dsp:nvSpPr>
        <dsp:cNvPr id="0" name=""/>
        <dsp:cNvSpPr/>
      </dsp:nvSpPr>
      <dsp:spPr>
        <a:xfrm>
          <a:off x="5112491" y="1365474"/>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Règles de reconditionnement</a:t>
          </a:r>
        </a:p>
      </dsp:txBody>
      <dsp:txXfrm>
        <a:off x="5112491" y="1365474"/>
        <a:ext cx="1948569" cy="1169141"/>
      </dsp:txXfrm>
    </dsp:sp>
    <dsp:sp modelId="{44D7C264-81C3-4CEF-AC5A-8BCA3A5D2937}">
      <dsp:nvSpPr>
        <dsp:cNvPr id="0" name=""/>
        <dsp:cNvSpPr/>
      </dsp:nvSpPr>
      <dsp:spPr>
        <a:xfrm>
          <a:off x="825638" y="2729473"/>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Consignes en cas de situation d’urgence</a:t>
          </a:r>
        </a:p>
      </dsp:txBody>
      <dsp:txXfrm>
        <a:off x="825638" y="2729473"/>
        <a:ext cx="1948569" cy="1169141"/>
      </dsp:txXfrm>
    </dsp:sp>
    <dsp:sp modelId="{FD7862C5-C447-46E6-83A9-8FB8B5BB4B60}">
      <dsp:nvSpPr>
        <dsp:cNvPr id="0" name=""/>
        <dsp:cNvSpPr/>
      </dsp:nvSpPr>
      <dsp:spPr>
        <a:xfrm>
          <a:off x="2969065" y="2729473"/>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Prévention du risque ATEX</a:t>
          </a:r>
        </a:p>
      </dsp:txBody>
      <dsp:txXfrm>
        <a:off x="2969065" y="2729473"/>
        <a:ext cx="1948569" cy="1169141"/>
      </dsp:txXfrm>
    </dsp:sp>
    <dsp:sp modelId="{D3C6DABB-A806-49EC-85BC-90287AF29A5C}">
      <dsp:nvSpPr>
        <dsp:cNvPr id="0" name=""/>
        <dsp:cNvSpPr/>
      </dsp:nvSpPr>
      <dsp:spPr>
        <a:xfrm>
          <a:off x="5112491" y="2729473"/>
          <a:ext cx="1948569" cy="116914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t>…</a:t>
          </a:r>
        </a:p>
      </dsp:txBody>
      <dsp:txXfrm>
        <a:off x="5112491" y="2729473"/>
        <a:ext cx="1948569" cy="1169141"/>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1C3F9-658A-4EEF-97BD-1433E3B24207}">
      <dsp:nvSpPr>
        <dsp:cNvPr id="0" name=""/>
        <dsp:cNvSpPr/>
      </dsp:nvSpPr>
      <dsp:spPr>
        <a:xfrm>
          <a:off x="492061" y="1289"/>
          <a:ext cx="2456556" cy="14739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Eteindre l’inutile</a:t>
          </a:r>
        </a:p>
      </dsp:txBody>
      <dsp:txXfrm>
        <a:off x="492061" y="1289"/>
        <a:ext cx="2456556" cy="1473934"/>
      </dsp:txXfrm>
    </dsp:sp>
    <dsp:sp modelId="{5EBDE485-D2CC-41CC-BC2F-15B92C9DD631}">
      <dsp:nvSpPr>
        <dsp:cNvPr id="0" name=""/>
        <dsp:cNvSpPr/>
      </dsp:nvSpPr>
      <dsp:spPr>
        <a:xfrm>
          <a:off x="3194273" y="1289"/>
          <a:ext cx="2456556" cy="14739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Réparer toute fuite d’air comprimé</a:t>
          </a:r>
        </a:p>
      </dsp:txBody>
      <dsp:txXfrm>
        <a:off x="3194273" y="1289"/>
        <a:ext cx="2456556" cy="1473934"/>
      </dsp:txXfrm>
    </dsp:sp>
    <dsp:sp modelId="{AB685B23-00BF-4ACA-804D-44116AD50046}">
      <dsp:nvSpPr>
        <dsp:cNvPr id="0" name=""/>
        <dsp:cNvSpPr/>
      </dsp:nvSpPr>
      <dsp:spPr>
        <a:xfrm>
          <a:off x="492061" y="1720878"/>
          <a:ext cx="2456556" cy="14739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Participer à la production d’énergies renouvelables</a:t>
          </a:r>
        </a:p>
      </dsp:txBody>
      <dsp:txXfrm>
        <a:off x="492061" y="1720878"/>
        <a:ext cx="2456556" cy="1473934"/>
      </dsp:txXfrm>
    </dsp:sp>
    <dsp:sp modelId="{D86A5FD0-8D0C-4F4E-84C6-55CB82B25E1F}">
      <dsp:nvSpPr>
        <dsp:cNvPr id="0" name=""/>
        <dsp:cNvSpPr/>
      </dsp:nvSpPr>
      <dsp:spPr>
        <a:xfrm>
          <a:off x="3194273" y="1720878"/>
          <a:ext cx="2456556" cy="14739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t>Remplacer la matériel énergivore</a:t>
          </a:r>
        </a:p>
      </dsp:txBody>
      <dsp:txXfrm>
        <a:off x="3194273" y="1720878"/>
        <a:ext cx="2456556" cy="147393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F8C54-D491-420D-B0D4-B9A8130131C2}">
      <dsp:nvSpPr>
        <dsp:cNvPr id="0" name=""/>
        <dsp:cNvSpPr/>
      </dsp:nvSpPr>
      <dsp:spPr>
        <a:xfrm>
          <a:off x="1915392" y="20514"/>
          <a:ext cx="1867144" cy="76792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fr-FR" sz="1800" b="1" kern="1200" dirty="0"/>
            <a:t>Actions de mutualisation </a:t>
          </a:r>
        </a:p>
      </dsp:txBody>
      <dsp:txXfrm>
        <a:off x="1937884" y="43006"/>
        <a:ext cx="1822160" cy="722945"/>
      </dsp:txXfrm>
    </dsp:sp>
    <dsp:sp modelId="{5FBB69C0-B03F-4257-898D-48350B552194}">
      <dsp:nvSpPr>
        <dsp:cNvPr id="0" name=""/>
        <dsp:cNvSpPr/>
      </dsp:nvSpPr>
      <dsp:spPr>
        <a:xfrm rot="3211619">
          <a:off x="3127096" y="1359439"/>
          <a:ext cx="1054299" cy="268775"/>
        </a:xfrm>
        <a:prstGeom prst="lef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fr-FR" sz="1600" kern="1200"/>
        </a:p>
      </dsp:txBody>
      <dsp:txXfrm>
        <a:off x="3207729" y="1413194"/>
        <a:ext cx="893034" cy="161265"/>
      </dsp:txXfrm>
    </dsp:sp>
    <dsp:sp modelId="{31AF20B0-0E6B-40C4-AED6-CAFDFFD51484}">
      <dsp:nvSpPr>
        <dsp:cNvPr id="0" name=""/>
        <dsp:cNvSpPr/>
      </dsp:nvSpPr>
      <dsp:spPr>
        <a:xfrm>
          <a:off x="3525954" y="2199210"/>
          <a:ext cx="1867144" cy="76792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a:t>Création de nouvelles activités </a:t>
          </a:r>
          <a:endParaRPr lang="fr-FR" sz="1800" b="1" kern="1200" dirty="0"/>
        </a:p>
      </dsp:txBody>
      <dsp:txXfrm>
        <a:off x="3548446" y="2221702"/>
        <a:ext cx="1822160" cy="722945"/>
      </dsp:txXfrm>
    </dsp:sp>
    <dsp:sp modelId="{9CA4C4B2-BE5C-4B16-8F61-9244C3235856}">
      <dsp:nvSpPr>
        <dsp:cNvPr id="0" name=""/>
        <dsp:cNvSpPr/>
      </dsp:nvSpPr>
      <dsp:spPr>
        <a:xfrm rot="10801070">
          <a:off x="2281855" y="2448281"/>
          <a:ext cx="1105865" cy="268775"/>
        </a:xfrm>
        <a:prstGeom prst="lef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fr-FR" sz="1600" kern="1200"/>
        </a:p>
      </dsp:txBody>
      <dsp:txXfrm rot="10800000">
        <a:off x="2362487" y="2502036"/>
        <a:ext cx="944600" cy="161265"/>
      </dsp:txXfrm>
    </dsp:sp>
    <dsp:sp modelId="{51326D60-B96C-4121-BBDF-B9B5B57ED8F2}">
      <dsp:nvSpPr>
        <dsp:cNvPr id="0" name=""/>
        <dsp:cNvSpPr/>
      </dsp:nvSpPr>
      <dsp:spPr>
        <a:xfrm>
          <a:off x="276478" y="2198198"/>
          <a:ext cx="1867144" cy="76792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a:t>Actions de substitution</a:t>
          </a:r>
          <a:endParaRPr lang="fr-FR" sz="1800" kern="1200" dirty="0"/>
        </a:p>
      </dsp:txBody>
      <dsp:txXfrm>
        <a:off x="298970" y="2220690"/>
        <a:ext cx="1822160" cy="722945"/>
      </dsp:txXfrm>
    </dsp:sp>
    <dsp:sp modelId="{FAC681AF-7DB5-459A-BAC6-54A98D27B780}">
      <dsp:nvSpPr>
        <dsp:cNvPr id="0" name=""/>
        <dsp:cNvSpPr/>
      </dsp:nvSpPr>
      <dsp:spPr>
        <a:xfrm rot="18417896">
          <a:off x="1502357" y="1358933"/>
          <a:ext cx="1054299" cy="268775"/>
        </a:xfrm>
        <a:prstGeom prst="lef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fr-FR" sz="1600" kern="1200"/>
        </a:p>
      </dsp:txBody>
      <dsp:txXfrm>
        <a:off x="1582990" y="1412688"/>
        <a:ext cx="893034" cy="16126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272D5A-6B12-4527-AE4D-DC58079CB99F}">
      <dsp:nvSpPr>
        <dsp:cNvPr id="0" name=""/>
        <dsp:cNvSpPr/>
      </dsp:nvSpPr>
      <dsp:spPr>
        <a:xfrm>
          <a:off x="732196" y="705613"/>
          <a:ext cx="7077904" cy="4049752"/>
        </a:xfrm>
        <a:prstGeom prst="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47C257-EB8F-4D62-BD7D-C0039CA0B71B}">
      <dsp:nvSpPr>
        <dsp:cNvPr id="0" name=""/>
        <dsp:cNvSpPr/>
      </dsp:nvSpPr>
      <dsp:spPr>
        <a:xfrm>
          <a:off x="943720" y="1329367"/>
          <a:ext cx="3286750" cy="312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800100">
            <a:lnSpc>
              <a:spcPct val="90000"/>
            </a:lnSpc>
            <a:spcBef>
              <a:spcPct val="0"/>
            </a:spcBef>
            <a:spcAft>
              <a:spcPct val="35000"/>
            </a:spcAft>
            <a:buNone/>
          </a:pPr>
          <a:r>
            <a:rPr lang="fr-FR" sz="1800" kern="1200" dirty="0"/>
            <a:t>+ Réduire les prélèvements de ressources</a:t>
          </a:r>
        </a:p>
        <a:p>
          <a:pPr marL="0" lvl="0" indent="0" algn="l" defTabSz="800100">
            <a:lnSpc>
              <a:spcPct val="90000"/>
            </a:lnSpc>
            <a:spcBef>
              <a:spcPct val="0"/>
            </a:spcBef>
            <a:spcAft>
              <a:spcPct val="35000"/>
            </a:spcAft>
            <a:buNone/>
          </a:pPr>
          <a:r>
            <a:rPr lang="fr-FR" sz="1800" kern="1200" dirty="0"/>
            <a:t>+ Réduire la production de déchets</a:t>
          </a:r>
        </a:p>
        <a:p>
          <a:pPr marL="0" lvl="0" indent="0" algn="l" defTabSz="800100">
            <a:lnSpc>
              <a:spcPct val="90000"/>
            </a:lnSpc>
            <a:spcBef>
              <a:spcPct val="0"/>
            </a:spcBef>
            <a:spcAft>
              <a:spcPct val="35000"/>
            </a:spcAft>
            <a:buNone/>
          </a:pPr>
          <a:r>
            <a:rPr lang="fr-FR" sz="1800" kern="1200" dirty="0"/>
            <a:t>+ Limiter les consommations d’énergies</a:t>
          </a:r>
        </a:p>
        <a:p>
          <a:pPr marL="0" lvl="0" indent="0" algn="l" defTabSz="800100">
            <a:lnSpc>
              <a:spcPct val="90000"/>
            </a:lnSpc>
            <a:spcBef>
              <a:spcPct val="0"/>
            </a:spcBef>
            <a:spcAft>
              <a:spcPct val="35000"/>
            </a:spcAft>
            <a:buNone/>
          </a:pPr>
          <a:r>
            <a:rPr lang="fr-FR" sz="1800" kern="1200" dirty="0"/>
            <a:t>+ Sécuriser les apports en matières premières</a:t>
          </a:r>
        </a:p>
        <a:p>
          <a:pPr marL="0" lvl="0" indent="0" algn="l" defTabSz="800100">
            <a:lnSpc>
              <a:spcPct val="90000"/>
            </a:lnSpc>
            <a:spcBef>
              <a:spcPct val="0"/>
            </a:spcBef>
            <a:spcAft>
              <a:spcPct val="35000"/>
            </a:spcAft>
            <a:buNone/>
          </a:pPr>
          <a:r>
            <a:rPr lang="fr-FR" sz="1800" kern="1200" dirty="0"/>
            <a:t>(&gt;50% sont importés et 75% sont d’origine non renouvelable)</a:t>
          </a:r>
        </a:p>
        <a:p>
          <a:pPr marL="0" lvl="0" indent="0" algn="l" defTabSz="800100">
            <a:lnSpc>
              <a:spcPct val="90000"/>
            </a:lnSpc>
            <a:spcBef>
              <a:spcPct val="0"/>
            </a:spcBef>
            <a:spcAft>
              <a:spcPct val="35000"/>
            </a:spcAft>
            <a:buNone/>
          </a:pPr>
          <a:r>
            <a:rPr lang="fr-FR" sz="1800" kern="1200" dirty="0"/>
            <a:t>+ Réindustrialiser les territoires</a:t>
          </a:r>
        </a:p>
      </dsp:txBody>
      <dsp:txXfrm>
        <a:off x="943720" y="1329367"/>
        <a:ext cx="3286750" cy="3129218"/>
      </dsp:txXfrm>
    </dsp:sp>
    <dsp:sp modelId="{A452F069-9C94-4725-AA7E-44D2FECF8AC7}">
      <dsp:nvSpPr>
        <dsp:cNvPr id="0" name=""/>
        <dsp:cNvSpPr/>
      </dsp:nvSpPr>
      <dsp:spPr>
        <a:xfrm>
          <a:off x="4303691" y="1329367"/>
          <a:ext cx="3286750" cy="312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800100">
            <a:lnSpc>
              <a:spcPct val="90000"/>
            </a:lnSpc>
            <a:spcBef>
              <a:spcPct val="0"/>
            </a:spcBef>
            <a:spcAft>
              <a:spcPct val="35000"/>
            </a:spcAft>
            <a:buNone/>
          </a:pPr>
          <a:r>
            <a:rPr lang="fr-FR" sz="1800" kern="1200" dirty="0"/>
            <a:t>- Obsolescence programmée</a:t>
          </a:r>
        </a:p>
        <a:p>
          <a:pPr marL="0" lvl="0" indent="0" algn="l" defTabSz="800100">
            <a:lnSpc>
              <a:spcPct val="90000"/>
            </a:lnSpc>
            <a:spcBef>
              <a:spcPct val="0"/>
            </a:spcBef>
            <a:spcAft>
              <a:spcPct val="35000"/>
            </a:spcAft>
            <a:buNone/>
          </a:pPr>
          <a:r>
            <a:rPr lang="fr-FR" sz="1800" kern="1200" dirty="0"/>
            <a:t>- Valeur potentielle des « déchets » (métaux précieux, plastiques…)</a:t>
          </a:r>
        </a:p>
        <a:p>
          <a:pPr marL="0" lvl="0" indent="0" algn="l" defTabSz="800100">
            <a:lnSpc>
              <a:spcPct val="90000"/>
            </a:lnSpc>
            <a:spcBef>
              <a:spcPct val="0"/>
            </a:spcBef>
            <a:spcAft>
              <a:spcPct val="35000"/>
            </a:spcAft>
            <a:buNone/>
          </a:pPr>
          <a:r>
            <a:rPr lang="fr-FR" sz="1800" kern="1200" dirty="0"/>
            <a:t>- Fragilité de certaines filières (plastiques…)</a:t>
          </a:r>
        </a:p>
        <a:p>
          <a:pPr marL="0" lvl="0" indent="0" algn="l" defTabSz="800100">
            <a:lnSpc>
              <a:spcPct val="90000"/>
            </a:lnSpc>
            <a:spcBef>
              <a:spcPct val="0"/>
            </a:spcBef>
            <a:spcAft>
              <a:spcPct val="35000"/>
            </a:spcAft>
            <a:buNone/>
          </a:pPr>
          <a:r>
            <a:rPr lang="fr-FR" sz="1800" kern="1200" dirty="0"/>
            <a:t>- Trop faible structuration de filières industrielles</a:t>
          </a:r>
        </a:p>
      </dsp:txBody>
      <dsp:txXfrm>
        <a:off x="4303691" y="1329367"/>
        <a:ext cx="3286750" cy="3129218"/>
      </dsp:txXfrm>
    </dsp:sp>
    <dsp:sp modelId="{A19567ED-CA58-4BD6-B199-D453D0089308}">
      <dsp:nvSpPr>
        <dsp:cNvPr id="0" name=""/>
        <dsp:cNvSpPr/>
      </dsp:nvSpPr>
      <dsp:spPr>
        <a:xfrm>
          <a:off x="0" y="169571"/>
          <a:ext cx="1383038" cy="1383038"/>
        </a:xfrm>
        <a:prstGeom prst="plus">
          <a:avLst>
            <a:gd name="adj" fmla="val 328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54C4ED-8D92-4BA5-B6F9-FA491B99AD18}">
      <dsp:nvSpPr>
        <dsp:cNvPr id="0" name=""/>
        <dsp:cNvSpPr/>
      </dsp:nvSpPr>
      <dsp:spPr>
        <a:xfrm>
          <a:off x="6833838" y="666945"/>
          <a:ext cx="1301683" cy="446075"/>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A078C6-B4A6-484C-ACBF-1418C58DC6D3}">
      <dsp:nvSpPr>
        <dsp:cNvPr id="0" name=""/>
        <dsp:cNvSpPr/>
      </dsp:nvSpPr>
      <dsp:spPr>
        <a:xfrm>
          <a:off x="4271149" y="1336058"/>
          <a:ext cx="813" cy="2988704"/>
        </a:xfrm>
        <a:prstGeom prst="line">
          <a:avLst/>
        </a:pr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6AE12-E687-445D-BCD1-3FE4402DC658}">
      <dsp:nvSpPr>
        <dsp:cNvPr id="0" name=""/>
        <dsp:cNvSpPr/>
      </dsp:nvSpPr>
      <dsp:spPr>
        <a:xfrm>
          <a:off x="5389" y="0"/>
          <a:ext cx="3281633" cy="171676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bg1"/>
              </a:solidFill>
              <a:latin typeface="+mn-lt"/>
            </a:rPr>
            <a:t>2011  - </a:t>
          </a:r>
          <a:r>
            <a:rPr lang="fr-FR" sz="1800" b="1" kern="1200" dirty="0" err="1">
              <a:solidFill>
                <a:schemeClr val="bg1"/>
              </a:solidFill>
              <a:latin typeface="+mn-lt"/>
            </a:rPr>
            <a:t>Reporting</a:t>
          </a:r>
          <a:r>
            <a:rPr lang="fr-FR" sz="1800" b="1" kern="1200" dirty="0">
              <a:solidFill>
                <a:schemeClr val="bg1"/>
              </a:solidFill>
              <a:latin typeface="+mn-lt"/>
            </a:rPr>
            <a:t> extra-financier:</a:t>
          </a:r>
        </a:p>
        <a:p>
          <a:pPr marL="0" lvl="0" indent="0" algn="ctr" defTabSz="800100">
            <a:lnSpc>
              <a:spcPct val="90000"/>
            </a:lnSpc>
            <a:spcBef>
              <a:spcPct val="0"/>
            </a:spcBef>
            <a:spcAft>
              <a:spcPct val="35000"/>
            </a:spcAft>
            <a:buNone/>
          </a:pPr>
          <a:r>
            <a:rPr lang="fr-FR" sz="1600" b="1" kern="1200" dirty="0">
              <a:solidFill>
                <a:schemeClr val="bg1"/>
              </a:solidFill>
              <a:latin typeface="+mn-lt"/>
            </a:rPr>
            <a:t>-Conséquences sociales et environnementales de l’activité</a:t>
          </a:r>
        </a:p>
        <a:p>
          <a:pPr marL="0" lvl="0" indent="0" algn="ctr" defTabSz="800100">
            <a:lnSpc>
              <a:spcPct val="90000"/>
            </a:lnSpc>
            <a:spcBef>
              <a:spcPct val="0"/>
            </a:spcBef>
            <a:spcAft>
              <a:spcPct val="35000"/>
            </a:spcAft>
            <a:buFont typeface="Arial" panose="020B0604020202020204" pitchFamily="34" charset="0"/>
            <a:buNone/>
          </a:pPr>
          <a:r>
            <a:rPr lang="fr-FR" sz="1600" b="1" kern="1200" dirty="0">
              <a:solidFill>
                <a:schemeClr val="bg1"/>
              </a:solidFill>
              <a:latin typeface="+mn-lt"/>
            </a:rPr>
            <a:t>-Engagements en faveur du développement durable</a:t>
          </a:r>
        </a:p>
      </dsp:txBody>
      <dsp:txXfrm>
        <a:off x="55671" y="50282"/>
        <a:ext cx="3181069" cy="1616203"/>
      </dsp:txXfrm>
    </dsp:sp>
    <dsp:sp modelId="{37FE9F62-4CA2-4D1D-B0F3-8A6A795F1285}">
      <dsp:nvSpPr>
        <dsp:cNvPr id="0" name=""/>
        <dsp:cNvSpPr/>
      </dsp:nvSpPr>
      <dsp:spPr>
        <a:xfrm>
          <a:off x="3615186" y="451460"/>
          <a:ext cx="695706" cy="813845"/>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fr-FR" sz="2000" b="1" kern="1200"/>
        </a:p>
      </dsp:txBody>
      <dsp:txXfrm>
        <a:off x="3615186" y="614229"/>
        <a:ext cx="486994" cy="488307"/>
      </dsp:txXfrm>
    </dsp:sp>
    <dsp:sp modelId="{5B2AA04F-8E65-4A94-82A0-A709FD38CEBE}">
      <dsp:nvSpPr>
        <dsp:cNvPr id="0" name=""/>
        <dsp:cNvSpPr/>
      </dsp:nvSpPr>
      <dsp:spPr>
        <a:xfrm>
          <a:off x="4599676" y="0"/>
          <a:ext cx="3281633" cy="171676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2024 - Directive CSRD, </a:t>
          </a:r>
          <a:r>
            <a:rPr lang="fr-FR" sz="1600" b="1" kern="1200" dirty="0"/>
            <a:t>obligeant </a:t>
          </a:r>
          <a:r>
            <a:rPr lang="fr-FR" sz="1600" b="1" i="0" kern="1200" dirty="0">
              <a:solidFill>
                <a:schemeClr val="bg1"/>
              </a:solidFill>
              <a:effectLst/>
              <a:latin typeface="+mn-lt"/>
            </a:rPr>
            <a:t>inclure des informations sur leur impact environnemental, social et de gouvernance (ESG) dans leurs rapports financiers</a:t>
          </a:r>
          <a:r>
            <a:rPr lang="fr-FR" sz="1600" b="1" kern="1200" dirty="0">
              <a:solidFill>
                <a:schemeClr val="bg1"/>
              </a:solidFill>
              <a:latin typeface="+mn-lt"/>
            </a:rPr>
            <a:t> </a:t>
          </a:r>
          <a:endParaRPr lang="fr-FR" sz="2000" b="1" kern="1200" dirty="0">
            <a:solidFill>
              <a:schemeClr val="bg1"/>
            </a:solidFill>
            <a:latin typeface="+mn-lt"/>
          </a:endParaRPr>
        </a:p>
      </dsp:txBody>
      <dsp:txXfrm>
        <a:off x="4649958" y="50282"/>
        <a:ext cx="3181069" cy="1616203"/>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98119-0EB0-43A0-84B8-E69648DCD488}">
      <dsp:nvSpPr>
        <dsp:cNvPr id="0" name=""/>
        <dsp:cNvSpPr/>
      </dsp:nvSpPr>
      <dsp:spPr>
        <a:xfrm>
          <a:off x="0" y="43526"/>
          <a:ext cx="1983886" cy="119033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Planification</a:t>
          </a:r>
        </a:p>
      </dsp:txBody>
      <dsp:txXfrm>
        <a:off x="0" y="43526"/>
        <a:ext cx="1983886" cy="1190331"/>
      </dsp:txXfrm>
    </dsp:sp>
    <dsp:sp modelId="{64C9A38D-9C81-4F9F-90EC-EB6B60617DB3}">
      <dsp:nvSpPr>
        <dsp:cNvPr id="0" name=""/>
        <dsp:cNvSpPr/>
      </dsp:nvSpPr>
      <dsp:spPr>
        <a:xfrm>
          <a:off x="2182274" y="43526"/>
          <a:ext cx="1983886" cy="119033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Maîtrise opérationnelle</a:t>
          </a:r>
        </a:p>
      </dsp:txBody>
      <dsp:txXfrm>
        <a:off x="2182274" y="43526"/>
        <a:ext cx="1983886" cy="1190331"/>
      </dsp:txXfrm>
    </dsp:sp>
    <dsp:sp modelId="{F6773477-4185-4A8F-9DA2-6BC3C0E466B1}">
      <dsp:nvSpPr>
        <dsp:cNvPr id="0" name=""/>
        <dsp:cNvSpPr/>
      </dsp:nvSpPr>
      <dsp:spPr>
        <a:xfrm>
          <a:off x="4364549" y="43526"/>
          <a:ext cx="1983886" cy="119033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Préparation et réponse aux situations d’urgence</a:t>
          </a:r>
        </a:p>
      </dsp:txBody>
      <dsp:txXfrm>
        <a:off x="4364549" y="43526"/>
        <a:ext cx="1983886" cy="119033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8.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2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29.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3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147C0A40-2825-87AB-9F82-7320583265C3}"/>
              </a:ext>
            </a:extLst>
          </p:cNvPr>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74BB31F-F873-11E9-ACCB-551EBC52B705}"/>
              </a:ext>
            </a:extLst>
          </p:cNvPr>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endParaRPr lang="fr-FR"/>
          </a:p>
        </p:txBody>
      </p:sp>
      <p:sp>
        <p:nvSpPr>
          <p:cNvPr id="4" name="Espace réservé du pied de page 3">
            <a:extLst>
              <a:ext uri="{FF2B5EF4-FFF2-40B4-BE49-F238E27FC236}">
                <a16:creationId xmlns:a16="http://schemas.microsoft.com/office/drawing/2014/main" id="{BCD37F48-3615-088B-3C44-1CDD77D2FE92}"/>
              </a:ext>
            </a:extLst>
          </p:cNvPr>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ADC38616-6993-3A19-BA4E-BD39D568F87D}"/>
              </a:ext>
            </a:extLst>
          </p:cNvPr>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1F056867-DAD3-44C3-A92F-D76966DC3CA1}" type="slidenum">
              <a:rPr lang="fr-FR" smtClean="0"/>
              <a:t>‹N°›</a:t>
            </a:fld>
            <a:endParaRPr lang="fr-FR"/>
          </a:p>
        </p:txBody>
      </p:sp>
    </p:spTree>
    <p:extLst>
      <p:ext uri="{BB962C8B-B14F-4D97-AF65-F5344CB8AC3E}">
        <p14:creationId xmlns:p14="http://schemas.microsoft.com/office/powerpoint/2010/main" val="86482944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3078427" cy="513508"/>
          </a:xfrm>
          <a:prstGeom prst="rect">
            <a:avLst/>
          </a:prstGeom>
        </p:spPr>
        <p:txBody>
          <a:bodyPr vert="horz" lIns="99075" tIns="49538" rIns="99075" bIns="49538" rtlCol="0"/>
          <a:lstStyle>
            <a:lvl1pPr algn="l">
              <a:defRPr sz="1300"/>
            </a:lvl1pPr>
          </a:lstStyle>
          <a:p>
            <a:endParaRPr lang="fr-FR"/>
          </a:p>
        </p:txBody>
      </p:sp>
      <p:sp>
        <p:nvSpPr>
          <p:cNvPr id="3" name="Espace réservé de la date 2"/>
          <p:cNvSpPr>
            <a:spLocks noGrp="1"/>
          </p:cNvSpPr>
          <p:nvPr>
            <p:ph type="dt" idx="1"/>
          </p:nvPr>
        </p:nvSpPr>
        <p:spPr>
          <a:xfrm>
            <a:off x="4023993" y="1"/>
            <a:ext cx="3078427" cy="513508"/>
          </a:xfrm>
          <a:prstGeom prst="rect">
            <a:avLst/>
          </a:prstGeom>
        </p:spPr>
        <p:txBody>
          <a:bodyPr vert="horz" lIns="99075" tIns="49538" rIns="99075" bIns="49538" rtlCol="0"/>
          <a:lstStyle>
            <a:lvl1pPr algn="r">
              <a:defRPr sz="1300"/>
            </a:lvl1pPr>
          </a:lstStyle>
          <a:p>
            <a:endParaRPr lang="fr-FR"/>
          </a:p>
        </p:txBody>
      </p:sp>
      <p:sp>
        <p:nvSpPr>
          <p:cNvPr id="4" name="Espace réservé de l'image des diapositives 3"/>
          <p:cNvSpPr>
            <a:spLocks noGrp="1" noRot="1" noChangeAspect="1"/>
          </p:cNvSpPr>
          <p:nvPr>
            <p:ph type="sldImg" idx="2"/>
          </p:nvPr>
        </p:nvSpPr>
        <p:spPr>
          <a:xfrm>
            <a:off x="1249363" y="1277938"/>
            <a:ext cx="4605337" cy="3455987"/>
          </a:xfrm>
          <a:prstGeom prst="rect">
            <a:avLst/>
          </a:prstGeom>
          <a:noFill/>
          <a:ln w="12700">
            <a:solidFill>
              <a:prstClr val="black"/>
            </a:solidFill>
          </a:ln>
        </p:spPr>
        <p:txBody>
          <a:bodyPr vert="horz" lIns="99075" tIns="49538" rIns="99075" bIns="49538" rtlCol="0" anchor="ctr"/>
          <a:lstStyle/>
          <a:p>
            <a:endParaRPr lang="fr-FR"/>
          </a:p>
        </p:txBody>
      </p:sp>
      <p:sp>
        <p:nvSpPr>
          <p:cNvPr id="5" name="Espace réservé des notes 4"/>
          <p:cNvSpPr>
            <a:spLocks noGrp="1"/>
          </p:cNvSpPr>
          <p:nvPr>
            <p:ph type="body" sz="quarter" idx="3"/>
          </p:nvPr>
        </p:nvSpPr>
        <p:spPr>
          <a:xfrm>
            <a:off x="710407" y="4925408"/>
            <a:ext cx="5683250" cy="4029879"/>
          </a:xfrm>
          <a:prstGeom prst="rect">
            <a:avLst/>
          </a:prstGeom>
        </p:spPr>
        <p:txBody>
          <a:bodyPr vert="horz" lIns="99075" tIns="49538" rIns="99075" bIns="49538"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721108"/>
            <a:ext cx="3078427" cy="513507"/>
          </a:xfrm>
          <a:prstGeom prst="rect">
            <a:avLst/>
          </a:prstGeom>
        </p:spPr>
        <p:txBody>
          <a:bodyPr vert="horz" lIns="99075" tIns="49538" rIns="99075" bIns="49538"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4023993" y="9721108"/>
            <a:ext cx="3078427" cy="513507"/>
          </a:xfrm>
          <a:prstGeom prst="rect">
            <a:avLst/>
          </a:prstGeom>
        </p:spPr>
        <p:txBody>
          <a:bodyPr vert="horz" lIns="99075" tIns="49538" rIns="99075" bIns="49538" rtlCol="0" anchor="b"/>
          <a:lstStyle>
            <a:lvl1pPr algn="r">
              <a:defRPr sz="1300"/>
            </a:lvl1pPr>
          </a:lstStyle>
          <a:p>
            <a:fld id="{92CE24CD-7030-495C-A123-14E6E7E7B209}" type="slidenum">
              <a:rPr lang="fr-FR" smtClean="0"/>
              <a:t>‹N°›</a:t>
            </a:fld>
            <a:endParaRPr lang="fr-FR"/>
          </a:p>
        </p:txBody>
      </p:sp>
    </p:spTree>
    <p:extLst>
      <p:ext uri="{BB962C8B-B14F-4D97-AF65-F5344CB8AC3E}">
        <p14:creationId xmlns:p14="http://schemas.microsoft.com/office/powerpoint/2010/main" val="394594346"/>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5</a:t>
            </a:fld>
            <a:endParaRPr lang="fr-FR"/>
          </a:p>
        </p:txBody>
      </p:sp>
    </p:spTree>
    <p:extLst>
      <p:ext uri="{BB962C8B-B14F-4D97-AF65-F5344CB8AC3E}">
        <p14:creationId xmlns:p14="http://schemas.microsoft.com/office/powerpoint/2010/main" val="540319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6</a:t>
            </a:fld>
            <a:endParaRPr lang="fr-FR"/>
          </a:p>
        </p:txBody>
      </p:sp>
    </p:spTree>
    <p:extLst>
      <p:ext uri="{BB962C8B-B14F-4D97-AF65-F5344CB8AC3E}">
        <p14:creationId xmlns:p14="http://schemas.microsoft.com/office/powerpoint/2010/main" val="2775335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5249D54-7C28-46B3-80CB-48BD82E1C4A6}" type="slidenum">
              <a:rPr lang="fr-FR" smtClean="0"/>
              <a:t>8</a:t>
            </a:fld>
            <a:endParaRPr lang="fr-FR"/>
          </a:p>
        </p:txBody>
      </p:sp>
      <p:sp>
        <p:nvSpPr>
          <p:cNvPr id="5" name="Espace réservé de la date 4">
            <a:extLst>
              <a:ext uri="{FF2B5EF4-FFF2-40B4-BE49-F238E27FC236}">
                <a16:creationId xmlns:a16="http://schemas.microsoft.com/office/drawing/2014/main" id="{15E07D88-72EC-27F0-FA52-1701CD694AA1}"/>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3426647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Est justifiée si l’employeur est dans l’impossibilité de veiller au respect des prescriptions violées</a:t>
            </a:r>
          </a:p>
        </p:txBody>
      </p:sp>
      <p:sp>
        <p:nvSpPr>
          <p:cNvPr id="4" name="Espace réservé du numéro de diapositive 3"/>
          <p:cNvSpPr>
            <a:spLocks noGrp="1"/>
          </p:cNvSpPr>
          <p:nvPr>
            <p:ph type="sldNum" sz="quarter" idx="5"/>
          </p:nvPr>
        </p:nvSpPr>
        <p:spPr/>
        <p:txBody>
          <a:bodyPr/>
          <a:lstStyle/>
          <a:p>
            <a:fld id="{65249D54-7C28-46B3-80CB-48BD82E1C4A6}" type="slidenum">
              <a:rPr lang="fr-FR" smtClean="0"/>
              <a:t>11</a:t>
            </a:fld>
            <a:endParaRPr lang="fr-FR"/>
          </a:p>
        </p:txBody>
      </p:sp>
      <p:sp>
        <p:nvSpPr>
          <p:cNvPr id="5" name="Espace réservé de la date 4">
            <a:extLst>
              <a:ext uri="{FF2B5EF4-FFF2-40B4-BE49-F238E27FC236}">
                <a16:creationId xmlns:a16="http://schemas.microsoft.com/office/drawing/2014/main" id="{D4F09E2B-8F81-4DC1-7A15-35945EE3B5AA}"/>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2550128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AZOTE: Dans les sols bien oxygénés, des bactéries transforment l'ammoniac en nitrite NO2-, puis en nitrates NO3-, au cours du processus de nitrification.</a:t>
            </a:r>
            <a:br>
              <a:rPr lang="fr-FR" dirty="0"/>
            </a:br>
            <a:r>
              <a:rPr lang="fr-FR" dirty="0"/>
              <a:t>Les végétaux absorbent grâce à leurs racines les ions nitrate NO3- et, dans une moindre mesure, l'ammoniac présent dans le sol, et les incorporent dans les acides aminés et les protéines. Les végétaux constituent ainsi la seule source d'azote assimilable par les animaux. </a:t>
            </a:r>
          </a:p>
        </p:txBody>
      </p:sp>
      <p:sp>
        <p:nvSpPr>
          <p:cNvPr id="4" name="Espace réservé du numéro de diapositive 3"/>
          <p:cNvSpPr>
            <a:spLocks noGrp="1"/>
          </p:cNvSpPr>
          <p:nvPr>
            <p:ph type="sldNum" sz="quarter" idx="5"/>
          </p:nvPr>
        </p:nvSpPr>
        <p:spPr/>
        <p:txBody>
          <a:bodyPr/>
          <a:lstStyle/>
          <a:p>
            <a:fld id="{92CE24CD-7030-495C-A123-14E6E7E7B209}" type="slidenum">
              <a:rPr lang="fr-FR" smtClean="0"/>
              <a:t>23</a:t>
            </a:fld>
            <a:endParaRPr lang="fr-FR"/>
          </a:p>
        </p:txBody>
      </p:sp>
      <p:sp>
        <p:nvSpPr>
          <p:cNvPr id="5" name="Espace réservé de la date 4">
            <a:extLst>
              <a:ext uri="{FF2B5EF4-FFF2-40B4-BE49-F238E27FC236}">
                <a16:creationId xmlns:a16="http://schemas.microsoft.com/office/drawing/2014/main" id="{F543E32E-C910-6B9B-A874-EF77FB128F26}"/>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294869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Pluies acides = eau de pluie + polluants gazeux contenant du soufre (SO2) et des oxydes d’azote (Nox)</a:t>
            </a:r>
          </a:p>
        </p:txBody>
      </p:sp>
      <p:sp>
        <p:nvSpPr>
          <p:cNvPr id="4" name="Espace réservé du numéro de diapositive 3"/>
          <p:cNvSpPr>
            <a:spLocks noGrp="1"/>
          </p:cNvSpPr>
          <p:nvPr>
            <p:ph type="sldNum" sz="quarter" idx="5"/>
          </p:nvPr>
        </p:nvSpPr>
        <p:spPr/>
        <p:txBody>
          <a:bodyPr/>
          <a:lstStyle/>
          <a:p>
            <a:fld id="{92CE24CD-7030-495C-A123-14E6E7E7B209}" type="slidenum">
              <a:rPr lang="fr-FR" smtClean="0"/>
              <a:t>24</a:t>
            </a:fld>
            <a:endParaRPr lang="fr-FR"/>
          </a:p>
        </p:txBody>
      </p:sp>
      <p:sp>
        <p:nvSpPr>
          <p:cNvPr id="5" name="Espace réservé de la date 4">
            <a:extLst>
              <a:ext uri="{FF2B5EF4-FFF2-40B4-BE49-F238E27FC236}">
                <a16:creationId xmlns:a16="http://schemas.microsoft.com/office/drawing/2014/main" id="{5700F9AF-24BC-A6B1-8AFF-274CD1CE95DC}"/>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2863821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28</a:t>
            </a:fld>
            <a:endParaRPr lang="fr-FR"/>
          </a:p>
        </p:txBody>
      </p:sp>
    </p:spTree>
    <p:extLst>
      <p:ext uri="{BB962C8B-B14F-4D97-AF65-F5344CB8AC3E}">
        <p14:creationId xmlns:p14="http://schemas.microsoft.com/office/powerpoint/2010/main" val="3524972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29</a:t>
            </a:fld>
            <a:endParaRPr lang="fr-FR"/>
          </a:p>
        </p:txBody>
      </p:sp>
    </p:spTree>
    <p:extLst>
      <p:ext uri="{BB962C8B-B14F-4D97-AF65-F5344CB8AC3E}">
        <p14:creationId xmlns:p14="http://schemas.microsoft.com/office/powerpoint/2010/main" val="1308857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30</a:t>
            </a:fld>
            <a:endParaRPr lang="fr-FR"/>
          </a:p>
        </p:txBody>
      </p:sp>
    </p:spTree>
    <p:extLst>
      <p:ext uri="{BB962C8B-B14F-4D97-AF65-F5344CB8AC3E}">
        <p14:creationId xmlns:p14="http://schemas.microsoft.com/office/powerpoint/2010/main" val="603351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47</a:t>
            </a:fld>
            <a:endParaRPr lang="fr-FR"/>
          </a:p>
        </p:txBody>
      </p:sp>
    </p:spTree>
    <p:extLst>
      <p:ext uri="{BB962C8B-B14F-4D97-AF65-F5344CB8AC3E}">
        <p14:creationId xmlns:p14="http://schemas.microsoft.com/office/powerpoint/2010/main" val="1488162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48</a:t>
            </a:fld>
            <a:endParaRPr lang="fr-FR"/>
          </a:p>
        </p:txBody>
      </p:sp>
    </p:spTree>
    <p:extLst>
      <p:ext uri="{BB962C8B-B14F-4D97-AF65-F5344CB8AC3E}">
        <p14:creationId xmlns:p14="http://schemas.microsoft.com/office/powerpoint/2010/main" val="4029108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Prestataire agréé: a déclaré son activité à la préfecture</a:t>
            </a:r>
          </a:p>
        </p:txBody>
      </p:sp>
      <p:sp>
        <p:nvSpPr>
          <p:cNvPr id="4" name="Espace réservé du numéro de diapositive 3"/>
          <p:cNvSpPr>
            <a:spLocks noGrp="1"/>
          </p:cNvSpPr>
          <p:nvPr>
            <p:ph type="sldNum" sz="quarter" idx="5"/>
          </p:nvPr>
        </p:nvSpPr>
        <p:spPr/>
        <p:txBody>
          <a:bodyPr/>
          <a:lstStyle/>
          <a:p>
            <a:fld id="{92CE24CD-7030-495C-A123-14E6E7E7B209}" type="slidenum">
              <a:rPr lang="fr-FR" smtClean="0"/>
              <a:t>49</a:t>
            </a:fld>
            <a:endParaRPr lang="fr-FR"/>
          </a:p>
        </p:txBody>
      </p:sp>
      <p:sp>
        <p:nvSpPr>
          <p:cNvPr id="5" name="Espace réservé de la date 4">
            <a:extLst>
              <a:ext uri="{FF2B5EF4-FFF2-40B4-BE49-F238E27FC236}">
                <a16:creationId xmlns:a16="http://schemas.microsoft.com/office/drawing/2014/main" id="{7FFF4FBF-3732-1CE6-7C17-D17A466ADF83}"/>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468847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Prestataire agréé: a déclaré son activité à la préfecture</a:t>
            </a:r>
          </a:p>
        </p:txBody>
      </p:sp>
      <p:sp>
        <p:nvSpPr>
          <p:cNvPr id="4" name="Espace réservé du numéro de diapositive 3"/>
          <p:cNvSpPr>
            <a:spLocks noGrp="1"/>
          </p:cNvSpPr>
          <p:nvPr>
            <p:ph type="sldNum" sz="quarter" idx="5"/>
          </p:nvPr>
        </p:nvSpPr>
        <p:spPr/>
        <p:txBody>
          <a:bodyPr/>
          <a:lstStyle/>
          <a:p>
            <a:fld id="{92CE24CD-7030-495C-A123-14E6E7E7B209}" type="slidenum">
              <a:rPr lang="fr-FR" smtClean="0"/>
              <a:t>50</a:t>
            </a:fld>
            <a:endParaRPr lang="fr-FR"/>
          </a:p>
        </p:txBody>
      </p:sp>
      <p:sp>
        <p:nvSpPr>
          <p:cNvPr id="5" name="Espace réservé de la date 4">
            <a:extLst>
              <a:ext uri="{FF2B5EF4-FFF2-40B4-BE49-F238E27FC236}">
                <a16:creationId xmlns:a16="http://schemas.microsoft.com/office/drawing/2014/main" id="{2EE74ED8-731A-E64B-6F4E-79C62C96361A}"/>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603128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52</a:t>
            </a:fld>
            <a:endParaRPr lang="fr-FR"/>
          </a:p>
        </p:txBody>
      </p:sp>
    </p:spTree>
    <p:extLst>
      <p:ext uri="{BB962C8B-B14F-4D97-AF65-F5344CB8AC3E}">
        <p14:creationId xmlns:p14="http://schemas.microsoft.com/office/powerpoint/2010/main" val="255239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53</a:t>
            </a:fld>
            <a:endParaRPr lang="fr-FR"/>
          </a:p>
        </p:txBody>
      </p:sp>
    </p:spTree>
    <p:extLst>
      <p:ext uri="{BB962C8B-B14F-4D97-AF65-F5344CB8AC3E}">
        <p14:creationId xmlns:p14="http://schemas.microsoft.com/office/powerpoint/2010/main" val="130474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54</a:t>
            </a:fld>
            <a:endParaRPr lang="fr-FR"/>
          </a:p>
        </p:txBody>
      </p:sp>
    </p:spTree>
    <p:extLst>
      <p:ext uri="{BB962C8B-B14F-4D97-AF65-F5344CB8AC3E}">
        <p14:creationId xmlns:p14="http://schemas.microsoft.com/office/powerpoint/2010/main" val="3887021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55</a:t>
            </a:fld>
            <a:endParaRPr lang="fr-FR"/>
          </a:p>
        </p:txBody>
      </p:sp>
    </p:spTree>
    <p:extLst>
      <p:ext uri="{BB962C8B-B14F-4D97-AF65-F5344CB8AC3E}">
        <p14:creationId xmlns:p14="http://schemas.microsoft.com/office/powerpoint/2010/main" val="1279659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56</a:t>
            </a:fld>
            <a:endParaRPr lang="fr-FR"/>
          </a:p>
        </p:txBody>
      </p:sp>
    </p:spTree>
    <p:extLst>
      <p:ext uri="{BB962C8B-B14F-4D97-AF65-F5344CB8AC3E}">
        <p14:creationId xmlns:p14="http://schemas.microsoft.com/office/powerpoint/2010/main" val="3215656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57</a:t>
            </a:fld>
            <a:endParaRPr lang="fr-FR"/>
          </a:p>
        </p:txBody>
      </p:sp>
    </p:spTree>
    <p:extLst>
      <p:ext uri="{BB962C8B-B14F-4D97-AF65-F5344CB8AC3E}">
        <p14:creationId xmlns:p14="http://schemas.microsoft.com/office/powerpoint/2010/main" val="2749927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58</a:t>
            </a:fld>
            <a:endParaRPr lang="fr-FR"/>
          </a:p>
        </p:txBody>
      </p:sp>
    </p:spTree>
    <p:extLst>
      <p:ext uri="{BB962C8B-B14F-4D97-AF65-F5344CB8AC3E}">
        <p14:creationId xmlns:p14="http://schemas.microsoft.com/office/powerpoint/2010/main" val="1850176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59</a:t>
            </a:fld>
            <a:endParaRPr lang="fr-FR"/>
          </a:p>
        </p:txBody>
      </p:sp>
    </p:spTree>
    <p:extLst>
      <p:ext uri="{BB962C8B-B14F-4D97-AF65-F5344CB8AC3E}">
        <p14:creationId xmlns:p14="http://schemas.microsoft.com/office/powerpoint/2010/main" val="4152889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Emballages: cartons, plastiques, verre, bois, métal…</a:t>
            </a:r>
          </a:p>
          <a:p>
            <a:r>
              <a:rPr lang="fr-FR" dirty="0"/>
              <a:t>Déchets ménagers: de réfectoires et locaux sociaux</a:t>
            </a:r>
          </a:p>
          <a:p>
            <a:r>
              <a:rPr lang="fr-FR" dirty="0"/>
              <a:t>DID: solvants, peintures, huiles, bidons souillées, boues souillées…</a:t>
            </a:r>
          </a:p>
          <a:p>
            <a:r>
              <a:rPr lang="fr-FR" dirty="0"/>
              <a:t>DEEE: écrans, téléphones, connectiques, cafetières…</a:t>
            </a:r>
          </a:p>
        </p:txBody>
      </p:sp>
      <p:sp>
        <p:nvSpPr>
          <p:cNvPr id="4" name="Espace réservé de la date 3">
            <a:extLst>
              <a:ext uri="{FF2B5EF4-FFF2-40B4-BE49-F238E27FC236}">
                <a16:creationId xmlns:a16="http://schemas.microsoft.com/office/drawing/2014/main" id="{2FE0FD3B-74FC-BBF3-6E2D-9C42F12BFA7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455130CF-BD08-C382-C6F7-975A31E2DF63}"/>
              </a:ext>
            </a:extLst>
          </p:cNvPr>
          <p:cNvSpPr>
            <a:spLocks noGrp="1"/>
          </p:cNvSpPr>
          <p:nvPr>
            <p:ph type="sldNum" sz="quarter" idx="5"/>
          </p:nvPr>
        </p:nvSpPr>
        <p:spPr/>
        <p:txBody>
          <a:bodyPr/>
          <a:lstStyle/>
          <a:p>
            <a:fld id="{65249D54-7C28-46B3-80CB-48BD82E1C4A6}" type="slidenum">
              <a:rPr lang="fr-FR" smtClean="0"/>
              <a:t>60</a:t>
            </a:fld>
            <a:endParaRPr lang="fr-FR"/>
          </a:p>
        </p:txBody>
      </p:sp>
    </p:spTree>
    <p:extLst>
      <p:ext uri="{BB962C8B-B14F-4D97-AF65-F5344CB8AC3E}">
        <p14:creationId xmlns:p14="http://schemas.microsoft.com/office/powerpoint/2010/main" val="4561718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buFont typeface="Wingdings" panose="05000000000000000000" pitchFamily="2" charset="2"/>
              <a:buNone/>
            </a:pPr>
            <a:r>
              <a:rPr lang="fr-FR" sz="1200" dirty="0">
                <a:sym typeface="Wingdings" panose="05000000000000000000" pitchFamily="2" charset="2"/>
              </a:rPr>
              <a:t>OCDE= Organisation de coopération et de développement économique</a:t>
            </a:r>
          </a:p>
          <a:p>
            <a:pPr lvl="0">
              <a:buFont typeface="Wingdings" panose="05000000000000000000" pitchFamily="2" charset="2"/>
              <a:buChar char="à"/>
            </a:pPr>
            <a:r>
              <a:rPr lang="fr-FR" sz="1200" dirty="0">
                <a:sym typeface="Wingdings" panose="05000000000000000000" pitchFamily="2" charset="2"/>
              </a:rPr>
              <a:t>Coûts ensuite transférés vers le consommateurs (éco-contribution)</a:t>
            </a:r>
          </a:p>
          <a:p>
            <a:pPr lvl="0">
              <a:buFont typeface="Wingdings" panose="05000000000000000000" pitchFamily="2" charset="2"/>
              <a:buChar char="à"/>
            </a:pPr>
            <a:r>
              <a:rPr lang="fr-FR" sz="1200" dirty="0">
                <a:sym typeface="Wingdings" panose="05000000000000000000" pitchFamily="2" charset="2"/>
              </a:rPr>
              <a:t>Collectivités territoriales déchargées de ces coûts</a:t>
            </a:r>
            <a:endParaRPr lang="fr-FR" sz="1200" dirty="0"/>
          </a:p>
          <a:p>
            <a:endParaRPr lang="fr-FR" dirty="0"/>
          </a:p>
        </p:txBody>
      </p:sp>
      <p:sp>
        <p:nvSpPr>
          <p:cNvPr id="4" name="Espace réservé de la date 3">
            <a:extLst>
              <a:ext uri="{FF2B5EF4-FFF2-40B4-BE49-F238E27FC236}">
                <a16:creationId xmlns:a16="http://schemas.microsoft.com/office/drawing/2014/main" id="{97BE31CD-CB8E-51A2-73C6-CDB3EF55428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659EEEB4-A198-9D63-1295-A8E45C391CDF}"/>
              </a:ext>
            </a:extLst>
          </p:cNvPr>
          <p:cNvSpPr>
            <a:spLocks noGrp="1"/>
          </p:cNvSpPr>
          <p:nvPr>
            <p:ph type="sldNum" sz="quarter" idx="5"/>
          </p:nvPr>
        </p:nvSpPr>
        <p:spPr/>
        <p:txBody>
          <a:bodyPr/>
          <a:lstStyle/>
          <a:p>
            <a:fld id="{65249D54-7C28-46B3-80CB-48BD82E1C4A6}" type="slidenum">
              <a:rPr lang="fr-FR" smtClean="0"/>
              <a:t>61</a:t>
            </a:fld>
            <a:endParaRPr lang="fr-FR"/>
          </a:p>
        </p:txBody>
      </p:sp>
    </p:spTree>
    <p:extLst>
      <p:ext uri="{BB962C8B-B14F-4D97-AF65-F5344CB8AC3E}">
        <p14:creationId xmlns:p14="http://schemas.microsoft.com/office/powerpoint/2010/main" val="4044652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5249D54-7C28-46B3-80CB-48BD82E1C4A6}" type="slidenum">
              <a:rPr lang="fr-FR" smtClean="0"/>
              <a:t>67</a:t>
            </a:fld>
            <a:endParaRPr lang="fr-FR"/>
          </a:p>
        </p:txBody>
      </p:sp>
      <p:sp>
        <p:nvSpPr>
          <p:cNvPr id="5" name="Espace réservé de la date 4">
            <a:extLst>
              <a:ext uri="{FF2B5EF4-FFF2-40B4-BE49-F238E27FC236}">
                <a16:creationId xmlns:a16="http://schemas.microsoft.com/office/drawing/2014/main" id="{786FE532-F4FA-66B6-ADE4-0DD3AEA93D69}"/>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3309063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71</a:t>
            </a:fld>
            <a:endParaRPr lang="fr-FR"/>
          </a:p>
        </p:txBody>
      </p:sp>
    </p:spTree>
    <p:extLst>
      <p:ext uri="{BB962C8B-B14F-4D97-AF65-F5344CB8AC3E}">
        <p14:creationId xmlns:p14="http://schemas.microsoft.com/office/powerpoint/2010/main" val="2834708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72</a:t>
            </a:fld>
            <a:endParaRPr lang="fr-FR"/>
          </a:p>
        </p:txBody>
      </p:sp>
    </p:spTree>
    <p:extLst>
      <p:ext uri="{BB962C8B-B14F-4D97-AF65-F5344CB8AC3E}">
        <p14:creationId xmlns:p14="http://schemas.microsoft.com/office/powerpoint/2010/main" val="749258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73</a:t>
            </a:fld>
            <a:endParaRPr lang="fr-FR"/>
          </a:p>
        </p:txBody>
      </p:sp>
    </p:spTree>
    <p:extLst>
      <p:ext uri="{BB962C8B-B14F-4D97-AF65-F5344CB8AC3E}">
        <p14:creationId xmlns:p14="http://schemas.microsoft.com/office/powerpoint/2010/main" val="29990507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74</a:t>
            </a:fld>
            <a:endParaRPr lang="fr-FR"/>
          </a:p>
        </p:txBody>
      </p:sp>
    </p:spTree>
    <p:extLst>
      <p:ext uri="{BB962C8B-B14F-4D97-AF65-F5344CB8AC3E}">
        <p14:creationId xmlns:p14="http://schemas.microsoft.com/office/powerpoint/2010/main" val="229512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22153"/>
                </a:solidFill>
                <a:effectLst/>
                <a:latin typeface="Sofia Pro"/>
              </a:rPr>
              <a:t>Bilan de gaz à effet de serre pour l’instant limité aux Scope 1 et 2 aux entreprises de plus de 500 salariés, </a:t>
            </a:r>
          </a:p>
          <a:p>
            <a:r>
              <a:rPr lang="fr-FR" b="0" i="0" dirty="0">
                <a:solidFill>
                  <a:srgbClr val="322153"/>
                </a:solidFill>
                <a:effectLst/>
                <a:latin typeface="Sofia Pro"/>
              </a:rPr>
              <a:t>BEGES aussi pour personnes morales de droit public de plus de 250 salariés et les collectivités de plus de 50 000 habitants</a:t>
            </a:r>
            <a:endParaRPr lang="fr-FR" b="0" dirty="0"/>
          </a:p>
        </p:txBody>
      </p:sp>
      <p:sp>
        <p:nvSpPr>
          <p:cNvPr id="4" name="Espace réservé de la date 3">
            <a:extLst>
              <a:ext uri="{FF2B5EF4-FFF2-40B4-BE49-F238E27FC236}">
                <a16:creationId xmlns:a16="http://schemas.microsoft.com/office/drawing/2014/main" id="{F017B4F6-A2F5-0D84-AB1C-150C69F39FC5}"/>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06624CBC-CC59-C4F5-8770-CA1FC6118AAA}"/>
              </a:ext>
            </a:extLst>
          </p:cNvPr>
          <p:cNvSpPr>
            <a:spLocks noGrp="1"/>
          </p:cNvSpPr>
          <p:nvPr>
            <p:ph type="sldNum" sz="quarter" idx="5"/>
          </p:nvPr>
        </p:nvSpPr>
        <p:spPr/>
        <p:txBody>
          <a:bodyPr/>
          <a:lstStyle/>
          <a:p>
            <a:fld id="{65249D54-7C28-46B3-80CB-48BD82E1C4A6}" type="slidenum">
              <a:rPr lang="fr-FR" smtClean="0"/>
              <a:t>75</a:t>
            </a:fld>
            <a:endParaRPr lang="fr-FR"/>
          </a:p>
        </p:txBody>
      </p:sp>
    </p:spTree>
    <p:extLst>
      <p:ext uri="{BB962C8B-B14F-4D97-AF65-F5344CB8AC3E}">
        <p14:creationId xmlns:p14="http://schemas.microsoft.com/office/powerpoint/2010/main" val="37606209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e la date 3">
            <a:extLst>
              <a:ext uri="{FF2B5EF4-FFF2-40B4-BE49-F238E27FC236}">
                <a16:creationId xmlns:a16="http://schemas.microsoft.com/office/drawing/2014/main" id="{5919FD0B-AE46-4BB0-B272-5823909094C6}"/>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B3E6415C-CDF9-83E9-871A-D03978D10C7D}"/>
              </a:ext>
            </a:extLst>
          </p:cNvPr>
          <p:cNvSpPr>
            <a:spLocks noGrp="1"/>
          </p:cNvSpPr>
          <p:nvPr>
            <p:ph type="sldNum" sz="quarter" idx="5"/>
          </p:nvPr>
        </p:nvSpPr>
        <p:spPr/>
        <p:txBody>
          <a:bodyPr/>
          <a:lstStyle/>
          <a:p>
            <a:fld id="{65249D54-7C28-46B3-80CB-48BD82E1C4A6}" type="slidenum">
              <a:rPr lang="fr-FR" smtClean="0"/>
              <a:t>76</a:t>
            </a:fld>
            <a:endParaRPr lang="fr-FR"/>
          </a:p>
        </p:txBody>
      </p:sp>
    </p:spTree>
    <p:extLst>
      <p:ext uri="{BB962C8B-B14F-4D97-AF65-F5344CB8AC3E}">
        <p14:creationId xmlns:p14="http://schemas.microsoft.com/office/powerpoint/2010/main" val="13166265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Wingdings" panose="05000000000000000000" pitchFamily="2" charset="2"/>
              <a:buChar char="à"/>
            </a:pPr>
            <a:r>
              <a:rPr lang="fr-FR" dirty="0">
                <a:sym typeface="Wingdings" panose="05000000000000000000" pitchFamily="2" charset="2"/>
              </a:rPr>
              <a:t>3R: Réduction-Réutilisation-Recyclage de déchets</a:t>
            </a:r>
          </a:p>
          <a:p>
            <a:pPr marL="171450" indent="-171450">
              <a:buFont typeface="Wingdings" panose="05000000000000000000" pitchFamily="2" charset="2"/>
              <a:buChar char="à"/>
            </a:pPr>
            <a:r>
              <a:rPr lang="fr-FR" dirty="0"/>
              <a:t>Valorisation de la biomasse</a:t>
            </a:r>
          </a:p>
          <a:p>
            <a:pPr marL="171450" indent="-171450">
              <a:buFont typeface="Wingdings" panose="05000000000000000000" pitchFamily="2" charset="2"/>
              <a:buChar char="à"/>
            </a:pPr>
            <a:r>
              <a:rPr lang="fr-FR" dirty="0"/>
              <a:t>Loi AGEC: Loi anti-gaspillage pour une économie circulaire: 5 axes:</a:t>
            </a:r>
          </a:p>
          <a:p>
            <a:pPr algn="l"/>
            <a:r>
              <a:rPr lang="fr-FR" b="0" i="0" dirty="0">
                <a:solidFill>
                  <a:srgbClr val="202328"/>
                </a:solidFill>
                <a:effectLst/>
                <a:latin typeface="Roboto" pitchFamily="2" charset="0"/>
              </a:rPr>
              <a:t>Elle se décline en cinq grands axes :</a:t>
            </a:r>
          </a:p>
          <a:p>
            <a:pPr algn="l">
              <a:buFont typeface="Arial" panose="020B0604020202020204" pitchFamily="34" charset="0"/>
              <a:buChar char="•"/>
            </a:pPr>
            <a:r>
              <a:rPr lang="fr-FR" b="0" i="0" dirty="0">
                <a:solidFill>
                  <a:srgbClr val="202328"/>
                </a:solidFill>
                <a:effectLst/>
                <a:latin typeface="Roboto" pitchFamily="2" charset="0"/>
              </a:rPr>
              <a:t>sortir du plastique jetable ;</a:t>
            </a:r>
          </a:p>
          <a:p>
            <a:pPr algn="l">
              <a:buFont typeface="Arial" panose="020B0604020202020204" pitchFamily="34" charset="0"/>
              <a:buChar char="•"/>
            </a:pPr>
            <a:r>
              <a:rPr lang="fr-FR" b="0" i="0" dirty="0">
                <a:solidFill>
                  <a:srgbClr val="202328"/>
                </a:solidFill>
                <a:effectLst/>
                <a:latin typeface="Roboto" pitchFamily="2" charset="0"/>
              </a:rPr>
              <a:t>mieux informer les consommateurs ;</a:t>
            </a:r>
          </a:p>
          <a:p>
            <a:pPr algn="l">
              <a:buFont typeface="Arial" panose="020B0604020202020204" pitchFamily="34" charset="0"/>
              <a:buChar char="•"/>
            </a:pPr>
            <a:r>
              <a:rPr lang="fr-FR" b="0" i="0" dirty="0">
                <a:solidFill>
                  <a:srgbClr val="202328"/>
                </a:solidFill>
                <a:effectLst/>
                <a:latin typeface="Roboto" pitchFamily="2" charset="0"/>
              </a:rPr>
              <a:t>lutter contre le gaspillage et pour le réemploi solidaire ;</a:t>
            </a:r>
          </a:p>
          <a:p>
            <a:pPr algn="l">
              <a:buFont typeface="Arial" panose="020B0604020202020204" pitchFamily="34" charset="0"/>
              <a:buChar char="•"/>
            </a:pPr>
            <a:r>
              <a:rPr lang="fr-FR" b="0" i="0" dirty="0">
                <a:solidFill>
                  <a:srgbClr val="202328"/>
                </a:solidFill>
                <a:effectLst/>
                <a:latin typeface="Roboto" pitchFamily="2" charset="0"/>
              </a:rPr>
              <a:t>agir contre l’obsolescence programmée ;</a:t>
            </a:r>
          </a:p>
          <a:p>
            <a:pPr algn="l">
              <a:buFont typeface="Arial" panose="020B0604020202020204" pitchFamily="34" charset="0"/>
              <a:buChar char="•"/>
            </a:pPr>
            <a:r>
              <a:rPr lang="fr-FR" b="0" i="0" dirty="0">
                <a:solidFill>
                  <a:srgbClr val="202328"/>
                </a:solidFill>
                <a:effectLst/>
                <a:latin typeface="Roboto" pitchFamily="2" charset="0"/>
              </a:rPr>
              <a:t>mieux produire</a:t>
            </a:r>
          </a:p>
        </p:txBody>
      </p:sp>
      <p:sp>
        <p:nvSpPr>
          <p:cNvPr id="4" name="Espace réservé de la date 3">
            <a:extLst>
              <a:ext uri="{FF2B5EF4-FFF2-40B4-BE49-F238E27FC236}">
                <a16:creationId xmlns:a16="http://schemas.microsoft.com/office/drawing/2014/main" id="{87C18FBF-DB22-5450-8A1E-4355679E5E24}"/>
              </a:ext>
            </a:extLst>
          </p:cNvPr>
          <p:cNvSpPr>
            <a:spLocks noGrp="1"/>
          </p:cNvSpPr>
          <p:nvPr>
            <p:ph type="dt" idx="1"/>
          </p:nvPr>
        </p:nvSpPr>
        <p:spPr/>
        <p:txBody>
          <a:bodyPr/>
          <a:lstStyle/>
          <a:p>
            <a:endParaRPr lang="fr-FR"/>
          </a:p>
        </p:txBody>
      </p:sp>
      <p:sp>
        <p:nvSpPr>
          <p:cNvPr id="5" name="Espace réservé du numéro de diapositive 4">
            <a:extLst>
              <a:ext uri="{FF2B5EF4-FFF2-40B4-BE49-F238E27FC236}">
                <a16:creationId xmlns:a16="http://schemas.microsoft.com/office/drawing/2014/main" id="{B43A3D23-7439-D1FD-C045-9A35F1319BFD}"/>
              </a:ext>
            </a:extLst>
          </p:cNvPr>
          <p:cNvSpPr>
            <a:spLocks noGrp="1"/>
          </p:cNvSpPr>
          <p:nvPr>
            <p:ph type="sldNum" sz="quarter" idx="5"/>
          </p:nvPr>
        </p:nvSpPr>
        <p:spPr/>
        <p:txBody>
          <a:bodyPr/>
          <a:lstStyle/>
          <a:p>
            <a:fld id="{65249D54-7C28-46B3-80CB-48BD82E1C4A6}" type="slidenum">
              <a:rPr lang="fr-FR" smtClean="0"/>
              <a:t>78</a:t>
            </a:fld>
            <a:endParaRPr lang="fr-FR"/>
          </a:p>
        </p:txBody>
      </p:sp>
    </p:spTree>
    <p:extLst>
      <p:ext uri="{BB962C8B-B14F-4D97-AF65-F5344CB8AC3E}">
        <p14:creationId xmlns:p14="http://schemas.microsoft.com/office/powerpoint/2010/main" val="4844596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CSRD: </a:t>
            </a:r>
            <a:r>
              <a:rPr lang="fr-FR" dirty="0" err="1"/>
              <a:t>C</a:t>
            </a:r>
            <a:r>
              <a:rPr lang="fr-FR" b="0" i="1" dirty="0" err="1">
                <a:solidFill>
                  <a:srgbClr val="04234E"/>
                </a:solidFill>
                <a:effectLst/>
                <a:latin typeface="Domine"/>
              </a:rPr>
              <a:t>orporate</a:t>
            </a:r>
            <a:r>
              <a:rPr lang="fr-FR" b="0" i="1" dirty="0">
                <a:solidFill>
                  <a:srgbClr val="04234E"/>
                </a:solidFill>
                <a:effectLst/>
                <a:latin typeface="Domine"/>
              </a:rPr>
              <a:t> </a:t>
            </a:r>
            <a:r>
              <a:rPr lang="fr-FR" b="0" i="1" dirty="0" err="1">
                <a:solidFill>
                  <a:srgbClr val="04234E"/>
                </a:solidFill>
                <a:effectLst/>
                <a:latin typeface="Domine"/>
              </a:rPr>
              <a:t>Sustainability</a:t>
            </a:r>
            <a:r>
              <a:rPr lang="fr-FR" b="0" i="1" dirty="0">
                <a:solidFill>
                  <a:srgbClr val="04234E"/>
                </a:solidFill>
                <a:effectLst/>
                <a:latin typeface="Domine"/>
              </a:rPr>
              <a:t> </a:t>
            </a:r>
            <a:r>
              <a:rPr lang="fr-FR" b="0" i="1" dirty="0" err="1">
                <a:solidFill>
                  <a:srgbClr val="04234E"/>
                </a:solidFill>
                <a:effectLst/>
                <a:latin typeface="Domine"/>
              </a:rPr>
              <a:t>Reporting</a:t>
            </a:r>
            <a:r>
              <a:rPr lang="fr-FR" b="0" i="1" dirty="0">
                <a:solidFill>
                  <a:srgbClr val="04234E"/>
                </a:solidFill>
                <a:effectLst/>
                <a:latin typeface="Domine"/>
              </a:rPr>
              <a:t> Directive</a:t>
            </a:r>
            <a:endParaRPr lang="fr-FR" dirty="0"/>
          </a:p>
        </p:txBody>
      </p:sp>
      <p:sp>
        <p:nvSpPr>
          <p:cNvPr id="4" name="Espace réservé du numéro de diapositive 3"/>
          <p:cNvSpPr>
            <a:spLocks noGrp="1"/>
          </p:cNvSpPr>
          <p:nvPr>
            <p:ph type="sldNum" sz="quarter" idx="5"/>
          </p:nvPr>
        </p:nvSpPr>
        <p:spPr/>
        <p:txBody>
          <a:bodyPr/>
          <a:lstStyle/>
          <a:p>
            <a:fld id="{92CE24CD-7030-495C-A123-14E6E7E7B209}" type="slidenum">
              <a:rPr lang="fr-FR" smtClean="0"/>
              <a:t>80</a:t>
            </a:fld>
            <a:endParaRPr lang="fr-FR"/>
          </a:p>
        </p:txBody>
      </p:sp>
      <p:sp>
        <p:nvSpPr>
          <p:cNvPr id="5" name="Espace réservé de la date 4">
            <a:extLst>
              <a:ext uri="{FF2B5EF4-FFF2-40B4-BE49-F238E27FC236}">
                <a16:creationId xmlns:a16="http://schemas.microsoft.com/office/drawing/2014/main" id="{3789F485-C9A7-2007-5091-36114F5C0622}"/>
              </a:ext>
            </a:extLst>
          </p:cNvPr>
          <p:cNvSpPr>
            <a:spLocks noGrp="1"/>
          </p:cNvSpPr>
          <p:nvPr>
            <p:ph type="dt" idx="1"/>
          </p:nvPr>
        </p:nvSpPr>
        <p:spPr/>
        <p:txBody>
          <a:bodyPr/>
          <a:lstStyle/>
          <a:p>
            <a:endParaRPr lang="fr-FR"/>
          </a:p>
        </p:txBody>
      </p:sp>
    </p:spTree>
    <p:extLst>
      <p:ext uri="{BB962C8B-B14F-4D97-AF65-F5344CB8AC3E}">
        <p14:creationId xmlns:p14="http://schemas.microsoft.com/office/powerpoint/2010/main" val="718323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62CEC392-85C7-4239-B3D8-103E3BCCF52D}" type="datetime1">
              <a:rPr lang="fr-FR" smtClean="0"/>
              <a:t>22/10/2025</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934843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A8AA7601-84F9-40AC-B73C-1C75AFA650E6}" type="datetime1">
              <a:rPr lang="fr-FR" smtClean="0"/>
              <a:t>22/10/2025</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3329004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083C7BE8-7306-43B1-99E6-B0562151D488}" type="datetime1">
              <a:rPr lang="fr-FR" smtClean="0"/>
              <a:t>22/10/2025</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853676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A1F055E-8D0F-4790-BEB7-C18FD8D74E2C}" type="datetime1">
              <a:rPr lang="fr-FR" smtClean="0"/>
              <a:t>22/10/2025</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1469802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3A18E2A0-E7B8-4363-9FEF-514BB7D6F43F}" type="datetime1">
              <a:rPr lang="fr-FR" smtClean="0"/>
              <a:t>22/10/2025</a:t>
            </a:fld>
            <a:endParaRPr lang="fr-F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1848974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E94728C-ABDA-4479-975F-3F279FA4EDD6}" type="datetime1">
              <a:rPr lang="fr-FR" smtClean="0"/>
              <a:t>22/10/2025</a:t>
            </a:fld>
            <a:endParaRPr lang="fr-F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4028612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16A0DE31-EA66-4145-A67B-4AB224FE57B5}" type="datetime1">
              <a:rPr lang="fr-FR" smtClean="0"/>
              <a:t>22/10/2025</a:t>
            </a:fld>
            <a:endParaRPr lang="fr-F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2502556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6C30154B-B7B4-407F-8D73-204A2E188874}" type="datetime1">
              <a:rPr lang="fr-FR" smtClean="0"/>
              <a:t>22/10/2025</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1939664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322F3F03-50B5-43FB-BD89-F027229BC3C6}" type="datetime1">
              <a:rPr lang="fr-FR" smtClean="0"/>
              <a:t>22/10/2025</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3678394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900B25C2-EA8B-48C2-896F-6B96D6F438E0}" type="datetime1">
              <a:rPr lang="fr-FR" smtClean="0"/>
              <a:t>22/10/2025</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2035986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637966E9-48DA-498F-BDC5-89A6A6A484A1}" type="datetime1">
              <a:rPr lang="fr-FR" smtClean="0"/>
              <a:t>22/10/2025</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85C23CD-7E10-4F4A-A7FF-0A4854529D52}" type="slidenum">
              <a:rPr lang="fr-FR" smtClean="0"/>
              <a:t>‹N°›</a:t>
            </a:fld>
            <a:endParaRPr lang="fr-FR"/>
          </a:p>
        </p:txBody>
      </p:sp>
    </p:spTree>
    <p:extLst>
      <p:ext uri="{BB962C8B-B14F-4D97-AF65-F5344CB8AC3E}">
        <p14:creationId xmlns:p14="http://schemas.microsoft.com/office/powerpoint/2010/main" val="2037247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858000" y="6335215"/>
            <a:ext cx="2057400" cy="365125"/>
          </a:xfrm>
          <a:prstGeom prst="rect">
            <a:avLst/>
          </a:prstGeom>
        </p:spPr>
        <p:txBody>
          <a:bodyPr/>
          <a:lstStyle>
            <a:lvl1pPr>
              <a:defRPr>
                <a:solidFill>
                  <a:srgbClr val="CC9966"/>
                </a:solidFill>
              </a:defRPr>
            </a:lvl1pPr>
          </a:lstStyle>
          <a:p>
            <a:fld id="{9E77C4BC-DC9B-409C-BA67-F112FDE75B18}" type="slidenum">
              <a:rPr lang="fr-FR" smtClean="0"/>
              <a:pPr/>
              <a:t>‹N°›</a:t>
            </a:fld>
            <a:endParaRPr lang="fr-FR"/>
          </a:p>
        </p:txBody>
      </p:sp>
    </p:spTree>
    <p:extLst>
      <p:ext uri="{BB962C8B-B14F-4D97-AF65-F5344CB8AC3E}">
        <p14:creationId xmlns:p14="http://schemas.microsoft.com/office/powerpoint/2010/main" val="533510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FD1515-3952-F8BF-28A0-2C6DAB099146}"/>
              </a:ext>
            </a:extLst>
          </p:cNvPr>
          <p:cNvSpPr/>
          <p:nvPr userDrawn="1"/>
        </p:nvSpPr>
        <p:spPr>
          <a:xfrm>
            <a:off x="1187068" y="6599104"/>
            <a:ext cx="5994400" cy="293228"/>
          </a:xfrm>
          <a:prstGeom prst="rect">
            <a:avLst/>
          </a:prstGeom>
          <a:pattFill prst="ltUpDiag">
            <a:fgClr>
              <a:schemeClr val="accent5"/>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rganigramme : Entrée manuelle 6">
            <a:extLst>
              <a:ext uri="{FF2B5EF4-FFF2-40B4-BE49-F238E27FC236}">
                <a16:creationId xmlns:a16="http://schemas.microsoft.com/office/drawing/2014/main" id="{D770392B-45AE-3C98-176A-A83393F768EB}"/>
              </a:ext>
            </a:extLst>
          </p:cNvPr>
          <p:cNvSpPr/>
          <p:nvPr userDrawn="1"/>
        </p:nvSpPr>
        <p:spPr>
          <a:xfrm>
            <a:off x="0" y="6411052"/>
            <a:ext cx="3999123" cy="46800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0 h 10769"/>
              <a:gd name="connsiteX1" fmla="*/ 10000 w 10000"/>
              <a:gd name="connsiteY1" fmla="*/ 769 h 10769"/>
              <a:gd name="connsiteX2" fmla="*/ 10000 w 10000"/>
              <a:gd name="connsiteY2" fmla="*/ 10769 h 10769"/>
              <a:gd name="connsiteX3" fmla="*/ 0 w 10000"/>
              <a:gd name="connsiteY3" fmla="*/ 10769 h 10769"/>
              <a:gd name="connsiteX4" fmla="*/ 0 w 10000"/>
              <a:gd name="connsiteY4" fmla="*/ 0 h 10769"/>
              <a:gd name="connsiteX0" fmla="*/ 0 w 10000"/>
              <a:gd name="connsiteY0" fmla="*/ 0 h 10769"/>
              <a:gd name="connsiteX1" fmla="*/ 10000 w 10000"/>
              <a:gd name="connsiteY1" fmla="*/ 4461 h 10769"/>
              <a:gd name="connsiteX2" fmla="*/ 10000 w 10000"/>
              <a:gd name="connsiteY2" fmla="*/ 10769 h 10769"/>
              <a:gd name="connsiteX3" fmla="*/ 0 w 10000"/>
              <a:gd name="connsiteY3" fmla="*/ 10769 h 10769"/>
              <a:gd name="connsiteX4" fmla="*/ 0 w 10000"/>
              <a:gd name="connsiteY4" fmla="*/ 0 h 10769"/>
              <a:gd name="connsiteX0" fmla="*/ 0 w 10000"/>
              <a:gd name="connsiteY0" fmla="*/ 0 h 10769"/>
              <a:gd name="connsiteX1" fmla="*/ 10000 w 10000"/>
              <a:gd name="connsiteY1" fmla="*/ 6987 h 10769"/>
              <a:gd name="connsiteX2" fmla="*/ 10000 w 10000"/>
              <a:gd name="connsiteY2" fmla="*/ 10769 h 10769"/>
              <a:gd name="connsiteX3" fmla="*/ 0 w 10000"/>
              <a:gd name="connsiteY3" fmla="*/ 10769 h 10769"/>
              <a:gd name="connsiteX4" fmla="*/ 0 w 10000"/>
              <a:gd name="connsiteY4" fmla="*/ 0 h 10769"/>
              <a:gd name="connsiteX0" fmla="*/ 0 w 10015"/>
              <a:gd name="connsiteY0" fmla="*/ 0 h 9705"/>
              <a:gd name="connsiteX1" fmla="*/ 10015 w 10015"/>
              <a:gd name="connsiteY1" fmla="*/ 5923 h 9705"/>
              <a:gd name="connsiteX2" fmla="*/ 10015 w 10015"/>
              <a:gd name="connsiteY2" fmla="*/ 9705 h 9705"/>
              <a:gd name="connsiteX3" fmla="*/ 15 w 10015"/>
              <a:gd name="connsiteY3" fmla="*/ 9705 h 9705"/>
              <a:gd name="connsiteX4" fmla="*/ 0 w 10015"/>
              <a:gd name="connsiteY4" fmla="*/ 0 h 9705"/>
              <a:gd name="connsiteX0" fmla="*/ 0 w 10000"/>
              <a:gd name="connsiteY0" fmla="*/ 0 h 10000"/>
              <a:gd name="connsiteX1" fmla="*/ 10000 w 10000"/>
              <a:gd name="connsiteY1" fmla="*/ 6103 h 10000"/>
              <a:gd name="connsiteX2" fmla="*/ 10000 w 10000"/>
              <a:gd name="connsiteY2" fmla="*/ 10000 h 10000"/>
              <a:gd name="connsiteX3" fmla="*/ 15 w 10000"/>
              <a:gd name="connsiteY3" fmla="*/ 10000 h 10000"/>
              <a:gd name="connsiteX4" fmla="*/ 0 w 10000"/>
              <a:gd name="connsiteY4" fmla="*/ 0 h 10000"/>
              <a:gd name="connsiteX0" fmla="*/ 0 w 9992"/>
              <a:gd name="connsiteY0" fmla="*/ 0 h 10000"/>
              <a:gd name="connsiteX1" fmla="*/ 9992 w 9992"/>
              <a:gd name="connsiteY1" fmla="*/ 6103 h 10000"/>
              <a:gd name="connsiteX2" fmla="*/ 9992 w 9992"/>
              <a:gd name="connsiteY2" fmla="*/ 10000 h 10000"/>
              <a:gd name="connsiteX3" fmla="*/ 7 w 9992"/>
              <a:gd name="connsiteY3" fmla="*/ 10000 h 10000"/>
              <a:gd name="connsiteX4" fmla="*/ 0 w 9992"/>
              <a:gd name="connsiteY4" fmla="*/ 0 h 10000"/>
              <a:gd name="connsiteX0" fmla="*/ 0 w 10227"/>
              <a:gd name="connsiteY0" fmla="*/ 0 h 10000"/>
              <a:gd name="connsiteX1" fmla="*/ 10227 w 10227"/>
              <a:gd name="connsiteY1" fmla="*/ 9625 h 10000"/>
              <a:gd name="connsiteX2" fmla="*/ 10000 w 10227"/>
              <a:gd name="connsiteY2" fmla="*/ 10000 h 10000"/>
              <a:gd name="connsiteX3" fmla="*/ 7 w 10227"/>
              <a:gd name="connsiteY3" fmla="*/ 10000 h 10000"/>
              <a:gd name="connsiteX4" fmla="*/ 0 w 1022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7" h="10000">
                <a:moveTo>
                  <a:pt x="0" y="0"/>
                </a:moveTo>
                <a:lnTo>
                  <a:pt x="10227" y="9625"/>
                </a:lnTo>
                <a:lnTo>
                  <a:pt x="10000" y="10000"/>
                </a:lnTo>
                <a:lnTo>
                  <a:pt x="7" y="10000"/>
                </a:lnTo>
                <a:cubicBezTo>
                  <a:pt x="2" y="6667"/>
                  <a:pt x="5" y="3333"/>
                  <a:pt x="0" y="0"/>
                </a:cubicBezTo>
                <a:close/>
              </a:path>
            </a:pathLst>
          </a:custGeom>
          <a:pattFill prst="pct20">
            <a:fgClr>
              <a:schemeClr val="accent5"/>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Entrée manuelle 7">
            <a:extLst>
              <a:ext uri="{FF2B5EF4-FFF2-40B4-BE49-F238E27FC236}">
                <a16:creationId xmlns:a16="http://schemas.microsoft.com/office/drawing/2014/main" id="{213F6A67-14AC-9344-A2EC-329A21331B8E}"/>
              </a:ext>
            </a:extLst>
          </p:cNvPr>
          <p:cNvSpPr/>
          <p:nvPr userDrawn="1"/>
        </p:nvSpPr>
        <p:spPr>
          <a:xfrm>
            <a:off x="2006600" y="6411052"/>
            <a:ext cx="7137400" cy="46800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31"/>
              <a:gd name="connsiteY0" fmla="*/ 2000 h 10000"/>
              <a:gd name="connsiteX1" fmla="*/ 10031 w 10031"/>
              <a:gd name="connsiteY1" fmla="*/ 0 h 10000"/>
              <a:gd name="connsiteX2" fmla="*/ 10000 w 10031"/>
              <a:gd name="connsiteY2" fmla="*/ 10000 h 10000"/>
              <a:gd name="connsiteX3" fmla="*/ 0 w 10031"/>
              <a:gd name="connsiteY3" fmla="*/ 10000 h 10000"/>
              <a:gd name="connsiteX4" fmla="*/ 0 w 10031"/>
              <a:gd name="connsiteY4" fmla="*/ 2000 h 10000"/>
              <a:gd name="connsiteX0" fmla="*/ 0 w 10002"/>
              <a:gd name="connsiteY0" fmla="*/ 7983 h 15983"/>
              <a:gd name="connsiteX1" fmla="*/ 10000 w 10002"/>
              <a:gd name="connsiteY1" fmla="*/ 0 h 15983"/>
              <a:gd name="connsiteX2" fmla="*/ 10000 w 10002"/>
              <a:gd name="connsiteY2" fmla="*/ 15983 h 15983"/>
              <a:gd name="connsiteX3" fmla="*/ 0 w 10002"/>
              <a:gd name="connsiteY3" fmla="*/ 15983 h 15983"/>
              <a:gd name="connsiteX4" fmla="*/ 0 w 10002"/>
              <a:gd name="connsiteY4" fmla="*/ 7983 h 15983"/>
              <a:gd name="connsiteX0" fmla="*/ 0 w 10015"/>
              <a:gd name="connsiteY0" fmla="*/ 7983 h 15983"/>
              <a:gd name="connsiteX1" fmla="*/ 10015 w 10015"/>
              <a:gd name="connsiteY1" fmla="*/ 0 h 15983"/>
              <a:gd name="connsiteX2" fmla="*/ 10000 w 10015"/>
              <a:gd name="connsiteY2" fmla="*/ 15983 h 15983"/>
              <a:gd name="connsiteX3" fmla="*/ 0 w 10015"/>
              <a:gd name="connsiteY3" fmla="*/ 15983 h 15983"/>
              <a:gd name="connsiteX4" fmla="*/ 0 w 10015"/>
              <a:gd name="connsiteY4" fmla="*/ 7983 h 15983"/>
              <a:gd name="connsiteX0" fmla="*/ 0 w 10015"/>
              <a:gd name="connsiteY0" fmla="*/ 19741 h 27741"/>
              <a:gd name="connsiteX1" fmla="*/ 10015 w 10015"/>
              <a:gd name="connsiteY1" fmla="*/ 0 h 27741"/>
              <a:gd name="connsiteX2" fmla="*/ 10000 w 10015"/>
              <a:gd name="connsiteY2" fmla="*/ 27741 h 27741"/>
              <a:gd name="connsiteX3" fmla="*/ 0 w 10015"/>
              <a:gd name="connsiteY3" fmla="*/ 27741 h 27741"/>
              <a:gd name="connsiteX4" fmla="*/ 0 w 10015"/>
              <a:gd name="connsiteY4" fmla="*/ 19741 h 27741"/>
              <a:gd name="connsiteX0" fmla="*/ 0 w 10030"/>
              <a:gd name="connsiteY0" fmla="*/ 16067 h 24067"/>
              <a:gd name="connsiteX1" fmla="*/ 10030 w 10030"/>
              <a:gd name="connsiteY1" fmla="*/ 0 h 24067"/>
              <a:gd name="connsiteX2" fmla="*/ 10000 w 10030"/>
              <a:gd name="connsiteY2" fmla="*/ 24067 h 24067"/>
              <a:gd name="connsiteX3" fmla="*/ 0 w 10030"/>
              <a:gd name="connsiteY3" fmla="*/ 24067 h 24067"/>
              <a:gd name="connsiteX4" fmla="*/ 0 w 10030"/>
              <a:gd name="connsiteY4" fmla="*/ 16067 h 24067"/>
              <a:gd name="connsiteX0" fmla="*/ 15 w 10030"/>
              <a:gd name="connsiteY0" fmla="*/ 19374 h 24067"/>
              <a:gd name="connsiteX1" fmla="*/ 10030 w 10030"/>
              <a:gd name="connsiteY1" fmla="*/ 0 h 24067"/>
              <a:gd name="connsiteX2" fmla="*/ 10000 w 10030"/>
              <a:gd name="connsiteY2" fmla="*/ 24067 h 24067"/>
              <a:gd name="connsiteX3" fmla="*/ 0 w 10030"/>
              <a:gd name="connsiteY3" fmla="*/ 24067 h 24067"/>
              <a:gd name="connsiteX4" fmla="*/ 15 w 10030"/>
              <a:gd name="connsiteY4" fmla="*/ 19374 h 24067"/>
              <a:gd name="connsiteX0" fmla="*/ 15 w 10002"/>
              <a:gd name="connsiteY0" fmla="*/ 18639 h 23332"/>
              <a:gd name="connsiteX1" fmla="*/ 9999 w 10002"/>
              <a:gd name="connsiteY1" fmla="*/ 0 h 23332"/>
              <a:gd name="connsiteX2" fmla="*/ 10000 w 10002"/>
              <a:gd name="connsiteY2" fmla="*/ 23332 h 23332"/>
              <a:gd name="connsiteX3" fmla="*/ 0 w 10002"/>
              <a:gd name="connsiteY3" fmla="*/ 23332 h 23332"/>
              <a:gd name="connsiteX4" fmla="*/ 15 w 10002"/>
              <a:gd name="connsiteY4" fmla="*/ 18639 h 23332"/>
              <a:gd name="connsiteX0" fmla="*/ 15 w 10030"/>
              <a:gd name="connsiteY0" fmla="*/ 18272 h 22965"/>
              <a:gd name="connsiteX1" fmla="*/ 10030 w 10030"/>
              <a:gd name="connsiteY1" fmla="*/ 0 h 22965"/>
              <a:gd name="connsiteX2" fmla="*/ 10000 w 10030"/>
              <a:gd name="connsiteY2" fmla="*/ 22965 h 22965"/>
              <a:gd name="connsiteX3" fmla="*/ 0 w 10030"/>
              <a:gd name="connsiteY3" fmla="*/ 22965 h 22965"/>
              <a:gd name="connsiteX4" fmla="*/ 15 w 10030"/>
              <a:gd name="connsiteY4" fmla="*/ 18272 h 22965"/>
              <a:gd name="connsiteX0" fmla="*/ 15 w 10015"/>
              <a:gd name="connsiteY0" fmla="*/ 18272 h 22965"/>
              <a:gd name="connsiteX1" fmla="*/ 10015 w 10015"/>
              <a:gd name="connsiteY1" fmla="*/ 0 h 22965"/>
              <a:gd name="connsiteX2" fmla="*/ 10000 w 10015"/>
              <a:gd name="connsiteY2" fmla="*/ 22965 h 22965"/>
              <a:gd name="connsiteX3" fmla="*/ 0 w 10015"/>
              <a:gd name="connsiteY3" fmla="*/ 22965 h 22965"/>
              <a:gd name="connsiteX4" fmla="*/ 15 w 10015"/>
              <a:gd name="connsiteY4" fmla="*/ 18272 h 22965"/>
              <a:gd name="connsiteX0" fmla="*/ 15 w 10002"/>
              <a:gd name="connsiteY0" fmla="*/ 24243 h 28936"/>
              <a:gd name="connsiteX1" fmla="*/ 9994 w 10002"/>
              <a:gd name="connsiteY1" fmla="*/ 0 h 28936"/>
              <a:gd name="connsiteX2" fmla="*/ 10000 w 10002"/>
              <a:gd name="connsiteY2" fmla="*/ 28936 h 28936"/>
              <a:gd name="connsiteX3" fmla="*/ 0 w 10002"/>
              <a:gd name="connsiteY3" fmla="*/ 28936 h 28936"/>
              <a:gd name="connsiteX4" fmla="*/ 15 w 10002"/>
              <a:gd name="connsiteY4" fmla="*/ 24243 h 28936"/>
              <a:gd name="connsiteX0" fmla="*/ 99 w 10002"/>
              <a:gd name="connsiteY0" fmla="*/ 28377 h 28936"/>
              <a:gd name="connsiteX1" fmla="*/ 9994 w 10002"/>
              <a:gd name="connsiteY1" fmla="*/ 0 h 28936"/>
              <a:gd name="connsiteX2" fmla="*/ 10000 w 10002"/>
              <a:gd name="connsiteY2" fmla="*/ 28936 h 28936"/>
              <a:gd name="connsiteX3" fmla="*/ 0 w 10002"/>
              <a:gd name="connsiteY3" fmla="*/ 28936 h 28936"/>
              <a:gd name="connsiteX4" fmla="*/ 99 w 10002"/>
              <a:gd name="connsiteY4" fmla="*/ 28377 h 28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2" h="28936">
                <a:moveTo>
                  <a:pt x="99" y="28377"/>
                </a:moveTo>
                <a:lnTo>
                  <a:pt x="9994" y="0"/>
                </a:lnTo>
                <a:cubicBezTo>
                  <a:pt x="9984" y="3333"/>
                  <a:pt x="10010" y="25603"/>
                  <a:pt x="10000" y="28936"/>
                </a:cubicBezTo>
                <a:lnTo>
                  <a:pt x="0" y="28936"/>
                </a:lnTo>
                <a:cubicBezTo>
                  <a:pt x="5" y="27372"/>
                  <a:pt x="94" y="29941"/>
                  <a:pt x="99" y="28377"/>
                </a:cubicBezTo>
                <a:close/>
              </a:path>
            </a:pathLst>
          </a:custGeom>
          <a:pattFill prst="sphere">
            <a:fgClr>
              <a:schemeClr val="accent5"/>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4" name="Connecteur droit 13">
            <a:extLst>
              <a:ext uri="{FF2B5EF4-FFF2-40B4-BE49-F238E27FC236}">
                <a16:creationId xmlns:a16="http://schemas.microsoft.com/office/drawing/2014/main" id="{CFD0C766-A07F-EB5E-F974-6340B41F8C5F}"/>
              </a:ext>
            </a:extLst>
          </p:cNvPr>
          <p:cNvCxnSpPr>
            <a:cxnSpLocks/>
            <a:stCxn id="12" idx="0"/>
          </p:cNvCxnSpPr>
          <p:nvPr userDrawn="1"/>
        </p:nvCxnSpPr>
        <p:spPr>
          <a:xfrm>
            <a:off x="0" y="6411052"/>
            <a:ext cx="3314700" cy="36312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E56BDF24-AB17-F524-66B9-1D5884CDE2FF}"/>
              </a:ext>
            </a:extLst>
          </p:cNvPr>
          <p:cNvSpPr/>
          <p:nvPr userDrawn="1"/>
        </p:nvSpPr>
        <p:spPr>
          <a:xfrm>
            <a:off x="0" y="0"/>
            <a:ext cx="9144000" cy="6879052"/>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descr="Une image contenant Police, logo, conception, Graphique&#10;&#10;Le contenu généré par l’IA peut être incorrect.">
            <a:extLst>
              <a:ext uri="{FF2B5EF4-FFF2-40B4-BE49-F238E27FC236}">
                <a16:creationId xmlns:a16="http://schemas.microsoft.com/office/drawing/2014/main" id="{270C27B9-8D4F-4CF5-9A04-D62647C1761F}"/>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605942" y="6559567"/>
            <a:ext cx="472549" cy="216000"/>
          </a:xfrm>
          <a:prstGeom prst="rect">
            <a:avLst/>
          </a:prstGeom>
        </p:spPr>
      </p:pic>
      <p:pic>
        <p:nvPicPr>
          <p:cNvPr id="17" name="Image 16" descr="DUT Génie Mécanique et Productique (GMP) qu'est que c'est... | Blog">
            <a:extLst>
              <a:ext uri="{FF2B5EF4-FFF2-40B4-BE49-F238E27FC236}">
                <a16:creationId xmlns:a16="http://schemas.microsoft.com/office/drawing/2014/main" id="{5361E1EE-11A3-FCB6-AAE6-85BDB20DE609}"/>
              </a:ext>
            </a:extLst>
          </p:cNvPr>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9366" y="6567874"/>
            <a:ext cx="666367" cy="216000"/>
          </a:xfrm>
          <a:prstGeom prst="rect">
            <a:avLst/>
          </a:prstGeom>
          <a:noFill/>
          <a:ln>
            <a:noFill/>
          </a:ln>
        </p:spPr>
      </p:pic>
      <p:pic>
        <p:nvPicPr>
          <p:cNvPr id="18" name="Image 17">
            <a:extLst>
              <a:ext uri="{FF2B5EF4-FFF2-40B4-BE49-F238E27FC236}">
                <a16:creationId xmlns:a16="http://schemas.microsoft.com/office/drawing/2014/main" id="{BC9386BC-A85C-8231-C9FB-CE129FA390FF}"/>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34612" y="6541567"/>
            <a:ext cx="252000" cy="252000"/>
          </a:xfrm>
          <a:prstGeom prst="rect">
            <a:avLst/>
          </a:prstGeom>
          <a:noFill/>
          <a:ln>
            <a:noFill/>
          </a:ln>
        </p:spPr>
      </p:pic>
    </p:spTree>
    <p:extLst>
      <p:ext uri="{BB962C8B-B14F-4D97-AF65-F5344CB8AC3E}">
        <p14:creationId xmlns:p14="http://schemas.microsoft.com/office/powerpoint/2010/main" val="30217054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8.xml"/><Relationship Id="rId7" Type="http://schemas.openxmlformats.org/officeDocument/2006/relationships/image" Target="../media/image9.jp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 Id="rId9" Type="http://schemas.openxmlformats.org/officeDocument/2006/relationships/image" Target="../media/image11.jp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13" Type="http://schemas.openxmlformats.org/officeDocument/2006/relationships/diagramData" Target="../diagrams/data13.xml"/><Relationship Id="rId18" Type="http://schemas.openxmlformats.org/officeDocument/2006/relationships/diagramData" Target="../diagrams/data14.xml"/><Relationship Id="rId26" Type="http://schemas.openxmlformats.org/officeDocument/2006/relationships/diagramColors" Target="../diagrams/colors15.xml"/><Relationship Id="rId21" Type="http://schemas.openxmlformats.org/officeDocument/2006/relationships/diagramColors" Target="../diagrams/colors14.xml"/><Relationship Id="rId34" Type="http://schemas.openxmlformats.org/officeDocument/2006/relationships/diagramLayout" Target="../diagrams/layout17.xml"/><Relationship Id="rId7" Type="http://schemas.microsoft.com/office/2007/relationships/diagramDrawing" Target="../diagrams/drawing11.xml"/><Relationship Id="rId12" Type="http://schemas.microsoft.com/office/2007/relationships/diagramDrawing" Target="../diagrams/drawing12.xml"/><Relationship Id="rId17" Type="http://schemas.microsoft.com/office/2007/relationships/diagramDrawing" Target="../diagrams/drawing13.xml"/><Relationship Id="rId25" Type="http://schemas.openxmlformats.org/officeDocument/2006/relationships/diagramQuickStyle" Target="../diagrams/quickStyle15.xml"/><Relationship Id="rId33" Type="http://schemas.openxmlformats.org/officeDocument/2006/relationships/diagramData" Target="../diagrams/data17.xml"/><Relationship Id="rId2" Type="http://schemas.openxmlformats.org/officeDocument/2006/relationships/notesSlide" Target="../notesSlides/notesSlide8.xml"/><Relationship Id="rId16" Type="http://schemas.openxmlformats.org/officeDocument/2006/relationships/diagramColors" Target="../diagrams/colors13.xml"/><Relationship Id="rId20" Type="http://schemas.openxmlformats.org/officeDocument/2006/relationships/diagramQuickStyle" Target="../diagrams/quickStyle14.xml"/><Relationship Id="rId29" Type="http://schemas.openxmlformats.org/officeDocument/2006/relationships/diagramLayout" Target="../diagrams/layout16.xml"/><Relationship Id="rId1" Type="http://schemas.openxmlformats.org/officeDocument/2006/relationships/slideLayout" Target="../slideLayouts/slideLayout2.xml"/><Relationship Id="rId6" Type="http://schemas.openxmlformats.org/officeDocument/2006/relationships/diagramColors" Target="../diagrams/colors11.xml"/><Relationship Id="rId11" Type="http://schemas.openxmlformats.org/officeDocument/2006/relationships/diagramColors" Target="../diagrams/colors12.xml"/><Relationship Id="rId24" Type="http://schemas.openxmlformats.org/officeDocument/2006/relationships/diagramLayout" Target="../diagrams/layout15.xml"/><Relationship Id="rId32" Type="http://schemas.microsoft.com/office/2007/relationships/diagramDrawing" Target="../diagrams/drawing16.xml"/><Relationship Id="rId37" Type="http://schemas.microsoft.com/office/2007/relationships/diagramDrawing" Target="../diagrams/drawing17.xml"/><Relationship Id="rId5" Type="http://schemas.openxmlformats.org/officeDocument/2006/relationships/diagramQuickStyle" Target="../diagrams/quickStyle11.xml"/><Relationship Id="rId15" Type="http://schemas.openxmlformats.org/officeDocument/2006/relationships/diagramQuickStyle" Target="../diagrams/quickStyle13.xml"/><Relationship Id="rId23" Type="http://schemas.openxmlformats.org/officeDocument/2006/relationships/diagramData" Target="../diagrams/data15.xml"/><Relationship Id="rId28" Type="http://schemas.openxmlformats.org/officeDocument/2006/relationships/diagramData" Target="../diagrams/data16.xml"/><Relationship Id="rId36" Type="http://schemas.openxmlformats.org/officeDocument/2006/relationships/diagramColors" Target="../diagrams/colors17.xml"/><Relationship Id="rId10" Type="http://schemas.openxmlformats.org/officeDocument/2006/relationships/diagramQuickStyle" Target="../diagrams/quickStyle12.xml"/><Relationship Id="rId19" Type="http://schemas.openxmlformats.org/officeDocument/2006/relationships/diagramLayout" Target="../diagrams/layout14.xml"/><Relationship Id="rId31" Type="http://schemas.openxmlformats.org/officeDocument/2006/relationships/diagramColors" Target="../diagrams/colors16.xml"/><Relationship Id="rId4" Type="http://schemas.openxmlformats.org/officeDocument/2006/relationships/diagramLayout" Target="../diagrams/layout11.xml"/><Relationship Id="rId9" Type="http://schemas.openxmlformats.org/officeDocument/2006/relationships/diagramLayout" Target="../diagrams/layout12.xml"/><Relationship Id="rId14" Type="http://schemas.openxmlformats.org/officeDocument/2006/relationships/diagramLayout" Target="../diagrams/layout13.xml"/><Relationship Id="rId22" Type="http://schemas.microsoft.com/office/2007/relationships/diagramDrawing" Target="../diagrams/drawing14.xml"/><Relationship Id="rId27" Type="http://schemas.microsoft.com/office/2007/relationships/diagramDrawing" Target="../diagrams/drawing15.xml"/><Relationship Id="rId30" Type="http://schemas.openxmlformats.org/officeDocument/2006/relationships/diagramQuickStyle" Target="../diagrams/quickStyle16.xml"/><Relationship Id="rId35" Type="http://schemas.openxmlformats.org/officeDocument/2006/relationships/diagramQuickStyle" Target="../diagrams/quickStyle17.xml"/><Relationship Id="rId8" Type="http://schemas.openxmlformats.org/officeDocument/2006/relationships/diagramData" Target="../diagrams/data12.xml"/><Relationship Id="rId3" Type="http://schemas.openxmlformats.org/officeDocument/2006/relationships/diagramData" Target="../diagrams/data11.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gif"/><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4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7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7.xml"/><Relationship Id="rId11" Type="http://schemas.openxmlformats.org/officeDocument/2006/relationships/image" Target="../media/image55.png"/><Relationship Id="rId5" Type="http://schemas.openxmlformats.org/officeDocument/2006/relationships/diagramQuickStyle" Target="../diagrams/quickStyle27.xml"/><Relationship Id="rId10" Type="http://schemas.openxmlformats.org/officeDocument/2006/relationships/image" Target="../media/image54.png"/><Relationship Id="rId4" Type="http://schemas.openxmlformats.org/officeDocument/2006/relationships/diagramLayout" Target="../diagrams/layout27.xml"/><Relationship Id="rId9" Type="http://schemas.openxmlformats.org/officeDocument/2006/relationships/image" Target="../media/image53.png"/></Relationships>
</file>

<file path=ppt/slides/_rels/slide73.xml.rels><?xml version="1.0" encoding="UTF-8" standalone="yes"?>
<Relationships xmlns="http://schemas.openxmlformats.org/package/2006/relationships"><Relationship Id="rId3" Type="http://schemas.openxmlformats.org/officeDocument/2006/relationships/hyperlink" Target="https://www.ecologie.gouv.fr/operations-standardisees-deconomies-denergie#scroll-nav__7"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7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8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1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8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7023C-EF95-4456-A8B4-F79E30277247}"/>
              </a:ext>
            </a:extLst>
          </p:cNvPr>
          <p:cNvSpPr>
            <a:spLocks noGrp="1"/>
          </p:cNvSpPr>
          <p:nvPr>
            <p:ph type="ctrTitle"/>
          </p:nvPr>
        </p:nvSpPr>
        <p:spPr/>
        <p:txBody>
          <a:bodyPr>
            <a:normAutofit/>
          </a:bodyPr>
          <a:lstStyle/>
          <a:p>
            <a:r>
              <a:rPr lang="fr-FR" dirty="0">
                <a:solidFill>
                  <a:schemeClr val="accent5">
                    <a:lumMod val="75000"/>
                  </a:schemeClr>
                </a:solidFill>
              </a:rPr>
              <a:t>Environnement</a:t>
            </a:r>
          </a:p>
        </p:txBody>
      </p:sp>
      <p:sp>
        <p:nvSpPr>
          <p:cNvPr id="3" name="Sous-titre 2">
            <a:extLst>
              <a:ext uri="{FF2B5EF4-FFF2-40B4-BE49-F238E27FC236}">
                <a16:creationId xmlns:a16="http://schemas.microsoft.com/office/drawing/2014/main" id="{37AC0FFF-C397-4137-AC35-EF51601BB630}"/>
              </a:ext>
            </a:extLst>
          </p:cNvPr>
          <p:cNvSpPr>
            <a:spLocks noGrp="1"/>
          </p:cNvSpPr>
          <p:nvPr>
            <p:ph type="subTitle" idx="1"/>
          </p:nvPr>
        </p:nvSpPr>
        <p:spPr/>
        <p:txBody>
          <a:bodyPr anchor="b"/>
          <a:lstStyle/>
          <a:p>
            <a:r>
              <a:rPr lang="fr-FR" dirty="0">
                <a:solidFill>
                  <a:schemeClr val="bg1">
                    <a:lumMod val="50000"/>
                  </a:schemeClr>
                </a:solidFill>
              </a:rPr>
              <a:t>BUT2 MPI - OCT25</a:t>
            </a:r>
          </a:p>
          <a:p>
            <a:r>
              <a:rPr lang="fr-FR" dirty="0">
                <a:solidFill>
                  <a:schemeClr val="bg1">
                    <a:lumMod val="50000"/>
                  </a:schemeClr>
                </a:solidFill>
              </a:rPr>
              <a:t>Laetitia Correia</a:t>
            </a:r>
          </a:p>
        </p:txBody>
      </p:sp>
    </p:spTree>
    <p:extLst>
      <p:ext uri="{BB962C8B-B14F-4D97-AF65-F5344CB8AC3E}">
        <p14:creationId xmlns:p14="http://schemas.microsoft.com/office/powerpoint/2010/main" val="365146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A946B-6F25-4C9C-AC51-D018D95D6784}"/>
              </a:ext>
            </a:extLst>
          </p:cNvPr>
          <p:cNvSpPr>
            <a:spLocks noGrp="1"/>
          </p:cNvSpPr>
          <p:nvPr>
            <p:ph type="title"/>
          </p:nvPr>
        </p:nvSpPr>
        <p:spPr>
          <a:xfrm>
            <a:off x="628650" y="18256"/>
            <a:ext cx="7886700" cy="996158"/>
          </a:xfrm>
        </p:spPr>
        <p:txBody>
          <a:bodyPr>
            <a:normAutofit/>
          </a:bodyPr>
          <a:lstStyle/>
          <a:p>
            <a:pPr algn="r"/>
            <a:r>
              <a:rPr lang="fr-FR" sz="2800" dirty="0">
                <a:solidFill>
                  <a:schemeClr val="accent5">
                    <a:lumMod val="75000"/>
                  </a:schemeClr>
                </a:solidFill>
              </a:rPr>
              <a:t>Sommaire</a:t>
            </a:r>
          </a:p>
        </p:txBody>
      </p:sp>
      <p:graphicFrame>
        <p:nvGraphicFramePr>
          <p:cNvPr id="3" name="Espace réservé du contenu 6">
            <a:extLst>
              <a:ext uri="{FF2B5EF4-FFF2-40B4-BE49-F238E27FC236}">
                <a16:creationId xmlns:a16="http://schemas.microsoft.com/office/drawing/2014/main" id="{4D851D07-273B-DD8B-8D54-5A20AE44EB3D}"/>
              </a:ext>
            </a:extLst>
          </p:cNvPr>
          <p:cNvGraphicFramePr>
            <a:graphicFrameLocks noGrp="1"/>
          </p:cNvGraphicFramePr>
          <p:nvPr>
            <p:ph idx="1"/>
            <p:extLst>
              <p:ext uri="{D42A27DB-BD31-4B8C-83A1-F6EECF244321}">
                <p14:modId xmlns:p14="http://schemas.microsoft.com/office/powerpoint/2010/main" val="4169131178"/>
              </p:ext>
            </p:extLst>
          </p:nvPr>
        </p:nvGraphicFramePr>
        <p:xfrm>
          <a:off x="1962150" y="2571750"/>
          <a:ext cx="6400800" cy="3133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8353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2DC00636-4027-419E-8C64-B45D0AF8A40B}"/>
              </a:ext>
            </a:extLst>
          </p:cNvPr>
          <p:cNvSpPr>
            <a:spLocks noGrp="1"/>
          </p:cNvSpPr>
          <p:nvPr>
            <p:ph sz="half" idx="1"/>
          </p:nvPr>
        </p:nvSpPr>
        <p:spPr>
          <a:xfrm>
            <a:off x="156864" y="1886856"/>
            <a:ext cx="4015778" cy="4043363"/>
          </a:xfrm>
        </p:spPr>
        <p:txBody>
          <a:bodyPr anchor="ctr">
            <a:normAutofit/>
          </a:bodyPr>
          <a:lstStyle/>
          <a:p>
            <a:pPr marL="0" indent="0" algn="ctr">
              <a:buNone/>
            </a:pPr>
            <a:r>
              <a:rPr lang="fr-FR" sz="3600" dirty="0">
                <a:solidFill>
                  <a:schemeClr val="accent5">
                    <a:lumMod val="75000"/>
                  </a:schemeClr>
                </a:solidFill>
              </a:rPr>
              <a:t>Partie 1</a:t>
            </a:r>
          </a:p>
          <a:p>
            <a:pPr marL="0" indent="0" algn="ctr">
              <a:buNone/>
            </a:pPr>
            <a:r>
              <a:rPr lang="fr-FR" sz="3600" dirty="0">
                <a:solidFill>
                  <a:schemeClr val="accent5">
                    <a:lumMod val="75000"/>
                  </a:schemeClr>
                </a:solidFill>
              </a:rPr>
              <a:t>La responsabilité environnementale</a:t>
            </a:r>
          </a:p>
        </p:txBody>
      </p:sp>
      <p:pic>
        <p:nvPicPr>
          <p:cNvPr id="1026" name="Picture 2" descr="Responsabilité humour">
            <a:extLst>
              <a:ext uri="{FF2B5EF4-FFF2-40B4-BE49-F238E27FC236}">
                <a16:creationId xmlns:a16="http://schemas.microsoft.com/office/drawing/2014/main" id="{215779F8-5580-C623-BAA3-2AD146F262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2642" y="2133600"/>
            <a:ext cx="4731365" cy="3437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109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Le dommage environnemental</a:t>
            </a:r>
          </a:p>
        </p:txBody>
      </p:sp>
      <p:sp>
        <p:nvSpPr>
          <p:cNvPr id="4" name="Espace réservé du contenu 3">
            <a:extLst>
              <a:ext uri="{FF2B5EF4-FFF2-40B4-BE49-F238E27FC236}">
                <a16:creationId xmlns:a16="http://schemas.microsoft.com/office/drawing/2014/main" id="{6160A5E9-A2F2-43F9-B8F0-23C32E47B567}"/>
              </a:ext>
            </a:extLst>
          </p:cNvPr>
          <p:cNvSpPr>
            <a:spLocks noGrp="1"/>
          </p:cNvSpPr>
          <p:nvPr>
            <p:ph idx="1"/>
          </p:nvPr>
        </p:nvSpPr>
        <p:spPr/>
        <p:txBody>
          <a:bodyPr>
            <a:normAutofit/>
          </a:bodyPr>
          <a:lstStyle/>
          <a:p>
            <a:pPr marL="0" indent="0">
              <a:buNone/>
            </a:pPr>
            <a:r>
              <a:rPr lang="fr-FR" sz="1800" dirty="0"/>
              <a:t>Concerne :</a:t>
            </a:r>
          </a:p>
          <a:p>
            <a:pPr marL="0" indent="0">
              <a:buNone/>
            </a:pPr>
            <a:endParaRPr lang="fr-FR" sz="1800" dirty="0"/>
          </a:p>
          <a:p>
            <a:pPr marL="0" indent="0">
              <a:buNone/>
            </a:pPr>
            <a:r>
              <a:rPr lang="fr-FR" sz="1800" dirty="0"/>
              <a:t>												</a:t>
            </a:r>
          </a:p>
        </p:txBody>
      </p:sp>
      <p:graphicFrame>
        <p:nvGraphicFramePr>
          <p:cNvPr id="2" name="Diagramme 1">
            <a:extLst>
              <a:ext uri="{FF2B5EF4-FFF2-40B4-BE49-F238E27FC236}">
                <a16:creationId xmlns:a16="http://schemas.microsoft.com/office/drawing/2014/main" id="{487BB347-2597-FFD5-6CF6-21FC0EAF3361}"/>
              </a:ext>
            </a:extLst>
          </p:cNvPr>
          <p:cNvGraphicFramePr/>
          <p:nvPr>
            <p:extLst>
              <p:ext uri="{D42A27DB-BD31-4B8C-83A1-F6EECF244321}">
                <p14:modId xmlns:p14="http://schemas.microsoft.com/office/powerpoint/2010/main" val="2534972034"/>
              </p:ext>
            </p:extLst>
          </p:nvPr>
        </p:nvGraphicFramePr>
        <p:xfrm>
          <a:off x="628650" y="2351315"/>
          <a:ext cx="7886700" cy="2960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824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5"/>
            <a:ext cx="8037048" cy="1124745"/>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Le dommage environnemental</a:t>
            </a:r>
          </a:p>
        </p:txBody>
      </p:sp>
      <p:sp>
        <p:nvSpPr>
          <p:cNvPr id="5" name="ZoneTexte 4">
            <a:extLst>
              <a:ext uri="{FF2B5EF4-FFF2-40B4-BE49-F238E27FC236}">
                <a16:creationId xmlns:a16="http://schemas.microsoft.com/office/drawing/2014/main" id="{3E1ECA12-A0EE-11E9-9DDB-1423BF0B293C}"/>
              </a:ext>
            </a:extLst>
          </p:cNvPr>
          <p:cNvSpPr txBox="1"/>
          <p:nvPr/>
        </p:nvSpPr>
        <p:spPr>
          <a:xfrm>
            <a:off x="431992" y="1661459"/>
            <a:ext cx="3531065" cy="1477328"/>
          </a:xfrm>
          <a:prstGeom prst="rect">
            <a:avLst/>
          </a:prstGeom>
          <a:noFill/>
          <a:ln>
            <a:solidFill>
              <a:schemeClr val="accent5">
                <a:lumMod val="75000"/>
              </a:schemeClr>
            </a:solidFill>
          </a:ln>
        </p:spPr>
        <p:txBody>
          <a:bodyPr wrap="square" rtlCol="0">
            <a:spAutoFit/>
          </a:bodyPr>
          <a:lstStyle/>
          <a:p>
            <a:r>
              <a:rPr lang="fr-FR" b="1" u="sng" dirty="0">
                <a:solidFill>
                  <a:schemeClr val="accent5">
                    <a:lumMod val="75000"/>
                  </a:schemeClr>
                </a:solidFill>
              </a:rPr>
              <a:t>Polluant: </a:t>
            </a:r>
          </a:p>
          <a:p>
            <a:endParaRPr lang="fr-FR" b="1" u="sng" dirty="0">
              <a:solidFill>
                <a:schemeClr val="accent5">
                  <a:lumMod val="75000"/>
                </a:schemeClr>
              </a:solidFill>
            </a:endParaRPr>
          </a:p>
          <a:p>
            <a:r>
              <a:rPr lang="fr-FR" dirty="0">
                <a:solidFill>
                  <a:srgbClr val="3E3E3F"/>
                </a:solidFill>
                <a:latin typeface="Marianne"/>
              </a:rPr>
              <a:t>« Agent physique, chimique ou biologique qui provoque une détérioration du milieu naturel »</a:t>
            </a:r>
          </a:p>
        </p:txBody>
      </p:sp>
      <p:sp>
        <p:nvSpPr>
          <p:cNvPr id="3" name="ZoneTexte 2">
            <a:extLst>
              <a:ext uri="{FF2B5EF4-FFF2-40B4-BE49-F238E27FC236}">
                <a16:creationId xmlns:a16="http://schemas.microsoft.com/office/drawing/2014/main" id="{DC022A15-227D-27BA-B764-4E68A85EC464}"/>
              </a:ext>
            </a:extLst>
          </p:cNvPr>
          <p:cNvSpPr txBox="1"/>
          <p:nvPr/>
        </p:nvSpPr>
        <p:spPr>
          <a:xfrm>
            <a:off x="5134633" y="1797784"/>
            <a:ext cx="3852205" cy="1754326"/>
          </a:xfrm>
          <a:prstGeom prst="rect">
            <a:avLst/>
          </a:prstGeom>
          <a:noFill/>
          <a:ln>
            <a:solidFill>
              <a:schemeClr val="accent5">
                <a:lumMod val="75000"/>
              </a:schemeClr>
            </a:solidFill>
          </a:ln>
        </p:spPr>
        <p:txBody>
          <a:bodyPr wrap="square" rtlCol="0">
            <a:spAutoFit/>
          </a:bodyPr>
          <a:lstStyle/>
          <a:p>
            <a:r>
              <a:rPr lang="fr-FR" b="1" u="sng" dirty="0">
                <a:solidFill>
                  <a:schemeClr val="accent5">
                    <a:lumMod val="75000"/>
                  </a:schemeClr>
                </a:solidFill>
              </a:rPr>
              <a:t>Pollution: </a:t>
            </a:r>
          </a:p>
          <a:p>
            <a:endParaRPr lang="fr-FR" b="1" u="sng" dirty="0">
              <a:solidFill>
                <a:schemeClr val="accent5">
                  <a:lumMod val="75000"/>
                </a:schemeClr>
              </a:solidFill>
            </a:endParaRPr>
          </a:p>
          <a:p>
            <a:r>
              <a:rPr lang="fr-FR" dirty="0">
                <a:solidFill>
                  <a:srgbClr val="3E3E3F"/>
                </a:solidFill>
                <a:latin typeface="Marianne"/>
              </a:rPr>
              <a:t>« Etat de dégradation et de perturbation de l’environnement, souvent nocif à l’homme et aux autres êtres vivants »</a:t>
            </a:r>
          </a:p>
        </p:txBody>
      </p:sp>
      <p:sp>
        <p:nvSpPr>
          <p:cNvPr id="4" name="Flèche : droite 3">
            <a:extLst>
              <a:ext uri="{FF2B5EF4-FFF2-40B4-BE49-F238E27FC236}">
                <a16:creationId xmlns:a16="http://schemas.microsoft.com/office/drawing/2014/main" id="{43EE37A3-5815-A9BC-2B40-DF6F3EB410FB}"/>
              </a:ext>
            </a:extLst>
          </p:cNvPr>
          <p:cNvSpPr/>
          <p:nvPr/>
        </p:nvSpPr>
        <p:spPr>
          <a:xfrm>
            <a:off x="3963057" y="2404410"/>
            <a:ext cx="1171576" cy="58578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10F1118B-C358-F6A8-D103-4703973FF3B1}"/>
              </a:ext>
            </a:extLst>
          </p:cNvPr>
          <p:cNvSpPr txBox="1"/>
          <p:nvPr/>
        </p:nvSpPr>
        <p:spPr>
          <a:xfrm>
            <a:off x="5134632" y="4690410"/>
            <a:ext cx="3852205" cy="923330"/>
          </a:xfrm>
          <a:prstGeom prst="rect">
            <a:avLst/>
          </a:prstGeom>
          <a:noFill/>
          <a:ln>
            <a:solidFill>
              <a:schemeClr val="accent5">
                <a:lumMod val="75000"/>
              </a:schemeClr>
            </a:solidFill>
          </a:ln>
        </p:spPr>
        <p:txBody>
          <a:bodyPr wrap="square" rtlCol="0">
            <a:spAutoFit/>
          </a:bodyPr>
          <a:lstStyle/>
          <a:p>
            <a:r>
              <a:rPr lang="fr-FR" b="1" u="sng" dirty="0">
                <a:solidFill>
                  <a:schemeClr val="accent5">
                    <a:lumMod val="75000"/>
                  </a:schemeClr>
                </a:solidFill>
              </a:rPr>
              <a:t>Conséquences sur l’homme: </a:t>
            </a:r>
          </a:p>
          <a:p>
            <a:pPr marL="342900" indent="-342900">
              <a:buFont typeface="Arial" panose="020B0604020202020204" pitchFamily="34" charset="0"/>
              <a:buChar char="•"/>
            </a:pPr>
            <a:r>
              <a:rPr lang="fr-FR" dirty="0"/>
              <a:t>Affections chroniques (asthme, cancers, maladies respiratoires…)</a:t>
            </a:r>
            <a:endParaRPr lang="fr-FR" dirty="0">
              <a:latin typeface="Marianne"/>
            </a:endParaRPr>
          </a:p>
        </p:txBody>
      </p:sp>
      <p:sp>
        <p:nvSpPr>
          <p:cNvPr id="7" name="ZoneTexte 6">
            <a:extLst>
              <a:ext uri="{FF2B5EF4-FFF2-40B4-BE49-F238E27FC236}">
                <a16:creationId xmlns:a16="http://schemas.microsoft.com/office/drawing/2014/main" id="{9FDF61EB-02FD-5D2A-E533-23F490B17D03}"/>
              </a:ext>
            </a:extLst>
          </p:cNvPr>
          <p:cNvSpPr txBox="1"/>
          <p:nvPr/>
        </p:nvSpPr>
        <p:spPr>
          <a:xfrm>
            <a:off x="431991" y="4690409"/>
            <a:ext cx="4240022" cy="1754326"/>
          </a:xfrm>
          <a:prstGeom prst="rect">
            <a:avLst/>
          </a:prstGeom>
          <a:solidFill>
            <a:schemeClr val="bg1"/>
          </a:solidFill>
          <a:ln>
            <a:solidFill>
              <a:schemeClr val="accent5">
                <a:lumMod val="75000"/>
              </a:schemeClr>
            </a:solidFill>
          </a:ln>
        </p:spPr>
        <p:txBody>
          <a:bodyPr wrap="square" rtlCol="0">
            <a:spAutoFit/>
          </a:bodyPr>
          <a:lstStyle/>
          <a:p>
            <a:r>
              <a:rPr lang="fr-FR" b="1" u="sng" dirty="0">
                <a:solidFill>
                  <a:schemeClr val="accent5">
                    <a:lumMod val="75000"/>
                  </a:schemeClr>
                </a:solidFill>
              </a:rPr>
              <a:t>Conséquences sur l’environnement: </a:t>
            </a:r>
          </a:p>
          <a:p>
            <a:pPr marL="342900" indent="-342900">
              <a:buFont typeface="Arial" panose="020B0604020202020204" pitchFamily="34" charset="0"/>
              <a:buChar char="•"/>
            </a:pPr>
            <a:r>
              <a:rPr lang="fr-FR" dirty="0">
                <a:latin typeface="Marianne"/>
              </a:rPr>
              <a:t>Affectation de l’état des eaux</a:t>
            </a:r>
          </a:p>
          <a:p>
            <a:pPr marL="342900" indent="-342900">
              <a:buFont typeface="Arial" panose="020B0604020202020204" pitchFamily="34" charset="0"/>
              <a:buChar char="•"/>
            </a:pPr>
            <a:r>
              <a:rPr lang="fr-FR" dirty="0">
                <a:latin typeface="Marianne"/>
              </a:rPr>
              <a:t>Affectation du maintien de certaines espèces animales</a:t>
            </a:r>
          </a:p>
          <a:p>
            <a:pPr marL="342900" indent="-342900">
              <a:buFont typeface="Arial" panose="020B0604020202020204" pitchFamily="34" charset="0"/>
              <a:buChar char="•"/>
            </a:pPr>
            <a:r>
              <a:rPr lang="fr-FR" dirty="0">
                <a:latin typeface="Marianne"/>
              </a:rPr>
              <a:t>Affectation des fonctions assurées par les sols, les eaux, les habitats…</a:t>
            </a:r>
          </a:p>
        </p:txBody>
      </p:sp>
      <p:cxnSp>
        <p:nvCxnSpPr>
          <p:cNvPr id="9" name="Connecteur : en angle 8">
            <a:extLst>
              <a:ext uri="{FF2B5EF4-FFF2-40B4-BE49-F238E27FC236}">
                <a16:creationId xmlns:a16="http://schemas.microsoft.com/office/drawing/2014/main" id="{8BFEFE6E-7108-DE02-BD4F-9BAC8E8B5F7A}"/>
              </a:ext>
            </a:extLst>
          </p:cNvPr>
          <p:cNvCxnSpPr>
            <a:cxnSpLocks/>
            <a:stCxn id="3" idx="2"/>
            <a:endCxn id="6" idx="0"/>
          </p:cNvCxnSpPr>
          <p:nvPr/>
        </p:nvCxnSpPr>
        <p:spPr>
          <a:xfrm rot="5400000">
            <a:off x="6491586" y="4121260"/>
            <a:ext cx="1138300" cy="1"/>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Connecteur : en angle 10">
            <a:extLst>
              <a:ext uri="{FF2B5EF4-FFF2-40B4-BE49-F238E27FC236}">
                <a16:creationId xmlns:a16="http://schemas.microsoft.com/office/drawing/2014/main" id="{5BFE0571-B5D6-6DD4-170F-90CC9B87F357}"/>
              </a:ext>
            </a:extLst>
          </p:cNvPr>
          <p:cNvCxnSpPr>
            <a:cxnSpLocks/>
            <a:stCxn id="3" idx="2"/>
            <a:endCxn id="7" idx="0"/>
          </p:cNvCxnSpPr>
          <p:nvPr/>
        </p:nvCxnSpPr>
        <p:spPr>
          <a:xfrm rot="5400000">
            <a:off x="4237220" y="1866892"/>
            <a:ext cx="1138299" cy="4508734"/>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6177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5"/>
            <a:ext cx="8037048" cy="1124745"/>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Le dommage environnemental</a:t>
            </a:r>
          </a:p>
        </p:txBody>
      </p:sp>
      <p:sp>
        <p:nvSpPr>
          <p:cNvPr id="8" name="ZoneTexte 7">
            <a:extLst>
              <a:ext uri="{FF2B5EF4-FFF2-40B4-BE49-F238E27FC236}">
                <a16:creationId xmlns:a16="http://schemas.microsoft.com/office/drawing/2014/main" id="{732F0F27-B6E5-6746-A2BC-AFAC6D77E8A7}"/>
              </a:ext>
            </a:extLst>
          </p:cNvPr>
          <p:cNvSpPr txBox="1"/>
          <p:nvPr/>
        </p:nvSpPr>
        <p:spPr>
          <a:xfrm>
            <a:off x="86517" y="942975"/>
            <a:ext cx="2464594" cy="1200329"/>
          </a:xfrm>
          <a:prstGeom prst="rect">
            <a:avLst/>
          </a:prstGeom>
          <a:noFill/>
        </p:spPr>
        <p:txBody>
          <a:bodyPr wrap="square" rtlCol="0">
            <a:spAutoFit/>
          </a:bodyPr>
          <a:lstStyle/>
          <a:p>
            <a:pPr algn="ctr"/>
            <a:r>
              <a:rPr lang="fr-FR" b="1" u="sng" dirty="0">
                <a:solidFill>
                  <a:schemeClr val="accent5">
                    <a:lumMod val="75000"/>
                  </a:schemeClr>
                </a:solidFill>
              </a:rPr>
              <a:t>Principaux accidents environnementaux d’origine technologique: </a:t>
            </a:r>
          </a:p>
        </p:txBody>
      </p:sp>
      <p:pic>
        <p:nvPicPr>
          <p:cNvPr id="2050" name="Picture 2">
            <a:extLst>
              <a:ext uri="{FF2B5EF4-FFF2-40B4-BE49-F238E27FC236}">
                <a16:creationId xmlns:a16="http://schemas.microsoft.com/office/drawing/2014/main" id="{44BA6F2E-76F8-A323-963D-83DA5EDDEF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33" b="2469"/>
          <a:stretch/>
        </p:blipFill>
        <p:spPr bwMode="auto">
          <a:xfrm>
            <a:off x="2551111" y="942975"/>
            <a:ext cx="3839113" cy="5915025"/>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7F139CDC-8696-B37F-F9BC-0F1E7E901E03}"/>
              </a:ext>
            </a:extLst>
          </p:cNvPr>
          <p:cNvSpPr txBox="1"/>
          <p:nvPr/>
        </p:nvSpPr>
        <p:spPr>
          <a:xfrm>
            <a:off x="6936582" y="5568851"/>
            <a:ext cx="2207418" cy="307777"/>
          </a:xfrm>
          <a:prstGeom prst="rect">
            <a:avLst/>
          </a:prstGeom>
          <a:noFill/>
        </p:spPr>
        <p:txBody>
          <a:bodyPr wrap="square" rtlCol="0">
            <a:spAutoFit/>
          </a:bodyPr>
          <a:lstStyle/>
          <a:p>
            <a:r>
              <a:rPr lang="fr-FR" sz="1400" dirty="0"/>
              <a:t>(Source: INERIS)</a:t>
            </a:r>
          </a:p>
        </p:txBody>
      </p:sp>
      <p:sp>
        <p:nvSpPr>
          <p:cNvPr id="3" name="Rectangle 2">
            <a:extLst>
              <a:ext uri="{FF2B5EF4-FFF2-40B4-BE49-F238E27FC236}">
                <a16:creationId xmlns:a16="http://schemas.microsoft.com/office/drawing/2014/main" id="{D0F9F640-0282-5E9B-7E4D-C1D9C3024FF5}"/>
              </a:ext>
            </a:extLst>
          </p:cNvPr>
          <p:cNvSpPr/>
          <p:nvPr/>
        </p:nvSpPr>
        <p:spPr>
          <a:xfrm>
            <a:off x="5253038" y="1295400"/>
            <a:ext cx="785812" cy="33813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9E2E5318-187F-706C-3B8A-4E437B9EFFB6}"/>
              </a:ext>
            </a:extLst>
          </p:cNvPr>
          <p:cNvSpPr/>
          <p:nvPr/>
        </p:nvSpPr>
        <p:spPr>
          <a:xfrm>
            <a:off x="5253038" y="1812132"/>
            <a:ext cx="785812" cy="33813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E369832-F9C9-1D12-7AEB-767E58654260}"/>
              </a:ext>
            </a:extLst>
          </p:cNvPr>
          <p:cNvSpPr/>
          <p:nvPr/>
        </p:nvSpPr>
        <p:spPr>
          <a:xfrm>
            <a:off x="4333876" y="2171701"/>
            <a:ext cx="785812" cy="40957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270B5DB-8F40-DFB2-61E9-5E949E1F7E92}"/>
              </a:ext>
            </a:extLst>
          </p:cNvPr>
          <p:cNvSpPr/>
          <p:nvPr/>
        </p:nvSpPr>
        <p:spPr>
          <a:xfrm>
            <a:off x="4333876" y="3767931"/>
            <a:ext cx="785812" cy="33813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7B750F4-6CFF-0AA7-BBD5-36DFA668F4EE}"/>
              </a:ext>
            </a:extLst>
          </p:cNvPr>
          <p:cNvSpPr/>
          <p:nvPr/>
        </p:nvSpPr>
        <p:spPr>
          <a:xfrm>
            <a:off x="5253038" y="4888705"/>
            <a:ext cx="785812" cy="378619"/>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FAE39F04-5A16-B9E9-A94E-AC4617FFEB7C}"/>
              </a:ext>
            </a:extLst>
          </p:cNvPr>
          <p:cNvSpPr/>
          <p:nvPr/>
        </p:nvSpPr>
        <p:spPr>
          <a:xfrm>
            <a:off x="5253038" y="5873353"/>
            <a:ext cx="785812" cy="31869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A8162A48-F763-35A6-5CE2-9ACA3E676718}"/>
              </a:ext>
            </a:extLst>
          </p:cNvPr>
          <p:cNvSpPr/>
          <p:nvPr/>
        </p:nvSpPr>
        <p:spPr>
          <a:xfrm>
            <a:off x="3394612" y="2124076"/>
            <a:ext cx="785812" cy="40957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63441844-81C5-05D2-A7B3-313407C23D21}"/>
              </a:ext>
            </a:extLst>
          </p:cNvPr>
          <p:cNvSpPr/>
          <p:nvPr/>
        </p:nvSpPr>
        <p:spPr>
          <a:xfrm>
            <a:off x="2793473" y="2061626"/>
            <a:ext cx="473602" cy="903823"/>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F4DC3B27-9785-7A92-01D5-CD6FFBBBA09B}"/>
              </a:ext>
            </a:extLst>
          </p:cNvPr>
          <p:cNvSpPr/>
          <p:nvPr/>
        </p:nvSpPr>
        <p:spPr>
          <a:xfrm>
            <a:off x="3394612" y="5006183"/>
            <a:ext cx="785812" cy="33813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C47EDEBB-7015-1EFF-F2B6-5748A70DF305}"/>
              </a:ext>
            </a:extLst>
          </p:cNvPr>
          <p:cNvSpPr/>
          <p:nvPr/>
        </p:nvSpPr>
        <p:spPr>
          <a:xfrm>
            <a:off x="3394612" y="5873155"/>
            <a:ext cx="785812" cy="33813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0817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Deux types de devoirs</a:t>
            </a:r>
          </a:p>
        </p:txBody>
      </p:sp>
      <p:graphicFrame>
        <p:nvGraphicFramePr>
          <p:cNvPr id="2" name="Diagramme 1">
            <a:extLst>
              <a:ext uri="{FF2B5EF4-FFF2-40B4-BE49-F238E27FC236}">
                <a16:creationId xmlns:a16="http://schemas.microsoft.com/office/drawing/2014/main" id="{36822432-EB09-599A-F4CC-D6E2FA900E01}"/>
              </a:ext>
            </a:extLst>
          </p:cNvPr>
          <p:cNvGraphicFramePr/>
          <p:nvPr>
            <p:extLst>
              <p:ext uri="{D42A27DB-BD31-4B8C-83A1-F6EECF244321}">
                <p14:modId xmlns:p14="http://schemas.microsoft.com/office/powerpoint/2010/main" val="2211313011"/>
              </p:ext>
            </p:extLst>
          </p:nvPr>
        </p:nvGraphicFramePr>
        <p:xfrm>
          <a:off x="464457" y="1689129"/>
          <a:ext cx="8215086" cy="4718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a:extLst>
              <a:ext uri="{FF2B5EF4-FFF2-40B4-BE49-F238E27FC236}">
                <a16:creationId xmlns:a16="http://schemas.microsoft.com/office/drawing/2014/main" id="{89AF6C99-7328-5084-8D80-3B71B1AFF82D}"/>
              </a:ext>
            </a:extLst>
          </p:cNvPr>
          <p:cNvSpPr txBox="1"/>
          <p:nvPr/>
        </p:nvSpPr>
        <p:spPr>
          <a:xfrm>
            <a:off x="4862286" y="1309733"/>
            <a:ext cx="4281714" cy="369332"/>
          </a:xfrm>
          <a:prstGeom prst="rect">
            <a:avLst/>
          </a:prstGeom>
          <a:noFill/>
        </p:spPr>
        <p:txBody>
          <a:bodyPr wrap="square" rtlCol="0">
            <a:spAutoFit/>
          </a:bodyPr>
          <a:lstStyle/>
          <a:p>
            <a:r>
              <a:rPr lang="fr-FR" dirty="0"/>
              <a:t>(Articles L. 160-1 à 165-2 du Code envt)</a:t>
            </a:r>
          </a:p>
        </p:txBody>
      </p:sp>
    </p:spTree>
    <p:extLst>
      <p:ext uri="{BB962C8B-B14F-4D97-AF65-F5344CB8AC3E}">
        <p14:creationId xmlns:p14="http://schemas.microsoft.com/office/powerpoint/2010/main" val="142696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1- La responsabilité environnementale</a:t>
            </a:r>
          </a:p>
        </p:txBody>
      </p:sp>
      <p:graphicFrame>
        <p:nvGraphicFramePr>
          <p:cNvPr id="6" name="Espace réservé du contenu 5">
            <a:extLst>
              <a:ext uri="{FF2B5EF4-FFF2-40B4-BE49-F238E27FC236}">
                <a16:creationId xmlns:a16="http://schemas.microsoft.com/office/drawing/2014/main" id="{75C52189-B1C2-0821-9375-39141E531537}"/>
              </a:ext>
            </a:extLst>
          </p:cNvPr>
          <p:cNvGraphicFramePr>
            <a:graphicFrameLocks noGrp="1"/>
          </p:cNvGraphicFramePr>
          <p:nvPr>
            <p:ph idx="1"/>
            <p:extLst>
              <p:ext uri="{D42A27DB-BD31-4B8C-83A1-F6EECF244321}">
                <p14:modId xmlns:p14="http://schemas.microsoft.com/office/powerpoint/2010/main" val="346514561"/>
              </p:ext>
            </p:extLst>
          </p:nvPr>
        </p:nvGraphicFramePr>
        <p:xfrm>
          <a:off x="628650" y="1543791"/>
          <a:ext cx="7886700" cy="40380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1259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795E47C8-A14E-9CE0-BE91-2D9D7F4015E3}"/>
              </a:ext>
            </a:extLst>
          </p:cNvPr>
          <p:cNvPicPr>
            <a:picLocks noChangeAspect="1"/>
          </p:cNvPicPr>
          <p:nvPr/>
        </p:nvPicPr>
        <p:blipFill>
          <a:blip r:embed="rId2"/>
          <a:stretch>
            <a:fillRect/>
          </a:stretch>
        </p:blipFill>
        <p:spPr>
          <a:xfrm>
            <a:off x="4909377" y="1964315"/>
            <a:ext cx="4120665" cy="910298"/>
          </a:xfrm>
          <a:prstGeom prst="rect">
            <a:avLst/>
          </a:prstGeom>
        </p:spPr>
      </p:pic>
      <p:pic>
        <p:nvPicPr>
          <p:cNvPr id="8" name="Image 7">
            <a:extLst>
              <a:ext uri="{FF2B5EF4-FFF2-40B4-BE49-F238E27FC236}">
                <a16:creationId xmlns:a16="http://schemas.microsoft.com/office/drawing/2014/main" id="{99E23D59-227B-11FD-6E65-CCFD42AE8794}"/>
              </a:ext>
            </a:extLst>
          </p:cNvPr>
          <p:cNvPicPr>
            <a:picLocks noChangeAspect="1"/>
          </p:cNvPicPr>
          <p:nvPr/>
        </p:nvPicPr>
        <p:blipFill>
          <a:blip r:embed="rId3"/>
          <a:stretch>
            <a:fillRect/>
          </a:stretch>
        </p:blipFill>
        <p:spPr>
          <a:xfrm>
            <a:off x="4758034" y="2978093"/>
            <a:ext cx="4385966" cy="804152"/>
          </a:xfrm>
          <a:prstGeom prst="rect">
            <a:avLst/>
          </a:prstGeom>
        </p:spPr>
      </p:pic>
      <p:sp>
        <p:nvSpPr>
          <p:cNvPr id="9" name="Titre 2">
            <a:extLst>
              <a:ext uri="{FF2B5EF4-FFF2-40B4-BE49-F238E27FC236}">
                <a16:creationId xmlns:a16="http://schemas.microsoft.com/office/drawing/2014/main" id="{572C96F8-5F9E-1323-CE9F-9030C84C2E53}"/>
              </a:ext>
            </a:extLst>
          </p:cNvPr>
          <p:cNvSpPr txBox="1">
            <a:spLocks/>
          </p:cNvSpPr>
          <p:nvPr/>
        </p:nvSpPr>
        <p:spPr>
          <a:xfrm>
            <a:off x="628650" y="21105"/>
            <a:ext cx="7886700" cy="10562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1- La responsabilité environnementale</a:t>
            </a:r>
          </a:p>
          <a:p>
            <a:pPr algn="r"/>
            <a:r>
              <a:rPr lang="fr-FR" sz="2800" dirty="0">
                <a:solidFill>
                  <a:schemeClr val="accent5">
                    <a:lumMod val="75000"/>
                  </a:schemeClr>
                </a:solidFill>
              </a:rPr>
              <a:t>Ecocide</a:t>
            </a:r>
          </a:p>
        </p:txBody>
      </p:sp>
      <p:sp>
        <p:nvSpPr>
          <p:cNvPr id="10" name="ZoneTexte 9">
            <a:extLst>
              <a:ext uri="{FF2B5EF4-FFF2-40B4-BE49-F238E27FC236}">
                <a16:creationId xmlns:a16="http://schemas.microsoft.com/office/drawing/2014/main" id="{EF957D5E-15A7-B030-1CA5-D4C93CE23A54}"/>
              </a:ext>
            </a:extLst>
          </p:cNvPr>
          <p:cNvSpPr txBox="1"/>
          <p:nvPr/>
        </p:nvSpPr>
        <p:spPr>
          <a:xfrm>
            <a:off x="6036887" y="3911059"/>
            <a:ext cx="2144167" cy="369332"/>
          </a:xfrm>
          <a:prstGeom prst="rect">
            <a:avLst/>
          </a:prstGeom>
          <a:noFill/>
        </p:spPr>
        <p:txBody>
          <a:bodyPr wrap="square" rtlCol="0">
            <a:spAutoFit/>
          </a:bodyPr>
          <a:lstStyle/>
          <a:p>
            <a:pPr algn="ctr"/>
            <a:r>
              <a:rPr lang="fr-FR" dirty="0"/>
              <a:t>…</a:t>
            </a:r>
          </a:p>
        </p:txBody>
      </p:sp>
      <p:pic>
        <p:nvPicPr>
          <p:cNvPr id="13" name="Image 12">
            <a:extLst>
              <a:ext uri="{FF2B5EF4-FFF2-40B4-BE49-F238E27FC236}">
                <a16:creationId xmlns:a16="http://schemas.microsoft.com/office/drawing/2014/main" id="{57367206-E394-7805-589F-B80151F46EF1}"/>
              </a:ext>
            </a:extLst>
          </p:cNvPr>
          <p:cNvPicPr>
            <a:picLocks noChangeAspect="1"/>
          </p:cNvPicPr>
          <p:nvPr/>
        </p:nvPicPr>
        <p:blipFill>
          <a:blip r:embed="rId4"/>
          <a:stretch>
            <a:fillRect/>
          </a:stretch>
        </p:blipFill>
        <p:spPr>
          <a:xfrm>
            <a:off x="468921" y="952540"/>
            <a:ext cx="4221833" cy="4846884"/>
          </a:xfrm>
          <a:prstGeom prst="rect">
            <a:avLst/>
          </a:prstGeom>
          <a:ln>
            <a:solidFill>
              <a:schemeClr val="accent5"/>
            </a:solidFill>
          </a:ln>
        </p:spPr>
      </p:pic>
      <p:sp>
        <p:nvSpPr>
          <p:cNvPr id="14" name="ZoneTexte 13">
            <a:extLst>
              <a:ext uri="{FF2B5EF4-FFF2-40B4-BE49-F238E27FC236}">
                <a16:creationId xmlns:a16="http://schemas.microsoft.com/office/drawing/2014/main" id="{BE873F91-1E00-FFF3-70CD-293D671EA022}"/>
              </a:ext>
            </a:extLst>
          </p:cNvPr>
          <p:cNvSpPr txBox="1"/>
          <p:nvPr/>
        </p:nvSpPr>
        <p:spPr>
          <a:xfrm>
            <a:off x="1316518" y="5877220"/>
            <a:ext cx="2194127" cy="369332"/>
          </a:xfrm>
          <a:prstGeom prst="rect">
            <a:avLst/>
          </a:prstGeom>
          <a:solidFill>
            <a:schemeClr val="bg1"/>
          </a:solidFill>
        </p:spPr>
        <p:txBody>
          <a:bodyPr wrap="none" rtlCol="0">
            <a:spAutoFit/>
          </a:bodyPr>
          <a:lstStyle/>
          <a:p>
            <a:r>
              <a:rPr lang="fr-FR" b="1" dirty="0">
                <a:solidFill>
                  <a:schemeClr val="accent5">
                    <a:lumMod val="75000"/>
                  </a:schemeClr>
                </a:solidFill>
              </a:rPr>
              <a:t>Source: REPORTERRE</a:t>
            </a:r>
          </a:p>
        </p:txBody>
      </p:sp>
    </p:spTree>
    <p:extLst>
      <p:ext uri="{BB962C8B-B14F-4D97-AF65-F5344CB8AC3E}">
        <p14:creationId xmlns:p14="http://schemas.microsoft.com/office/powerpoint/2010/main" val="2414111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2">
            <a:extLst>
              <a:ext uri="{FF2B5EF4-FFF2-40B4-BE49-F238E27FC236}">
                <a16:creationId xmlns:a16="http://schemas.microsoft.com/office/drawing/2014/main" id="{453EACB1-2AA4-432D-2F4A-645C4348FD51}"/>
              </a:ext>
            </a:extLst>
          </p:cNvPr>
          <p:cNvSpPr txBox="1">
            <a:spLocks/>
          </p:cNvSpPr>
          <p:nvPr/>
        </p:nvSpPr>
        <p:spPr>
          <a:xfrm>
            <a:off x="628650" y="21105"/>
            <a:ext cx="7886700" cy="10562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1- La responsabilité environnementale</a:t>
            </a:r>
          </a:p>
          <a:p>
            <a:pPr algn="r"/>
            <a:r>
              <a:rPr lang="fr-FR" sz="2800" dirty="0">
                <a:solidFill>
                  <a:schemeClr val="accent5">
                    <a:lumMod val="75000"/>
                  </a:schemeClr>
                </a:solidFill>
              </a:rPr>
              <a:t>Ecocide</a:t>
            </a:r>
          </a:p>
        </p:txBody>
      </p:sp>
      <p:sp>
        <p:nvSpPr>
          <p:cNvPr id="12" name="ZoneTexte 11">
            <a:extLst>
              <a:ext uri="{FF2B5EF4-FFF2-40B4-BE49-F238E27FC236}">
                <a16:creationId xmlns:a16="http://schemas.microsoft.com/office/drawing/2014/main" id="{7B39754B-B275-33E3-0A76-C7C2087BE102}"/>
              </a:ext>
            </a:extLst>
          </p:cNvPr>
          <p:cNvSpPr txBox="1"/>
          <p:nvPr/>
        </p:nvSpPr>
        <p:spPr>
          <a:xfrm>
            <a:off x="4566064" y="1928058"/>
            <a:ext cx="4577936" cy="4524315"/>
          </a:xfrm>
          <a:prstGeom prst="rect">
            <a:avLst/>
          </a:prstGeom>
          <a:solidFill>
            <a:schemeClr val="bg1"/>
          </a:solidFill>
          <a:ln>
            <a:solidFill>
              <a:schemeClr val="accent5"/>
            </a:solidFill>
          </a:ln>
        </p:spPr>
        <p:txBody>
          <a:bodyPr wrap="square">
            <a:spAutoFit/>
          </a:bodyPr>
          <a:lstStyle/>
          <a:p>
            <a:r>
              <a:rPr lang="fr-FR" b="1" u="sng" dirty="0">
                <a:solidFill>
                  <a:schemeClr val="accent5">
                    <a:lumMod val="75000"/>
                  </a:schemeClr>
                </a:solidFill>
              </a:rPr>
              <a:t>Contexte:</a:t>
            </a:r>
            <a:br>
              <a:rPr lang="fr-FR" b="1" dirty="0"/>
            </a:br>
            <a:r>
              <a:rPr lang="fr-FR" dirty="0"/>
              <a:t>La criminalité environnementale est la quatrième activité criminelle la plus importante au niveau mondial. Il s’agit de l’une des principales sources de financement de la criminalité organisée, après le trafic de stupéfiants, le trafic d’armes et la traite des êtres humains. En décembre 2021, la Commission a présenté une proposition relative à la protection de l’environnement dans l’UE par le droit pénal, dans le but de lutter contre l’augmentation du nombre d’infractions pénales en matière environnementale.</a:t>
            </a:r>
          </a:p>
          <a:p>
            <a:endParaRPr lang="fr-FR" dirty="0"/>
          </a:p>
          <a:p>
            <a:endParaRPr lang="fr-FR" dirty="0"/>
          </a:p>
        </p:txBody>
      </p:sp>
      <p:sp>
        <p:nvSpPr>
          <p:cNvPr id="13" name="ZoneTexte 12">
            <a:extLst>
              <a:ext uri="{FF2B5EF4-FFF2-40B4-BE49-F238E27FC236}">
                <a16:creationId xmlns:a16="http://schemas.microsoft.com/office/drawing/2014/main" id="{06E26833-3EB3-49D0-F132-BA815B9C0C0B}"/>
              </a:ext>
            </a:extLst>
          </p:cNvPr>
          <p:cNvSpPr txBox="1"/>
          <p:nvPr/>
        </p:nvSpPr>
        <p:spPr>
          <a:xfrm>
            <a:off x="5295652" y="5955894"/>
            <a:ext cx="3058658" cy="369332"/>
          </a:xfrm>
          <a:prstGeom prst="rect">
            <a:avLst/>
          </a:prstGeom>
          <a:solidFill>
            <a:schemeClr val="bg1"/>
          </a:solidFill>
        </p:spPr>
        <p:txBody>
          <a:bodyPr wrap="none" rtlCol="0">
            <a:spAutoFit/>
          </a:bodyPr>
          <a:lstStyle/>
          <a:p>
            <a:r>
              <a:rPr lang="fr-FR" b="1" dirty="0">
                <a:solidFill>
                  <a:schemeClr val="accent5">
                    <a:lumMod val="75000"/>
                  </a:schemeClr>
                </a:solidFill>
              </a:rPr>
              <a:t>(Source: parlement européen)</a:t>
            </a:r>
          </a:p>
        </p:txBody>
      </p:sp>
      <p:sp>
        <p:nvSpPr>
          <p:cNvPr id="14" name="ZoneTexte 13">
            <a:extLst>
              <a:ext uri="{FF2B5EF4-FFF2-40B4-BE49-F238E27FC236}">
                <a16:creationId xmlns:a16="http://schemas.microsoft.com/office/drawing/2014/main" id="{409FA3D8-994E-0E1D-B34D-00A6CE69FE23}"/>
              </a:ext>
            </a:extLst>
          </p:cNvPr>
          <p:cNvSpPr txBox="1"/>
          <p:nvPr/>
        </p:nvSpPr>
        <p:spPr>
          <a:xfrm>
            <a:off x="202169" y="1928058"/>
            <a:ext cx="4197925" cy="2308324"/>
          </a:xfrm>
          <a:prstGeom prst="rect">
            <a:avLst/>
          </a:prstGeom>
          <a:noFill/>
          <a:ln>
            <a:solidFill>
              <a:schemeClr val="accent5"/>
            </a:solidFill>
          </a:ln>
        </p:spPr>
        <p:txBody>
          <a:bodyPr wrap="square">
            <a:spAutoFit/>
          </a:bodyPr>
          <a:lstStyle/>
          <a:p>
            <a:r>
              <a:rPr lang="fr-FR" b="1" u="sng" dirty="0">
                <a:solidFill>
                  <a:schemeClr val="accent5">
                    <a:lumMod val="75000"/>
                  </a:schemeClr>
                </a:solidFill>
              </a:rPr>
              <a:t>Définition:</a:t>
            </a:r>
          </a:p>
          <a:p>
            <a:r>
              <a:rPr lang="fr-FR" dirty="0"/>
              <a:t>L’écocide est  un acte criminel, défini comme « tout acte causant des dommages graves et étendus, ou graves et durables, ou graves et irréversibles à l’environnement ».</a:t>
            </a:r>
          </a:p>
          <a:p>
            <a:endParaRPr lang="fr-FR" dirty="0"/>
          </a:p>
          <a:p>
            <a:endParaRPr lang="fr-FR" dirty="0"/>
          </a:p>
        </p:txBody>
      </p:sp>
      <p:sp>
        <p:nvSpPr>
          <p:cNvPr id="15" name="ZoneTexte 14">
            <a:extLst>
              <a:ext uri="{FF2B5EF4-FFF2-40B4-BE49-F238E27FC236}">
                <a16:creationId xmlns:a16="http://schemas.microsoft.com/office/drawing/2014/main" id="{F72FC59D-A590-4DF1-B440-782ED1FE7BF8}"/>
              </a:ext>
            </a:extLst>
          </p:cNvPr>
          <p:cNvSpPr txBox="1"/>
          <p:nvPr/>
        </p:nvSpPr>
        <p:spPr>
          <a:xfrm>
            <a:off x="1357022" y="3765071"/>
            <a:ext cx="1676228" cy="369332"/>
          </a:xfrm>
          <a:prstGeom prst="rect">
            <a:avLst/>
          </a:prstGeom>
          <a:solidFill>
            <a:schemeClr val="bg1"/>
          </a:solidFill>
        </p:spPr>
        <p:txBody>
          <a:bodyPr wrap="none" rtlCol="0">
            <a:spAutoFit/>
          </a:bodyPr>
          <a:lstStyle/>
          <a:p>
            <a:r>
              <a:rPr lang="fr-FR" b="1" dirty="0">
                <a:solidFill>
                  <a:schemeClr val="accent5">
                    <a:lumMod val="75000"/>
                  </a:schemeClr>
                </a:solidFill>
              </a:rPr>
              <a:t>(Source: Dalloz)</a:t>
            </a:r>
          </a:p>
        </p:txBody>
      </p:sp>
    </p:spTree>
    <p:extLst>
      <p:ext uri="{BB962C8B-B14F-4D97-AF65-F5344CB8AC3E}">
        <p14:creationId xmlns:p14="http://schemas.microsoft.com/office/powerpoint/2010/main" val="59120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Responsabilité pénale et délégation de pouvoir</a:t>
            </a:r>
          </a:p>
        </p:txBody>
      </p:sp>
      <p:graphicFrame>
        <p:nvGraphicFramePr>
          <p:cNvPr id="6" name="Diagramme 5">
            <a:extLst>
              <a:ext uri="{FF2B5EF4-FFF2-40B4-BE49-F238E27FC236}">
                <a16:creationId xmlns:a16="http://schemas.microsoft.com/office/drawing/2014/main" id="{29C38CFA-1874-45F4-DFD3-CBC9041B5C42}"/>
              </a:ext>
            </a:extLst>
          </p:cNvPr>
          <p:cNvGraphicFramePr/>
          <p:nvPr>
            <p:extLst>
              <p:ext uri="{D42A27DB-BD31-4B8C-83A1-F6EECF244321}">
                <p14:modId xmlns:p14="http://schemas.microsoft.com/office/powerpoint/2010/main" val="3882394624"/>
              </p:ext>
            </p:extLst>
          </p:nvPr>
        </p:nvGraphicFramePr>
        <p:xfrm>
          <a:off x="435429" y="2406085"/>
          <a:ext cx="8273142" cy="2844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53234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Responsabilité pénale et sanctions possibles</a:t>
            </a:r>
          </a:p>
        </p:txBody>
      </p:sp>
      <p:graphicFrame>
        <p:nvGraphicFramePr>
          <p:cNvPr id="2" name="Diagramme 1">
            <a:extLst>
              <a:ext uri="{FF2B5EF4-FFF2-40B4-BE49-F238E27FC236}">
                <a16:creationId xmlns:a16="http://schemas.microsoft.com/office/drawing/2014/main" id="{8A01DD92-AE20-82AA-829E-4426F1B2A47B}"/>
              </a:ext>
            </a:extLst>
          </p:cNvPr>
          <p:cNvGraphicFramePr/>
          <p:nvPr>
            <p:extLst>
              <p:ext uri="{D42A27DB-BD31-4B8C-83A1-F6EECF244321}">
                <p14:modId xmlns:p14="http://schemas.microsoft.com/office/powerpoint/2010/main" val="3256560986"/>
              </p:ext>
            </p:extLst>
          </p:nvPr>
        </p:nvGraphicFramePr>
        <p:xfrm>
          <a:off x="1524000" y="198625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2810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Responsabilité pénale et sanctions possibles</a:t>
            </a:r>
          </a:p>
        </p:txBody>
      </p:sp>
      <p:graphicFrame>
        <p:nvGraphicFramePr>
          <p:cNvPr id="5" name="Tableau 5">
            <a:extLst>
              <a:ext uri="{FF2B5EF4-FFF2-40B4-BE49-F238E27FC236}">
                <a16:creationId xmlns:a16="http://schemas.microsoft.com/office/drawing/2014/main" id="{85F32BB3-C40C-C4C0-6689-970EEEC18E59}"/>
              </a:ext>
            </a:extLst>
          </p:cNvPr>
          <p:cNvGraphicFramePr>
            <a:graphicFrameLocks noGrp="1"/>
          </p:cNvGraphicFramePr>
          <p:nvPr>
            <p:extLst>
              <p:ext uri="{D42A27DB-BD31-4B8C-83A1-F6EECF244321}">
                <p14:modId xmlns:p14="http://schemas.microsoft.com/office/powerpoint/2010/main" val="2677871430"/>
              </p:ext>
            </p:extLst>
          </p:nvPr>
        </p:nvGraphicFramePr>
        <p:xfrm>
          <a:off x="284843" y="1158049"/>
          <a:ext cx="8550399" cy="2194560"/>
        </p:xfrm>
        <a:graphic>
          <a:graphicData uri="http://schemas.openxmlformats.org/drawingml/2006/table">
            <a:tbl>
              <a:tblPr firstCol="1" bandRow="1">
                <a:tableStyleId>{7DF18680-E054-41AD-8BC1-D1AEF772440D}</a:tableStyleId>
              </a:tblPr>
              <a:tblGrid>
                <a:gridCol w="1442143">
                  <a:extLst>
                    <a:ext uri="{9D8B030D-6E8A-4147-A177-3AD203B41FA5}">
                      <a16:colId xmlns:a16="http://schemas.microsoft.com/office/drawing/2014/main" val="2169210516"/>
                    </a:ext>
                  </a:extLst>
                </a:gridCol>
                <a:gridCol w="5716246">
                  <a:extLst>
                    <a:ext uri="{9D8B030D-6E8A-4147-A177-3AD203B41FA5}">
                      <a16:colId xmlns:a16="http://schemas.microsoft.com/office/drawing/2014/main" val="2531042233"/>
                    </a:ext>
                  </a:extLst>
                </a:gridCol>
                <a:gridCol w="1392010">
                  <a:extLst>
                    <a:ext uri="{9D8B030D-6E8A-4147-A177-3AD203B41FA5}">
                      <a16:colId xmlns:a16="http://schemas.microsoft.com/office/drawing/2014/main" val="2427951958"/>
                    </a:ext>
                  </a:extLst>
                </a:gridCol>
              </a:tblGrid>
              <a:tr h="287383">
                <a:tc rowSpan="3">
                  <a:txBody>
                    <a:bodyPr/>
                    <a:lstStyle/>
                    <a:p>
                      <a:pPr marL="0" indent="0">
                        <a:buFont typeface="Arial" panose="020B0604020202020204" pitchFamily="34" charset="0"/>
                        <a:buNone/>
                      </a:pPr>
                      <a:r>
                        <a:rPr lang="fr-FR" sz="1800" dirty="0"/>
                        <a:t>Pour une personne physique:</a:t>
                      </a:r>
                    </a:p>
                  </a:txBody>
                  <a:tcPr anchor="ctr"/>
                </a:tc>
                <a:tc>
                  <a:txBody>
                    <a:bodyPr/>
                    <a:lstStyle/>
                    <a:p>
                      <a:pPr marL="285750" indent="-285750">
                        <a:buFont typeface="Arial" panose="020B0604020202020204" pitchFamily="34" charset="0"/>
                        <a:buChar char="•"/>
                      </a:pPr>
                      <a:r>
                        <a:rPr lang="fr-FR" sz="1800" dirty="0"/>
                        <a:t>Manque de communication des informations requises</a:t>
                      </a:r>
                    </a:p>
                    <a:p>
                      <a:pPr marL="285750" indent="-285750">
                        <a:buFont typeface="Arial" panose="020B0604020202020204" pitchFamily="34" charset="0"/>
                        <a:buChar char="•"/>
                      </a:pPr>
                      <a:r>
                        <a:rPr lang="fr-FR" sz="1800" dirty="0"/>
                        <a:t>Réparation pas réalisée</a:t>
                      </a:r>
                    </a:p>
                  </a:txBody>
                  <a:tcPr anchor="ctr"/>
                </a:tc>
                <a:tc>
                  <a:txBody>
                    <a:bodyPr/>
                    <a:lstStyle/>
                    <a:p>
                      <a:r>
                        <a:rPr lang="fr-FR" sz="1800" dirty="0"/>
                        <a:t>Amende 5° classe </a:t>
                      </a:r>
                    </a:p>
                    <a:p>
                      <a:r>
                        <a:rPr lang="fr-FR" sz="1800" dirty="0"/>
                        <a:t>(1 500 €)</a:t>
                      </a:r>
                    </a:p>
                  </a:txBody>
                  <a:tcPr anchor="ctr"/>
                </a:tc>
                <a:extLst>
                  <a:ext uri="{0D108BD9-81ED-4DB2-BD59-A6C34878D82A}">
                    <a16:rowId xmlns:a16="http://schemas.microsoft.com/office/drawing/2014/main" val="3730621273"/>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Obstacle à l’exercice de l’autorité compétente</a:t>
                      </a:r>
                    </a:p>
                  </a:txBody>
                  <a:tcPr anchor="ctr"/>
                </a:tc>
                <a:tc>
                  <a:txBody>
                    <a:bodyPr/>
                    <a:lstStyle/>
                    <a:p>
                      <a:r>
                        <a:rPr lang="fr-FR" sz="1800" dirty="0"/>
                        <a:t>1 an</a:t>
                      </a:r>
                    </a:p>
                    <a:p>
                      <a:r>
                        <a:rPr lang="fr-FR" sz="1800" dirty="0"/>
                        <a:t>15 000 €</a:t>
                      </a:r>
                    </a:p>
                  </a:txBody>
                  <a:tcPr anchor="ctr"/>
                </a:tc>
                <a:extLst>
                  <a:ext uri="{0D108BD9-81ED-4DB2-BD59-A6C34878D82A}">
                    <a16:rowId xmlns:a16="http://schemas.microsoft.com/office/drawing/2014/main" val="1292589164"/>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Pas de mise en conformité suite à une mise en demeure</a:t>
                      </a:r>
                    </a:p>
                  </a:txBody>
                  <a:tcPr anchor="ctr"/>
                </a:tc>
                <a:tc>
                  <a:txBody>
                    <a:bodyPr/>
                    <a:lstStyle/>
                    <a:p>
                      <a:r>
                        <a:rPr lang="fr-FR" sz="1800" dirty="0"/>
                        <a:t>6 mois</a:t>
                      </a:r>
                    </a:p>
                    <a:p>
                      <a:r>
                        <a:rPr lang="fr-FR" sz="1800" dirty="0"/>
                        <a:t>75 000 €</a:t>
                      </a:r>
                    </a:p>
                  </a:txBody>
                  <a:tcPr anchor="ctr"/>
                </a:tc>
                <a:extLst>
                  <a:ext uri="{0D108BD9-81ED-4DB2-BD59-A6C34878D82A}">
                    <a16:rowId xmlns:a16="http://schemas.microsoft.com/office/drawing/2014/main" val="3116511788"/>
                  </a:ext>
                </a:extLst>
              </a:tr>
            </a:tbl>
          </a:graphicData>
        </a:graphic>
      </p:graphicFrame>
      <p:graphicFrame>
        <p:nvGraphicFramePr>
          <p:cNvPr id="2" name="Tableau 5">
            <a:extLst>
              <a:ext uri="{FF2B5EF4-FFF2-40B4-BE49-F238E27FC236}">
                <a16:creationId xmlns:a16="http://schemas.microsoft.com/office/drawing/2014/main" id="{A08B80EA-07FA-5302-F041-58579BFAF526}"/>
              </a:ext>
            </a:extLst>
          </p:cNvPr>
          <p:cNvGraphicFramePr>
            <a:graphicFrameLocks noGrp="1"/>
          </p:cNvGraphicFramePr>
          <p:nvPr>
            <p:extLst>
              <p:ext uri="{D42A27DB-BD31-4B8C-83A1-F6EECF244321}">
                <p14:modId xmlns:p14="http://schemas.microsoft.com/office/powerpoint/2010/main" val="3471355128"/>
              </p:ext>
            </p:extLst>
          </p:nvPr>
        </p:nvGraphicFramePr>
        <p:xfrm>
          <a:off x="284843" y="3505392"/>
          <a:ext cx="8550399" cy="3129280"/>
        </p:xfrm>
        <a:graphic>
          <a:graphicData uri="http://schemas.openxmlformats.org/drawingml/2006/table">
            <a:tbl>
              <a:tblPr firstCol="1" bandRow="1">
                <a:tableStyleId>{7DF18680-E054-41AD-8BC1-D1AEF772440D}</a:tableStyleId>
              </a:tblPr>
              <a:tblGrid>
                <a:gridCol w="1403519">
                  <a:extLst>
                    <a:ext uri="{9D8B030D-6E8A-4147-A177-3AD203B41FA5}">
                      <a16:colId xmlns:a16="http://schemas.microsoft.com/office/drawing/2014/main" val="2459876339"/>
                    </a:ext>
                  </a:extLst>
                </a:gridCol>
                <a:gridCol w="7146880">
                  <a:extLst>
                    <a:ext uri="{9D8B030D-6E8A-4147-A177-3AD203B41FA5}">
                      <a16:colId xmlns:a16="http://schemas.microsoft.com/office/drawing/2014/main" val="2531042233"/>
                    </a:ext>
                  </a:extLst>
                </a:gridCol>
              </a:tblGrid>
              <a:tr h="287383">
                <a:tc rowSpan="7">
                  <a:txBody>
                    <a:bodyPr/>
                    <a:lstStyle/>
                    <a:p>
                      <a:pPr marL="0" indent="0">
                        <a:buFont typeface="Arial" panose="020B0604020202020204" pitchFamily="34" charset="0"/>
                        <a:buNone/>
                      </a:pPr>
                      <a:r>
                        <a:rPr lang="fr-FR" sz="1800" dirty="0"/>
                        <a:t>Pour une personne morale:</a:t>
                      </a:r>
                    </a:p>
                  </a:txBody>
                  <a:tcPr anchor="ctr"/>
                </a:tc>
                <a:tc>
                  <a:txBody>
                    <a:bodyPr/>
                    <a:lstStyle/>
                    <a:p>
                      <a:pPr marL="285750" indent="-285750">
                        <a:buFont typeface="Arial" panose="020B0604020202020204" pitchFamily="34" charset="0"/>
                        <a:buChar char="•"/>
                      </a:pPr>
                      <a:r>
                        <a:rPr lang="fr-FR" sz="1800" dirty="0"/>
                        <a:t>Amende X5 par rapport à une personne physique</a:t>
                      </a:r>
                    </a:p>
                  </a:txBody>
                  <a:tcPr anchor="ctr"/>
                </a:tc>
                <a:extLst>
                  <a:ext uri="{0D108BD9-81ED-4DB2-BD59-A6C34878D82A}">
                    <a16:rowId xmlns:a16="http://schemas.microsoft.com/office/drawing/2014/main" val="3730621273"/>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Dissolution de la personne morale si emprisonnement &gt; 5 ans pour personne physique</a:t>
                      </a:r>
                    </a:p>
                  </a:txBody>
                  <a:tcPr anchor="ctr"/>
                </a:tc>
                <a:extLst>
                  <a:ext uri="{0D108BD9-81ED-4DB2-BD59-A6C34878D82A}">
                    <a16:rowId xmlns:a16="http://schemas.microsoft.com/office/drawing/2014/main" val="1292589164"/>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Interdiction de toute activité professionnelle ou sociale, définitive ou maxi 5 ans</a:t>
                      </a:r>
                    </a:p>
                  </a:txBody>
                  <a:tcPr anchor="ctr"/>
                </a:tc>
                <a:extLst>
                  <a:ext uri="{0D108BD9-81ED-4DB2-BD59-A6C34878D82A}">
                    <a16:rowId xmlns:a16="http://schemas.microsoft.com/office/drawing/2014/main" val="3116511788"/>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Placement sous surveillance judiciaire, maxi 5 ans</a:t>
                      </a:r>
                    </a:p>
                  </a:txBody>
                  <a:tcPr anchor="ctr"/>
                </a:tc>
                <a:extLst>
                  <a:ext uri="{0D108BD9-81ED-4DB2-BD59-A6C34878D82A}">
                    <a16:rowId xmlns:a16="http://schemas.microsoft.com/office/drawing/2014/main" val="2978287312"/>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Fermeture de l’entreprise</a:t>
                      </a:r>
                    </a:p>
                  </a:txBody>
                  <a:tcPr anchor="ctr"/>
                </a:tc>
                <a:extLst>
                  <a:ext uri="{0D108BD9-81ED-4DB2-BD59-A6C34878D82A}">
                    <a16:rowId xmlns:a16="http://schemas.microsoft.com/office/drawing/2014/main" val="1441046608"/>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Exclusion des marchés publics</a:t>
                      </a:r>
                    </a:p>
                  </a:txBody>
                  <a:tcPr anchor="ctr"/>
                </a:tc>
                <a:extLst>
                  <a:ext uri="{0D108BD9-81ED-4DB2-BD59-A6C34878D82A}">
                    <a16:rowId xmlns:a16="http://schemas.microsoft.com/office/drawing/2014/main" val="873843007"/>
                  </a:ext>
                </a:extLst>
              </a:tr>
              <a:tr h="370840">
                <a:tc vMerge="1">
                  <a:txBody>
                    <a:bodyPr/>
                    <a:lstStyle/>
                    <a:p>
                      <a:pPr marL="342900" indent="-342900">
                        <a:buFont typeface="Arial" panose="020B0604020202020204" pitchFamily="34" charset="0"/>
                        <a:buChar char="•"/>
                      </a:pPr>
                      <a:endParaRPr lang="fr-FR" sz="1800" dirty="0"/>
                    </a:p>
                  </a:txBody>
                  <a:tcPr anchor="ctr"/>
                </a:tc>
                <a:tc>
                  <a:txBody>
                    <a:bodyPr/>
                    <a:lstStyle/>
                    <a:p>
                      <a:pPr marL="342900" indent="-342900">
                        <a:buFont typeface="Arial" panose="020B0604020202020204" pitchFamily="34" charset="0"/>
                        <a:buChar char="•"/>
                      </a:pPr>
                      <a:r>
                        <a:rPr lang="fr-FR" sz="1800" dirty="0"/>
                        <a:t>Affichage de la décision (presse…)</a:t>
                      </a:r>
                    </a:p>
                  </a:txBody>
                  <a:tcPr anchor="ctr"/>
                </a:tc>
                <a:extLst>
                  <a:ext uri="{0D108BD9-81ED-4DB2-BD59-A6C34878D82A}">
                    <a16:rowId xmlns:a16="http://schemas.microsoft.com/office/drawing/2014/main" val="3752671115"/>
                  </a:ext>
                </a:extLst>
              </a:tr>
            </a:tbl>
          </a:graphicData>
        </a:graphic>
      </p:graphicFrame>
    </p:spTree>
    <p:extLst>
      <p:ext uri="{BB962C8B-B14F-4D97-AF65-F5344CB8AC3E}">
        <p14:creationId xmlns:p14="http://schemas.microsoft.com/office/powerpoint/2010/main" val="105728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Responsabilité civile</a:t>
            </a:r>
          </a:p>
        </p:txBody>
      </p:sp>
      <p:sp>
        <p:nvSpPr>
          <p:cNvPr id="4" name="Espace réservé du contenu 3">
            <a:extLst>
              <a:ext uri="{FF2B5EF4-FFF2-40B4-BE49-F238E27FC236}">
                <a16:creationId xmlns:a16="http://schemas.microsoft.com/office/drawing/2014/main" id="{6160A5E9-A2F2-43F9-B8F0-23C32E47B567}"/>
              </a:ext>
            </a:extLst>
          </p:cNvPr>
          <p:cNvSpPr>
            <a:spLocks noGrp="1"/>
          </p:cNvSpPr>
          <p:nvPr>
            <p:ph idx="1"/>
          </p:nvPr>
        </p:nvSpPr>
        <p:spPr>
          <a:xfrm>
            <a:off x="628650" y="1554162"/>
            <a:ext cx="7886700" cy="4415518"/>
          </a:xfrm>
        </p:spPr>
        <p:txBody>
          <a:bodyPr>
            <a:normAutofit/>
          </a:bodyPr>
          <a:lstStyle/>
          <a:p>
            <a:pPr marL="0" indent="0" algn="ctr">
              <a:buNone/>
            </a:pPr>
            <a:r>
              <a:rPr lang="fr-FR" sz="1800" dirty="0"/>
              <a:t>« Toute action industrielle est susceptible de générer des faits dommageables de pollution qui peuvent aboutir à la mise en cause de la responsabilité civile du chef d’entreprise »</a:t>
            </a:r>
          </a:p>
          <a:p>
            <a:pPr marL="0" indent="0">
              <a:buNone/>
            </a:pPr>
            <a:r>
              <a:rPr lang="fr-FR" sz="1800" dirty="0"/>
              <a:t>											</a:t>
            </a:r>
          </a:p>
          <a:p>
            <a:pPr marL="0" indent="0">
              <a:buNone/>
            </a:pPr>
            <a:r>
              <a:rPr lang="fr-FR" sz="1800" b="1" u="sng" dirty="0">
                <a:solidFill>
                  <a:schemeClr val="accent5">
                    <a:lumMod val="75000"/>
                  </a:schemeClr>
                </a:solidFill>
              </a:rPr>
              <a:t>2 cas de responsabilité civile:</a:t>
            </a:r>
          </a:p>
        </p:txBody>
      </p:sp>
      <p:graphicFrame>
        <p:nvGraphicFramePr>
          <p:cNvPr id="2" name="Diagramme 1">
            <a:extLst>
              <a:ext uri="{FF2B5EF4-FFF2-40B4-BE49-F238E27FC236}">
                <a16:creationId xmlns:a16="http://schemas.microsoft.com/office/drawing/2014/main" id="{21116EAD-F357-BE5E-1483-C0407B9C78CE}"/>
              </a:ext>
            </a:extLst>
          </p:cNvPr>
          <p:cNvGraphicFramePr/>
          <p:nvPr>
            <p:extLst>
              <p:ext uri="{D42A27DB-BD31-4B8C-83A1-F6EECF244321}">
                <p14:modId xmlns:p14="http://schemas.microsoft.com/office/powerpoint/2010/main" val="1551998036"/>
              </p:ext>
            </p:extLst>
          </p:nvPr>
        </p:nvGraphicFramePr>
        <p:xfrm>
          <a:off x="1669143" y="2794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11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0" y="21105"/>
            <a:ext cx="8515350" cy="1056258"/>
          </a:xfrm>
        </p:spPr>
        <p:txBody>
          <a:bodyPr>
            <a:normAutofit fontScale="90000"/>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Responsabilité civile attachée aux contrats liés à l’environnement</a:t>
            </a:r>
          </a:p>
        </p:txBody>
      </p:sp>
      <p:sp>
        <p:nvSpPr>
          <p:cNvPr id="4" name="Espace réservé du contenu 3">
            <a:extLst>
              <a:ext uri="{FF2B5EF4-FFF2-40B4-BE49-F238E27FC236}">
                <a16:creationId xmlns:a16="http://schemas.microsoft.com/office/drawing/2014/main" id="{6160A5E9-A2F2-43F9-B8F0-23C32E47B567}"/>
              </a:ext>
            </a:extLst>
          </p:cNvPr>
          <p:cNvSpPr>
            <a:spLocks noGrp="1"/>
          </p:cNvSpPr>
          <p:nvPr>
            <p:ph idx="1"/>
          </p:nvPr>
        </p:nvSpPr>
        <p:spPr/>
        <p:txBody>
          <a:bodyPr>
            <a:normAutofit/>
          </a:bodyPr>
          <a:lstStyle/>
          <a:p>
            <a:pPr marL="0" indent="0">
              <a:buNone/>
            </a:pPr>
            <a:r>
              <a:rPr lang="fr-FR" sz="1800" b="1" u="sng" dirty="0">
                <a:solidFill>
                  <a:schemeClr val="accent5">
                    <a:lumMod val="75000"/>
                  </a:schemeClr>
                </a:solidFill>
              </a:rPr>
              <a:t>Exemple</a:t>
            </a:r>
            <a:r>
              <a:rPr lang="fr-FR" sz="1800" dirty="0"/>
              <a:t>: Vente d’un terrain industriel, qui se révèle par la suite pollué</a:t>
            </a:r>
          </a:p>
          <a:p>
            <a:endParaRPr lang="fr-FR" sz="1800" dirty="0"/>
          </a:p>
          <a:p>
            <a:pPr marL="0" indent="0">
              <a:buNone/>
            </a:pPr>
            <a:r>
              <a:rPr lang="fr-FR" sz="1800" b="1" u="sng" dirty="0">
                <a:solidFill>
                  <a:schemeClr val="accent5">
                    <a:lumMod val="75000"/>
                  </a:schemeClr>
                </a:solidFill>
              </a:rPr>
              <a:t>Plusieurs fondements:</a:t>
            </a:r>
          </a:p>
          <a:p>
            <a:r>
              <a:rPr lang="fr-FR" sz="1800" dirty="0"/>
              <a:t>Violation de l’obligation de renseignement</a:t>
            </a:r>
          </a:p>
          <a:p>
            <a:r>
              <a:rPr lang="fr-FR" sz="1800" dirty="0"/>
              <a:t>Vices d’un consentement : donné par erreur, extorqué par la violence ou surpris par dol (manœuvrer pour forcer le consentement)</a:t>
            </a:r>
          </a:p>
          <a:p>
            <a:r>
              <a:rPr lang="fr-FR" sz="1800" dirty="0"/>
              <a:t>Garantie des vices cachés</a:t>
            </a:r>
          </a:p>
          <a:p>
            <a:endParaRPr lang="fr-FR" sz="1800" dirty="0"/>
          </a:p>
          <a:p>
            <a:pPr marL="0" indent="0">
              <a:buNone/>
            </a:pPr>
            <a:r>
              <a:rPr lang="fr-FR" sz="1800" b="1" u="sng" dirty="0">
                <a:solidFill>
                  <a:schemeClr val="accent5">
                    <a:lumMod val="75000"/>
                  </a:schemeClr>
                </a:solidFill>
              </a:rPr>
              <a:t>Plusieurs résultats possibles:</a:t>
            </a:r>
          </a:p>
          <a:p>
            <a:r>
              <a:rPr lang="fr-FR" sz="1800" dirty="0"/>
              <a:t>Résolution de la vente ou baisse du prix</a:t>
            </a:r>
          </a:p>
          <a:p>
            <a:r>
              <a:rPr lang="fr-FR" sz="1800" dirty="0"/>
              <a:t>Remise en état ou remplacement de la chose et/ou versement de dommages et intérêts</a:t>
            </a:r>
          </a:p>
        </p:txBody>
      </p:sp>
    </p:spTree>
    <p:extLst>
      <p:ext uri="{BB962C8B-B14F-4D97-AF65-F5344CB8AC3E}">
        <p14:creationId xmlns:p14="http://schemas.microsoft.com/office/powerpoint/2010/main" val="2162160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0" y="21105"/>
            <a:ext cx="851535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Responsabilité civile hors contrat</a:t>
            </a:r>
          </a:p>
        </p:txBody>
      </p:sp>
      <p:sp>
        <p:nvSpPr>
          <p:cNvPr id="4" name="Espace réservé du contenu 3">
            <a:extLst>
              <a:ext uri="{FF2B5EF4-FFF2-40B4-BE49-F238E27FC236}">
                <a16:creationId xmlns:a16="http://schemas.microsoft.com/office/drawing/2014/main" id="{6160A5E9-A2F2-43F9-B8F0-23C32E47B567}"/>
              </a:ext>
            </a:extLst>
          </p:cNvPr>
          <p:cNvSpPr>
            <a:spLocks noGrp="1"/>
          </p:cNvSpPr>
          <p:nvPr>
            <p:ph idx="1"/>
          </p:nvPr>
        </p:nvSpPr>
        <p:spPr>
          <a:xfrm>
            <a:off x="628650" y="2627085"/>
            <a:ext cx="7886700" cy="3549877"/>
          </a:xfrm>
        </p:spPr>
        <p:txBody>
          <a:bodyPr>
            <a:normAutofit/>
          </a:bodyPr>
          <a:lstStyle/>
          <a:p>
            <a:pPr marL="0" indent="0">
              <a:buNone/>
            </a:pPr>
            <a:r>
              <a:rPr lang="fr-FR" sz="1800" b="1" u="sng" dirty="0">
                <a:solidFill>
                  <a:schemeClr val="accent5">
                    <a:lumMod val="75000"/>
                  </a:schemeClr>
                </a:solidFill>
              </a:rPr>
              <a:t>Plusieurs fondements:</a:t>
            </a:r>
          </a:p>
          <a:p>
            <a:pPr marL="0" indent="0">
              <a:buNone/>
            </a:pPr>
            <a:endParaRPr lang="fr-FR" sz="1800" b="1" u="sng" dirty="0">
              <a:solidFill>
                <a:schemeClr val="accent5">
                  <a:lumMod val="75000"/>
                </a:schemeClr>
              </a:solidFill>
            </a:endParaRPr>
          </a:p>
          <a:p>
            <a:r>
              <a:rPr lang="fr-FR" sz="1800" dirty="0"/>
              <a:t>Pour faute: non-respect des valeurs-limites de rejets, pollution</a:t>
            </a:r>
          </a:p>
          <a:p>
            <a:r>
              <a:rPr lang="fr-FR" sz="1800" dirty="0"/>
              <a:t>Pour garde: rejets ou déchets provenant de son installation</a:t>
            </a:r>
          </a:p>
          <a:p>
            <a:r>
              <a:rPr lang="fr-FR" sz="1800" dirty="0"/>
              <a:t>Pour troubles anormaux de voisinage</a:t>
            </a:r>
          </a:p>
        </p:txBody>
      </p:sp>
    </p:spTree>
    <p:extLst>
      <p:ext uri="{BB962C8B-B14F-4D97-AF65-F5344CB8AC3E}">
        <p14:creationId xmlns:p14="http://schemas.microsoft.com/office/powerpoint/2010/main" val="253694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0" y="21105"/>
            <a:ext cx="851535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Principaux interlocuteurs</a:t>
            </a:r>
          </a:p>
        </p:txBody>
      </p:sp>
      <p:graphicFrame>
        <p:nvGraphicFramePr>
          <p:cNvPr id="2" name="Diagramme 1">
            <a:extLst>
              <a:ext uri="{FF2B5EF4-FFF2-40B4-BE49-F238E27FC236}">
                <a16:creationId xmlns:a16="http://schemas.microsoft.com/office/drawing/2014/main" id="{32D37977-E8FC-4E32-DACF-4BF72D4F36B2}"/>
              </a:ext>
            </a:extLst>
          </p:cNvPr>
          <p:cNvGraphicFramePr/>
          <p:nvPr>
            <p:extLst>
              <p:ext uri="{D42A27DB-BD31-4B8C-83A1-F6EECF244321}">
                <p14:modId xmlns:p14="http://schemas.microsoft.com/office/powerpoint/2010/main" val="1936272860"/>
              </p:ext>
            </p:extLst>
          </p:nvPr>
        </p:nvGraphicFramePr>
        <p:xfrm>
          <a:off x="-650875" y="1669661"/>
          <a:ext cx="4496790" cy="2884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 4" descr="Une image contenant symbole, Graphique, logo, Police&#10;&#10;Description générée automatiquement">
            <a:extLst>
              <a:ext uri="{FF2B5EF4-FFF2-40B4-BE49-F238E27FC236}">
                <a16:creationId xmlns:a16="http://schemas.microsoft.com/office/drawing/2014/main" id="{1E101901-F970-C51A-81C8-61BF9A9B3D68}"/>
              </a:ext>
            </a:extLst>
          </p:cNvPr>
          <p:cNvPicPr>
            <a:picLocks noChangeAspect="1"/>
          </p:cNvPicPr>
          <p:nvPr/>
        </p:nvPicPr>
        <p:blipFill>
          <a:blip r:embed="rId7">
            <a:extLst>
              <a:ext uri="{28A0092B-C50C-407E-A947-70E740481C1C}">
                <a14:useLocalDpi xmlns:a14="http://schemas.microsoft.com/office/drawing/2010/main" val="0"/>
              </a:ext>
            </a:extLst>
          </a:blip>
          <a:srcRect t="2994"/>
          <a:stretch/>
        </p:blipFill>
        <p:spPr>
          <a:xfrm>
            <a:off x="3387492" y="2119439"/>
            <a:ext cx="2635017" cy="2282536"/>
          </a:xfrm>
          <a:prstGeom prst="rect">
            <a:avLst/>
          </a:prstGeom>
        </p:spPr>
      </p:pic>
      <p:pic>
        <p:nvPicPr>
          <p:cNvPr id="8" name="Image 7" descr="Une image contenant texte, logo, Police, Graphique&#10;&#10;Description générée automatiquement">
            <a:extLst>
              <a:ext uri="{FF2B5EF4-FFF2-40B4-BE49-F238E27FC236}">
                <a16:creationId xmlns:a16="http://schemas.microsoft.com/office/drawing/2014/main" id="{B93235AC-17B8-AB9B-2CFE-DC3EF73503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27031" y="4736776"/>
            <a:ext cx="3223410" cy="1611705"/>
          </a:xfrm>
          <a:prstGeom prst="rect">
            <a:avLst/>
          </a:prstGeom>
        </p:spPr>
      </p:pic>
      <p:pic>
        <p:nvPicPr>
          <p:cNvPr id="10" name="Image 9" descr="Une image contenant texte, Police, Bleu électrique, logo&#10;&#10;Description générée automatiquement">
            <a:extLst>
              <a:ext uri="{FF2B5EF4-FFF2-40B4-BE49-F238E27FC236}">
                <a16:creationId xmlns:a16="http://schemas.microsoft.com/office/drawing/2014/main" id="{DE3CB7CE-38D4-BD3A-6EE1-D3BF95E2C7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45745" y="1917763"/>
            <a:ext cx="1967510" cy="2149412"/>
          </a:xfrm>
          <a:prstGeom prst="rect">
            <a:avLst/>
          </a:prstGeom>
        </p:spPr>
      </p:pic>
      <p:sp>
        <p:nvSpPr>
          <p:cNvPr id="11" name="Flèche : bas 10">
            <a:extLst>
              <a:ext uri="{FF2B5EF4-FFF2-40B4-BE49-F238E27FC236}">
                <a16:creationId xmlns:a16="http://schemas.microsoft.com/office/drawing/2014/main" id="{F250D131-C978-F38B-15DF-B976E2940596}"/>
              </a:ext>
            </a:extLst>
          </p:cNvPr>
          <p:cNvSpPr/>
          <p:nvPr/>
        </p:nvSpPr>
        <p:spPr>
          <a:xfrm>
            <a:off x="7327405" y="4130513"/>
            <a:ext cx="219075" cy="542925"/>
          </a:xfrm>
          <a:prstGeom prst="downArrow">
            <a:avLst/>
          </a:prstGeom>
          <a:solidFill>
            <a:schemeClr val="accent5">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contenu 3">
            <a:extLst>
              <a:ext uri="{FF2B5EF4-FFF2-40B4-BE49-F238E27FC236}">
                <a16:creationId xmlns:a16="http://schemas.microsoft.com/office/drawing/2014/main" id="{6160A5E9-A2F2-43F9-B8F0-23C32E47B567}"/>
              </a:ext>
            </a:extLst>
          </p:cNvPr>
          <p:cNvSpPr>
            <a:spLocks noGrp="1"/>
          </p:cNvSpPr>
          <p:nvPr>
            <p:ph idx="1"/>
          </p:nvPr>
        </p:nvSpPr>
        <p:spPr>
          <a:xfrm>
            <a:off x="3605352" y="5192199"/>
            <a:ext cx="2635017" cy="1338943"/>
          </a:xfrm>
        </p:spPr>
        <p:txBody>
          <a:bodyPr>
            <a:normAutofit/>
          </a:bodyPr>
          <a:lstStyle/>
          <a:p>
            <a:pPr algn="just"/>
            <a:r>
              <a:rPr lang="fr-FR" sz="1800" dirty="0"/>
              <a:t>Accompagnent</a:t>
            </a:r>
          </a:p>
          <a:p>
            <a:pPr algn="just"/>
            <a:r>
              <a:rPr lang="fr-FR" sz="1800" b="0" i="0" dirty="0">
                <a:effectLst/>
              </a:rPr>
              <a:t>Diagnostics énergie et déchets</a:t>
            </a:r>
            <a:endParaRPr lang="fr-FR" sz="1800" dirty="0"/>
          </a:p>
          <a:p>
            <a:pPr algn="just"/>
            <a:r>
              <a:rPr lang="fr-FR" sz="1800" b="0" i="0" dirty="0">
                <a:effectLst/>
              </a:rPr>
              <a:t>…</a:t>
            </a:r>
          </a:p>
        </p:txBody>
      </p:sp>
      <p:sp>
        <p:nvSpPr>
          <p:cNvPr id="6" name="Flèche : bas 5">
            <a:extLst>
              <a:ext uri="{FF2B5EF4-FFF2-40B4-BE49-F238E27FC236}">
                <a16:creationId xmlns:a16="http://schemas.microsoft.com/office/drawing/2014/main" id="{E6B87961-FD73-0DC0-3752-2D19205CAA08}"/>
              </a:ext>
            </a:extLst>
          </p:cNvPr>
          <p:cNvSpPr/>
          <p:nvPr/>
        </p:nvSpPr>
        <p:spPr>
          <a:xfrm>
            <a:off x="4483100" y="4401975"/>
            <a:ext cx="219075" cy="790224"/>
          </a:xfrm>
          <a:prstGeom prst="down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bas 6">
            <a:extLst>
              <a:ext uri="{FF2B5EF4-FFF2-40B4-BE49-F238E27FC236}">
                <a16:creationId xmlns:a16="http://schemas.microsoft.com/office/drawing/2014/main" id="{FDFD7FB6-D282-4711-434B-2F9137F1F079}"/>
              </a:ext>
            </a:extLst>
          </p:cNvPr>
          <p:cNvSpPr/>
          <p:nvPr/>
        </p:nvSpPr>
        <p:spPr>
          <a:xfrm>
            <a:off x="1562595" y="4554375"/>
            <a:ext cx="219075" cy="790224"/>
          </a:xfrm>
          <a:prstGeom prst="down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contenu 3">
            <a:extLst>
              <a:ext uri="{FF2B5EF4-FFF2-40B4-BE49-F238E27FC236}">
                <a16:creationId xmlns:a16="http://schemas.microsoft.com/office/drawing/2014/main" id="{51D253FB-1759-EF7F-4DC6-7A76BB12987A}"/>
              </a:ext>
            </a:extLst>
          </p:cNvPr>
          <p:cNvSpPr txBox="1">
            <a:spLocks/>
          </p:cNvSpPr>
          <p:nvPr/>
        </p:nvSpPr>
        <p:spPr>
          <a:xfrm>
            <a:off x="354623" y="5344599"/>
            <a:ext cx="2635017" cy="133894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1800" dirty="0"/>
              <a:t>ICPE (instruction et contrôles)</a:t>
            </a:r>
          </a:p>
          <a:p>
            <a:pPr algn="just"/>
            <a:r>
              <a:rPr lang="fr-FR" sz="1800" dirty="0"/>
              <a:t>…</a:t>
            </a:r>
          </a:p>
          <a:p>
            <a:pPr algn="just"/>
            <a:endParaRPr lang="fr-FR" sz="1800" dirty="0"/>
          </a:p>
        </p:txBody>
      </p:sp>
    </p:spTree>
    <p:extLst>
      <p:ext uri="{BB962C8B-B14F-4D97-AF65-F5344CB8AC3E}">
        <p14:creationId xmlns:p14="http://schemas.microsoft.com/office/powerpoint/2010/main" val="287044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0" y="21105"/>
            <a:ext cx="851535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Interlocuteurs – La DREAL</a:t>
            </a:r>
          </a:p>
        </p:txBody>
      </p:sp>
      <p:pic>
        <p:nvPicPr>
          <p:cNvPr id="1026" name="Picture 2">
            <a:extLst>
              <a:ext uri="{FF2B5EF4-FFF2-40B4-BE49-F238E27FC236}">
                <a16:creationId xmlns:a16="http://schemas.microsoft.com/office/drawing/2014/main" id="{76365110-D63C-82E7-F735-1A6CA9FA5E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335" y="39248"/>
            <a:ext cx="227647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AB8DC7B4-3D1D-ABB5-E998-2FC0A357F871}"/>
              </a:ext>
            </a:extLst>
          </p:cNvPr>
          <p:cNvSpPr txBox="1"/>
          <p:nvPr/>
        </p:nvSpPr>
        <p:spPr>
          <a:xfrm>
            <a:off x="2946285" y="1376549"/>
            <a:ext cx="6096115" cy="4816703"/>
          </a:xfrm>
          <a:prstGeom prst="rect">
            <a:avLst/>
          </a:prstGeom>
          <a:noFill/>
        </p:spPr>
        <p:txBody>
          <a:bodyPr wrap="square">
            <a:spAutoFit/>
          </a:bodyPr>
          <a:lstStyle/>
          <a:p>
            <a:pPr>
              <a:spcAft>
                <a:spcPts val="600"/>
              </a:spcAft>
            </a:pPr>
            <a:r>
              <a:rPr lang="fr-FR" sz="1600" b="1" i="0" dirty="0">
                <a:solidFill>
                  <a:srgbClr val="484848"/>
                </a:solidFill>
                <a:effectLst/>
              </a:rPr>
              <a:t>Aménagement du territoire et accompagnement des porteurs de projets : </a:t>
            </a:r>
            <a:r>
              <a:rPr lang="fr-FR" sz="1600" b="1" i="0" dirty="0">
                <a:solidFill>
                  <a:schemeClr val="accent5">
                    <a:lumMod val="75000"/>
                  </a:schemeClr>
                </a:solidFill>
                <a:effectLst/>
              </a:rPr>
              <a:t>transition énergétique, économie circulaire</a:t>
            </a:r>
            <a:r>
              <a:rPr lang="fr-FR" sz="1600" b="0" i="0" dirty="0">
                <a:solidFill>
                  <a:srgbClr val="484848"/>
                </a:solidFill>
                <a:effectLst/>
              </a:rPr>
              <a:t>, infrastructures routières, ferroviaires et fluviales, transports multimodaux</a:t>
            </a:r>
          </a:p>
          <a:p>
            <a:pPr>
              <a:spcAft>
                <a:spcPts val="600"/>
              </a:spcAft>
            </a:pPr>
            <a:r>
              <a:rPr lang="fr-FR" sz="1600" b="1" i="0" dirty="0">
                <a:solidFill>
                  <a:srgbClr val="484848"/>
                </a:solidFill>
                <a:effectLst/>
              </a:rPr>
              <a:t>Prévention des risques : </a:t>
            </a:r>
            <a:r>
              <a:rPr lang="fr-FR" sz="1600" b="0" i="0" dirty="0">
                <a:solidFill>
                  <a:srgbClr val="484848"/>
                </a:solidFill>
                <a:effectLst/>
              </a:rPr>
              <a:t>changement climatique, risques naturels, éboulement, érosion du littoral, </a:t>
            </a:r>
            <a:r>
              <a:rPr lang="fr-FR" sz="1600" b="1" i="0" dirty="0">
                <a:solidFill>
                  <a:schemeClr val="accent5">
                    <a:lumMod val="75000"/>
                  </a:schemeClr>
                </a:solidFill>
                <a:effectLst/>
              </a:rPr>
              <a:t>risques industriels</a:t>
            </a:r>
          </a:p>
          <a:p>
            <a:pPr>
              <a:spcAft>
                <a:spcPts val="600"/>
              </a:spcAft>
            </a:pPr>
            <a:r>
              <a:rPr lang="fr-FR" sz="1600" b="1" i="0" dirty="0">
                <a:solidFill>
                  <a:srgbClr val="484848"/>
                </a:solidFill>
                <a:effectLst/>
              </a:rPr>
              <a:t>Préservation des ressources : </a:t>
            </a:r>
            <a:r>
              <a:rPr lang="fr-FR" sz="1600" b="1" i="0" dirty="0">
                <a:solidFill>
                  <a:schemeClr val="accent5">
                    <a:lumMod val="75000"/>
                  </a:schemeClr>
                </a:solidFill>
                <a:effectLst/>
              </a:rPr>
              <a:t>eau, qualité de l’air, biodiversité, sol</a:t>
            </a:r>
          </a:p>
          <a:p>
            <a:pPr>
              <a:spcAft>
                <a:spcPts val="600"/>
              </a:spcAft>
            </a:pPr>
            <a:r>
              <a:rPr lang="fr-FR" sz="1600" b="1" i="0" dirty="0">
                <a:solidFill>
                  <a:srgbClr val="484848"/>
                </a:solidFill>
                <a:effectLst/>
              </a:rPr>
              <a:t>Instruction et contrôle : </a:t>
            </a:r>
            <a:r>
              <a:rPr lang="fr-FR" sz="1600" b="0" i="0" dirty="0">
                <a:solidFill>
                  <a:srgbClr val="484848"/>
                </a:solidFill>
                <a:effectLst/>
              </a:rPr>
              <a:t>ouvrages hydrauliques, sites et paysages, transports, </a:t>
            </a:r>
            <a:r>
              <a:rPr lang="fr-FR" sz="1600" b="1" i="0" dirty="0">
                <a:solidFill>
                  <a:schemeClr val="accent5">
                    <a:lumMod val="75000"/>
                  </a:schemeClr>
                </a:solidFill>
                <a:effectLst/>
              </a:rPr>
              <a:t>installations classées</a:t>
            </a:r>
          </a:p>
          <a:p>
            <a:pPr>
              <a:spcAft>
                <a:spcPts val="600"/>
              </a:spcAft>
            </a:pPr>
            <a:r>
              <a:rPr lang="fr-FR" sz="1600" b="1" dirty="0">
                <a:solidFill>
                  <a:srgbClr val="484848"/>
                </a:solidFill>
              </a:rPr>
              <a:t>Animation, </a:t>
            </a:r>
            <a:r>
              <a:rPr lang="fr-FR" sz="1600" b="1" i="0" dirty="0">
                <a:solidFill>
                  <a:srgbClr val="484848"/>
                </a:solidFill>
                <a:effectLst/>
              </a:rPr>
              <a:t>planification et programme : </a:t>
            </a:r>
            <a:r>
              <a:rPr lang="fr-FR" sz="1600" b="0" i="0" dirty="0">
                <a:solidFill>
                  <a:srgbClr val="484848"/>
                </a:solidFill>
                <a:effectLst/>
              </a:rPr>
              <a:t>écoquartiers, logement, programmation budgétaire</a:t>
            </a:r>
          </a:p>
          <a:p>
            <a:pPr>
              <a:spcAft>
                <a:spcPts val="600"/>
              </a:spcAft>
            </a:pPr>
            <a:r>
              <a:rPr lang="fr-FR" sz="1600" b="1" i="0" dirty="0">
                <a:solidFill>
                  <a:srgbClr val="484848"/>
                </a:solidFill>
                <a:effectLst/>
              </a:rPr>
              <a:t>Information et action : </a:t>
            </a:r>
            <a:r>
              <a:rPr lang="fr-FR" sz="1600" b="0" i="0" dirty="0">
                <a:solidFill>
                  <a:srgbClr val="484848"/>
                </a:solidFill>
                <a:effectLst/>
              </a:rPr>
              <a:t>information de l’usager, éducation au développement durable, concertation publique, </a:t>
            </a:r>
            <a:r>
              <a:rPr lang="fr-FR" sz="1600" b="1" i="0" dirty="0">
                <a:solidFill>
                  <a:schemeClr val="accent5">
                    <a:lumMod val="75000"/>
                  </a:schemeClr>
                </a:solidFill>
                <a:effectLst/>
              </a:rPr>
              <a:t>avis de l’autorité environnementale</a:t>
            </a:r>
          </a:p>
          <a:p>
            <a:pPr>
              <a:spcAft>
                <a:spcPts val="600"/>
              </a:spcAft>
            </a:pPr>
            <a:r>
              <a:rPr lang="fr-FR" sz="1600" b="1" i="0" dirty="0">
                <a:solidFill>
                  <a:srgbClr val="484848"/>
                </a:solidFill>
                <a:effectLst/>
              </a:rPr>
              <a:t>Production, collecte et diffusion de  connaissances : </a:t>
            </a:r>
            <a:r>
              <a:rPr lang="fr-FR" sz="1600" b="0" i="0" dirty="0">
                <a:solidFill>
                  <a:srgbClr val="484848"/>
                </a:solidFill>
                <a:effectLst/>
              </a:rPr>
              <a:t>données, informations géographiques et statistiques</a:t>
            </a:r>
          </a:p>
          <a:p>
            <a:pPr>
              <a:spcAft>
                <a:spcPts val="600"/>
              </a:spcAft>
            </a:pPr>
            <a:r>
              <a:rPr lang="fr-FR" sz="1600" b="1" i="0" dirty="0">
                <a:solidFill>
                  <a:srgbClr val="484848"/>
                </a:solidFill>
                <a:effectLst/>
              </a:rPr>
              <a:t>Actions en partenariat et en réseau : </a:t>
            </a:r>
            <a:r>
              <a:rPr lang="fr-FR" sz="1600" b="0" i="0" dirty="0">
                <a:solidFill>
                  <a:srgbClr val="484848"/>
                </a:solidFill>
                <a:effectLst/>
              </a:rPr>
              <a:t>collectivités locales, services et opérateurs de l’État, </a:t>
            </a:r>
            <a:r>
              <a:rPr lang="fr-FR" sz="1600" b="1" i="0" dirty="0">
                <a:solidFill>
                  <a:schemeClr val="accent5">
                    <a:lumMod val="75000"/>
                  </a:schemeClr>
                </a:solidFill>
                <a:effectLst/>
              </a:rPr>
              <a:t>acteurs socio-économiques</a:t>
            </a:r>
            <a:r>
              <a:rPr lang="fr-FR" sz="1600" b="0" i="0" dirty="0">
                <a:solidFill>
                  <a:srgbClr val="484848"/>
                </a:solidFill>
                <a:effectLst/>
              </a:rPr>
              <a:t>, associations</a:t>
            </a:r>
          </a:p>
        </p:txBody>
      </p:sp>
    </p:spTree>
    <p:extLst>
      <p:ext uri="{BB962C8B-B14F-4D97-AF65-F5344CB8AC3E}">
        <p14:creationId xmlns:p14="http://schemas.microsoft.com/office/powerpoint/2010/main" val="3167183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0" y="21105"/>
            <a:ext cx="8515350" cy="1056258"/>
          </a:xfrm>
        </p:spPr>
        <p:txBody>
          <a:bodyPr>
            <a:normAutofit/>
          </a:bodyPr>
          <a:lstStyle/>
          <a:p>
            <a:pPr algn="r"/>
            <a:r>
              <a:rPr lang="fr-FR" sz="2800" dirty="0">
                <a:solidFill>
                  <a:schemeClr val="accent5">
                    <a:lumMod val="75000"/>
                  </a:schemeClr>
                </a:solidFill>
              </a:rPr>
              <a:t>1-  La responsabilité environnementale</a:t>
            </a:r>
            <a:br>
              <a:rPr lang="fr-FR" sz="2800" dirty="0">
                <a:solidFill>
                  <a:schemeClr val="accent5">
                    <a:lumMod val="75000"/>
                  </a:schemeClr>
                </a:solidFill>
              </a:rPr>
            </a:br>
            <a:r>
              <a:rPr lang="fr-FR" sz="2800" dirty="0">
                <a:solidFill>
                  <a:schemeClr val="accent5">
                    <a:lumMod val="75000"/>
                  </a:schemeClr>
                </a:solidFill>
              </a:rPr>
              <a:t>Interlocuteurs – L’ADEME</a:t>
            </a:r>
          </a:p>
        </p:txBody>
      </p:sp>
      <p:sp>
        <p:nvSpPr>
          <p:cNvPr id="4" name="Espace réservé du contenu 3">
            <a:extLst>
              <a:ext uri="{FF2B5EF4-FFF2-40B4-BE49-F238E27FC236}">
                <a16:creationId xmlns:a16="http://schemas.microsoft.com/office/drawing/2014/main" id="{6160A5E9-A2F2-43F9-B8F0-23C32E47B567}"/>
              </a:ext>
            </a:extLst>
          </p:cNvPr>
          <p:cNvSpPr>
            <a:spLocks noGrp="1"/>
          </p:cNvSpPr>
          <p:nvPr>
            <p:ph idx="1"/>
          </p:nvPr>
        </p:nvSpPr>
        <p:spPr>
          <a:xfrm>
            <a:off x="493247" y="1634510"/>
            <a:ext cx="7886700" cy="2042718"/>
          </a:xfrm>
        </p:spPr>
        <p:txBody>
          <a:bodyPr>
            <a:normAutofit/>
          </a:bodyPr>
          <a:lstStyle/>
          <a:p>
            <a:pPr marL="0" indent="0" algn="just">
              <a:buNone/>
            </a:pPr>
            <a:r>
              <a:rPr lang="fr-FR" sz="1800" b="1" i="0" u="sng" dirty="0">
                <a:effectLst/>
              </a:rPr>
              <a:t>Missions de l’ADEME (Agence de la transition écologique) :</a:t>
            </a:r>
          </a:p>
          <a:p>
            <a:pPr algn="just"/>
            <a:r>
              <a:rPr lang="fr-FR" sz="1800" dirty="0"/>
              <a:t>Soutient les acteurs publics et privés dans leurs projets de transition écologique, leurs opportunités de croissance, de création d’emplois ou encore d’innovations pour les territoires</a:t>
            </a:r>
          </a:p>
          <a:p>
            <a:pPr algn="just"/>
            <a:r>
              <a:rPr lang="fr-FR" sz="1800" dirty="0"/>
              <a:t>Participe en France à l’application des politiques publiques de l’environnement, de l’énergie et du développement durable</a:t>
            </a:r>
          </a:p>
        </p:txBody>
      </p:sp>
    </p:spTree>
    <p:extLst>
      <p:ext uri="{BB962C8B-B14F-4D97-AF65-F5344CB8AC3E}">
        <p14:creationId xmlns:p14="http://schemas.microsoft.com/office/powerpoint/2010/main" val="1343459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2DC00636-4027-419E-8C64-B45D0AF8A40B}"/>
              </a:ext>
            </a:extLst>
          </p:cNvPr>
          <p:cNvSpPr>
            <a:spLocks noGrp="1"/>
          </p:cNvSpPr>
          <p:nvPr>
            <p:ph sz="half" idx="1"/>
          </p:nvPr>
        </p:nvSpPr>
        <p:spPr>
          <a:xfrm>
            <a:off x="136227" y="1797050"/>
            <a:ext cx="3907136" cy="4351338"/>
          </a:xfrm>
        </p:spPr>
        <p:txBody>
          <a:bodyPr anchor="ctr">
            <a:normAutofit/>
          </a:bodyPr>
          <a:lstStyle/>
          <a:p>
            <a:pPr marL="0" indent="0" algn="ctr">
              <a:buNone/>
            </a:pPr>
            <a:r>
              <a:rPr lang="fr-FR" sz="3600" dirty="0">
                <a:solidFill>
                  <a:schemeClr val="accent5">
                    <a:lumMod val="75000"/>
                  </a:schemeClr>
                </a:solidFill>
              </a:rPr>
              <a:t>Partie 2</a:t>
            </a:r>
          </a:p>
          <a:p>
            <a:pPr marL="0" indent="0" algn="ctr">
              <a:buNone/>
            </a:pPr>
            <a:r>
              <a:rPr lang="fr-FR" sz="3600" dirty="0">
                <a:solidFill>
                  <a:schemeClr val="accent5">
                    <a:lumMod val="75000"/>
                  </a:schemeClr>
                </a:solidFill>
              </a:rPr>
              <a:t>Les impacts environnementaux</a:t>
            </a:r>
          </a:p>
        </p:txBody>
      </p:sp>
      <p:pic>
        <p:nvPicPr>
          <p:cNvPr id="3" name="Picture 2" descr="UCCIANI DESSINSTri sélectif - Dessins de communication">
            <a:extLst>
              <a:ext uri="{FF2B5EF4-FFF2-40B4-BE49-F238E27FC236}">
                <a16:creationId xmlns:a16="http://schemas.microsoft.com/office/drawing/2014/main" id="{4BA83EF2-F085-54FB-35AE-BF7270490A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5631" y="2111513"/>
            <a:ext cx="3388250" cy="3722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646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et impact environnemental</a:t>
            </a:r>
          </a:p>
        </p:txBody>
      </p:sp>
      <p:sp>
        <p:nvSpPr>
          <p:cNvPr id="6" name="ZoneTexte 5">
            <a:extLst>
              <a:ext uri="{FF2B5EF4-FFF2-40B4-BE49-F238E27FC236}">
                <a16:creationId xmlns:a16="http://schemas.microsoft.com/office/drawing/2014/main" id="{0F9A2B9C-D985-C3D2-1018-D73656D012AD}"/>
              </a:ext>
            </a:extLst>
          </p:cNvPr>
          <p:cNvSpPr txBox="1"/>
          <p:nvPr/>
        </p:nvSpPr>
        <p:spPr>
          <a:xfrm>
            <a:off x="1382837" y="2518791"/>
            <a:ext cx="5965372" cy="461665"/>
          </a:xfrm>
          <a:prstGeom prst="rect">
            <a:avLst/>
          </a:prstGeom>
          <a:noFill/>
          <a:ln>
            <a:solidFill>
              <a:schemeClr val="accent5">
                <a:lumMod val="75000"/>
              </a:schemeClr>
            </a:solidFill>
          </a:ln>
        </p:spPr>
        <p:txBody>
          <a:bodyPr wrap="square" rtlCol="0">
            <a:spAutoFit/>
          </a:bodyPr>
          <a:lstStyle/>
          <a:p>
            <a:pPr algn="ctr"/>
            <a:r>
              <a:rPr lang="fr-FR" sz="2400" b="1" dirty="0">
                <a:solidFill>
                  <a:schemeClr val="accent5">
                    <a:lumMod val="75000"/>
                  </a:schemeClr>
                </a:solidFill>
              </a:rPr>
              <a:t>Aspect			≠		Impact</a:t>
            </a:r>
          </a:p>
        </p:txBody>
      </p:sp>
      <p:sp>
        <p:nvSpPr>
          <p:cNvPr id="7" name="ZoneTexte 6">
            <a:extLst>
              <a:ext uri="{FF2B5EF4-FFF2-40B4-BE49-F238E27FC236}">
                <a16:creationId xmlns:a16="http://schemas.microsoft.com/office/drawing/2014/main" id="{AC6965D1-5E22-6D6F-9163-7F5DF882E81D}"/>
              </a:ext>
            </a:extLst>
          </p:cNvPr>
          <p:cNvSpPr txBox="1"/>
          <p:nvPr/>
        </p:nvSpPr>
        <p:spPr>
          <a:xfrm>
            <a:off x="1253577" y="3038007"/>
            <a:ext cx="2090057" cy="1200329"/>
          </a:xfrm>
          <a:prstGeom prst="rect">
            <a:avLst/>
          </a:prstGeom>
          <a:noFill/>
        </p:spPr>
        <p:txBody>
          <a:bodyPr wrap="square" rtlCol="0">
            <a:spAutoFit/>
          </a:bodyPr>
          <a:lstStyle/>
          <a:p>
            <a:pPr algn="ctr"/>
            <a:r>
              <a:rPr lang="fr-FR" dirty="0"/>
              <a:t>Interactions des activités de l’entreprise avec son environnement</a:t>
            </a:r>
          </a:p>
        </p:txBody>
      </p:sp>
      <p:sp>
        <p:nvSpPr>
          <p:cNvPr id="8" name="ZoneTexte 7">
            <a:extLst>
              <a:ext uri="{FF2B5EF4-FFF2-40B4-BE49-F238E27FC236}">
                <a16:creationId xmlns:a16="http://schemas.microsoft.com/office/drawing/2014/main" id="{85815177-F940-E170-22D9-A1E6A535420D}"/>
              </a:ext>
            </a:extLst>
          </p:cNvPr>
          <p:cNvSpPr txBox="1"/>
          <p:nvPr/>
        </p:nvSpPr>
        <p:spPr>
          <a:xfrm>
            <a:off x="5581304" y="2970828"/>
            <a:ext cx="2090057" cy="1200329"/>
          </a:xfrm>
          <a:prstGeom prst="rect">
            <a:avLst/>
          </a:prstGeom>
          <a:noFill/>
        </p:spPr>
        <p:txBody>
          <a:bodyPr wrap="square" rtlCol="0">
            <a:spAutoFit/>
          </a:bodyPr>
          <a:lstStyle/>
          <a:p>
            <a:pPr algn="ctr"/>
            <a:r>
              <a:rPr lang="fr-FR" dirty="0"/>
              <a:t>Modification de l’environnement résultant des aspects</a:t>
            </a:r>
          </a:p>
        </p:txBody>
      </p:sp>
      <p:sp>
        <p:nvSpPr>
          <p:cNvPr id="9" name="ZoneTexte 8">
            <a:extLst>
              <a:ext uri="{FF2B5EF4-FFF2-40B4-BE49-F238E27FC236}">
                <a16:creationId xmlns:a16="http://schemas.microsoft.com/office/drawing/2014/main" id="{BF9A1C30-1EE5-A1EC-BA4C-044743219433}"/>
              </a:ext>
            </a:extLst>
          </p:cNvPr>
          <p:cNvSpPr txBox="1"/>
          <p:nvPr/>
        </p:nvSpPr>
        <p:spPr>
          <a:xfrm>
            <a:off x="1253577" y="4623194"/>
            <a:ext cx="2283467" cy="649188"/>
          </a:xfrm>
          <a:prstGeom prst="ellipse">
            <a:avLst/>
          </a:prstGeom>
          <a:noFill/>
          <a:ln>
            <a:solidFill>
              <a:schemeClr val="accent1"/>
            </a:solidFill>
          </a:ln>
        </p:spPr>
        <p:txBody>
          <a:bodyPr wrap="square" rtlCol="0">
            <a:spAutoFit/>
          </a:bodyPr>
          <a:lstStyle/>
          <a:p>
            <a:pPr algn="ctr"/>
            <a:r>
              <a:rPr lang="fr-FR" sz="2400" b="1" dirty="0">
                <a:solidFill>
                  <a:schemeClr val="accent5">
                    <a:lumMod val="75000"/>
                  </a:schemeClr>
                </a:solidFill>
              </a:rPr>
              <a:t>= DANGER</a:t>
            </a:r>
          </a:p>
        </p:txBody>
      </p:sp>
      <p:sp>
        <p:nvSpPr>
          <p:cNvPr id="10" name="ZoneTexte 9">
            <a:extLst>
              <a:ext uri="{FF2B5EF4-FFF2-40B4-BE49-F238E27FC236}">
                <a16:creationId xmlns:a16="http://schemas.microsoft.com/office/drawing/2014/main" id="{A3119D76-F857-73B2-C823-6B6D733E9E4A}"/>
              </a:ext>
            </a:extLst>
          </p:cNvPr>
          <p:cNvSpPr txBox="1"/>
          <p:nvPr/>
        </p:nvSpPr>
        <p:spPr>
          <a:xfrm>
            <a:off x="5581304" y="4648587"/>
            <a:ext cx="2283467" cy="649188"/>
          </a:xfrm>
          <a:prstGeom prst="ellipse">
            <a:avLst/>
          </a:prstGeom>
          <a:noFill/>
          <a:ln>
            <a:solidFill>
              <a:schemeClr val="accent1"/>
            </a:solidFill>
          </a:ln>
        </p:spPr>
        <p:txBody>
          <a:bodyPr wrap="square" rtlCol="0">
            <a:spAutoFit/>
          </a:bodyPr>
          <a:lstStyle/>
          <a:p>
            <a:pPr algn="ctr"/>
            <a:r>
              <a:rPr lang="fr-FR" sz="2400" b="1" dirty="0">
                <a:solidFill>
                  <a:schemeClr val="accent5">
                    <a:lumMod val="75000"/>
                  </a:schemeClr>
                </a:solidFill>
              </a:rPr>
              <a:t>= RISQUE</a:t>
            </a:r>
          </a:p>
        </p:txBody>
      </p:sp>
      <p:sp>
        <p:nvSpPr>
          <p:cNvPr id="11" name="Légende : flèche vers la gauche 10">
            <a:extLst>
              <a:ext uri="{FF2B5EF4-FFF2-40B4-BE49-F238E27FC236}">
                <a16:creationId xmlns:a16="http://schemas.microsoft.com/office/drawing/2014/main" id="{1EC1E0E4-1962-4D7E-4920-74D34B9A38AF}"/>
              </a:ext>
            </a:extLst>
          </p:cNvPr>
          <p:cNvSpPr/>
          <p:nvPr/>
        </p:nvSpPr>
        <p:spPr>
          <a:xfrm>
            <a:off x="7220178" y="2247902"/>
            <a:ext cx="1738085" cy="1007952"/>
          </a:xfrm>
          <a:prstGeom prst="leftArrowCallout">
            <a:avLst/>
          </a:prstGeom>
          <a:solidFill>
            <a:schemeClr val="accent5">
              <a:lumMod val="40000"/>
              <a:lumOff val="6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accent5">
                    <a:lumMod val="75000"/>
                  </a:schemeClr>
                </a:solidFill>
              </a:rPr>
              <a:t>Négatif ou positif</a:t>
            </a:r>
          </a:p>
        </p:txBody>
      </p:sp>
    </p:spTree>
    <p:extLst>
      <p:ext uri="{BB962C8B-B14F-4D97-AF65-F5344CB8AC3E}">
        <p14:creationId xmlns:p14="http://schemas.microsoft.com/office/powerpoint/2010/main" val="354699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et impact environnemental</a:t>
            </a:r>
          </a:p>
        </p:txBody>
      </p:sp>
      <p:pic>
        <p:nvPicPr>
          <p:cNvPr id="4" name="Image 3">
            <a:extLst>
              <a:ext uri="{FF2B5EF4-FFF2-40B4-BE49-F238E27FC236}">
                <a16:creationId xmlns:a16="http://schemas.microsoft.com/office/drawing/2014/main" id="{A5986F96-B606-67F2-11DF-44491AEAE5F7}"/>
              </a:ext>
            </a:extLst>
          </p:cNvPr>
          <p:cNvPicPr>
            <a:picLocks noChangeAspect="1"/>
          </p:cNvPicPr>
          <p:nvPr/>
        </p:nvPicPr>
        <p:blipFill rotWithShape="1">
          <a:blip r:embed="rId2"/>
          <a:srcRect l="28000" t="27356" r="27231" b="11075"/>
          <a:stretch/>
        </p:blipFill>
        <p:spPr>
          <a:xfrm>
            <a:off x="1064269" y="1077363"/>
            <a:ext cx="7015462" cy="5424329"/>
          </a:xfrm>
          <a:prstGeom prst="rect">
            <a:avLst/>
          </a:prstGeom>
        </p:spPr>
      </p:pic>
    </p:spTree>
    <p:extLst>
      <p:ext uri="{BB962C8B-B14F-4D97-AF65-F5344CB8AC3E}">
        <p14:creationId xmlns:p14="http://schemas.microsoft.com/office/powerpoint/2010/main" val="3638064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77320"/>
          </a:xfrm>
        </p:spPr>
        <p:txBody>
          <a:bodyPr>
            <a:normAutofit fontScale="90000"/>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Les cycles</a:t>
            </a:r>
            <a:br>
              <a:rPr lang="fr-FR" sz="2800" dirty="0">
                <a:solidFill>
                  <a:schemeClr val="accent5">
                    <a:lumMod val="75000"/>
                  </a:schemeClr>
                </a:solidFill>
              </a:rPr>
            </a:br>
            <a:endParaRPr lang="fr-FR" sz="2800" dirty="0">
              <a:solidFill>
                <a:schemeClr val="accent5">
                  <a:lumMod val="75000"/>
                </a:schemeClr>
              </a:solidFill>
            </a:endParaRPr>
          </a:p>
        </p:txBody>
      </p:sp>
      <p:sp>
        <p:nvSpPr>
          <p:cNvPr id="6" name="ZoneTexte 5">
            <a:extLst>
              <a:ext uri="{FF2B5EF4-FFF2-40B4-BE49-F238E27FC236}">
                <a16:creationId xmlns:a16="http://schemas.microsoft.com/office/drawing/2014/main" id="{7C54C575-3B2D-3ACC-E995-B2D83F24DCAB}"/>
              </a:ext>
            </a:extLst>
          </p:cNvPr>
          <p:cNvSpPr txBox="1"/>
          <p:nvPr/>
        </p:nvSpPr>
        <p:spPr>
          <a:xfrm>
            <a:off x="4572000" y="981067"/>
            <a:ext cx="3295650" cy="369332"/>
          </a:xfrm>
          <a:prstGeom prst="rect">
            <a:avLst/>
          </a:prstGeom>
          <a:noFill/>
        </p:spPr>
        <p:txBody>
          <a:bodyPr wrap="square" rtlCol="0">
            <a:spAutoFit/>
          </a:bodyPr>
          <a:lstStyle/>
          <a:p>
            <a:r>
              <a:rPr lang="fr-FR" u="sng" dirty="0"/>
              <a:t>Cycle du carbone:</a:t>
            </a:r>
          </a:p>
        </p:txBody>
      </p:sp>
      <p:pic>
        <p:nvPicPr>
          <p:cNvPr id="7" name="Picture 2" descr="Cycle de l'azote — Wikipédia">
            <a:extLst>
              <a:ext uri="{FF2B5EF4-FFF2-40B4-BE49-F238E27FC236}">
                <a16:creationId xmlns:a16="http://schemas.microsoft.com/office/drawing/2014/main" id="{1C17AEC1-A59A-4523-E8A1-92A71C123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211" y="4255293"/>
            <a:ext cx="3470275" cy="2602707"/>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7ADB3F51-702D-3526-40C1-6E0DB9C1C321}"/>
              </a:ext>
            </a:extLst>
          </p:cNvPr>
          <p:cNvSpPr txBox="1"/>
          <p:nvPr/>
        </p:nvSpPr>
        <p:spPr>
          <a:xfrm>
            <a:off x="284211" y="3885961"/>
            <a:ext cx="3295650" cy="369332"/>
          </a:xfrm>
          <a:prstGeom prst="rect">
            <a:avLst/>
          </a:prstGeom>
          <a:noFill/>
        </p:spPr>
        <p:txBody>
          <a:bodyPr wrap="square" rtlCol="0">
            <a:spAutoFit/>
          </a:bodyPr>
          <a:lstStyle/>
          <a:p>
            <a:r>
              <a:rPr lang="fr-FR" u="sng" dirty="0"/>
              <a:t>Cycle de l’azote:</a:t>
            </a:r>
          </a:p>
        </p:txBody>
      </p:sp>
      <p:pic>
        <p:nvPicPr>
          <p:cNvPr id="6146" name="Picture 2" descr="Le cycle de l'eau : le voyage de l'eau à travers la Terre | Centre d'information  sur l'eau">
            <a:extLst>
              <a:ext uri="{FF2B5EF4-FFF2-40B4-BE49-F238E27FC236}">
                <a16:creationId xmlns:a16="http://schemas.microsoft.com/office/drawing/2014/main" id="{49A6DDF2-BE6E-B949-F436-AF53E8DF80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211" y="757424"/>
            <a:ext cx="4170364" cy="2943871"/>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2426B80D-944F-0D37-18AA-222CB06153CD}"/>
              </a:ext>
            </a:extLst>
          </p:cNvPr>
          <p:cNvSpPr txBox="1"/>
          <p:nvPr/>
        </p:nvSpPr>
        <p:spPr>
          <a:xfrm>
            <a:off x="284211" y="375099"/>
            <a:ext cx="3295650" cy="369332"/>
          </a:xfrm>
          <a:prstGeom prst="rect">
            <a:avLst/>
          </a:prstGeom>
          <a:noFill/>
        </p:spPr>
        <p:txBody>
          <a:bodyPr wrap="square" rtlCol="0">
            <a:spAutoFit/>
          </a:bodyPr>
          <a:lstStyle/>
          <a:p>
            <a:r>
              <a:rPr lang="fr-FR" u="sng" dirty="0"/>
              <a:t>Cycle de l’eau:</a:t>
            </a:r>
          </a:p>
        </p:txBody>
      </p:sp>
      <p:pic>
        <p:nvPicPr>
          <p:cNvPr id="4" name="Image 3">
            <a:extLst>
              <a:ext uri="{FF2B5EF4-FFF2-40B4-BE49-F238E27FC236}">
                <a16:creationId xmlns:a16="http://schemas.microsoft.com/office/drawing/2014/main" id="{B699E8AA-872C-D407-E783-8B04FDC4FDC9}"/>
              </a:ext>
            </a:extLst>
          </p:cNvPr>
          <p:cNvPicPr>
            <a:picLocks noChangeAspect="1"/>
          </p:cNvPicPr>
          <p:nvPr/>
        </p:nvPicPr>
        <p:blipFill>
          <a:blip r:embed="rId5"/>
          <a:stretch>
            <a:fillRect/>
          </a:stretch>
        </p:blipFill>
        <p:spPr>
          <a:xfrm>
            <a:off x="4684713" y="1467757"/>
            <a:ext cx="4175076" cy="2333648"/>
          </a:xfrm>
          <a:prstGeom prst="rect">
            <a:avLst/>
          </a:prstGeom>
        </p:spPr>
      </p:pic>
      <p:sp>
        <p:nvSpPr>
          <p:cNvPr id="5" name="ZoneTexte 4">
            <a:extLst>
              <a:ext uri="{FF2B5EF4-FFF2-40B4-BE49-F238E27FC236}">
                <a16:creationId xmlns:a16="http://schemas.microsoft.com/office/drawing/2014/main" id="{2D967F00-57A2-4954-B2A0-C7ACADEC9CC4}"/>
              </a:ext>
            </a:extLst>
          </p:cNvPr>
          <p:cNvSpPr txBox="1"/>
          <p:nvPr/>
        </p:nvSpPr>
        <p:spPr>
          <a:xfrm>
            <a:off x="4684713" y="4070627"/>
            <a:ext cx="4175076" cy="1569660"/>
          </a:xfrm>
          <a:prstGeom prst="rect">
            <a:avLst/>
          </a:prstGeom>
          <a:noFill/>
        </p:spPr>
        <p:txBody>
          <a:bodyPr wrap="square" rtlCol="0">
            <a:spAutoFit/>
          </a:bodyPr>
          <a:lstStyle/>
          <a:p>
            <a:r>
              <a:rPr lang="fr-FR" sz="1600" b="1" dirty="0">
                <a:solidFill>
                  <a:schemeClr val="accent5">
                    <a:lumMod val="75000"/>
                  </a:schemeClr>
                </a:solidFill>
              </a:rPr>
              <a:t>Causes de dysfonctionnements:</a:t>
            </a:r>
          </a:p>
          <a:p>
            <a:pPr marL="285750" indent="-285750">
              <a:buFont typeface="Arial" panose="020B0604020202020204" pitchFamily="34" charset="0"/>
              <a:buChar char="•"/>
            </a:pPr>
            <a:r>
              <a:rPr lang="fr-FR" sz="1600" dirty="0"/>
              <a:t>Exploitation des ressources fossiles (marées noires, polluants gazeux)</a:t>
            </a:r>
          </a:p>
          <a:p>
            <a:pPr marL="285750" indent="-285750">
              <a:buFont typeface="Arial" panose="020B0604020202020204" pitchFamily="34" charset="0"/>
              <a:buChar char="•"/>
            </a:pPr>
            <a:r>
              <a:rPr lang="fr-FR" sz="1600" dirty="0"/>
              <a:t>Déforestation</a:t>
            </a:r>
          </a:p>
          <a:p>
            <a:pPr marL="285750" indent="-285750">
              <a:buFont typeface="Arial" panose="020B0604020202020204" pitchFamily="34" charset="0"/>
              <a:buChar char="•"/>
            </a:pPr>
            <a:r>
              <a:rPr lang="fr-FR" sz="1600" dirty="0"/>
              <a:t>Agriculture intensive / élevage intensif</a:t>
            </a:r>
          </a:p>
          <a:p>
            <a:pPr marL="285750" indent="-285750">
              <a:buFont typeface="Arial" panose="020B0604020202020204" pitchFamily="34" charset="0"/>
              <a:buChar char="•"/>
            </a:pPr>
            <a:r>
              <a:rPr lang="fr-FR" sz="1600" dirty="0"/>
              <a:t>Développement de la pétrochimie</a:t>
            </a:r>
          </a:p>
        </p:txBody>
      </p:sp>
      <p:sp>
        <p:nvSpPr>
          <p:cNvPr id="9" name="ZoneTexte 8">
            <a:extLst>
              <a:ext uri="{FF2B5EF4-FFF2-40B4-BE49-F238E27FC236}">
                <a16:creationId xmlns:a16="http://schemas.microsoft.com/office/drawing/2014/main" id="{1B85D33C-6403-74AF-CF48-C794BF57774D}"/>
              </a:ext>
            </a:extLst>
          </p:cNvPr>
          <p:cNvSpPr txBox="1"/>
          <p:nvPr/>
        </p:nvSpPr>
        <p:spPr>
          <a:xfrm>
            <a:off x="4684713" y="5932767"/>
            <a:ext cx="4175076" cy="830997"/>
          </a:xfrm>
          <a:prstGeom prst="rect">
            <a:avLst/>
          </a:prstGeom>
          <a:solidFill>
            <a:schemeClr val="bg1"/>
          </a:solidFill>
        </p:spPr>
        <p:txBody>
          <a:bodyPr wrap="square" rtlCol="0">
            <a:spAutoFit/>
          </a:bodyPr>
          <a:lstStyle/>
          <a:p>
            <a:r>
              <a:rPr lang="fr-FR" sz="1600" b="1" dirty="0">
                <a:solidFill>
                  <a:schemeClr val="accent5">
                    <a:lumMod val="75000"/>
                  </a:schemeClr>
                </a:solidFill>
              </a:rPr>
              <a:t>Conséquences:</a:t>
            </a:r>
          </a:p>
          <a:p>
            <a:pPr marL="285750" indent="-285750">
              <a:buFont typeface="Arial" panose="020B0604020202020204" pitchFamily="34" charset="0"/>
              <a:buChar char="•"/>
            </a:pPr>
            <a:r>
              <a:rPr lang="fr-FR" sz="1600" dirty="0"/>
              <a:t>Epuisement des ressources fossiles</a:t>
            </a:r>
          </a:p>
          <a:p>
            <a:pPr marL="285750" indent="-285750">
              <a:buFont typeface="Arial" panose="020B0604020202020204" pitchFamily="34" charset="0"/>
              <a:buChar char="•"/>
            </a:pPr>
            <a:r>
              <a:rPr lang="fr-FR" sz="1600" dirty="0"/>
              <a:t>Pollutions locales et globales</a:t>
            </a:r>
          </a:p>
        </p:txBody>
      </p:sp>
      <p:sp>
        <p:nvSpPr>
          <p:cNvPr id="10" name="Flèche : bas 9">
            <a:extLst>
              <a:ext uri="{FF2B5EF4-FFF2-40B4-BE49-F238E27FC236}">
                <a16:creationId xmlns:a16="http://schemas.microsoft.com/office/drawing/2014/main" id="{8D48BCFD-C23C-DE7D-37F2-FBDBB7D0F5E3}"/>
              </a:ext>
            </a:extLst>
          </p:cNvPr>
          <p:cNvSpPr/>
          <p:nvPr/>
        </p:nvSpPr>
        <p:spPr>
          <a:xfrm>
            <a:off x="6578930" y="3801405"/>
            <a:ext cx="213756" cy="369332"/>
          </a:xfrm>
          <a:prstGeom prst="down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bas 10">
            <a:extLst>
              <a:ext uri="{FF2B5EF4-FFF2-40B4-BE49-F238E27FC236}">
                <a16:creationId xmlns:a16="http://schemas.microsoft.com/office/drawing/2014/main" id="{455D197E-AA89-8580-A114-A13BB3FEB880}"/>
              </a:ext>
            </a:extLst>
          </p:cNvPr>
          <p:cNvSpPr/>
          <p:nvPr/>
        </p:nvSpPr>
        <p:spPr>
          <a:xfrm>
            <a:off x="6578930" y="5601861"/>
            <a:ext cx="213756" cy="369332"/>
          </a:xfrm>
          <a:prstGeom prst="down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32546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77320"/>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Les cycles</a:t>
            </a:r>
          </a:p>
        </p:txBody>
      </p:sp>
      <p:sp>
        <p:nvSpPr>
          <p:cNvPr id="5" name="ZoneTexte 4">
            <a:extLst>
              <a:ext uri="{FF2B5EF4-FFF2-40B4-BE49-F238E27FC236}">
                <a16:creationId xmlns:a16="http://schemas.microsoft.com/office/drawing/2014/main" id="{B69F2A97-E90B-CFB5-92A5-C4311FFFD091}"/>
              </a:ext>
            </a:extLst>
          </p:cNvPr>
          <p:cNvSpPr txBox="1"/>
          <p:nvPr/>
        </p:nvSpPr>
        <p:spPr>
          <a:xfrm>
            <a:off x="351692" y="1605982"/>
            <a:ext cx="8248064" cy="400110"/>
          </a:xfrm>
          <a:prstGeom prst="rect">
            <a:avLst/>
          </a:prstGeom>
          <a:noFill/>
        </p:spPr>
        <p:txBody>
          <a:bodyPr wrap="square" rtlCol="0">
            <a:spAutoFit/>
          </a:bodyPr>
          <a:lstStyle/>
          <a:p>
            <a:r>
              <a:rPr lang="fr-FR" sz="2000" b="1" u="sng" dirty="0">
                <a:solidFill>
                  <a:schemeClr val="accent5">
                    <a:lumMod val="75000"/>
                  </a:schemeClr>
                </a:solidFill>
              </a:rPr>
              <a:t>Conséquences du dysfonctionnement des cycles de l’azote et du carbone:</a:t>
            </a:r>
          </a:p>
        </p:txBody>
      </p:sp>
      <p:cxnSp>
        <p:nvCxnSpPr>
          <p:cNvPr id="10" name="Connecteur droit 9">
            <a:extLst>
              <a:ext uri="{FF2B5EF4-FFF2-40B4-BE49-F238E27FC236}">
                <a16:creationId xmlns:a16="http://schemas.microsoft.com/office/drawing/2014/main" id="{49EC8F29-E4AB-1AF8-D25F-74C8E1DC0238}"/>
              </a:ext>
            </a:extLst>
          </p:cNvPr>
          <p:cNvCxnSpPr/>
          <p:nvPr/>
        </p:nvCxnSpPr>
        <p:spPr>
          <a:xfrm>
            <a:off x="520505" y="3981157"/>
            <a:ext cx="8117058"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1354934F-AD9A-1868-8202-6F4DE9C09B2A}"/>
              </a:ext>
            </a:extLst>
          </p:cNvPr>
          <p:cNvSpPr/>
          <p:nvPr/>
        </p:nvSpPr>
        <p:spPr>
          <a:xfrm>
            <a:off x="351692" y="2588455"/>
            <a:ext cx="1209822" cy="84054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Air</a:t>
            </a:r>
          </a:p>
        </p:txBody>
      </p:sp>
      <p:sp>
        <p:nvSpPr>
          <p:cNvPr id="12" name="Ellipse 11">
            <a:extLst>
              <a:ext uri="{FF2B5EF4-FFF2-40B4-BE49-F238E27FC236}">
                <a16:creationId xmlns:a16="http://schemas.microsoft.com/office/drawing/2014/main" id="{FF4E5FC1-96AC-7D9C-68E8-742D8EE86366}"/>
              </a:ext>
            </a:extLst>
          </p:cNvPr>
          <p:cNvSpPr/>
          <p:nvPr/>
        </p:nvSpPr>
        <p:spPr>
          <a:xfrm>
            <a:off x="351692" y="4380917"/>
            <a:ext cx="1209822" cy="84054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Eau</a:t>
            </a:r>
          </a:p>
        </p:txBody>
      </p:sp>
      <p:sp>
        <p:nvSpPr>
          <p:cNvPr id="13" name="ZoneTexte 12">
            <a:extLst>
              <a:ext uri="{FF2B5EF4-FFF2-40B4-BE49-F238E27FC236}">
                <a16:creationId xmlns:a16="http://schemas.microsoft.com/office/drawing/2014/main" id="{48505369-9DD8-6726-B5F2-61B9723DC4C8}"/>
              </a:ext>
            </a:extLst>
          </p:cNvPr>
          <p:cNvSpPr txBox="1"/>
          <p:nvPr/>
        </p:nvSpPr>
        <p:spPr>
          <a:xfrm>
            <a:off x="2110154" y="2425037"/>
            <a:ext cx="3460652" cy="1200329"/>
          </a:xfrm>
          <a:prstGeom prst="rect">
            <a:avLst/>
          </a:prstGeom>
          <a:noFill/>
        </p:spPr>
        <p:txBody>
          <a:bodyPr wrap="square" rtlCol="0">
            <a:spAutoFit/>
          </a:bodyPr>
          <a:lstStyle/>
          <a:p>
            <a:r>
              <a:rPr lang="fr-FR" dirty="0"/>
              <a:t>-Dégradation de la couche d’ozone</a:t>
            </a:r>
          </a:p>
          <a:p>
            <a:r>
              <a:rPr lang="fr-FR" dirty="0"/>
              <a:t>-Effet de serre</a:t>
            </a:r>
          </a:p>
          <a:p>
            <a:r>
              <a:rPr lang="fr-FR" dirty="0"/>
              <a:t>-Pluies acides</a:t>
            </a:r>
          </a:p>
          <a:p>
            <a:r>
              <a:rPr lang="fr-FR" dirty="0"/>
              <a:t>-Pollutions photochimiques</a:t>
            </a:r>
          </a:p>
        </p:txBody>
      </p:sp>
      <p:sp>
        <p:nvSpPr>
          <p:cNvPr id="14" name="ZoneTexte 13">
            <a:extLst>
              <a:ext uri="{FF2B5EF4-FFF2-40B4-BE49-F238E27FC236}">
                <a16:creationId xmlns:a16="http://schemas.microsoft.com/office/drawing/2014/main" id="{0702C711-7785-ED04-B694-486267A8161C}"/>
              </a:ext>
            </a:extLst>
          </p:cNvPr>
          <p:cNvSpPr txBox="1"/>
          <p:nvPr/>
        </p:nvSpPr>
        <p:spPr>
          <a:xfrm>
            <a:off x="6820486" y="2408561"/>
            <a:ext cx="1465385" cy="1200329"/>
          </a:xfrm>
          <a:prstGeom prst="rect">
            <a:avLst/>
          </a:prstGeom>
          <a:noFill/>
        </p:spPr>
        <p:txBody>
          <a:bodyPr wrap="square" rtlCol="0">
            <a:spAutoFit/>
          </a:bodyPr>
          <a:lstStyle/>
          <a:p>
            <a:r>
              <a:rPr lang="fr-FR" dirty="0"/>
              <a:t>50km</a:t>
            </a:r>
          </a:p>
          <a:p>
            <a:r>
              <a:rPr lang="fr-FR" dirty="0"/>
              <a:t>10-15 km</a:t>
            </a:r>
          </a:p>
          <a:p>
            <a:r>
              <a:rPr lang="fr-FR" dirty="0"/>
              <a:t>2 km</a:t>
            </a:r>
          </a:p>
          <a:p>
            <a:r>
              <a:rPr lang="fr-FR" dirty="0"/>
              <a:t>&lt; 2km</a:t>
            </a:r>
          </a:p>
        </p:txBody>
      </p:sp>
      <p:sp>
        <p:nvSpPr>
          <p:cNvPr id="15" name="ZoneTexte 14">
            <a:extLst>
              <a:ext uri="{FF2B5EF4-FFF2-40B4-BE49-F238E27FC236}">
                <a16:creationId xmlns:a16="http://schemas.microsoft.com/office/drawing/2014/main" id="{03B57D61-18DD-A8C3-2BAF-99ACC6025EDE}"/>
              </a:ext>
            </a:extLst>
          </p:cNvPr>
          <p:cNvSpPr txBox="1"/>
          <p:nvPr/>
        </p:nvSpPr>
        <p:spPr>
          <a:xfrm>
            <a:off x="2110154" y="4380917"/>
            <a:ext cx="4557932" cy="646331"/>
          </a:xfrm>
          <a:prstGeom prst="rect">
            <a:avLst/>
          </a:prstGeom>
          <a:noFill/>
        </p:spPr>
        <p:txBody>
          <a:bodyPr wrap="square" rtlCol="0">
            <a:spAutoFit/>
          </a:bodyPr>
          <a:lstStyle/>
          <a:p>
            <a:r>
              <a:rPr lang="fr-FR" dirty="0"/>
              <a:t>-Toxicité de l’eau pour l’homme et les aliments</a:t>
            </a:r>
          </a:p>
          <a:p>
            <a:r>
              <a:rPr lang="fr-FR" dirty="0"/>
              <a:t>-Eutrophisation, toxicité pour les poissons</a:t>
            </a:r>
          </a:p>
        </p:txBody>
      </p:sp>
      <p:pic>
        <p:nvPicPr>
          <p:cNvPr id="16" name="Image 15">
            <a:extLst>
              <a:ext uri="{FF2B5EF4-FFF2-40B4-BE49-F238E27FC236}">
                <a16:creationId xmlns:a16="http://schemas.microsoft.com/office/drawing/2014/main" id="{ED217F8C-F403-1B3E-77E6-FBBF1F3CC08E}"/>
              </a:ext>
            </a:extLst>
          </p:cNvPr>
          <p:cNvPicPr>
            <a:picLocks noChangeAspect="1"/>
          </p:cNvPicPr>
          <p:nvPr/>
        </p:nvPicPr>
        <p:blipFill>
          <a:blip r:embed="rId3"/>
          <a:stretch>
            <a:fillRect/>
          </a:stretch>
        </p:blipFill>
        <p:spPr>
          <a:xfrm>
            <a:off x="2756095" y="4995174"/>
            <a:ext cx="4797083" cy="1544061"/>
          </a:xfrm>
          <a:prstGeom prst="rect">
            <a:avLst/>
          </a:prstGeom>
        </p:spPr>
      </p:pic>
    </p:spTree>
    <p:extLst>
      <p:ext uri="{BB962C8B-B14F-4D97-AF65-F5344CB8AC3E}">
        <p14:creationId xmlns:p14="http://schemas.microsoft.com/office/powerpoint/2010/main" val="3384126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2">
            <a:extLst>
              <a:ext uri="{FF2B5EF4-FFF2-40B4-BE49-F238E27FC236}">
                <a16:creationId xmlns:a16="http://schemas.microsoft.com/office/drawing/2014/main" id="{4E76E498-EADE-B1B9-1BF8-E63A107EE683}"/>
              </a:ext>
            </a:extLst>
          </p:cNvPr>
          <p:cNvSpPr txBox="1">
            <a:spLocks/>
          </p:cNvSpPr>
          <p:nvPr/>
        </p:nvSpPr>
        <p:spPr>
          <a:xfrm>
            <a:off x="628650" y="21105"/>
            <a:ext cx="7886700" cy="10773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Principales causes de pollution</a:t>
            </a:r>
          </a:p>
        </p:txBody>
      </p:sp>
      <p:graphicFrame>
        <p:nvGraphicFramePr>
          <p:cNvPr id="6" name="Tableau 5">
            <a:extLst>
              <a:ext uri="{FF2B5EF4-FFF2-40B4-BE49-F238E27FC236}">
                <a16:creationId xmlns:a16="http://schemas.microsoft.com/office/drawing/2014/main" id="{3540F964-A679-A109-8D23-7DB87102DF0C}"/>
              </a:ext>
            </a:extLst>
          </p:cNvPr>
          <p:cNvGraphicFramePr>
            <a:graphicFrameLocks noGrp="1"/>
          </p:cNvGraphicFramePr>
          <p:nvPr>
            <p:extLst>
              <p:ext uri="{D42A27DB-BD31-4B8C-83A1-F6EECF244321}">
                <p14:modId xmlns:p14="http://schemas.microsoft.com/office/powerpoint/2010/main" val="1790392266"/>
              </p:ext>
            </p:extLst>
          </p:nvPr>
        </p:nvGraphicFramePr>
        <p:xfrm>
          <a:off x="391886" y="1396999"/>
          <a:ext cx="8407731" cy="4909122"/>
        </p:xfrm>
        <a:graphic>
          <a:graphicData uri="http://schemas.openxmlformats.org/drawingml/2006/table">
            <a:tbl>
              <a:tblPr firstRow="1" bandRow="1">
                <a:tableStyleId>{7DF18680-E054-41AD-8BC1-D1AEF772440D}</a:tableStyleId>
              </a:tblPr>
              <a:tblGrid>
                <a:gridCol w="2802577">
                  <a:extLst>
                    <a:ext uri="{9D8B030D-6E8A-4147-A177-3AD203B41FA5}">
                      <a16:colId xmlns:a16="http://schemas.microsoft.com/office/drawing/2014/main" val="2980966450"/>
                    </a:ext>
                  </a:extLst>
                </a:gridCol>
                <a:gridCol w="3396342">
                  <a:extLst>
                    <a:ext uri="{9D8B030D-6E8A-4147-A177-3AD203B41FA5}">
                      <a16:colId xmlns:a16="http://schemas.microsoft.com/office/drawing/2014/main" val="3198015730"/>
                    </a:ext>
                  </a:extLst>
                </a:gridCol>
                <a:gridCol w="2208812">
                  <a:extLst>
                    <a:ext uri="{9D8B030D-6E8A-4147-A177-3AD203B41FA5}">
                      <a16:colId xmlns:a16="http://schemas.microsoft.com/office/drawing/2014/main" val="1659447439"/>
                    </a:ext>
                  </a:extLst>
                </a:gridCol>
              </a:tblGrid>
              <a:tr h="916242">
                <a:tc>
                  <a:txBody>
                    <a:bodyPr/>
                    <a:lstStyle/>
                    <a:p>
                      <a:pPr algn="ctr"/>
                      <a:r>
                        <a:rPr lang="fr-FR" sz="1600" dirty="0"/>
                        <a:t>Production d’énergies</a:t>
                      </a:r>
                    </a:p>
                  </a:txBody>
                  <a:tcPr anchor="ctr"/>
                </a:tc>
                <a:tc>
                  <a:txBody>
                    <a:bodyPr/>
                    <a:lstStyle/>
                    <a:p>
                      <a:pPr algn="ctr"/>
                      <a:r>
                        <a:rPr lang="fr-FR" sz="1600" dirty="0"/>
                        <a:t>Activités industrielles</a:t>
                      </a:r>
                    </a:p>
                  </a:txBody>
                  <a:tcPr anchor="ctr"/>
                </a:tc>
                <a:tc>
                  <a:txBody>
                    <a:bodyPr/>
                    <a:lstStyle/>
                    <a:p>
                      <a:pPr algn="ctr"/>
                      <a:r>
                        <a:rPr lang="fr-FR" sz="1600" dirty="0"/>
                        <a:t>Agriculture</a:t>
                      </a:r>
                    </a:p>
                  </a:txBody>
                  <a:tcPr anchor="ctr"/>
                </a:tc>
                <a:extLst>
                  <a:ext uri="{0D108BD9-81ED-4DB2-BD59-A6C34878D82A}">
                    <a16:rowId xmlns:a16="http://schemas.microsoft.com/office/drawing/2014/main" val="2129973062"/>
                  </a:ext>
                </a:extLst>
              </a:tr>
              <a:tr h="1061678">
                <a:tc>
                  <a:txBody>
                    <a:bodyPr/>
                    <a:lstStyle/>
                    <a:p>
                      <a:pPr algn="l"/>
                      <a:r>
                        <a:rPr lang="fr-FR" sz="1600" dirty="0"/>
                        <a:t>Fossiles:</a:t>
                      </a:r>
                    </a:p>
                    <a:p>
                      <a:pPr marL="285750" indent="-285750" algn="l">
                        <a:buFont typeface="Arial" panose="020B0604020202020204" pitchFamily="34" charset="0"/>
                        <a:buChar char="•"/>
                      </a:pPr>
                      <a:r>
                        <a:rPr lang="fr-FR" sz="1600" dirty="0"/>
                        <a:t>Fuites de polluants à tous les stades des puits off-shore</a:t>
                      </a:r>
                    </a:p>
                    <a:p>
                      <a:pPr marL="285750" indent="-285750" algn="l">
                        <a:buFont typeface="Arial" panose="020B0604020202020204" pitchFamily="34" charset="0"/>
                        <a:buChar char="•"/>
                      </a:pPr>
                      <a:r>
                        <a:rPr lang="fr-FR" sz="1600" dirty="0"/>
                        <a:t>Rejets atmosphériques des combustions incomplètes des moteurs</a:t>
                      </a:r>
                    </a:p>
                    <a:p>
                      <a:pPr marL="285750" indent="-285750" algn="l">
                        <a:buFont typeface="Arial" panose="020B0604020202020204" pitchFamily="34" charset="0"/>
                        <a:buChar char="•"/>
                      </a:pPr>
                      <a:r>
                        <a:rPr lang="fr-FR" sz="1600" dirty="0"/>
                        <a:t>Rejets effluents gazeux et liquides au raffinage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Nucléaire: </a:t>
                      </a:r>
                    </a:p>
                    <a:p>
                      <a:pPr marL="285750" indent="-285750" algn="l">
                        <a:buFont typeface="Arial" panose="020B0604020202020204" pitchFamily="34" charset="0"/>
                        <a:buChar char="•"/>
                      </a:pPr>
                      <a:r>
                        <a:rPr lang="fr-FR" sz="1600" dirty="0"/>
                        <a:t>Déchets hautement radioactifs</a:t>
                      </a:r>
                    </a:p>
                    <a:p>
                      <a:pPr marL="285750" indent="-285750" algn="l">
                        <a:buFont typeface="Arial" panose="020B0604020202020204" pitchFamily="34" charset="0"/>
                        <a:buChar char="•"/>
                      </a:pPr>
                      <a:r>
                        <a:rPr lang="fr-FR" sz="1600" dirty="0"/>
                        <a:t>Augmentation globale de la température des cours d’eau utilisés pour le refroidissement</a:t>
                      </a:r>
                    </a:p>
                  </a:txBody>
                  <a:tcPr anchor="ctr"/>
                </a:tc>
                <a:tc>
                  <a:txBody>
                    <a:bodyPr/>
                    <a:lstStyle/>
                    <a:p>
                      <a:pPr marL="285750" indent="-285750" algn="l">
                        <a:buFont typeface="Arial" panose="020B0604020202020204" pitchFamily="34" charset="0"/>
                        <a:buChar char="•"/>
                      </a:pPr>
                      <a:r>
                        <a:rPr lang="fr-FR" sz="1600" dirty="0"/>
                        <a:t>Emissions de polluants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t>Pollution chimique des aliments (pesticides)</a:t>
                      </a:r>
                    </a:p>
                    <a:p>
                      <a:pPr marL="285750" indent="-285750" algn="l">
                        <a:buFont typeface="Arial" panose="020B0604020202020204" pitchFamily="34" charset="0"/>
                        <a:buChar char="•"/>
                      </a:pPr>
                      <a:r>
                        <a:rPr lang="fr-FR" sz="1600" dirty="0"/>
                        <a:t>Produits mis dans les objets de la vie courante:</a:t>
                      </a:r>
                    </a:p>
                    <a:p>
                      <a:pPr marL="0" indent="0" algn="l">
                        <a:buFont typeface="Arial" panose="020B0604020202020204" pitchFamily="34" charset="0"/>
                        <a:buNone/>
                      </a:pPr>
                      <a:endParaRPr lang="fr-FR" sz="1600" dirty="0"/>
                    </a:p>
                    <a:p>
                      <a:pPr marL="0" indent="0" algn="l">
                        <a:buFont typeface="Arial" panose="020B0604020202020204" pitchFamily="34" charset="0"/>
                        <a:buNone/>
                      </a:pPr>
                      <a:endParaRPr lang="fr-FR" sz="1600" dirty="0"/>
                    </a:p>
                  </a:txBody>
                  <a:tcPr/>
                </a:tc>
                <a:tc>
                  <a:txBody>
                    <a:bodyPr/>
                    <a:lstStyle/>
                    <a:p>
                      <a:pPr marL="285750" indent="-285750" algn="l">
                        <a:buFont typeface="Arial" panose="020B0604020202020204" pitchFamily="34" charset="0"/>
                        <a:buChar char="•"/>
                      </a:pPr>
                      <a:r>
                        <a:rPr lang="fr-FR" sz="1600" dirty="0"/>
                        <a:t>Polluants</a:t>
                      </a:r>
                    </a:p>
                    <a:p>
                      <a:pPr marL="285750" indent="-285750" algn="l">
                        <a:buFont typeface="Arial" panose="020B0604020202020204" pitchFamily="34" charset="0"/>
                        <a:buChar char="•"/>
                      </a:pPr>
                      <a:r>
                        <a:rPr lang="fr-FR" sz="1600" dirty="0"/>
                        <a:t>Produits phytosanitaires</a:t>
                      </a:r>
                    </a:p>
                  </a:txBody>
                  <a:tcPr/>
                </a:tc>
                <a:extLst>
                  <a:ext uri="{0D108BD9-81ED-4DB2-BD59-A6C34878D82A}">
                    <a16:rowId xmlns:a16="http://schemas.microsoft.com/office/drawing/2014/main" val="3533855106"/>
                  </a:ext>
                </a:extLst>
              </a:tr>
            </a:tbl>
          </a:graphicData>
        </a:graphic>
      </p:graphicFrame>
      <p:graphicFrame>
        <p:nvGraphicFramePr>
          <p:cNvPr id="7" name="Tableau 6">
            <a:extLst>
              <a:ext uri="{FF2B5EF4-FFF2-40B4-BE49-F238E27FC236}">
                <a16:creationId xmlns:a16="http://schemas.microsoft.com/office/drawing/2014/main" id="{00315088-2227-06B5-D6AA-5077EA8CD0DF}"/>
              </a:ext>
            </a:extLst>
          </p:cNvPr>
          <p:cNvGraphicFramePr>
            <a:graphicFrameLocks noGrp="1"/>
          </p:cNvGraphicFramePr>
          <p:nvPr>
            <p:extLst>
              <p:ext uri="{D42A27DB-BD31-4B8C-83A1-F6EECF244321}">
                <p14:modId xmlns:p14="http://schemas.microsoft.com/office/powerpoint/2010/main" val="3925570073"/>
              </p:ext>
            </p:extLst>
          </p:nvPr>
        </p:nvGraphicFramePr>
        <p:xfrm>
          <a:off x="3321132" y="3679142"/>
          <a:ext cx="3048000" cy="2138680"/>
        </p:xfrm>
        <a:graphic>
          <a:graphicData uri="http://schemas.openxmlformats.org/drawingml/2006/table">
            <a:tbl>
              <a:tblPr firstCol="1" bandRow="1">
                <a:tableStyleId>{7DF18680-E054-41AD-8BC1-D1AEF772440D}</a:tableStyleId>
              </a:tblPr>
              <a:tblGrid>
                <a:gridCol w="1037112">
                  <a:extLst>
                    <a:ext uri="{9D8B030D-6E8A-4147-A177-3AD203B41FA5}">
                      <a16:colId xmlns:a16="http://schemas.microsoft.com/office/drawing/2014/main" val="1544140313"/>
                    </a:ext>
                  </a:extLst>
                </a:gridCol>
                <a:gridCol w="2010888">
                  <a:extLst>
                    <a:ext uri="{9D8B030D-6E8A-4147-A177-3AD203B41FA5}">
                      <a16:colId xmlns:a16="http://schemas.microsoft.com/office/drawing/2014/main" val="1055887301"/>
                    </a:ext>
                  </a:extLst>
                </a:gridCol>
              </a:tblGrid>
              <a:tr h="370840">
                <a:tc>
                  <a:txBody>
                    <a:bodyPr/>
                    <a:lstStyle/>
                    <a:p>
                      <a:r>
                        <a:rPr lang="fr-FR" sz="1400" dirty="0"/>
                        <a:t>Dans les plastiques: </a:t>
                      </a:r>
                    </a:p>
                  </a:txBody>
                  <a:tcPr anchor="ctr"/>
                </a:tc>
                <a:tc>
                  <a:txBody>
                    <a:bodyPr/>
                    <a:lstStyle/>
                    <a:p>
                      <a:r>
                        <a:rPr lang="fr-FR" sz="1400" dirty="0"/>
                        <a:t>Bisphénol A, composés </a:t>
                      </a:r>
                      <a:r>
                        <a:rPr lang="fr-FR" sz="1400" dirty="0" err="1"/>
                        <a:t>alkylétains</a:t>
                      </a:r>
                      <a:r>
                        <a:rPr lang="fr-FR" sz="1400" dirty="0"/>
                        <a:t> et organoétains </a:t>
                      </a:r>
                    </a:p>
                  </a:txBody>
                  <a:tcPr anchor="ctr"/>
                </a:tc>
                <a:extLst>
                  <a:ext uri="{0D108BD9-81ED-4DB2-BD59-A6C34878D82A}">
                    <a16:rowId xmlns:a16="http://schemas.microsoft.com/office/drawing/2014/main" val="2370350339"/>
                  </a:ext>
                </a:extLst>
              </a:tr>
              <a:tr h="370840">
                <a:tc>
                  <a:txBody>
                    <a:bodyPr/>
                    <a:lstStyle/>
                    <a:p>
                      <a:r>
                        <a:rPr lang="fr-FR" sz="1400" dirty="0"/>
                        <a:t>Dans les meubles:</a:t>
                      </a:r>
                    </a:p>
                  </a:txBody>
                  <a:tcPr anchor="ctr"/>
                </a:tc>
                <a:tc>
                  <a:txBody>
                    <a:bodyPr/>
                    <a:lstStyle/>
                    <a:p>
                      <a:r>
                        <a:rPr lang="fr-FR" sz="1400" dirty="0"/>
                        <a:t>Retardateurs de flamme bromés, PVC, phtalates</a:t>
                      </a:r>
                    </a:p>
                  </a:txBody>
                  <a:tcPr anchor="ctr"/>
                </a:tc>
                <a:extLst>
                  <a:ext uri="{0D108BD9-81ED-4DB2-BD59-A6C34878D82A}">
                    <a16:rowId xmlns:a16="http://schemas.microsoft.com/office/drawing/2014/main" val="36202197"/>
                  </a:ext>
                </a:extLst>
              </a:tr>
              <a:tr h="370840">
                <a:tc>
                  <a:txBody>
                    <a:bodyPr/>
                    <a:lstStyle/>
                    <a:p>
                      <a:r>
                        <a:rPr lang="fr-FR" sz="1400" dirty="0"/>
                        <a:t>Dans les savons:</a:t>
                      </a:r>
                    </a:p>
                  </a:txBody>
                  <a:tcPr anchor="ctr"/>
                </a:tc>
                <a:tc>
                  <a:txBody>
                    <a:bodyPr/>
                    <a:lstStyle/>
                    <a:p>
                      <a:r>
                        <a:rPr lang="fr-FR" sz="1400" dirty="0"/>
                        <a:t>Triclosan</a:t>
                      </a:r>
                    </a:p>
                  </a:txBody>
                  <a:tcPr anchor="ctr"/>
                </a:tc>
                <a:extLst>
                  <a:ext uri="{0D108BD9-81ED-4DB2-BD59-A6C34878D82A}">
                    <a16:rowId xmlns:a16="http://schemas.microsoft.com/office/drawing/2014/main" val="1168688908"/>
                  </a:ext>
                </a:extLst>
              </a:tr>
              <a:tr h="370840">
                <a:tc>
                  <a:txBody>
                    <a:bodyPr/>
                    <a:lstStyle/>
                    <a:p>
                      <a:r>
                        <a:rPr lang="fr-FR" sz="1400" dirty="0"/>
                        <a:t>…</a:t>
                      </a:r>
                    </a:p>
                  </a:txBody>
                  <a:tcPr anchor="ctr"/>
                </a:tc>
                <a:tc>
                  <a:txBody>
                    <a:bodyPr/>
                    <a:lstStyle/>
                    <a:p>
                      <a:r>
                        <a:rPr lang="fr-FR" sz="1400" dirty="0"/>
                        <a:t>..;</a:t>
                      </a:r>
                    </a:p>
                  </a:txBody>
                  <a:tcPr anchor="ctr"/>
                </a:tc>
                <a:extLst>
                  <a:ext uri="{0D108BD9-81ED-4DB2-BD59-A6C34878D82A}">
                    <a16:rowId xmlns:a16="http://schemas.microsoft.com/office/drawing/2014/main" val="1605288114"/>
                  </a:ext>
                </a:extLst>
              </a:tr>
            </a:tbl>
          </a:graphicData>
        </a:graphic>
      </p:graphicFrame>
    </p:spTree>
    <p:extLst>
      <p:ext uri="{BB962C8B-B14F-4D97-AF65-F5344CB8AC3E}">
        <p14:creationId xmlns:p14="http://schemas.microsoft.com/office/powerpoint/2010/main" val="327494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me 4">
            <a:extLst>
              <a:ext uri="{FF2B5EF4-FFF2-40B4-BE49-F238E27FC236}">
                <a16:creationId xmlns:a16="http://schemas.microsoft.com/office/drawing/2014/main" id="{6268948A-B619-8447-834D-B20F3D02B1C0}"/>
              </a:ext>
            </a:extLst>
          </p:cNvPr>
          <p:cNvGraphicFramePr/>
          <p:nvPr>
            <p:extLst>
              <p:ext uri="{D42A27DB-BD31-4B8C-83A1-F6EECF244321}">
                <p14:modId xmlns:p14="http://schemas.microsoft.com/office/powerpoint/2010/main" val="635353859"/>
              </p:ext>
            </p:extLst>
          </p:nvPr>
        </p:nvGraphicFramePr>
        <p:xfrm>
          <a:off x="265088" y="2411572"/>
          <a:ext cx="8613823" cy="28526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re 2">
            <a:extLst>
              <a:ext uri="{FF2B5EF4-FFF2-40B4-BE49-F238E27FC236}">
                <a16:creationId xmlns:a16="http://schemas.microsoft.com/office/drawing/2014/main" id="{A05CAB51-51BF-EDE0-371F-6C73E999461A}"/>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Catégories d’aspects environnementaux</a:t>
            </a:r>
          </a:p>
        </p:txBody>
      </p:sp>
    </p:spTree>
    <p:extLst>
      <p:ext uri="{BB962C8B-B14F-4D97-AF65-F5344CB8AC3E}">
        <p14:creationId xmlns:p14="http://schemas.microsoft.com/office/powerpoint/2010/main" val="40176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171450" y="21104"/>
            <a:ext cx="8343900" cy="1250483"/>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utilisation de matières premières, consommables</a:t>
            </a:r>
          </a:p>
        </p:txBody>
      </p:sp>
      <p:graphicFrame>
        <p:nvGraphicFramePr>
          <p:cNvPr id="5" name="Tableau 4">
            <a:extLst>
              <a:ext uri="{FF2B5EF4-FFF2-40B4-BE49-F238E27FC236}">
                <a16:creationId xmlns:a16="http://schemas.microsoft.com/office/drawing/2014/main" id="{2082A03E-E12F-2EB9-AA43-5E97B32EE022}"/>
              </a:ext>
            </a:extLst>
          </p:cNvPr>
          <p:cNvGraphicFramePr>
            <a:graphicFrameLocks noGrp="1"/>
          </p:cNvGraphicFramePr>
          <p:nvPr/>
        </p:nvGraphicFramePr>
        <p:xfrm>
          <a:off x="628650" y="2154237"/>
          <a:ext cx="5075464" cy="450578"/>
        </p:xfrm>
        <a:graphic>
          <a:graphicData uri="http://schemas.openxmlformats.org/drawingml/2006/table">
            <a:tbl>
              <a:tblPr firstRow="1" bandRow="1">
                <a:tableStyleId>{7DF18680-E054-41AD-8BC1-D1AEF772440D}</a:tableStyleId>
              </a:tblPr>
              <a:tblGrid>
                <a:gridCol w="5075464">
                  <a:extLst>
                    <a:ext uri="{9D8B030D-6E8A-4147-A177-3AD203B41FA5}">
                      <a16:colId xmlns:a16="http://schemas.microsoft.com/office/drawing/2014/main" val="3639225666"/>
                    </a:ext>
                  </a:extLst>
                </a:gridCol>
              </a:tblGrid>
              <a:tr h="450578">
                <a:tc>
                  <a:txBody>
                    <a:bodyPr/>
                    <a:lstStyle/>
                    <a:p>
                      <a:r>
                        <a:rPr lang="fr-FR" sz="2000" dirty="0"/>
                        <a:t>Impact: Epuisement de ressources naturelles</a:t>
                      </a:r>
                    </a:p>
                  </a:txBody>
                  <a:tcPr/>
                </a:tc>
                <a:extLst>
                  <a:ext uri="{0D108BD9-81ED-4DB2-BD59-A6C34878D82A}">
                    <a16:rowId xmlns:a16="http://schemas.microsoft.com/office/drawing/2014/main" val="1801612052"/>
                  </a:ext>
                </a:extLst>
              </a:tr>
            </a:tbl>
          </a:graphicData>
        </a:graphic>
      </p:graphicFrame>
      <p:pic>
        <p:nvPicPr>
          <p:cNvPr id="2060" name="Picture 12" descr="Vers un plastique sans pétrole | Les Echos">
            <a:extLst>
              <a:ext uri="{FF2B5EF4-FFF2-40B4-BE49-F238E27FC236}">
                <a16:creationId xmlns:a16="http://schemas.microsoft.com/office/drawing/2014/main" id="{BC22D423-50C4-B9F6-D84B-94422A7DB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763" y="2957513"/>
            <a:ext cx="5486400"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882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0F66614E-E255-C40F-0EBB-5AD133FB93A5}"/>
              </a:ext>
            </a:extLst>
          </p:cNvPr>
          <p:cNvGraphicFramePr/>
          <p:nvPr>
            <p:extLst>
              <p:ext uri="{D42A27DB-BD31-4B8C-83A1-F6EECF244321}">
                <p14:modId xmlns:p14="http://schemas.microsoft.com/office/powerpoint/2010/main" val="382028789"/>
              </p:ext>
            </p:extLst>
          </p:nvPr>
        </p:nvGraphicFramePr>
        <p:xfrm>
          <a:off x="478302" y="1104443"/>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Légende : flèche vers le haut 3">
            <a:extLst>
              <a:ext uri="{FF2B5EF4-FFF2-40B4-BE49-F238E27FC236}">
                <a16:creationId xmlns:a16="http://schemas.microsoft.com/office/drawing/2014/main" id="{2D96FC6A-F716-0DBF-85F6-ED69053FB944}"/>
              </a:ext>
            </a:extLst>
          </p:cNvPr>
          <p:cNvSpPr/>
          <p:nvPr/>
        </p:nvSpPr>
        <p:spPr>
          <a:xfrm>
            <a:off x="1218531" y="3597384"/>
            <a:ext cx="2061028" cy="2267745"/>
          </a:xfrm>
          <a:prstGeom prst="upArrowCallout">
            <a:avLst>
              <a:gd name="adj1" fmla="val 10915"/>
              <a:gd name="adj2" fmla="val 14437"/>
              <a:gd name="adj3" fmla="val 25000"/>
              <a:gd name="adj4" fmla="val 6497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rPr>
              <a:t>Nécessite de respecter REACH et CLP</a:t>
            </a:r>
          </a:p>
        </p:txBody>
      </p:sp>
      <p:sp>
        <p:nvSpPr>
          <p:cNvPr id="9" name="Légende : flèche vers le haut 8">
            <a:extLst>
              <a:ext uri="{FF2B5EF4-FFF2-40B4-BE49-F238E27FC236}">
                <a16:creationId xmlns:a16="http://schemas.microsoft.com/office/drawing/2014/main" id="{F298816D-BB26-D23A-CCB4-5310257B925F}"/>
              </a:ext>
            </a:extLst>
          </p:cNvPr>
          <p:cNvSpPr/>
          <p:nvPr/>
        </p:nvSpPr>
        <p:spPr>
          <a:xfrm>
            <a:off x="3526302" y="3597384"/>
            <a:ext cx="2061028" cy="2267745"/>
          </a:xfrm>
          <a:prstGeom prst="upArrowCallout">
            <a:avLst>
              <a:gd name="adj1" fmla="val 10915"/>
              <a:gd name="adj2" fmla="val 14437"/>
              <a:gd name="adj3" fmla="val 25000"/>
              <a:gd name="adj4" fmla="val 6497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rPr>
              <a:t>Nécessite d’informer les clients si SVHC &gt; 0,1% du produit fabriqué</a:t>
            </a:r>
          </a:p>
        </p:txBody>
      </p:sp>
      <p:pic>
        <p:nvPicPr>
          <p:cNvPr id="5" name="Image 4">
            <a:extLst>
              <a:ext uri="{FF2B5EF4-FFF2-40B4-BE49-F238E27FC236}">
                <a16:creationId xmlns:a16="http://schemas.microsoft.com/office/drawing/2014/main" id="{EFF29A0E-2638-C416-E746-C45D35D63411}"/>
              </a:ext>
            </a:extLst>
          </p:cNvPr>
          <p:cNvPicPr>
            <a:picLocks noChangeAspect="1"/>
          </p:cNvPicPr>
          <p:nvPr/>
        </p:nvPicPr>
        <p:blipFill>
          <a:blip r:embed="rId8"/>
          <a:stretch>
            <a:fillRect/>
          </a:stretch>
        </p:blipFill>
        <p:spPr>
          <a:xfrm>
            <a:off x="6827404" y="1723457"/>
            <a:ext cx="919464" cy="919464"/>
          </a:xfrm>
          <a:prstGeom prst="rect">
            <a:avLst/>
          </a:prstGeom>
          <a:solidFill>
            <a:schemeClr val="bg1"/>
          </a:solidFill>
        </p:spPr>
      </p:pic>
      <p:pic>
        <p:nvPicPr>
          <p:cNvPr id="6" name="Image 5">
            <a:extLst>
              <a:ext uri="{FF2B5EF4-FFF2-40B4-BE49-F238E27FC236}">
                <a16:creationId xmlns:a16="http://schemas.microsoft.com/office/drawing/2014/main" id="{8512F151-3903-4357-375B-2B34D812DFE0}"/>
              </a:ext>
            </a:extLst>
          </p:cNvPr>
          <p:cNvPicPr>
            <a:picLocks noChangeAspect="1"/>
          </p:cNvPicPr>
          <p:nvPr/>
        </p:nvPicPr>
        <p:blipFill>
          <a:blip r:embed="rId9"/>
          <a:stretch>
            <a:fillRect/>
          </a:stretch>
        </p:blipFill>
        <p:spPr>
          <a:xfrm>
            <a:off x="7746868" y="1723457"/>
            <a:ext cx="918830" cy="918830"/>
          </a:xfrm>
          <a:prstGeom prst="rect">
            <a:avLst/>
          </a:prstGeom>
        </p:spPr>
      </p:pic>
      <p:sp>
        <p:nvSpPr>
          <p:cNvPr id="7" name="Rectangle 6">
            <a:extLst>
              <a:ext uri="{FF2B5EF4-FFF2-40B4-BE49-F238E27FC236}">
                <a16:creationId xmlns:a16="http://schemas.microsoft.com/office/drawing/2014/main" id="{54E609FB-3AF8-E86E-ECCF-8CCC7934618D}"/>
              </a:ext>
            </a:extLst>
          </p:cNvPr>
          <p:cNvSpPr/>
          <p:nvPr/>
        </p:nvSpPr>
        <p:spPr>
          <a:xfrm>
            <a:off x="6894048" y="3082802"/>
            <a:ext cx="1771650" cy="1114425"/>
          </a:xfrm>
          <a:prstGeom prst="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lumMod val="75000"/>
                  </a:schemeClr>
                </a:solidFill>
              </a:rPr>
              <a:t>FDS en français</a:t>
            </a:r>
          </a:p>
        </p:txBody>
      </p:sp>
      <p:sp>
        <p:nvSpPr>
          <p:cNvPr id="8" name="Rectangle 7">
            <a:extLst>
              <a:ext uri="{FF2B5EF4-FFF2-40B4-BE49-F238E27FC236}">
                <a16:creationId xmlns:a16="http://schemas.microsoft.com/office/drawing/2014/main" id="{AA773966-3283-62AA-049B-A262AC7E25D1}"/>
              </a:ext>
            </a:extLst>
          </p:cNvPr>
          <p:cNvSpPr/>
          <p:nvPr/>
        </p:nvSpPr>
        <p:spPr>
          <a:xfrm>
            <a:off x="6894048" y="4385058"/>
            <a:ext cx="1771650" cy="1114425"/>
          </a:xfrm>
          <a:prstGeom prst="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lumMod val="75000"/>
                  </a:schemeClr>
                </a:solidFill>
              </a:rPr>
              <a:t>FDS conforme au modèle REACH</a:t>
            </a:r>
          </a:p>
        </p:txBody>
      </p:sp>
      <p:sp>
        <p:nvSpPr>
          <p:cNvPr id="10" name="Titre 2">
            <a:extLst>
              <a:ext uri="{FF2B5EF4-FFF2-40B4-BE49-F238E27FC236}">
                <a16:creationId xmlns:a16="http://schemas.microsoft.com/office/drawing/2014/main" id="{DE29138A-FCFC-6FB2-170A-C241896D6B04}"/>
              </a:ext>
            </a:extLst>
          </p:cNvPr>
          <p:cNvSpPr txBox="1">
            <a:spLocks/>
          </p:cNvSpPr>
          <p:nvPr/>
        </p:nvSpPr>
        <p:spPr>
          <a:xfrm>
            <a:off x="400050" y="161900"/>
            <a:ext cx="8343900" cy="12504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utilisation de matières premières, consommables</a:t>
            </a:r>
          </a:p>
        </p:txBody>
      </p:sp>
    </p:spTree>
    <p:extLst>
      <p:ext uri="{BB962C8B-B14F-4D97-AF65-F5344CB8AC3E}">
        <p14:creationId xmlns:p14="http://schemas.microsoft.com/office/powerpoint/2010/main" val="3867341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2">
            <a:extLst>
              <a:ext uri="{FF2B5EF4-FFF2-40B4-BE49-F238E27FC236}">
                <a16:creationId xmlns:a16="http://schemas.microsoft.com/office/drawing/2014/main" id="{DE29138A-FCFC-6FB2-170A-C241896D6B04}"/>
              </a:ext>
            </a:extLst>
          </p:cNvPr>
          <p:cNvSpPr txBox="1">
            <a:spLocks/>
          </p:cNvSpPr>
          <p:nvPr/>
        </p:nvSpPr>
        <p:spPr>
          <a:xfrm>
            <a:off x="400050" y="36014"/>
            <a:ext cx="8343900" cy="12504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utilisation de matières premières, consommables</a:t>
            </a:r>
          </a:p>
        </p:txBody>
      </p:sp>
      <p:graphicFrame>
        <p:nvGraphicFramePr>
          <p:cNvPr id="15" name="Espace réservé du contenu 14">
            <a:extLst>
              <a:ext uri="{FF2B5EF4-FFF2-40B4-BE49-F238E27FC236}">
                <a16:creationId xmlns:a16="http://schemas.microsoft.com/office/drawing/2014/main" id="{C8CB20BB-CFBD-DBE1-FC98-A0D9EC329B4C}"/>
              </a:ext>
            </a:extLst>
          </p:cNvPr>
          <p:cNvGraphicFramePr>
            <a:graphicFrameLocks noGrp="1"/>
          </p:cNvGraphicFramePr>
          <p:nvPr>
            <p:ph idx="1"/>
            <p:extLst>
              <p:ext uri="{D42A27DB-BD31-4B8C-83A1-F6EECF244321}">
                <p14:modId xmlns:p14="http://schemas.microsoft.com/office/powerpoint/2010/main" val="1634980838"/>
              </p:ext>
            </p:extLst>
          </p:nvPr>
        </p:nvGraphicFramePr>
        <p:xfrm>
          <a:off x="628650" y="2037923"/>
          <a:ext cx="7886700" cy="425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6" name="Espace réservé du contenu 14">
            <a:extLst>
              <a:ext uri="{FF2B5EF4-FFF2-40B4-BE49-F238E27FC236}">
                <a16:creationId xmlns:a16="http://schemas.microsoft.com/office/drawing/2014/main" id="{4134A034-20A5-79AC-BB0C-EAF3A4D3A7BE}"/>
              </a:ext>
            </a:extLst>
          </p:cNvPr>
          <p:cNvGraphicFramePr>
            <a:graphicFrameLocks/>
          </p:cNvGraphicFramePr>
          <p:nvPr>
            <p:extLst>
              <p:ext uri="{D42A27DB-BD31-4B8C-83A1-F6EECF244321}">
                <p14:modId xmlns:p14="http://schemas.microsoft.com/office/powerpoint/2010/main" val="360230460"/>
              </p:ext>
            </p:extLst>
          </p:nvPr>
        </p:nvGraphicFramePr>
        <p:xfrm>
          <a:off x="628650" y="2648586"/>
          <a:ext cx="7886700" cy="42520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7" name="Espace réservé du contenu 14">
            <a:extLst>
              <a:ext uri="{FF2B5EF4-FFF2-40B4-BE49-F238E27FC236}">
                <a16:creationId xmlns:a16="http://schemas.microsoft.com/office/drawing/2014/main" id="{E1F4D85E-E06A-3AD1-99B8-AC624A4EF4D3}"/>
              </a:ext>
            </a:extLst>
          </p:cNvPr>
          <p:cNvGraphicFramePr>
            <a:graphicFrameLocks/>
          </p:cNvGraphicFramePr>
          <p:nvPr>
            <p:extLst>
              <p:ext uri="{D42A27DB-BD31-4B8C-83A1-F6EECF244321}">
                <p14:modId xmlns:p14="http://schemas.microsoft.com/office/powerpoint/2010/main" val="2632737404"/>
              </p:ext>
            </p:extLst>
          </p:nvPr>
        </p:nvGraphicFramePr>
        <p:xfrm>
          <a:off x="628650" y="4493569"/>
          <a:ext cx="7886700" cy="4252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8" name="Espace réservé du contenu 14">
            <a:extLst>
              <a:ext uri="{FF2B5EF4-FFF2-40B4-BE49-F238E27FC236}">
                <a16:creationId xmlns:a16="http://schemas.microsoft.com/office/drawing/2014/main" id="{785DCD55-E9F3-F699-F8FF-4D0CA9B4B4F1}"/>
              </a:ext>
            </a:extLst>
          </p:cNvPr>
          <p:cNvGraphicFramePr>
            <a:graphicFrameLocks/>
          </p:cNvGraphicFramePr>
          <p:nvPr>
            <p:extLst>
              <p:ext uri="{D42A27DB-BD31-4B8C-83A1-F6EECF244321}">
                <p14:modId xmlns:p14="http://schemas.microsoft.com/office/powerpoint/2010/main" val="1158892475"/>
              </p:ext>
            </p:extLst>
          </p:nvPr>
        </p:nvGraphicFramePr>
        <p:xfrm>
          <a:off x="628650" y="3882906"/>
          <a:ext cx="7886700" cy="42520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9" name="Espace réservé du contenu 14">
            <a:extLst>
              <a:ext uri="{FF2B5EF4-FFF2-40B4-BE49-F238E27FC236}">
                <a16:creationId xmlns:a16="http://schemas.microsoft.com/office/drawing/2014/main" id="{14497AA0-72F5-7222-15BF-9CD354015266}"/>
              </a:ext>
            </a:extLst>
          </p:cNvPr>
          <p:cNvGraphicFramePr>
            <a:graphicFrameLocks/>
          </p:cNvGraphicFramePr>
          <p:nvPr>
            <p:extLst>
              <p:ext uri="{D42A27DB-BD31-4B8C-83A1-F6EECF244321}">
                <p14:modId xmlns:p14="http://schemas.microsoft.com/office/powerpoint/2010/main" val="3894481809"/>
              </p:ext>
            </p:extLst>
          </p:nvPr>
        </p:nvGraphicFramePr>
        <p:xfrm>
          <a:off x="628650" y="3246907"/>
          <a:ext cx="7886700" cy="425206"/>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20" name="Espace réservé du contenu 14">
            <a:extLst>
              <a:ext uri="{FF2B5EF4-FFF2-40B4-BE49-F238E27FC236}">
                <a16:creationId xmlns:a16="http://schemas.microsoft.com/office/drawing/2014/main" id="{CA3BA2D5-AEEC-ADF6-D2B0-C4666195F906}"/>
              </a:ext>
            </a:extLst>
          </p:cNvPr>
          <p:cNvGraphicFramePr>
            <a:graphicFrameLocks/>
          </p:cNvGraphicFramePr>
          <p:nvPr>
            <p:extLst>
              <p:ext uri="{D42A27DB-BD31-4B8C-83A1-F6EECF244321}">
                <p14:modId xmlns:p14="http://schemas.microsoft.com/office/powerpoint/2010/main" val="366280928"/>
              </p:ext>
            </p:extLst>
          </p:nvPr>
        </p:nvGraphicFramePr>
        <p:xfrm>
          <a:off x="628650" y="5104232"/>
          <a:ext cx="7886700" cy="425206"/>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graphicFrame>
        <p:nvGraphicFramePr>
          <p:cNvPr id="21" name="Espace réservé du contenu 14">
            <a:extLst>
              <a:ext uri="{FF2B5EF4-FFF2-40B4-BE49-F238E27FC236}">
                <a16:creationId xmlns:a16="http://schemas.microsoft.com/office/drawing/2014/main" id="{E1448E75-3320-0719-2B92-8D8008CDC4EF}"/>
              </a:ext>
            </a:extLst>
          </p:cNvPr>
          <p:cNvGraphicFramePr>
            <a:graphicFrameLocks/>
          </p:cNvGraphicFramePr>
          <p:nvPr>
            <p:extLst>
              <p:ext uri="{D42A27DB-BD31-4B8C-83A1-F6EECF244321}">
                <p14:modId xmlns:p14="http://schemas.microsoft.com/office/powerpoint/2010/main" val="4229781977"/>
              </p:ext>
            </p:extLst>
          </p:nvPr>
        </p:nvGraphicFramePr>
        <p:xfrm>
          <a:off x="628650" y="5732446"/>
          <a:ext cx="7886700" cy="425206"/>
        </p:xfrm>
        <a:graphic>
          <a:graphicData uri="http://schemas.openxmlformats.org/drawingml/2006/diagram">
            <dgm:relIds xmlns:dgm="http://schemas.openxmlformats.org/drawingml/2006/diagram" xmlns:r="http://schemas.openxmlformats.org/officeDocument/2006/relationships" r:dm="rId33" r:lo="rId34" r:qs="rId35" r:cs="rId36"/>
          </a:graphicData>
        </a:graphic>
      </p:graphicFrame>
      <p:sp>
        <p:nvSpPr>
          <p:cNvPr id="22" name="ZoneTexte 21">
            <a:extLst>
              <a:ext uri="{FF2B5EF4-FFF2-40B4-BE49-F238E27FC236}">
                <a16:creationId xmlns:a16="http://schemas.microsoft.com/office/drawing/2014/main" id="{40DE30AF-4495-4FCB-A47F-0A8655A69F41}"/>
              </a:ext>
            </a:extLst>
          </p:cNvPr>
          <p:cNvSpPr txBox="1"/>
          <p:nvPr/>
        </p:nvSpPr>
        <p:spPr>
          <a:xfrm>
            <a:off x="628650" y="1514825"/>
            <a:ext cx="4745208" cy="369332"/>
          </a:xfrm>
          <a:prstGeom prst="rect">
            <a:avLst/>
          </a:prstGeom>
          <a:noFill/>
        </p:spPr>
        <p:txBody>
          <a:bodyPr wrap="square" rtlCol="0">
            <a:spAutoFit/>
          </a:bodyPr>
          <a:lstStyle/>
          <a:p>
            <a:r>
              <a:rPr lang="fr-FR" b="1" u="sng" dirty="0">
                <a:solidFill>
                  <a:schemeClr val="accent5">
                    <a:lumMod val="75000"/>
                  </a:schemeClr>
                </a:solidFill>
              </a:rPr>
              <a:t>Impacts des produits:</a:t>
            </a:r>
          </a:p>
        </p:txBody>
      </p:sp>
    </p:spTree>
    <p:extLst>
      <p:ext uri="{BB962C8B-B14F-4D97-AF65-F5344CB8AC3E}">
        <p14:creationId xmlns:p14="http://schemas.microsoft.com/office/powerpoint/2010/main" val="12545227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5"/>
            <a:ext cx="8037048" cy="112474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Les produits dangereux - SVHC</a:t>
            </a:r>
          </a:p>
        </p:txBody>
      </p:sp>
      <p:sp>
        <p:nvSpPr>
          <p:cNvPr id="5" name="ZoneTexte 4">
            <a:extLst>
              <a:ext uri="{FF2B5EF4-FFF2-40B4-BE49-F238E27FC236}">
                <a16:creationId xmlns:a16="http://schemas.microsoft.com/office/drawing/2014/main" id="{3E1ECA12-A0EE-11E9-9DDB-1423BF0B293C}"/>
              </a:ext>
            </a:extLst>
          </p:cNvPr>
          <p:cNvSpPr txBox="1"/>
          <p:nvPr/>
        </p:nvSpPr>
        <p:spPr>
          <a:xfrm>
            <a:off x="379974" y="1828799"/>
            <a:ext cx="8384052" cy="1477328"/>
          </a:xfrm>
          <a:prstGeom prst="rect">
            <a:avLst/>
          </a:prstGeom>
          <a:noFill/>
        </p:spPr>
        <p:txBody>
          <a:bodyPr wrap="square" rtlCol="0">
            <a:spAutoFit/>
          </a:bodyPr>
          <a:lstStyle/>
          <a:p>
            <a:r>
              <a:rPr lang="fr-FR" b="1" u="sng" dirty="0">
                <a:solidFill>
                  <a:schemeClr val="accent5">
                    <a:lumMod val="75000"/>
                  </a:schemeClr>
                </a:solidFill>
              </a:rPr>
              <a:t>SVHC: </a:t>
            </a:r>
          </a:p>
          <a:p>
            <a:pPr marL="285750" indent="-285750">
              <a:buFont typeface="Arial" panose="020B0604020202020204" pitchFamily="34" charset="0"/>
              <a:buChar char="•"/>
            </a:pPr>
            <a:r>
              <a:rPr lang="en-US" b="0" i="0" dirty="0">
                <a:solidFill>
                  <a:srgbClr val="3E3E3F"/>
                </a:solidFill>
                <a:effectLst/>
                <a:latin typeface="Marianne"/>
              </a:rPr>
              <a:t>Substances of Very High Concern </a:t>
            </a:r>
            <a:r>
              <a:rPr lang="en-US" b="0" i="0" dirty="0">
                <a:solidFill>
                  <a:srgbClr val="3E3E3F"/>
                </a:solidFill>
                <a:effectLst/>
                <a:latin typeface="Marianne"/>
                <a:sym typeface="Wingdings" panose="05000000000000000000" pitchFamily="2" charset="2"/>
              </a:rPr>
              <a:t> </a:t>
            </a:r>
            <a:r>
              <a:rPr lang="fr-FR" dirty="0"/>
              <a:t>Substances extrêmement préoccupantes (au sens de </a:t>
            </a:r>
            <a:r>
              <a:rPr lang="fr-FR" dirty="0" err="1"/>
              <a:t>Reach</a:t>
            </a:r>
            <a:r>
              <a:rPr lang="fr-FR" dirty="0"/>
              <a:t>)</a:t>
            </a:r>
          </a:p>
          <a:p>
            <a:pPr marL="285750" indent="-285750">
              <a:buFont typeface="Arial" panose="020B0604020202020204" pitchFamily="34" charset="0"/>
              <a:buChar char="•"/>
            </a:pPr>
            <a:r>
              <a:rPr lang="fr-FR" b="0" i="0" dirty="0">
                <a:solidFill>
                  <a:srgbClr val="3E3E3F"/>
                </a:solidFill>
                <a:effectLst/>
                <a:latin typeface="Marianne"/>
              </a:rPr>
              <a:t>Peuvent causer des effets néfastes sur l’homme et / ou l’environnement</a:t>
            </a:r>
          </a:p>
          <a:p>
            <a:pPr marL="285750" indent="-285750">
              <a:buFont typeface="Arial" panose="020B0604020202020204" pitchFamily="34" charset="0"/>
              <a:buChar char="•"/>
            </a:pPr>
            <a:r>
              <a:rPr lang="fr-FR" dirty="0">
                <a:solidFill>
                  <a:srgbClr val="3E3E3F"/>
                </a:solidFill>
                <a:latin typeface="Marianne"/>
              </a:rPr>
              <a:t>4 catégories:</a:t>
            </a:r>
          </a:p>
        </p:txBody>
      </p:sp>
      <p:graphicFrame>
        <p:nvGraphicFramePr>
          <p:cNvPr id="8" name="Diagramme 7">
            <a:extLst>
              <a:ext uri="{FF2B5EF4-FFF2-40B4-BE49-F238E27FC236}">
                <a16:creationId xmlns:a16="http://schemas.microsoft.com/office/drawing/2014/main" id="{59B5FC41-C0E0-DB36-8842-2D69B8F82F75}"/>
              </a:ext>
            </a:extLst>
          </p:cNvPr>
          <p:cNvGraphicFramePr/>
          <p:nvPr/>
        </p:nvGraphicFramePr>
        <p:xfrm>
          <a:off x="261257" y="3306127"/>
          <a:ext cx="8650513" cy="28914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8830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207620"/>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 production de déchets</a:t>
            </a:r>
          </a:p>
        </p:txBody>
      </p:sp>
      <p:graphicFrame>
        <p:nvGraphicFramePr>
          <p:cNvPr id="2" name="Tableau 1">
            <a:extLst>
              <a:ext uri="{FF2B5EF4-FFF2-40B4-BE49-F238E27FC236}">
                <a16:creationId xmlns:a16="http://schemas.microsoft.com/office/drawing/2014/main" id="{46581E98-2108-C838-000A-3A22C91548B7}"/>
              </a:ext>
            </a:extLst>
          </p:cNvPr>
          <p:cNvGraphicFramePr>
            <a:graphicFrameLocks noGrp="1"/>
          </p:cNvGraphicFramePr>
          <p:nvPr>
            <p:extLst>
              <p:ext uri="{D42A27DB-BD31-4B8C-83A1-F6EECF244321}">
                <p14:modId xmlns:p14="http://schemas.microsoft.com/office/powerpoint/2010/main" val="2734099111"/>
              </p:ext>
            </p:extLst>
          </p:nvPr>
        </p:nvGraphicFramePr>
        <p:xfrm>
          <a:off x="628650" y="1825625"/>
          <a:ext cx="5729288" cy="1005840"/>
        </p:xfrm>
        <a:graphic>
          <a:graphicData uri="http://schemas.openxmlformats.org/drawingml/2006/table">
            <a:tbl>
              <a:tblPr firstRow="1" bandRow="1">
                <a:tableStyleId>{7DF18680-E054-41AD-8BC1-D1AEF772440D}</a:tableStyleId>
              </a:tblPr>
              <a:tblGrid>
                <a:gridCol w="5729288">
                  <a:extLst>
                    <a:ext uri="{9D8B030D-6E8A-4147-A177-3AD203B41FA5}">
                      <a16:colId xmlns:a16="http://schemas.microsoft.com/office/drawing/2014/main" val="2666547146"/>
                    </a:ext>
                  </a:extLst>
                </a:gridCol>
              </a:tblGrid>
              <a:tr h="450578">
                <a:tc>
                  <a:txBody>
                    <a:bodyPr/>
                    <a:lstStyle/>
                    <a:p>
                      <a:r>
                        <a:rPr lang="fr-FR" sz="2000" dirty="0"/>
                        <a:t>Impacts:</a:t>
                      </a:r>
                    </a:p>
                    <a:p>
                      <a:r>
                        <a:rPr lang="fr-FR" sz="2000" dirty="0"/>
                        <a:t>-Liés à leur prise en charge (transports, rejets…)</a:t>
                      </a:r>
                    </a:p>
                    <a:p>
                      <a:r>
                        <a:rPr lang="fr-FR" sz="2000" dirty="0"/>
                        <a:t>-Pollutions dues au mauvais tri des déchets</a:t>
                      </a:r>
                    </a:p>
                  </a:txBody>
                  <a:tcPr/>
                </a:tc>
                <a:extLst>
                  <a:ext uri="{0D108BD9-81ED-4DB2-BD59-A6C34878D82A}">
                    <a16:rowId xmlns:a16="http://schemas.microsoft.com/office/drawing/2014/main" val="2269846035"/>
                  </a:ext>
                </a:extLst>
              </a:tr>
            </a:tbl>
          </a:graphicData>
        </a:graphic>
      </p:graphicFrame>
      <p:pic>
        <p:nvPicPr>
          <p:cNvPr id="4100" name="Picture 4" descr="La santé de millions d'enfants menacée par les déchets électroniques (OMS)  | ONU Info">
            <a:extLst>
              <a:ext uri="{FF2B5EF4-FFF2-40B4-BE49-F238E27FC236}">
                <a16:creationId xmlns:a16="http://schemas.microsoft.com/office/drawing/2014/main" id="{E17EB57C-4768-D8E0-6B1F-1109227232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495"/>
          <a:stretch/>
        </p:blipFill>
        <p:spPr bwMode="auto">
          <a:xfrm>
            <a:off x="5062932" y="3327875"/>
            <a:ext cx="3280100" cy="225545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Collecte de déchets industriels dangereux | JB Bonnefond Environnement">
            <a:extLst>
              <a:ext uri="{FF2B5EF4-FFF2-40B4-BE49-F238E27FC236}">
                <a16:creationId xmlns:a16="http://schemas.microsoft.com/office/drawing/2014/main" id="{F9D298CB-2E32-BE64-98C2-21482F7E58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3327876"/>
            <a:ext cx="3389351" cy="2255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892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279058"/>
          </a:xfrm>
        </p:spPr>
        <p:txBody>
          <a:bodyPr>
            <a:normAutofit/>
          </a:bodyPr>
          <a:lstStyle/>
          <a:p>
            <a:pPr algn="r"/>
            <a:r>
              <a:rPr lang="fr-FR" sz="2800" dirty="0">
                <a:solidFill>
                  <a:schemeClr val="accent5">
                    <a:lumMod val="75000"/>
                  </a:schemeClr>
                </a:solidFill>
              </a:rPr>
              <a:t>2- Les impacts environnementaux </a:t>
            </a:r>
            <a:br>
              <a:rPr lang="fr-FR" sz="2800" dirty="0">
                <a:solidFill>
                  <a:schemeClr val="accent5">
                    <a:lumMod val="75000"/>
                  </a:schemeClr>
                </a:solidFill>
              </a:rPr>
            </a:br>
            <a:r>
              <a:rPr lang="fr-FR" sz="2800" dirty="0">
                <a:solidFill>
                  <a:schemeClr val="accent5">
                    <a:lumMod val="75000"/>
                  </a:schemeClr>
                </a:solidFill>
              </a:rPr>
              <a:t>Aspect: consommations d’énergies</a:t>
            </a:r>
          </a:p>
        </p:txBody>
      </p:sp>
      <p:graphicFrame>
        <p:nvGraphicFramePr>
          <p:cNvPr id="2" name="Tableau 1">
            <a:extLst>
              <a:ext uri="{FF2B5EF4-FFF2-40B4-BE49-F238E27FC236}">
                <a16:creationId xmlns:a16="http://schemas.microsoft.com/office/drawing/2014/main" id="{3DAB456B-D2EC-7732-E9A5-09AC9FDACDB1}"/>
              </a:ext>
            </a:extLst>
          </p:cNvPr>
          <p:cNvGraphicFramePr>
            <a:graphicFrameLocks noGrp="1"/>
          </p:cNvGraphicFramePr>
          <p:nvPr/>
        </p:nvGraphicFramePr>
        <p:xfrm>
          <a:off x="628650" y="1508261"/>
          <a:ext cx="6943725" cy="450578"/>
        </p:xfrm>
        <a:graphic>
          <a:graphicData uri="http://schemas.openxmlformats.org/drawingml/2006/table">
            <a:tbl>
              <a:tblPr firstRow="1" bandRow="1">
                <a:tableStyleId>{7DF18680-E054-41AD-8BC1-D1AEF772440D}</a:tableStyleId>
              </a:tblPr>
              <a:tblGrid>
                <a:gridCol w="6943725">
                  <a:extLst>
                    <a:ext uri="{9D8B030D-6E8A-4147-A177-3AD203B41FA5}">
                      <a16:colId xmlns:a16="http://schemas.microsoft.com/office/drawing/2014/main" val="4006966236"/>
                    </a:ext>
                  </a:extLst>
                </a:gridCol>
              </a:tblGrid>
              <a:tr h="450578">
                <a:tc>
                  <a:txBody>
                    <a:bodyPr/>
                    <a:lstStyle/>
                    <a:p>
                      <a:r>
                        <a:rPr lang="fr-FR" sz="2000" dirty="0"/>
                        <a:t>Impact: Réduction des ressources naturelles non renouvelables</a:t>
                      </a:r>
                    </a:p>
                  </a:txBody>
                  <a:tcPr/>
                </a:tc>
                <a:extLst>
                  <a:ext uri="{0D108BD9-81ED-4DB2-BD59-A6C34878D82A}">
                    <a16:rowId xmlns:a16="http://schemas.microsoft.com/office/drawing/2014/main" val="1266084060"/>
                  </a:ext>
                </a:extLst>
              </a:tr>
            </a:tbl>
          </a:graphicData>
        </a:graphic>
      </p:graphicFrame>
      <p:pic>
        <p:nvPicPr>
          <p:cNvPr id="5122" name="Picture 2" descr="L'énergie - CM1 - Cours Géographie - Kartable">
            <a:extLst>
              <a:ext uri="{FF2B5EF4-FFF2-40B4-BE49-F238E27FC236}">
                <a16:creationId xmlns:a16="http://schemas.microsoft.com/office/drawing/2014/main" id="{AF5E6D19-F270-6DD4-947A-666040992E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821"/>
          <a:stretch/>
        </p:blipFill>
        <p:spPr bwMode="auto">
          <a:xfrm>
            <a:off x="1237957" y="2166937"/>
            <a:ext cx="2862555" cy="42100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L'énergie - CM1 - Cours Géographie - Kartable">
            <a:extLst>
              <a:ext uri="{FF2B5EF4-FFF2-40B4-BE49-F238E27FC236}">
                <a16:creationId xmlns:a16="http://schemas.microsoft.com/office/drawing/2014/main" id="{9038E7A2-3E2E-BB80-A7FA-15245245E6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2821"/>
          <a:stretch/>
        </p:blipFill>
        <p:spPr bwMode="auto">
          <a:xfrm>
            <a:off x="4372415" y="2166937"/>
            <a:ext cx="2862555" cy="421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36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140978"/>
          </a:xfrm>
        </p:spPr>
        <p:txBody>
          <a:bodyPr>
            <a:normAutofit/>
          </a:bodyPr>
          <a:lstStyle/>
          <a:p>
            <a:pPr algn="r"/>
            <a:r>
              <a:rPr lang="fr-FR" sz="2800" dirty="0">
                <a:solidFill>
                  <a:schemeClr val="accent5">
                    <a:lumMod val="75000"/>
                  </a:schemeClr>
                </a:solidFill>
              </a:rPr>
              <a:t>2- Les impacts environnementaux </a:t>
            </a:r>
            <a:br>
              <a:rPr lang="fr-FR" sz="2800" dirty="0">
                <a:solidFill>
                  <a:schemeClr val="accent5">
                    <a:lumMod val="75000"/>
                  </a:schemeClr>
                </a:solidFill>
              </a:rPr>
            </a:br>
            <a:r>
              <a:rPr lang="fr-FR" sz="2800" dirty="0">
                <a:solidFill>
                  <a:schemeClr val="accent5">
                    <a:lumMod val="75000"/>
                  </a:schemeClr>
                </a:solidFill>
              </a:rPr>
              <a:t>Aspect : l’eau</a:t>
            </a:r>
          </a:p>
        </p:txBody>
      </p:sp>
      <p:graphicFrame>
        <p:nvGraphicFramePr>
          <p:cNvPr id="2" name="Tableau 1">
            <a:extLst>
              <a:ext uri="{FF2B5EF4-FFF2-40B4-BE49-F238E27FC236}">
                <a16:creationId xmlns:a16="http://schemas.microsoft.com/office/drawing/2014/main" id="{2FFCEFC7-F4ED-3285-F915-F23F982DF966}"/>
              </a:ext>
            </a:extLst>
          </p:cNvPr>
          <p:cNvGraphicFramePr>
            <a:graphicFrameLocks noGrp="1"/>
          </p:cNvGraphicFramePr>
          <p:nvPr/>
        </p:nvGraphicFramePr>
        <p:xfrm>
          <a:off x="628650" y="1825625"/>
          <a:ext cx="5075464" cy="1005840"/>
        </p:xfrm>
        <a:graphic>
          <a:graphicData uri="http://schemas.openxmlformats.org/drawingml/2006/table">
            <a:tbl>
              <a:tblPr firstRow="1" bandRow="1">
                <a:tableStyleId>{7DF18680-E054-41AD-8BC1-D1AEF772440D}</a:tableStyleId>
              </a:tblPr>
              <a:tblGrid>
                <a:gridCol w="5075464">
                  <a:extLst>
                    <a:ext uri="{9D8B030D-6E8A-4147-A177-3AD203B41FA5}">
                      <a16:colId xmlns:a16="http://schemas.microsoft.com/office/drawing/2014/main" val="2640058386"/>
                    </a:ext>
                  </a:extLst>
                </a:gridCol>
              </a:tblGrid>
              <a:tr h="450578">
                <a:tc>
                  <a:txBody>
                    <a:bodyPr/>
                    <a:lstStyle/>
                    <a:p>
                      <a:r>
                        <a:rPr lang="fr-FR" sz="2000" dirty="0"/>
                        <a:t>Impacts:</a:t>
                      </a:r>
                    </a:p>
                    <a:p>
                      <a:r>
                        <a:rPr lang="fr-FR" sz="2000" dirty="0"/>
                        <a:t>-Epuisement de la ressource</a:t>
                      </a:r>
                    </a:p>
                    <a:p>
                      <a:r>
                        <a:rPr lang="fr-FR" sz="2000" dirty="0"/>
                        <a:t>-Pollution des eaux</a:t>
                      </a:r>
                    </a:p>
                  </a:txBody>
                  <a:tcPr/>
                </a:tc>
                <a:extLst>
                  <a:ext uri="{0D108BD9-81ED-4DB2-BD59-A6C34878D82A}">
                    <a16:rowId xmlns:a16="http://schemas.microsoft.com/office/drawing/2014/main" val="183855301"/>
                  </a:ext>
                </a:extLst>
              </a:tr>
            </a:tbl>
          </a:graphicData>
        </a:graphic>
      </p:graphicFrame>
      <p:pic>
        <p:nvPicPr>
          <p:cNvPr id="4" name="Picture 2" descr="Signalétique règlement CLP">
            <a:extLst>
              <a:ext uri="{FF2B5EF4-FFF2-40B4-BE49-F238E27FC236}">
                <a16:creationId xmlns:a16="http://schemas.microsoft.com/office/drawing/2014/main" id="{865D9932-7424-DE62-AE00-D6B8C712DA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825" y="4241363"/>
            <a:ext cx="1300163" cy="13001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 planète est en larmes à cause du manque d'eau potable. Économiser l'eau  et réduire la perte d'eau. Conception d'un logo, d'un badge ou d'un  prospectus. Vecteur sur b isolé Image Vectorielle">
            <a:extLst>
              <a:ext uri="{FF2B5EF4-FFF2-40B4-BE49-F238E27FC236}">
                <a16:creationId xmlns:a16="http://schemas.microsoft.com/office/drawing/2014/main" id="{AD7605BE-0ECC-1C6C-F314-E69F44A2A4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673" t="4944" r="15438" b="16177"/>
          <a:stretch/>
        </p:blipFill>
        <p:spPr bwMode="auto">
          <a:xfrm>
            <a:off x="3166382" y="3227330"/>
            <a:ext cx="1719943" cy="201762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Robinet ouvert de l'eau photo stock. Image du nature - 31935388">
            <a:extLst>
              <a:ext uri="{FF2B5EF4-FFF2-40B4-BE49-F238E27FC236}">
                <a16:creationId xmlns:a16="http://schemas.microsoft.com/office/drawing/2014/main" id="{D3D05306-9F40-2EB1-DE49-3D151979FC2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7557" b="11285"/>
          <a:stretch/>
        </p:blipFill>
        <p:spPr bwMode="auto">
          <a:xfrm>
            <a:off x="300038" y="3573137"/>
            <a:ext cx="1907382" cy="1511964"/>
          </a:xfrm>
          <a:prstGeom prst="rect">
            <a:avLst/>
          </a:prstGeom>
          <a:noFill/>
          <a:extLst>
            <a:ext uri="{909E8E84-426E-40DD-AFC4-6F175D3DCCD1}">
              <a14:hiddenFill xmlns:a14="http://schemas.microsoft.com/office/drawing/2010/main">
                <a:solidFill>
                  <a:srgbClr val="FFFFFF"/>
                </a:solidFill>
              </a14:hiddenFill>
            </a:ext>
          </a:extLst>
        </p:spPr>
      </p:pic>
      <p:sp>
        <p:nvSpPr>
          <p:cNvPr id="7" name="Flèche : droite 6">
            <a:extLst>
              <a:ext uri="{FF2B5EF4-FFF2-40B4-BE49-F238E27FC236}">
                <a16:creationId xmlns:a16="http://schemas.microsoft.com/office/drawing/2014/main" id="{04A6B178-F623-623C-0ED3-2F04D512E3EA}"/>
              </a:ext>
            </a:extLst>
          </p:cNvPr>
          <p:cNvSpPr/>
          <p:nvPr/>
        </p:nvSpPr>
        <p:spPr>
          <a:xfrm>
            <a:off x="2259127" y="4145626"/>
            <a:ext cx="1085850" cy="366986"/>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74" name="Picture 2" descr="Gérer un déversement de produits chimiques">
            <a:extLst>
              <a:ext uri="{FF2B5EF4-FFF2-40B4-BE49-F238E27FC236}">
                <a16:creationId xmlns:a16="http://schemas.microsoft.com/office/drawing/2014/main" id="{44E03721-D8F6-669E-70BF-DF8860B161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9832" y="2976361"/>
            <a:ext cx="3104130" cy="1140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57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140978"/>
          </a:xfrm>
        </p:spPr>
        <p:txBody>
          <a:bodyPr>
            <a:normAutofit/>
          </a:bodyPr>
          <a:lstStyle/>
          <a:p>
            <a:pPr algn="r"/>
            <a:r>
              <a:rPr lang="fr-FR" sz="2800" dirty="0">
                <a:solidFill>
                  <a:schemeClr val="accent5">
                    <a:lumMod val="75000"/>
                  </a:schemeClr>
                </a:solidFill>
              </a:rPr>
              <a:t>2- Les impacts environnementaux </a:t>
            </a:r>
            <a:br>
              <a:rPr lang="fr-FR" sz="2800" dirty="0">
                <a:solidFill>
                  <a:schemeClr val="accent5">
                    <a:lumMod val="75000"/>
                  </a:schemeClr>
                </a:solidFill>
              </a:rPr>
            </a:br>
            <a:r>
              <a:rPr lang="fr-FR" sz="2800" dirty="0">
                <a:solidFill>
                  <a:schemeClr val="accent5">
                    <a:lumMod val="75000"/>
                  </a:schemeClr>
                </a:solidFill>
              </a:rPr>
              <a:t>Aspect : l’eau</a:t>
            </a:r>
          </a:p>
        </p:txBody>
      </p:sp>
      <p:graphicFrame>
        <p:nvGraphicFramePr>
          <p:cNvPr id="2" name="Diagramme 1">
            <a:extLst>
              <a:ext uri="{FF2B5EF4-FFF2-40B4-BE49-F238E27FC236}">
                <a16:creationId xmlns:a16="http://schemas.microsoft.com/office/drawing/2014/main" id="{FF2AFB3A-E5F5-BB34-186D-0236C69E1A4E}"/>
              </a:ext>
            </a:extLst>
          </p:cNvPr>
          <p:cNvGraphicFramePr/>
          <p:nvPr>
            <p:extLst>
              <p:ext uri="{D42A27DB-BD31-4B8C-83A1-F6EECF244321}">
                <p14:modId xmlns:p14="http://schemas.microsoft.com/office/powerpoint/2010/main" val="3262348020"/>
              </p:ext>
            </p:extLst>
          </p:nvPr>
        </p:nvGraphicFramePr>
        <p:xfrm>
          <a:off x="257907" y="994704"/>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llipse 3">
            <a:extLst>
              <a:ext uri="{FF2B5EF4-FFF2-40B4-BE49-F238E27FC236}">
                <a16:creationId xmlns:a16="http://schemas.microsoft.com/office/drawing/2014/main" id="{BCD1E98B-2387-0AE2-99A4-EDE03C4EDEBE}"/>
              </a:ext>
            </a:extLst>
          </p:cNvPr>
          <p:cNvSpPr/>
          <p:nvPr/>
        </p:nvSpPr>
        <p:spPr>
          <a:xfrm>
            <a:off x="520504" y="4280780"/>
            <a:ext cx="1955409" cy="18147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Disparition de poissons</a:t>
            </a:r>
          </a:p>
        </p:txBody>
      </p:sp>
      <p:sp>
        <p:nvSpPr>
          <p:cNvPr id="5" name="Flèche : angle droit 4">
            <a:extLst>
              <a:ext uri="{FF2B5EF4-FFF2-40B4-BE49-F238E27FC236}">
                <a16:creationId xmlns:a16="http://schemas.microsoft.com/office/drawing/2014/main" id="{EF9504FC-3FD7-F682-1D05-F5B890BF0EBC}"/>
              </a:ext>
            </a:extLst>
          </p:cNvPr>
          <p:cNvSpPr/>
          <p:nvPr/>
        </p:nvSpPr>
        <p:spPr>
          <a:xfrm rot="5400000" flipV="1">
            <a:off x="2536817" y="4626375"/>
            <a:ext cx="630309" cy="752116"/>
          </a:xfrm>
          <a:prstGeom prst="bentUp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C20F73C0-D545-B9C7-378A-0C83C3387C2A}"/>
              </a:ext>
            </a:extLst>
          </p:cNvPr>
          <p:cNvSpPr/>
          <p:nvPr/>
        </p:nvSpPr>
        <p:spPr>
          <a:xfrm>
            <a:off x="5336345" y="3763009"/>
            <a:ext cx="3287151" cy="2100287"/>
          </a:xfrm>
          <a:prstGeom prst="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accent5">
                    <a:lumMod val="75000"/>
                  </a:schemeClr>
                </a:solidFill>
              </a:rPr>
              <a:t>1 litre d’huile recouvre 1000m² d’un étang</a:t>
            </a:r>
          </a:p>
          <a:p>
            <a:pPr marL="342900" indent="-342900">
              <a:buFont typeface="Wingdings" panose="05000000000000000000" pitchFamily="2" charset="2"/>
              <a:buChar char="à"/>
            </a:pPr>
            <a:r>
              <a:rPr lang="fr-FR" sz="2000" b="1" dirty="0">
                <a:solidFill>
                  <a:schemeClr val="accent5">
                    <a:lumMod val="75000"/>
                  </a:schemeClr>
                </a:solidFill>
                <a:sym typeface="Wingdings" panose="05000000000000000000" pitchFamily="2" charset="2"/>
              </a:rPr>
              <a:t>Empêche la pénétration d’oxygène dans l’eau</a:t>
            </a:r>
          </a:p>
          <a:p>
            <a:pPr marL="342900" indent="-342900">
              <a:buFont typeface="Wingdings" panose="05000000000000000000" pitchFamily="2" charset="2"/>
              <a:buChar char="à"/>
            </a:pPr>
            <a:r>
              <a:rPr lang="fr-FR" sz="2000" b="1" dirty="0">
                <a:solidFill>
                  <a:schemeClr val="accent5">
                    <a:lumMod val="75000"/>
                  </a:schemeClr>
                </a:solidFill>
                <a:sym typeface="Wingdings" panose="05000000000000000000" pitchFamily="2" charset="2"/>
              </a:rPr>
              <a:t>Provoque la disparition de l’écosystème</a:t>
            </a:r>
            <a:endParaRPr lang="fr-FR" sz="2000" b="1" dirty="0">
              <a:solidFill>
                <a:schemeClr val="accent5">
                  <a:lumMod val="75000"/>
                </a:schemeClr>
              </a:solidFill>
            </a:endParaRPr>
          </a:p>
        </p:txBody>
      </p:sp>
    </p:spTree>
    <p:extLst>
      <p:ext uri="{BB962C8B-B14F-4D97-AF65-F5344CB8AC3E}">
        <p14:creationId xmlns:p14="http://schemas.microsoft.com/office/powerpoint/2010/main" val="265284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179046"/>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 l’air</a:t>
            </a:r>
          </a:p>
        </p:txBody>
      </p:sp>
      <p:graphicFrame>
        <p:nvGraphicFramePr>
          <p:cNvPr id="2" name="Tableau 1">
            <a:extLst>
              <a:ext uri="{FF2B5EF4-FFF2-40B4-BE49-F238E27FC236}">
                <a16:creationId xmlns:a16="http://schemas.microsoft.com/office/drawing/2014/main" id="{A75F482F-B4AE-5E18-C864-CD77074450E9}"/>
              </a:ext>
            </a:extLst>
          </p:cNvPr>
          <p:cNvGraphicFramePr>
            <a:graphicFrameLocks noGrp="1"/>
          </p:cNvGraphicFramePr>
          <p:nvPr>
            <p:extLst>
              <p:ext uri="{D42A27DB-BD31-4B8C-83A1-F6EECF244321}">
                <p14:modId xmlns:p14="http://schemas.microsoft.com/office/powerpoint/2010/main" val="1297448228"/>
              </p:ext>
            </p:extLst>
          </p:nvPr>
        </p:nvGraphicFramePr>
        <p:xfrm>
          <a:off x="341086" y="1261428"/>
          <a:ext cx="5075464" cy="1005840"/>
        </p:xfrm>
        <a:graphic>
          <a:graphicData uri="http://schemas.openxmlformats.org/drawingml/2006/table">
            <a:tbl>
              <a:tblPr firstRow="1" bandRow="1">
                <a:tableStyleId>{7DF18680-E054-41AD-8BC1-D1AEF772440D}</a:tableStyleId>
              </a:tblPr>
              <a:tblGrid>
                <a:gridCol w="5075464">
                  <a:extLst>
                    <a:ext uri="{9D8B030D-6E8A-4147-A177-3AD203B41FA5}">
                      <a16:colId xmlns:a16="http://schemas.microsoft.com/office/drawing/2014/main" val="1951550382"/>
                    </a:ext>
                  </a:extLst>
                </a:gridCol>
              </a:tblGrid>
              <a:tr h="450578">
                <a:tc>
                  <a:txBody>
                    <a:bodyPr/>
                    <a:lstStyle/>
                    <a:p>
                      <a:r>
                        <a:rPr lang="fr-FR" sz="2000" dirty="0"/>
                        <a:t>Impacts: </a:t>
                      </a:r>
                    </a:p>
                    <a:p>
                      <a:r>
                        <a:rPr lang="fr-FR" sz="2000" dirty="0"/>
                        <a:t>-Pollution de l’air ambiant</a:t>
                      </a:r>
                    </a:p>
                    <a:p>
                      <a:r>
                        <a:rPr lang="fr-FR" sz="2000" dirty="0"/>
                        <a:t>-Emission de gaz à effet de serre</a:t>
                      </a:r>
                    </a:p>
                  </a:txBody>
                  <a:tcPr/>
                </a:tc>
                <a:extLst>
                  <a:ext uri="{0D108BD9-81ED-4DB2-BD59-A6C34878D82A}">
                    <a16:rowId xmlns:a16="http://schemas.microsoft.com/office/drawing/2014/main" val="4221585106"/>
                  </a:ext>
                </a:extLst>
              </a:tr>
            </a:tbl>
          </a:graphicData>
        </a:graphic>
      </p:graphicFrame>
      <p:pic>
        <p:nvPicPr>
          <p:cNvPr id="5" name="Picture 4" descr="Gaz à Effet de Serre et Couche d'Ozone">
            <a:extLst>
              <a:ext uri="{FF2B5EF4-FFF2-40B4-BE49-F238E27FC236}">
                <a16:creationId xmlns:a16="http://schemas.microsoft.com/office/drawing/2014/main" id="{34DF0A21-B908-004A-7FF6-E51D4B975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4810" y="2328545"/>
            <a:ext cx="3482280" cy="264653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F18539B-6F55-229A-E7A4-141BE4846924}"/>
              </a:ext>
            </a:extLst>
          </p:cNvPr>
          <p:cNvSpPr/>
          <p:nvPr/>
        </p:nvSpPr>
        <p:spPr>
          <a:xfrm>
            <a:off x="5224810" y="5036355"/>
            <a:ext cx="3482280" cy="1800539"/>
          </a:xfrm>
          <a:prstGeom prst="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5">
                    <a:lumMod val="75000"/>
                  </a:schemeClr>
                </a:solidFill>
                <a:sym typeface="Wingdings" panose="05000000000000000000" pitchFamily="2" charset="2"/>
              </a:rPr>
              <a:t></a:t>
            </a:r>
          </a:p>
          <a:p>
            <a:pPr algn="ctr"/>
            <a:r>
              <a:rPr lang="fr-FR" dirty="0">
                <a:solidFill>
                  <a:schemeClr val="accent5">
                    <a:lumMod val="75000"/>
                  </a:schemeClr>
                </a:solidFill>
                <a:sym typeface="Wingdings" panose="05000000000000000000" pitchFamily="2" charset="2"/>
              </a:rPr>
              <a:t>Hausse de la température moyenne de la Terre</a:t>
            </a:r>
          </a:p>
          <a:p>
            <a:pPr algn="ctr"/>
            <a:r>
              <a:rPr lang="fr-FR" dirty="0">
                <a:solidFill>
                  <a:schemeClr val="accent5">
                    <a:lumMod val="75000"/>
                  </a:schemeClr>
                </a:solidFill>
                <a:sym typeface="Wingdings" panose="05000000000000000000" pitchFamily="2" charset="2"/>
              </a:rPr>
              <a:t></a:t>
            </a:r>
          </a:p>
          <a:p>
            <a:pPr algn="ctr"/>
            <a:r>
              <a:rPr lang="fr-FR" dirty="0">
                <a:solidFill>
                  <a:schemeClr val="accent5">
                    <a:lumMod val="75000"/>
                  </a:schemeClr>
                </a:solidFill>
              </a:rPr>
              <a:t>Hausse du niveau de la mer</a:t>
            </a:r>
            <a:r>
              <a:rPr lang="fr-FR" dirty="0">
                <a:solidFill>
                  <a:schemeClr val="accent5">
                    <a:lumMod val="75000"/>
                  </a:schemeClr>
                </a:solidFill>
                <a:sym typeface="Wingdings" panose="05000000000000000000" pitchFamily="2" charset="2"/>
              </a:rPr>
              <a:t> </a:t>
            </a:r>
            <a:r>
              <a:rPr lang="fr-FR" dirty="0">
                <a:solidFill>
                  <a:schemeClr val="accent5">
                    <a:lumMod val="75000"/>
                  </a:schemeClr>
                </a:solidFill>
              </a:rPr>
              <a:t>Désertification</a:t>
            </a:r>
          </a:p>
        </p:txBody>
      </p:sp>
      <p:pic>
        <p:nvPicPr>
          <p:cNvPr id="7" name="Image 6">
            <a:extLst>
              <a:ext uri="{FF2B5EF4-FFF2-40B4-BE49-F238E27FC236}">
                <a16:creationId xmlns:a16="http://schemas.microsoft.com/office/drawing/2014/main" id="{75C68ADE-845D-BA72-71AB-A42744E5C18D}"/>
              </a:ext>
            </a:extLst>
          </p:cNvPr>
          <p:cNvPicPr>
            <a:picLocks noChangeAspect="1"/>
          </p:cNvPicPr>
          <p:nvPr/>
        </p:nvPicPr>
        <p:blipFill>
          <a:blip r:embed="rId3"/>
          <a:stretch>
            <a:fillRect/>
          </a:stretch>
        </p:blipFill>
        <p:spPr>
          <a:xfrm>
            <a:off x="988886" y="2328545"/>
            <a:ext cx="2930305" cy="2451978"/>
          </a:xfrm>
          <a:prstGeom prst="rect">
            <a:avLst/>
          </a:prstGeom>
        </p:spPr>
      </p:pic>
      <p:sp>
        <p:nvSpPr>
          <p:cNvPr id="8" name="ZoneTexte 7">
            <a:extLst>
              <a:ext uri="{FF2B5EF4-FFF2-40B4-BE49-F238E27FC236}">
                <a16:creationId xmlns:a16="http://schemas.microsoft.com/office/drawing/2014/main" id="{91F6711E-B22E-A968-8A0B-08E1DC4EA328}"/>
              </a:ext>
            </a:extLst>
          </p:cNvPr>
          <p:cNvSpPr txBox="1"/>
          <p:nvPr/>
        </p:nvSpPr>
        <p:spPr>
          <a:xfrm>
            <a:off x="988886" y="2328545"/>
            <a:ext cx="2941291" cy="307777"/>
          </a:xfrm>
          <a:prstGeom prst="rect">
            <a:avLst/>
          </a:prstGeom>
          <a:solidFill>
            <a:schemeClr val="bg1"/>
          </a:solidFill>
        </p:spPr>
        <p:txBody>
          <a:bodyPr wrap="square" rtlCol="0">
            <a:spAutoFit/>
          </a:bodyPr>
          <a:lstStyle/>
          <a:p>
            <a:pPr algn="ctr"/>
            <a:r>
              <a:rPr lang="fr-FR" sz="1400" b="1" dirty="0"/>
              <a:t>Destruction de la couche d’ozone:</a:t>
            </a:r>
          </a:p>
        </p:txBody>
      </p:sp>
      <p:sp>
        <p:nvSpPr>
          <p:cNvPr id="9" name="Rectangle 8">
            <a:extLst>
              <a:ext uri="{FF2B5EF4-FFF2-40B4-BE49-F238E27FC236}">
                <a16:creationId xmlns:a16="http://schemas.microsoft.com/office/drawing/2014/main" id="{83A1C28B-B334-7888-FE85-C62D4B8BAD10}"/>
              </a:ext>
            </a:extLst>
          </p:cNvPr>
          <p:cNvSpPr/>
          <p:nvPr/>
        </p:nvSpPr>
        <p:spPr>
          <a:xfrm>
            <a:off x="712898" y="4841800"/>
            <a:ext cx="3482280" cy="1995094"/>
          </a:xfrm>
          <a:prstGeom prst="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5">
                    <a:lumMod val="75000"/>
                  </a:schemeClr>
                </a:solidFill>
                <a:sym typeface="Wingdings" panose="05000000000000000000" pitchFamily="2" charset="2"/>
              </a:rPr>
              <a:t></a:t>
            </a:r>
          </a:p>
          <a:p>
            <a:pPr algn="ctr"/>
            <a:r>
              <a:rPr lang="fr-FR" dirty="0">
                <a:solidFill>
                  <a:schemeClr val="accent5">
                    <a:lumMod val="75000"/>
                  </a:schemeClr>
                </a:solidFill>
                <a:sym typeface="Wingdings" panose="05000000000000000000" pitchFamily="2" charset="2"/>
              </a:rPr>
              <a:t>Passage des rayonnements UV du soleil</a:t>
            </a:r>
          </a:p>
          <a:p>
            <a:pPr algn="ctr"/>
            <a:r>
              <a:rPr lang="fr-FR" dirty="0">
                <a:solidFill>
                  <a:schemeClr val="accent5">
                    <a:lumMod val="75000"/>
                  </a:schemeClr>
                </a:solidFill>
                <a:sym typeface="Wingdings" panose="05000000000000000000" pitchFamily="2" charset="2"/>
              </a:rPr>
              <a:t></a:t>
            </a:r>
          </a:p>
          <a:p>
            <a:pPr algn="ctr"/>
            <a:r>
              <a:rPr lang="fr-FR" dirty="0">
                <a:solidFill>
                  <a:schemeClr val="accent5">
                    <a:lumMod val="75000"/>
                  </a:schemeClr>
                </a:solidFill>
              </a:rPr>
              <a:t>Cancer de la peau, irritation des yeux, maux de tête, fragilisation des arbres</a:t>
            </a:r>
          </a:p>
        </p:txBody>
      </p:sp>
    </p:spTree>
    <p:extLst>
      <p:ext uri="{BB962C8B-B14F-4D97-AF65-F5344CB8AC3E}">
        <p14:creationId xmlns:p14="http://schemas.microsoft.com/office/powerpoint/2010/main" val="3792435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77320"/>
          </a:xfrm>
        </p:spPr>
        <p:txBody>
          <a:bodyPr>
            <a:normAutofit/>
          </a:bodyPr>
          <a:lstStyle/>
          <a:p>
            <a:pPr algn="r"/>
            <a:r>
              <a:rPr lang="fr-FR" sz="2800" dirty="0">
                <a:solidFill>
                  <a:schemeClr val="accent5">
                    <a:lumMod val="75000"/>
                  </a:schemeClr>
                </a:solidFill>
              </a:rPr>
              <a:t>2- Les impacts environnementaux</a:t>
            </a:r>
            <a:br>
              <a:rPr lang="fr-FR" sz="2800" dirty="0">
                <a:solidFill>
                  <a:schemeClr val="accent5">
                    <a:lumMod val="75000"/>
                  </a:schemeClr>
                </a:solidFill>
              </a:rPr>
            </a:br>
            <a:r>
              <a:rPr lang="fr-FR" sz="2800" dirty="0">
                <a:solidFill>
                  <a:schemeClr val="accent5">
                    <a:lumMod val="75000"/>
                  </a:schemeClr>
                </a:solidFill>
              </a:rPr>
              <a:t>Aspect : le sol</a:t>
            </a:r>
          </a:p>
        </p:txBody>
      </p:sp>
      <p:graphicFrame>
        <p:nvGraphicFramePr>
          <p:cNvPr id="2" name="Tableau 1">
            <a:extLst>
              <a:ext uri="{FF2B5EF4-FFF2-40B4-BE49-F238E27FC236}">
                <a16:creationId xmlns:a16="http://schemas.microsoft.com/office/drawing/2014/main" id="{54F982BC-AAEF-8BF3-2675-97708D19B12E}"/>
              </a:ext>
            </a:extLst>
          </p:cNvPr>
          <p:cNvGraphicFramePr>
            <a:graphicFrameLocks noGrp="1"/>
          </p:cNvGraphicFramePr>
          <p:nvPr/>
        </p:nvGraphicFramePr>
        <p:xfrm>
          <a:off x="628650" y="1825625"/>
          <a:ext cx="5075464" cy="450578"/>
        </p:xfrm>
        <a:graphic>
          <a:graphicData uri="http://schemas.openxmlformats.org/drawingml/2006/table">
            <a:tbl>
              <a:tblPr firstRow="1" bandRow="1">
                <a:tableStyleId>{7DF18680-E054-41AD-8BC1-D1AEF772440D}</a:tableStyleId>
              </a:tblPr>
              <a:tblGrid>
                <a:gridCol w="5075464">
                  <a:extLst>
                    <a:ext uri="{9D8B030D-6E8A-4147-A177-3AD203B41FA5}">
                      <a16:colId xmlns:a16="http://schemas.microsoft.com/office/drawing/2014/main" val="3315241181"/>
                    </a:ext>
                  </a:extLst>
                </a:gridCol>
              </a:tblGrid>
              <a:tr h="450578">
                <a:tc>
                  <a:txBody>
                    <a:bodyPr/>
                    <a:lstStyle/>
                    <a:p>
                      <a:r>
                        <a:rPr lang="fr-FR" sz="2000" dirty="0"/>
                        <a:t>Impact: Pollution du sol</a:t>
                      </a:r>
                    </a:p>
                  </a:txBody>
                  <a:tcPr/>
                </a:tc>
                <a:extLst>
                  <a:ext uri="{0D108BD9-81ED-4DB2-BD59-A6C34878D82A}">
                    <a16:rowId xmlns:a16="http://schemas.microsoft.com/office/drawing/2014/main" val="4147656098"/>
                  </a:ext>
                </a:extLst>
              </a:tr>
            </a:tbl>
          </a:graphicData>
        </a:graphic>
      </p:graphicFrame>
      <p:pic>
        <p:nvPicPr>
          <p:cNvPr id="7172" name="Picture 4" descr="Déversement de mazout - Contamination du sol au mazout">
            <a:extLst>
              <a:ext uri="{FF2B5EF4-FFF2-40B4-BE49-F238E27FC236}">
                <a16:creationId xmlns:a16="http://schemas.microsoft.com/office/drawing/2014/main" id="{8C077A22-4034-1125-916D-6470583558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719" y="2876794"/>
            <a:ext cx="3383182" cy="217490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FA4A8D00-D0AA-0870-1973-4B2FC6A97E10}"/>
              </a:ext>
            </a:extLst>
          </p:cNvPr>
          <p:cNvPicPr>
            <a:picLocks noChangeAspect="1"/>
          </p:cNvPicPr>
          <p:nvPr/>
        </p:nvPicPr>
        <p:blipFill>
          <a:blip r:embed="rId3"/>
          <a:stretch>
            <a:fillRect/>
          </a:stretch>
        </p:blipFill>
        <p:spPr>
          <a:xfrm>
            <a:off x="4203700" y="2866662"/>
            <a:ext cx="4562734" cy="2174903"/>
          </a:xfrm>
          <a:prstGeom prst="rect">
            <a:avLst/>
          </a:prstGeom>
        </p:spPr>
      </p:pic>
    </p:spTree>
    <p:extLst>
      <p:ext uri="{BB962C8B-B14F-4D97-AF65-F5344CB8AC3E}">
        <p14:creationId xmlns:p14="http://schemas.microsoft.com/office/powerpoint/2010/main" val="143190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136184"/>
          </a:xfrm>
        </p:spPr>
        <p:txBody>
          <a:bodyPr>
            <a:normAutofit/>
          </a:bodyPr>
          <a:lstStyle/>
          <a:p>
            <a:pPr algn="r"/>
            <a:r>
              <a:rPr lang="fr-FR" sz="2800" dirty="0">
                <a:solidFill>
                  <a:schemeClr val="accent5">
                    <a:lumMod val="75000"/>
                  </a:schemeClr>
                </a:solidFill>
              </a:rPr>
              <a:t>2- Les impacts environnementaux </a:t>
            </a:r>
            <a:br>
              <a:rPr lang="fr-FR" sz="2800" dirty="0">
                <a:solidFill>
                  <a:schemeClr val="accent5">
                    <a:lumMod val="75000"/>
                  </a:schemeClr>
                </a:solidFill>
              </a:rPr>
            </a:br>
            <a:r>
              <a:rPr lang="fr-FR" sz="2800" dirty="0">
                <a:solidFill>
                  <a:schemeClr val="accent5">
                    <a:lumMod val="75000"/>
                  </a:schemeClr>
                </a:solidFill>
              </a:rPr>
              <a:t>Aspect : les nuisances</a:t>
            </a:r>
          </a:p>
        </p:txBody>
      </p:sp>
      <p:graphicFrame>
        <p:nvGraphicFramePr>
          <p:cNvPr id="5" name="Tableau 4">
            <a:extLst>
              <a:ext uri="{FF2B5EF4-FFF2-40B4-BE49-F238E27FC236}">
                <a16:creationId xmlns:a16="http://schemas.microsoft.com/office/drawing/2014/main" id="{A60A2379-7B0E-F285-B3D3-E6E67B8052FC}"/>
              </a:ext>
            </a:extLst>
          </p:cNvPr>
          <p:cNvGraphicFramePr>
            <a:graphicFrameLocks noGrp="1"/>
          </p:cNvGraphicFramePr>
          <p:nvPr/>
        </p:nvGraphicFramePr>
        <p:xfrm>
          <a:off x="628650" y="1825625"/>
          <a:ext cx="5075464" cy="1310640"/>
        </p:xfrm>
        <a:graphic>
          <a:graphicData uri="http://schemas.openxmlformats.org/drawingml/2006/table">
            <a:tbl>
              <a:tblPr firstRow="1" bandRow="1">
                <a:tableStyleId>{7DF18680-E054-41AD-8BC1-D1AEF772440D}</a:tableStyleId>
              </a:tblPr>
              <a:tblGrid>
                <a:gridCol w="5075464">
                  <a:extLst>
                    <a:ext uri="{9D8B030D-6E8A-4147-A177-3AD203B41FA5}">
                      <a16:colId xmlns:a16="http://schemas.microsoft.com/office/drawing/2014/main" val="3315241181"/>
                    </a:ext>
                  </a:extLst>
                </a:gridCol>
              </a:tblGrid>
              <a:tr h="450578">
                <a:tc>
                  <a:txBody>
                    <a:bodyPr/>
                    <a:lstStyle/>
                    <a:p>
                      <a:r>
                        <a:rPr lang="fr-FR" sz="2000" dirty="0"/>
                        <a:t>Impacts: </a:t>
                      </a:r>
                    </a:p>
                    <a:p>
                      <a:r>
                        <a:rPr lang="fr-FR" sz="2000" dirty="0"/>
                        <a:t>-Nuisances sonores</a:t>
                      </a:r>
                    </a:p>
                    <a:p>
                      <a:r>
                        <a:rPr lang="fr-FR" sz="2000" dirty="0"/>
                        <a:t>-Dégradation du paysage</a:t>
                      </a:r>
                    </a:p>
                    <a:p>
                      <a:r>
                        <a:rPr lang="fr-FR" sz="2000" dirty="0"/>
                        <a:t>-Gêne du voisinage</a:t>
                      </a:r>
                    </a:p>
                  </a:txBody>
                  <a:tcPr/>
                </a:tc>
                <a:extLst>
                  <a:ext uri="{0D108BD9-81ED-4DB2-BD59-A6C34878D82A}">
                    <a16:rowId xmlns:a16="http://schemas.microsoft.com/office/drawing/2014/main" val="1517247187"/>
                  </a:ext>
                </a:extLst>
              </a:tr>
            </a:tbl>
          </a:graphicData>
        </a:graphic>
      </p:graphicFrame>
      <p:pic>
        <p:nvPicPr>
          <p:cNvPr id="8194" name="Picture 2" descr="Comment les émissions mondiales de CO2 ont rebondi après une baisse liée au  Covid-19">
            <a:extLst>
              <a:ext uri="{FF2B5EF4-FFF2-40B4-BE49-F238E27FC236}">
                <a16:creationId xmlns:a16="http://schemas.microsoft.com/office/drawing/2014/main" id="{A972A833-A725-15DB-98F7-B141F89F2E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462" y="3429000"/>
            <a:ext cx="5553075" cy="277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33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136184"/>
          </a:xfrm>
        </p:spPr>
        <p:txBody>
          <a:bodyPr>
            <a:normAutofit/>
          </a:bodyPr>
          <a:lstStyle/>
          <a:p>
            <a:pPr algn="r"/>
            <a:r>
              <a:rPr lang="fr-FR" sz="2800" dirty="0">
                <a:solidFill>
                  <a:schemeClr val="accent5">
                    <a:lumMod val="75000"/>
                  </a:schemeClr>
                </a:solidFill>
              </a:rPr>
              <a:t>2- Les impacts environnementaux </a:t>
            </a:r>
            <a:br>
              <a:rPr lang="fr-FR" sz="2800" dirty="0">
                <a:solidFill>
                  <a:schemeClr val="accent5">
                    <a:lumMod val="75000"/>
                  </a:schemeClr>
                </a:solidFill>
              </a:rPr>
            </a:br>
            <a:r>
              <a:rPr lang="fr-FR" sz="2800" dirty="0">
                <a:solidFill>
                  <a:schemeClr val="accent5">
                    <a:lumMod val="75000"/>
                  </a:schemeClr>
                </a:solidFill>
              </a:rPr>
              <a:t>Aspect : les nuisances Bruit</a:t>
            </a:r>
          </a:p>
        </p:txBody>
      </p:sp>
      <p:sp>
        <p:nvSpPr>
          <p:cNvPr id="4" name="ZoneTexte 3">
            <a:extLst>
              <a:ext uri="{FF2B5EF4-FFF2-40B4-BE49-F238E27FC236}">
                <a16:creationId xmlns:a16="http://schemas.microsoft.com/office/drawing/2014/main" id="{F2B7A20C-1A8C-67AA-2B10-327B76FE571A}"/>
              </a:ext>
            </a:extLst>
          </p:cNvPr>
          <p:cNvSpPr txBox="1"/>
          <p:nvPr/>
        </p:nvSpPr>
        <p:spPr>
          <a:xfrm>
            <a:off x="628650" y="2118252"/>
            <a:ext cx="7886700" cy="3693319"/>
          </a:xfrm>
          <a:prstGeom prst="rect">
            <a:avLst/>
          </a:prstGeom>
          <a:noFill/>
        </p:spPr>
        <p:txBody>
          <a:bodyPr wrap="square">
            <a:spAutoFit/>
          </a:bodyPr>
          <a:lstStyle/>
          <a:p>
            <a:pPr marL="342900" indent="-342900">
              <a:buFont typeface="Arial" panose="020B0604020202020204" pitchFamily="34" charset="0"/>
              <a:buChar char="•"/>
            </a:pPr>
            <a:r>
              <a:rPr lang="fr-FR" b="0" i="0" dirty="0">
                <a:solidFill>
                  <a:srgbClr val="202328"/>
                </a:solidFill>
                <a:effectLst/>
              </a:rPr>
              <a:t>L’émergence du bruit perçu par autrui ne doit pas être supérieure à:</a:t>
            </a:r>
          </a:p>
          <a:p>
            <a:endParaRPr lang="fr-FR" b="0" i="0" dirty="0">
              <a:solidFill>
                <a:srgbClr val="202328"/>
              </a:solidFill>
              <a:effectLst/>
            </a:endParaRPr>
          </a:p>
          <a:p>
            <a:endParaRPr lang="fr-FR" dirty="0">
              <a:solidFill>
                <a:srgbClr val="202328"/>
              </a:solidFill>
            </a:endParaRPr>
          </a:p>
          <a:p>
            <a:endParaRPr lang="fr-FR" b="0" i="0" dirty="0">
              <a:solidFill>
                <a:srgbClr val="202328"/>
              </a:solidFill>
              <a:effectLst/>
            </a:endParaRPr>
          </a:p>
          <a:p>
            <a:endParaRPr lang="fr-FR" dirty="0">
              <a:solidFill>
                <a:srgbClr val="202328"/>
              </a:solidFill>
            </a:endParaRPr>
          </a:p>
          <a:p>
            <a:endParaRPr lang="fr-FR" b="0" i="0" dirty="0">
              <a:solidFill>
                <a:srgbClr val="202328"/>
              </a:solidFill>
              <a:effectLst/>
            </a:endParaRPr>
          </a:p>
          <a:p>
            <a:endParaRPr lang="fr-FR" b="0" i="0" dirty="0">
              <a:solidFill>
                <a:srgbClr val="202328"/>
              </a:solidFill>
              <a:effectLst/>
            </a:endParaRPr>
          </a:p>
          <a:p>
            <a:endParaRPr lang="fr-FR" b="0" i="0" dirty="0">
              <a:solidFill>
                <a:srgbClr val="202328"/>
              </a:solidFill>
              <a:effectLst/>
            </a:endParaRPr>
          </a:p>
          <a:p>
            <a:pPr marL="342900" indent="-342900">
              <a:buFont typeface="Arial" panose="020B0604020202020204" pitchFamily="34" charset="0"/>
              <a:buChar char="•"/>
            </a:pPr>
            <a:endParaRPr lang="fr-FR" b="0" i="0" dirty="0">
              <a:solidFill>
                <a:srgbClr val="202328"/>
              </a:solidFill>
              <a:effectLst/>
            </a:endParaRPr>
          </a:p>
          <a:p>
            <a:pPr marL="342900" indent="-342900">
              <a:buFont typeface="Arial" panose="020B0604020202020204" pitchFamily="34" charset="0"/>
              <a:buChar char="•"/>
            </a:pPr>
            <a:endParaRPr lang="fr-FR" dirty="0">
              <a:solidFill>
                <a:srgbClr val="202328"/>
              </a:solidFill>
            </a:endParaRPr>
          </a:p>
          <a:p>
            <a:pPr marL="342900" indent="-342900">
              <a:buFont typeface="Arial" panose="020B0604020202020204" pitchFamily="34" charset="0"/>
              <a:buChar char="•"/>
            </a:pPr>
            <a:r>
              <a:rPr lang="fr-FR" b="0" i="0" dirty="0">
                <a:solidFill>
                  <a:srgbClr val="202328"/>
                </a:solidFill>
                <a:effectLst/>
              </a:rPr>
              <a:t>En cas de non-respect, les contrevenants s’exposent à une peine d’amende et encourent la confiscation de l’objet ayant provoqué l’infraction (articles R. 1336-14 à R. 1336-16 du code de la santé publique).</a:t>
            </a:r>
            <a:endParaRPr lang="fr-FR" dirty="0"/>
          </a:p>
        </p:txBody>
      </p:sp>
      <p:sp>
        <p:nvSpPr>
          <p:cNvPr id="6" name="Rectangle : coins arrondis 5">
            <a:extLst>
              <a:ext uri="{FF2B5EF4-FFF2-40B4-BE49-F238E27FC236}">
                <a16:creationId xmlns:a16="http://schemas.microsoft.com/office/drawing/2014/main" id="{3F7A240F-3E82-0A54-1288-52A449BD80D5}"/>
              </a:ext>
            </a:extLst>
          </p:cNvPr>
          <p:cNvSpPr/>
          <p:nvPr/>
        </p:nvSpPr>
        <p:spPr>
          <a:xfrm>
            <a:off x="1159559" y="2644727"/>
            <a:ext cx="2891936" cy="618978"/>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0" i="0">
                <a:solidFill>
                  <a:srgbClr val="202328"/>
                </a:solidFill>
                <a:effectLst/>
              </a:rPr>
              <a:t>5 dB(A) en période diurne</a:t>
            </a:r>
            <a:endParaRPr lang="fr-FR">
              <a:solidFill>
                <a:sysClr val="windowText" lastClr="000000"/>
              </a:solidFill>
            </a:endParaRPr>
          </a:p>
        </p:txBody>
      </p:sp>
      <p:sp>
        <p:nvSpPr>
          <p:cNvPr id="7" name="Rectangle : coins arrondis 6">
            <a:extLst>
              <a:ext uri="{FF2B5EF4-FFF2-40B4-BE49-F238E27FC236}">
                <a16:creationId xmlns:a16="http://schemas.microsoft.com/office/drawing/2014/main" id="{BA78158F-846E-D7A2-68FF-FD8FEA4D3A0F}"/>
              </a:ext>
            </a:extLst>
          </p:cNvPr>
          <p:cNvSpPr/>
          <p:nvPr/>
        </p:nvSpPr>
        <p:spPr>
          <a:xfrm>
            <a:off x="5036234" y="2644727"/>
            <a:ext cx="2891936" cy="618978"/>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0" i="0">
                <a:solidFill>
                  <a:srgbClr val="202328"/>
                </a:solidFill>
                <a:effectLst/>
              </a:rPr>
              <a:t>3 dB(A) en période nocturne</a:t>
            </a:r>
            <a:endParaRPr lang="fr-FR">
              <a:solidFill>
                <a:sysClr val="windowText" lastClr="000000"/>
              </a:solidFill>
            </a:endParaRPr>
          </a:p>
        </p:txBody>
      </p:sp>
      <p:sp>
        <p:nvSpPr>
          <p:cNvPr id="8" name="Rectangle : coins arrondis 7">
            <a:extLst>
              <a:ext uri="{FF2B5EF4-FFF2-40B4-BE49-F238E27FC236}">
                <a16:creationId xmlns:a16="http://schemas.microsoft.com/office/drawing/2014/main" id="{66CFFADD-5112-06B1-6C41-7ECC9853E7BA}"/>
              </a:ext>
            </a:extLst>
          </p:cNvPr>
          <p:cNvSpPr/>
          <p:nvPr/>
        </p:nvSpPr>
        <p:spPr>
          <a:xfrm>
            <a:off x="942535" y="3429000"/>
            <a:ext cx="6985635" cy="894141"/>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0" i="0" dirty="0">
                <a:solidFill>
                  <a:srgbClr val="202328"/>
                </a:solidFill>
                <a:effectLst/>
              </a:rPr>
              <a:t>auxquelles s’ajoute un terme correctif en fonction de la durée (article R. 1336-7 du code de la santé publique)</a:t>
            </a:r>
            <a:endParaRPr lang="fr-FR" dirty="0">
              <a:solidFill>
                <a:srgbClr val="202328"/>
              </a:solidFill>
            </a:endParaRPr>
          </a:p>
        </p:txBody>
      </p:sp>
    </p:spTree>
    <p:extLst>
      <p:ext uri="{BB962C8B-B14F-4D97-AF65-F5344CB8AC3E}">
        <p14:creationId xmlns:p14="http://schemas.microsoft.com/office/powerpoint/2010/main" val="2810591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0EA8A-113B-79C8-9092-CA72863FD8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0C2004-BDB8-9599-58C1-4FE225A9E452}"/>
              </a:ext>
            </a:extLst>
          </p:cNvPr>
          <p:cNvSpPr>
            <a:spLocks noGrp="1"/>
          </p:cNvSpPr>
          <p:nvPr>
            <p:ph type="title"/>
          </p:nvPr>
        </p:nvSpPr>
        <p:spPr>
          <a:xfrm>
            <a:off x="253049" y="3071259"/>
            <a:ext cx="3851976" cy="1361932"/>
          </a:xfrm>
        </p:spPr>
        <p:txBody>
          <a:bodyPr/>
          <a:lstStyle/>
          <a:p>
            <a:pPr algn="ctr">
              <a:defRPr/>
            </a:pPr>
            <a:r>
              <a:rPr lang="fr-FR" sz="3991" dirty="0">
                <a:solidFill>
                  <a:schemeClr val="accent1">
                    <a:lumMod val="75000"/>
                  </a:schemeClr>
                </a:solidFill>
                <a:latin typeface="+mn-lt"/>
                <a:cs typeface="Calibri" panose="020F0502020204030204" pitchFamily="34" charset="0"/>
              </a:rPr>
              <a:t>Cas d’entreprises</a:t>
            </a:r>
          </a:p>
        </p:txBody>
      </p:sp>
      <p:pic>
        <p:nvPicPr>
          <p:cNvPr id="4" name="Image 3">
            <a:extLst>
              <a:ext uri="{FF2B5EF4-FFF2-40B4-BE49-F238E27FC236}">
                <a16:creationId xmlns:a16="http://schemas.microsoft.com/office/drawing/2014/main" id="{25267E11-B196-60AB-B177-B08FFB0A9476}"/>
              </a:ext>
            </a:extLst>
          </p:cNvPr>
          <p:cNvPicPr>
            <a:picLocks noChangeAspect="1"/>
          </p:cNvPicPr>
          <p:nvPr/>
        </p:nvPicPr>
        <p:blipFill>
          <a:blip r:embed="rId2"/>
          <a:stretch>
            <a:fillRect/>
          </a:stretch>
        </p:blipFill>
        <p:spPr>
          <a:xfrm>
            <a:off x="4572000" y="2587152"/>
            <a:ext cx="3969707" cy="2749390"/>
          </a:xfrm>
          <a:prstGeom prst="rect">
            <a:avLst/>
          </a:prstGeom>
        </p:spPr>
      </p:pic>
    </p:spTree>
    <p:extLst>
      <p:ext uri="{BB962C8B-B14F-4D97-AF65-F5344CB8AC3E}">
        <p14:creationId xmlns:p14="http://schemas.microsoft.com/office/powerpoint/2010/main" val="4105396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D16B3-29A5-FDE8-759E-421ADFC43625}"/>
            </a:ext>
          </a:extLst>
        </p:cNvPr>
        <p:cNvGrpSpPr/>
        <p:nvPr/>
      </p:nvGrpSpPr>
      <p:grpSpPr>
        <a:xfrm>
          <a:off x="0" y="0"/>
          <a:ext cx="0" cy="0"/>
          <a:chOff x="0" y="0"/>
          <a:chExt cx="0" cy="0"/>
        </a:xfrm>
      </p:grpSpPr>
      <p:sp>
        <p:nvSpPr>
          <p:cNvPr id="5" name="Titre 2">
            <a:extLst>
              <a:ext uri="{FF2B5EF4-FFF2-40B4-BE49-F238E27FC236}">
                <a16:creationId xmlns:a16="http://schemas.microsoft.com/office/drawing/2014/main" id="{32EB3C89-A053-730F-63B3-D27B04ECA13C}"/>
              </a:ext>
            </a:extLst>
          </p:cNvPr>
          <p:cNvSpPr txBox="1">
            <a:spLocks/>
          </p:cNvSpPr>
          <p:nvPr/>
        </p:nvSpPr>
        <p:spPr>
          <a:xfrm>
            <a:off x="628650" y="21105"/>
            <a:ext cx="7886700" cy="10562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a:solidFill>
                  <a:schemeClr val="accent5">
                    <a:lumMod val="75000"/>
                  </a:schemeClr>
                </a:solidFill>
              </a:rPr>
              <a:t>Cas d’entreprises</a:t>
            </a:r>
            <a:endParaRPr lang="fr-FR" sz="2800" dirty="0">
              <a:solidFill>
                <a:schemeClr val="accent5">
                  <a:lumMod val="75000"/>
                </a:schemeClr>
              </a:solidFill>
            </a:endParaRPr>
          </a:p>
        </p:txBody>
      </p:sp>
      <p:pic>
        <p:nvPicPr>
          <p:cNvPr id="7" name="Image 6">
            <a:extLst>
              <a:ext uri="{FF2B5EF4-FFF2-40B4-BE49-F238E27FC236}">
                <a16:creationId xmlns:a16="http://schemas.microsoft.com/office/drawing/2014/main" id="{C4D739F9-E59A-3E97-BC1E-E72A005A8347}"/>
              </a:ext>
            </a:extLst>
          </p:cNvPr>
          <p:cNvPicPr>
            <a:picLocks noChangeAspect="1"/>
          </p:cNvPicPr>
          <p:nvPr/>
        </p:nvPicPr>
        <p:blipFill>
          <a:blip r:embed="rId2"/>
          <a:srcRect t="15710" b="3723"/>
          <a:stretch/>
        </p:blipFill>
        <p:spPr>
          <a:xfrm>
            <a:off x="1719241" y="134764"/>
            <a:ext cx="4193846" cy="4778941"/>
          </a:xfrm>
          <a:prstGeom prst="rect">
            <a:avLst/>
          </a:prstGeom>
        </p:spPr>
      </p:pic>
      <p:pic>
        <p:nvPicPr>
          <p:cNvPr id="9" name="Image 8">
            <a:extLst>
              <a:ext uri="{FF2B5EF4-FFF2-40B4-BE49-F238E27FC236}">
                <a16:creationId xmlns:a16="http://schemas.microsoft.com/office/drawing/2014/main" id="{B770F585-ABD9-6FA6-8A94-50478B4C8124}"/>
              </a:ext>
            </a:extLst>
          </p:cNvPr>
          <p:cNvPicPr>
            <a:picLocks noChangeAspect="1"/>
          </p:cNvPicPr>
          <p:nvPr/>
        </p:nvPicPr>
        <p:blipFill>
          <a:blip r:embed="rId3"/>
          <a:srcRect t="3723" b="63983"/>
          <a:stretch/>
        </p:blipFill>
        <p:spPr>
          <a:xfrm>
            <a:off x="1719240" y="4857820"/>
            <a:ext cx="4193847" cy="1915575"/>
          </a:xfrm>
          <a:prstGeom prst="rect">
            <a:avLst/>
          </a:prstGeom>
        </p:spPr>
      </p:pic>
    </p:spTree>
    <p:extLst>
      <p:ext uri="{BB962C8B-B14F-4D97-AF65-F5344CB8AC3E}">
        <p14:creationId xmlns:p14="http://schemas.microsoft.com/office/powerpoint/2010/main" val="1599587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CF033-0290-95F9-16B6-035F035D3FE9}"/>
            </a:ext>
          </a:extLst>
        </p:cNvPr>
        <p:cNvGrpSpPr/>
        <p:nvPr/>
      </p:nvGrpSpPr>
      <p:grpSpPr>
        <a:xfrm>
          <a:off x="0" y="0"/>
          <a:ext cx="0" cy="0"/>
          <a:chOff x="0" y="0"/>
          <a:chExt cx="0" cy="0"/>
        </a:xfrm>
      </p:grpSpPr>
      <p:sp>
        <p:nvSpPr>
          <p:cNvPr id="5" name="Titre 2">
            <a:extLst>
              <a:ext uri="{FF2B5EF4-FFF2-40B4-BE49-F238E27FC236}">
                <a16:creationId xmlns:a16="http://schemas.microsoft.com/office/drawing/2014/main" id="{67DC6D48-DD4B-66B8-894D-E3FC50EBF4CF}"/>
              </a:ext>
            </a:extLst>
          </p:cNvPr>
          <p:cNvSpPr txBox="1">
            <a:spLocks/>
          </p:cNvSpPr>
          <p:nvPr/>
        </p:nvSpPr>
        <p:spPr>
          <a:xfrm>
            <a:off x="628650" y="21105"/>
            <a:ext cx="7886700" cy="10562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Cas d’entreprises</a:t>
            </a:r>
          </a:p>
        </p:txBody>
      </p:sp>
      <p:pic>
        <p:nvPicPr>
          <p:cNvPr id="4" name="Image 3">
            <a:extLst>
              <a:ext uri="{FF2B5EF4-FFF2-40B4-BE49-F238E27FC236}">
                <a16:creationId xmlns:a16="http://schemas.microsoft.com/office/drawing/2014/main" id="{77DEFA0A-3EF6-80F6-34A5-4B6D8D4E164C}"/>
              </a:ext>
            </a:extLst>
          </p:cNvPr>
          <p:cNvPicPr>
            <a:picLocks noChangeAspect="1"/>
          </p:cNvPicPr>
          <p:nvPr/>
        </p:nvPicPr>
        <p:blipFill>
          <a:blip r:embed="rId2"/>
          <a:srcRect l="6262" t="9815" r="5475" b="7963"/>
          <a:stretch>
            <a:fillRect/>
          </a:stretch>
        </p:blipFill>
        <p:spPr>
          <a:xfrm>
            <a:off x="128002" y="783708"/>
            <a:ext cx="4279900" cy="5638800"/>
          </a:xfrm>
          <a:prstGeom prst="rect">
            <a:avLst/>
          </a:prstGeom>
        </p:spPr>
      </p:pic>
      <p:pic>
        <p:nvPicPr>
          <p:cNvPr id="8" name="Image 7">
            <a:extLst>
              <a:ext uri="{FF2B5EF4-FFF2-40B4-BE49-F238E27FC236}">
                <a16:creationId xmlns:a16="http://schemas.microsoft.com/office/drawing/2014/main" id="{803A35EA-706A-DA8B-F599-AE2D9E655DE4}"/>
              </a:ext>
            </a:extLst>
          </p:cNvPr>
          <p:cNvPicPr>
            <a:picLocks noChangeAspect="1"/>
          </p:cNvPicPr>
          <p:nvPr/>
        </p:nvPicPr>
        <p:blipFill>
          <a:blip r:embed="rId3"/>
          <a:stretch>
            <a:fillRect/>
          </a:stretch>
        </p:blipFill>
        <p:spPr>
          <a:xfrm>
            <a:off x="4572000" y="3111500"/>
            <a:ext cx="4363269" cy="1926708"/>
          </a:xfrm>
          <a:prstGeom prst="rect">
            <a:avLst/>
          </a:prstGeom>
        </p:spPr>
      </p:pic>
    </p:spTree>
    <p:extLst>
      <p:ext uri="{BB962C8B-B14F-4D97-AF65-F5344CB8AC3E}">
        <p14:creationId xmlns:p14="http://schemas.microsoft.com/office/powerpoint/2010/main" val="27330961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9557968C-3AF1-9B69-C129-EC25F749A2FF}"/>
              </a:ext>
            </a:extLst>
          </p:cNvPr>
          <p:cNvPicPr>
            <a:picLocks noChangeAspect="1"/>
          </p:cNvPicPr>
          <p:nvPr/>
        </p:nvPicPr>
        <p:blipFill>
          <a:blip r:embed="rId2"/>
          <a:srcRect l="6529" t="6852" r="7838" b="17778"/>
          <a:stretch>
            <a:fillRect/>
          </a:stretch>
        </p:blipFill>
        <p:spPr>
          <a:xfrm>
            <a:off x="2209800" y="1193800"/>
            <a:ext cx="4152900" cy="5168900"/>
          </a:xfrm>
          <a:prstGeom prst="rect">
            <a:avLst/>
          </a:prstGeom>
        </p:spPr>
      </p:pic>
      <p:sp>
        <p:nvSpPr>
          <p:cNvPr id="8" name="Titre 2">
            <a:extLst>
              <a:ext uri="{FF2B5EF4-FFF2-40B4-BE49-F238E27FC236}">
                <a16:creationId xmlns:a16="http://schemas.microsoft.com/office/drawing/2014/main" id="{AC70FD6E-3CF9-CD4A-65BC-15E430926969}"/>
              </a:ext>
            </a:extLst>
          </p:cNvPr>
          <p:cNvSpPr txBox="1">
            <a:spLocks/>
          </p:cNvSpPr>
          <p:nvPr/>
        </p:nvSpPr>
        <p:spPr>
          <a:xfrm>
            <a:off x="628650" y="21105"/>
            <a:ext cx="7886700" cy="10562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Cas d’entreprises</a:t>
            </a:r>
          </a:p>
        </p:txBody>
      </p:sp>
    </p:spTree>
    <p:extLst>
      <p:ext uri="{BB962C8B-B14F-4D97-AF65-F5344CB8AC3E}">
        <p14:creationId xmlns:p14="http://schemas.microsoft.com/office/powerpoint/2010/main" val="2799728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2DC00636-4027-419E-8C64-B45D0AF8A40B}"/>
              </a:ext>
            </a:extLst>
          </p:cNvPr>
          <p:cNvSpPr>
            <a:spLocks noGrp="1"/>
          </p:cNvSpPr>
          <p:nvPr>
            <p:ph sz="half" idx="1"/>
          </p:nvPr>
        </p:nvSpPr>
        <p:spPr>
          <a:xfrm>
            <a:off x="136227" y="1797050"/>
            <a:ext cx="3907136" cy="4351338"/>
          </a:xfrm>
        </p:spPr>
        <p:txBody>
          <a:bodyPr anchor="ctr">
            <a:normAutofit/>
          </a:bodyPr>
          <a:lstStyle/>
          <a:p>
            <a:pPr marL="0" indent="0" algn="ctr">
              <a:buNone/>
            </a:pPr>
            <a:r>
              <a:rPr lang="fr-FR" sz="3600" dirty="0">
                <a:solidFill>
                  <a:schemeClr val="accent5">
                    <a:lumMod val="75000"/>
                  </a:schemeClr>
                </a:solidFill>
              </a:rPr>
              <a:t>Partie 3</a:t>
            </a:r>
          </a:p>
          <a:p>
            <a:pPr marL="0" indent="0" algn="ctr">
              <a:buNone/>
            </a:pPr>
            <a:r>
              <a:rPr lang="fr-FR" sz="3600" dirty="0">
                <a:solidFill>
                  <a:schemeClr val="accent5">
                    <a:lumMod val="75000"/>
                  </a:schemeClr>
                </a:solidFill>
              </a:rPr>
              <a:t>Domaines d’action</a:t>
            </a:r>
          </a:p>
        </p:txBody>
      </p:sp>
      <p:pic>
        <p:nvPicPr>
          <p:cNvPr id="4" name="Image 3">
            <a:extLst>
              <a:ext uri="{FF2B5EF4-FFF2-40B4-BE49-F238E27FC236}">
                <a16:creationId xmlns:a16="http://schemas.microsoft.com/office/drawing/2014/main" id="{7AA501E8-F874-47BF-2CAD-EE6830AFBCA9}"/>
              </a:ext>
            </a:extLst>
          </p:cNvPr>
          <p:cNvPicPr>
            <a:picLocks noChangeAspect="1"/>
          </p:cNvPicPr>
          <p:nvPr/>
        </p:nvPicPr>
        <p:blipFill>
          <a:blip r:embed="rId2"/>
          <a:stretch>
            <a:fillRect/>
          </a:stretch>
        </p:blipFill>
        <p:spPr>
          <a:xfrm>
            <a:off x="4572000" y="2643188"/>
            <a:ext cx="4264925" cy="2286000"/>
          </a:xfrm>
          <a:prstGeom prst="rect">
            <a:avLst/>
          </a:prstGeom>
        </p:spPr>
      </p:pic>
    </p:spTree>
    <p:extLst>
      <p:ext uri="{BB962C8B-B14F-4D97-AF65-F5344CB8AC3E}">
        <p14:creationId xmlns:p14="http://schemas.microsoft.com/office/powerpoint/2010/main" val="621677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8707573-48F8-4B8C-8F6E-500DB0374215}"/>
              </a:ext>
            </a:extLst>
          </p:cNvPr>
          <p:cNvSpPr>
            <a:spLocks noGrp="1"/>
          </p:cNvSpPr>
          <p:nvPr>
            <p:ph type="title"/>
          </p:nvPr>
        </p:nvSpPr>
        <p:spPr>
          <a:xfrm>
            <a:off x="628650" y="21105"/>
            <a:ext cx="7886700" cy="1056258"/>
          </a:xfrm>
        </p:spPr>
        <p:txBody>
          <a:bodyPr>
            <a:normAutofit/>
          </a:bodyPr>
          <a:lstStyle/>
          <a:p>
            <a:pPr algn="r"/>
            <a:r>
              <a:rPr lang="fr-FR" sz="2800" dirty="0">
                <a:solidFill>
                  <a:schemeClr val="accent5">
                    <a:lumMod val="75000"/>
                  </a:schemeClr>
                </a:solidFill>
              </a:rPr>
              <a:t>3- Domaines d’action</a:t>
            </a:r>
          </a:p>
        </p:txBody>
      </p:sp>
      <p:sp>
        <p:nvSpPr>
          <p:cNvPr id="4" name="Espace réservé du contenu 3">
            <a:extLst>
              <a:ext uri="{FF2B5EF4-FFF2-40B4-BE49-F238E27FC236}">
                <a16:creationId xmlns:a16="http://schemas.microsoft.com/office/drawing/2014/main" id="{6160A5E9-A2F2-43F9-B8F0-23C32E47B567}"/>
              </a:ext>
            </a:extLst>
          </p:cNvPr>
          <p:cNvSpPr>
            <a:spLocks noGrp="1"/>
          </p:cNvSpPr>
          <p:nvPr>
            <p:ph idx="1"/>
          </p:nvPr>
        </p:nvSpPr>
        <p:spPr>
          <a:xfrm>
            <a:off x="291420" y="1447421"/>
            <a:ext cx="1271588" cy="417513"/>
          </a:xfrm>
        </p:spPr>
        <p:txBody>
          <a:bodyPr>
            <a:normAutofit/>
          </a:bodyPr>
          <a:lstStyle/>
          <a:p>
            <a:pPr marL="0" indent="0">
              <a:buNone/>
            </a:pPr>
            <a:r>
              <a:rPr lang="fr-FR" sz="2000" b="1" u="sng" dirty="0">
                <a:solidFill>
                  <a:schemeClr val="accent5">
                    <a:lumMod val="75000"/>
                  </a:schemeClr>
                </a:solidFill>
              </a:rPr>
              <a:t>Objectifs:</a:t>
            </a:r>
          </a:p>
        </p:txBody>
      </p:sp>
      <p:sp>
        <p:nvSpPr>
          <p:cNvPr id="5" name="ZoneTexte 4">
            <a:extLst>
              <a:ext uri="{FF2B5EF4-FFF2-40B4-BE49-F238E27FC236}">
                <a16:creationId xmlns:a16="http://schemas.microsoft.com/office/drawing/2014/main" id="{78EE931A-C88F-86B2-0BAE-87E235E48681}"/>
              </a:ext>
            </a:extLst>
          </p:cNvPr>
          <p:cNvSpPr txBox="1"/>
          <p:nvPr/>
        </p:nvSpPr>
        <p:spPr>
          <a:xfrm>
            <a:off x="1563008" y="4386214"/>
            <a:ext cx="7580992" cy="1477328"/>
          </a:xfrm>
          <a:prstGeom prst="rect">
            <a:avLst/>
          </a:prstGeom>
          <a:noFill/>
        </p:spPr>
        <p:txBody>
          <a:bodyPr wrap="square" rtlCol="0">
            <a:spAutoFit/>
          </a:bodyPr>
          <a:lstStyle/>
          <a:p>
            <a:pPr marL="285750" indent="-285750">
              <a:buFont typeface="Wingdings" panose="05000000000000000000" pitchFamily="2" charset="2"/>
              <a:buChar char="à"/>
            </a:pPr>
            <a:r>
              <a:rPr lang="fr-FR" dirty="0">
                <a:solidFill>
                  <a:schemeClr val="accent5">
                    <a:lumMod val="50000"/>
                  </a:schemeClr>
                </a:solidFill>
                <a:sym typeface="Wingdings" panose="05000000000000000000" pitchFamily="2" charset="2"/>
              </a:rPr>
              <a:t>Gestion des déchets, des pollutions locales, des IE liés aux transports</a:t>
            </a:r>
          </a:p>
          <a:p>
            <a:pPr marL="285750" indent="-285750">
              <a:buFont typeface="Wingdings" panose="05000000000000000000" pitchFamily="2" charset="2"/>
              <a:buChar char="à"/>
            </a:pPr>
            <a:r>
              <a:rPr lang="fr-FR" dirty="0">
                <a:solidFill>
                  <a:schemeClr val="accent5">
                    <a:lumMod val="50000"/>
                  </a:schemeClr>
                </a:solidFill>
                <a:sym typeface="Wingdings" panose="05000000000000000000" pitchFamily="2" charset="2"/>
              </a:rPr>
              <a:t>Achats responsables</a:t>
            </a:r>
          </a:p>
          <a:p>
            <a:pPr marL="285750" indent="-285750">
              <a:buFont typeface="Wingdings" panose="05000000000000000000" pitchFamily="2" charset="2"/>
              <a:buChar char="à"/>
            </a:pPr>
            <a:r>
              <a:rPr lang="fr-FR" dirty="0">
                <a:solidFill>
                  <a:schemeClr val="accent5">
                    <a:lumMod val="50000"/>
                  </a:schemeClr>
                </a:solidFill>
                <a:sym typeface="Wingdings" panose="05000000000000000000" pitchFamily="2" charset="2"/>
              </a:rPr>
              <a:t>Éco-conception</a:t>
            </a:r>
          </a:p>
          <a:p>
            <a:pPr marL="285750" indent="-285750">
              <a:buFont typeface="Wingdings" panose="05000000000000000000" pitchFamily="2" charset="2"/>
              <a:buChar char="à"/>
            </a:pPr>
            <a:r>
              <a:rPr lang="fr-FR" dirty="0">
                <a:solidFill>
                  <a:schemeClr val="accent5">
                    <a:lumMod val="50000"/>
                  </a:schemeClr>
                </a:solidFill>
                <a:sym typeface="Wingdings" panose="05000000000000000000" pitchFamily="2" charset="2"/>
              </a:rPr>
              <a:t>Écologie industrielle</a:t>
            </a:r>
          </a:p>
          <a:p>
            <a:pPr marL="285750" indent="-285750">
              <a:buFont typeface="Wingdings" panose="05000000000000000000" pitchFamily="2" charset="2"/>
              <a:buChar char="à"/>
            </a:pPr>
            <a:r>
              <a:rPr lang="fr-FR" dirty="0">
                <a:solidFill>
                  <a:schemeClr val="accent5">
                    <a:lumMod val="50000"/>
                  </a:schemeClr>
                </a:solidFill>
                <a:sym typeface="Wingdings" panose="05000000000000000000" pitchFamily="2" charset="2"/>
              </a:rPr>
              <a:t>Économie circulaire</a:t>
            </a:r>
          </a:p>
        </p:txBody>
      </p:sp>
      <p:graphicFrame>
        <p:nvGraphicFramePr>
          <p:cNvPr id="6" name="Diagramme 5">
            <a:extLst>
              <a:ext uri="{FF2B5EF4-FFF2-40B4-BE49-F238E27FC236}">
                <a16:creationId xmlns:a16="http://schemas.microsoft.com/office/drawing/2014/main" id="{651CF3CF-6226-0048-EEC3-E7B23215444C}"/>
              </a:ext>
            </a:extLst>
          </p:cNvPr>
          <p:cNvGraphicFramePr/>
          <p:nvPr/>
        </p:nvGraphicFramePr>
        <p:xfrm>
          <a:off x="358433" y="1656178"/>
          <a:ext cx="8427134" cy="23633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Espace réservé du contenu 3">
            <a:extLst>
              <a:ext uri="{FF2B5EF4-FFF2-40B4-BE49-F238E27FC236}">
                <a16:creationId xmlns:a16="http://schemas.microsoft.com/office/drawing/2014/main" id="{FAEAC8F0-DBAC-E4F5-9B1F-8AD30EF6CFD6}"/>
              </a:ext>
            </a:extLst>
          </p:cNvPr>
          <p:cNvSpPr txBox="1">
            <a:spLocks/>
          </p:cNvSpPr>
          <p:nvPr/>
        </p:nvSpPr>
        <p:spPr>
          <a:xfrm>
            <a:off x="216181" y="4386214"/>
            <a:ext cx="1556092" cy="46814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fr-FR" sz="2000" b="1" u="sng" dirty="0">
                <a:solidFill>
                  <a:schemeClr val="accent5">
                    <a:lumMod val="75000"/>
                  </a:schemeClr>
                </a:solidFill>
              </a:rPr>
              <a:t>Méthodes :</a:t>
            </a:r>
          </a:p>
        </p:txBody>
      </p:sp>
    </p:spTree>
    <p:extLst>
      <p:ext uri="{BB962C8B-B14F-4D97-AF65-F5344CB8AC3E}">
        <p14:creationId xmlns:p14="http://schemas.microsoft.com/office/powerpoint/2010/main" val="90659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6" grpId="0">
        <p:bldAsOne/>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628650" y="2293257"/>
            <a:ext cx="7886700" cy="3672114"/>
          </a:xfrm>
        </p:spPr>
        <p:txBody>
          <a:bodyPr>
            <a:normAutofit/>
          </a:bodyPr>
          <a:lstStyle/>
          <a:p>
            <a:pPr marL="0" indent="0">
              <a:buNone/>
            </a:pPr>
            <a:r>
              <a:rPr lang="fr-FR" sz="1800" b="1" u="sng" dirty="0">
                <a:solidFill>
                  <a:schemeClr val="accent5">
                    <a:lumMod val="75000"/>
                  </a:schemeClr>
                </a:solidFill>
              </a:rPr>
              <a:t>Définition « environnementale » d’un déchet: </a:t>
            </a:r>
            <a:endParaRPr lang="fr-FR" sz="1800" dirty="0">
              <a:solidFill>
                <a:schemeClr val="accent5">
                  <a:lumMod val="75000"/>
                </a:schemeClr>
              </a:solidFill>
            </a:endParaRPr>
          </a:p>
          <a:p>
            <a:pPr marL="0" indent="0">
              <a:buNone/>
            </a:pPr>
            <a:endParaRPr lang="fr-FR" sz="1800" dirty="0"/>
          </a:p>
          <a:p>
            <a:pPr marL="0" indent="0" algn="ctr">
              <a:buNone/>
            </a:pPr>
            <a:r>
              <a:rPr lang="fr-FR" sz="1800" dirty="0"/>
              <a:t>« </a:t>
            </a:r>
            <a:r>
              <a:rPr lang="fr-FR" sz="1800" dirty="0">
                <a:solidFill>
                  <a:srgbClr val="000000"/>
                </a:solidFill>
              </a:rPr>
              <a:t>T</a:t>
            </a:r>
            <a:r>
              <a:rPr lang="fr-FR" sz="1800" b="0" i="0" dirty="0">
                <a:solidFill>
                  <a:srgbClr val="000000"/>
                </a:solidFill>
                <a:effectLst/>
              </a:rPr>
              <a:t>oute substance ou tout objet, ou plus généralement tout bien meuble, dont le détenteur se défait ou dont il a l'intention ou l'obligation de se défaire »</a:t>
            </a:r>
          </a:p>
          <a:p>
            <a:pPr marL="0" indent="0" algn="ctr">
              <a:buNone/>
            </a:pPr>
            <a:endParaRPr lang="fr-FR" sz="1800" b="0" i="0" dirty="0">
              <a:solidFill>
                <a:srgbClr val="000000"/>
              </a:solidFill>
              <a:effectLst/>
            </a:endParaRPr>
          </a:p>
          <a:p>
            <a:pPr marL="0" indent="0" algn="ctr">
              <a:buNone/>
            </a:pPr>
            <a:r>
              <a:rPr lang="fr-FR" sz="1800" dirty="0">
                <a:solidFill>
                  <a:srgbClr val="000000"/>
                </a:solidFill>
              </a:rPr>
              <a:t>(article L. 541-1-1 du code de l’environnement, modifié par l’ordonnance </a:t>
            </a:r>
          </a:p>
          <a:p>
            <a:pPr marL="0" indent="0" algn="ctr">
              <a:buNone/>
            </a:pPr>
            <a:r>
              <a:rPr lang="fr-FR" sz="1800" dirty="0">
                <a:solidFill>
                  <a:srgbClr val="000000"/>
                </a:solidFill>
              </a:rPr>
              <a:t>n° 2010-1579 du 17/12/2010)</a:t>
            </a:r>
            <a:endParaRPr lang="fr-FR" sz="1800" dirty="0"/>
          </a:p>
          <a:p>
            <a:endParaRPr lang="fr-FR" sz="1800" dirty="0"/>
          </a:p>
          <a:p>
            <a:endParaRPr lang="fr-FR" sz="1800" dirty="0"/>
          </a:p>
          <a:p>
            <a:endParaRPr lang="fr-FR" sz="1800" dirty="0"/>
          </a:p>
          <a:p>
            <a:endParaRPr lang="fr-FR" sz="1800" dirty="0"/>
          </a:p>
        </p:txBody>
      </p:sp>
      <p:sp>
        <p:nvSpPr>
          <p:cNvPr id="8" name="Titre 1">
            <a:extLst>
              <a:ext uri="{FF2B5EF4-FFF2-40B4-BE49-F238E27FC236}">
                <a16:creationId xmlns:a16="http://schemas.microsoft.com/office/drawing/2014/main" id="{EC75D620-E377-4437-8F85-443239EC76E1}"/>
              </a:ext>
            </a:extLst>
          </p:cNvPr>
          <p:cNvSpPr>
            <a:spLocks noGrp="1"/>
          </p:cNvSpPr>
          <p:nvPr>
            <p:ph type="title"/>
          </p:nvPr>
        </p:nvSpPr>
        <p:spPr>
          <a:xfrm>
            <a:off x="628649" y="22225"/>
            <a:ext cx="8129587" cy="112077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a:t>
            </a:r>
          </a:p>
        </p:txBody>
      </p:sp>
      <p:sp>
        <p:nvSpPr>
          <p:cNvPr id="2" name="Rectangle : coins arrondis 1">
            <a:extLst>
              <a:ext uri="{FF2B5EF4-FFF2-40B4-BE49-F238E27FC236}">
                <a16:creationId xmlns:a16="http://schemas.microsoft.com/office/drawing/2014/main" id="{36D266B1-CB55-6A5A-613E-CCC0E516B2C6}"/>
              </a:ext>
            </a:extLst>
          </p:cNvPr>
          <p:cNvSpPr/>
          <p:nvPr/>
        </p:nvSpPr>
        <p:spPr>
          <a:xfrm>
            <a:off x="2886073" y="5118636"/>
            <a:ext cx="3614737" cy="45039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accent5">
                    <a:lumMod val="75000"/>
                  </a:schemeClr>
                </a:solidFill>
              </a:rPr>
              <a:t>Déchets ≠ Sous-produits</a:t>
            </a:r>
          </a:p>
        </p:txBody>
      </p:sp>
    </p:spTree>
    <p:extLst>
      <p:ext uri="{BB962C8B-B14F-4D97-AF65-F5344CB8AC3E}">
        <p14:creationId xmlns:p14="http://schemas.microsoft.com/office/powerpoint/2010/main" val="1717200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514350" y="1289957"/>
            <a:ext cx="7886700" cy="507093"/>
          </a:xfrm>
        </p:spPr>
        <p:txBody>
          <a:bodyPr>
            <a:normAutofit/>
          </a:bodyPr>
          <a:lstStyle/>
          <a:p>
            <a:pPr marL="0" indent="0">
              <a:buNone/>
            </a:pPr>
            <a:r>
              <a:rPr lang="fr-FR" sz="1800" b="1" u="sng" dirty="0">
                <a:solidFill>
                  <a:schemeClr val="accent5">
                    <a:lumMod val="75000"/>
                  </a:schemeClr>
                </a:solidFill>
              </a:rPr>
              <a:t>Autres définitions d’un déchet:</a:t>
            </a:r>
            <a:endParaRPr lang="fr-FR" sz="1800" dirty="0"/>
          </a:p>
        </p:txBody>
      </p:sp>
      <p:sp>
        <p:nvSpPr>
          <p:cNvPr id="8" name="Titre 1">
            <a:extLst>
              <a:ext uri="{FF2B5EF4-FFF2-40B4-BE49-F238E27FC236}">
                <a16:creationId xmlns:a16="http://schemas.microsoft.com/office/drawing/2014/main" id="{EC75D620-E377-4437-8F85-443239EC76E1}"/>
              </a:ext>
            </a:extLst>
          </p:cNvPr>
          <p:cNvSpPr>
            <a:spLocks noGrp="1"/>
          </p:cNvSpPr>
          <p:nvPr>
            <p:ph type="title"/>
          </p:nvPr>
        </p:nvSpPr>
        <p:spPr>
          <a:xfrm>
            <a:off x="628649" y="22225"/>
            <a:ext cx="8129587" cy="1113744"/>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a:t>
            </a:r>
          </a:p>
        </p:txBody>
      </p:sp>
      <p:sp>
        <p:nvSpPr>
          <p:cNvPr id="5" name="Rectangle : coins arrondis 4">
            <a:extLst>
              <a:ext uri="{FF2B5EF4-FFF2-40B4-BE49-F238E27FC236}">
                <a16:creationId xmlns:a16="http://schemas.microsoft.com/office/drawing/2014/main" id="{812CC6BF-9B18-C746-D463-9667B56CAF6C}"/>
              </a:ext>
            </a:extLst>
          </p:cNvPr>
          <p:cNvSpPr/>
          <p:nvPr/>
        </p:nvSpPr>
        <p:spPr>
          <a:xfrm>
            <a:off x="321358" y="1935955"/>
            <a:ext cx="3857738" cy="1157288"/>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lumMod val="75000"/>
                  </a:schemeClr>
                </a:solidFill>
              </a:rPr>
              <a:t>« Produit sans valeur marchande ou à valeur négative »</a:t>
            </a:r>
          </a:p>
          <a:p>
            <a:pPr algn="ctr"/>
            <a:r>
              <a:rPr lang="fr-FR" b="1" dirty="0">
                <a:solidFill>
                  <a:schemeClr val="accent5">
                    <a:lumMod val="75000"/>
                  </a:schemeClr>
                </a:solidFill>
              </a:rPr>
              <a:t>(Qui coûte à éliminer)</a:t>
            </a:r>
          </a:p>
        </p:txBody>
      </p:sp>
      <p:sp>
        <p:nvSpPr>
          <p:cNvPr id="6" name="Rectangle : coins arrondis 5">
            <a:extLst>
              <a:ext uri="{FF2B5EF4-FFF2-40B4-BE49-F238E27FC236}">
                <a16:creationId xmlns:a16="http://schemas.microsoft.com/office/drawing/2014/main" id="{2464A336-49AE-B828-740E-0A03FAEC2A17}"/>
              </a:ext>
            </a:extLst>
          </p:cNvPr>
          <p:cNvSpPr/>
          <p:nvPr/>
        </p:nvSpPr>
        <p:spPr>
          <a:xfrm>
            <a:off x="4729050" y="1935955"/>
            <a:ext cx="3672000" cy="1157288"/>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lumMod val="75000"/>
                  </a:schemeClr>
                </a:solidFill>
              </a:rPr>
              <a:t>« Sont susceptibles de présenter un risque sanitaire « </a:t>
            </a:r>
          </a:p>
          <a:p>
            <a:pPr algn="ctr"/>
            <a:r>
              <a:rPr lang="fr-FR" b="1" dirty="0">
                <a:solidFill>
                  <a:schemeClr val="accent5">
                    <a:lumMod val="75000"/>
                  </a:schemeClr>
                </a:solidFill>
              </a:rPr>
              <a:t>(par leur nature ou leur gestion)</a:t>
            </a:r>
          </a:p>
        </p:txBody>
      </p:sp>
      <p:sp>
        <p:nvSpPr>
          <p:cNvPr id="7" name="Ellipse 6">
            <a:extLst>
              <a:ext uri="{FF2B5EF4-FFF2-40B4-BE49-F238E27FC236}">
                <a16:creationId xmlns:a16="http://schemas.microsoft.com/office/drawing/2014/main" id="{91B2C631-10DB-C84D-E190-20A0CA75A3B4}"/>
              </a:ext>
            </a:extLst>
          </p:cNvPr>
          <p:cNvSpPr/>
          <p:nvPr/>
        </p:nvSpPr>
        <p:spPr>
          <a:xfrm>
            <a:off x="964296" y="3093243"/>
            <a:ext cx="2371725" cy="671513"/>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Vision économique</a:t>
            </a:r>
          </a:p>
        </p:txBody>
      </p:sp>
      <p:sp>
        <p:nvSpPr>
          <p:cNvPr id="9" name="Ellipse 8">
            <a:extLst>
              <a:ext uri="{FF2B5EF4-FFF2-40B4-BE49-F238E27FC236}">
                <a16:creationId xmlns:a16="http://schemas.microsoft.com/office/drawing/2014/main" id="{EFC563FE-0536-9EB5-0710-5AF930106627}"/>
              </a:ext>
            </a:extLst>
          </p:cNvPr>
          <p:cNvSpPr/>
          <p:nvPr/>
        </p:nvSpPr>
        <p:spPr>
          <a:xfrm>
            <a:off x="5379187" y="3093243"/>
            <a:ext cx="2371725" cy="671513"/>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Vision sanitaire</a:t>
            </a:r>
          </a:p>
        </p:txBody>
      </p:sp>
      <p:sp>
        <p:nvSpPr>
          <p:cNvPr id="2" name="Espace réservé du contenu 2">
            <a:extLst>
              <a:ext uri="{FF2B5EF4-FFF2-40B4-BE49-F238E27FC236}">
                <a16:creationId xmlns:a16="http://schemas.microsoft.com/office/drawing/2014/main" id="{FEF6C079-F1C0-4807-865F-2C1DB3009467}"/>
              </a:ext>
            </a:extLst>
          </p:cNvPr>
          <p:cNvSpPr txBox="1">
            <a:spLocks/>
          </p:cNvSpPr>
          <p:nvPr/>
        </p:nvSpPr>
        <p:spPr>
          <a:xfrm>
            <a:off x="514350" y="4442354"/>
            <a:ext cx="4997450" cy="55600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b="1" u="sng" dirty="0">
                <a:solidFill>
                  <a:schemeClr val="accent5">
                    <a:lumMod val="75000"/>
                  </a:schemeClr>
                </a:solidFill>
              </a:rPr>
              <a:t>Objectifs de la prévention des déchets:</a:t>
            </a:r>
          </a:p>
        </p:txBody>
      </p:sp>
      <p:graphicFrame>
        <p:nvGraphicFramePr>
          <p:cNvPr id="4" name="Diagramme 3">
            <a:extLst>
              <a:ext uri="{FF2B5EF4-FFF2-40B4-BE49-F238E27FC236}">
                <a16:creationId xmlns:a16="http://schemas.microsoft.com/office/drawing/2014/main" id="{E2C36625-49F6-4EFC-9AFB-1EE275ABEFA4}"/>
              </a:ext>
            </a:extLst>
          </p:cNvPr>
          <p:cNvGraphicFramePr/>
          <p:nvPr>
            <p:extLst>
              <p:ext uri="{D42A27DB-BD31-4B8C-83A1-F6EECF244321}">
                <p14:modId xmlns:p14="http://schemas.microsoft.com/office/powerpoint/2010/main" val="3347430631"/>
              </p:ext>
            </p:extLst>
          </p:nvPr>
        </p:nvGraphicFramePr>
        <p:xfrm>
          <a:off x="514350" y="4858657"/>
          <a:ext cx="7474857" cy="1418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32917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me 5">
            <a:extLst>
              <a:ext uri="{FF2B5EF4-FFF2-40B4-BE49-F238E27FC236}">
                <a16:creationId xmlns:a16="http://schemas.microsoft.com/office/drawing/2014/main" id="{F26E4A3F-640F-437E-B68A-1D3DDE956CD0}"/>
              </a:ext>
            </a:extLst>
          </p:cNvPr>
          <p:cNvGraphicFramePr/>
          <p:nvPr>
            <p:extLst>
              <p:ext uri="{D42A27DB-BD31-4B8C-83A1-F6EECF244321}">
                <p14:modId xmlns:p14="http://schemas.microsoft.com/office/powerpoint/2010/main" val="26931758"/>
              </p:ext>
            </p:extLst>
          </p:nvPr>
        </p:nvGraphicFramePr>
        <p:xfrm>
          <a:off x="174170" y="1236706"/>
          <a:ext cx="8795658" cy="37120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650" y="22225"/>
            <a:ext cx="8051116" cy="1077913"/>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Catégories de déchets</a:t>
            </a:r>
          </a:p>
        </p:txBody>
      </p:sp>
      <p:pic>
        <p:nvPicPr>
          <p:cNvPr id="2" name="Image 1">
            <a:extLst>
              <a:ext uri="{FF2B5EF4-FFF2-40B4-BE49-F238E27FC236}">
                <a16:creationId xmlns:a16="http://schemas.microsoft.com/office/drawing/2014/main" id="{87C1A778-57E3-B55A-0BFA-B6BE48721346}"/>
              </a:ext>
            </a:extLst>
          </p:cNvPr>
          <p:cNvPicPr>
            <a:picLocks noChangeAspect="1"/>
          </p:cNvPicPr>
          <p:nvPr/>
        </p:nvPicPr>
        <p:blipFill rotWithShape="1">
          <a:blip r:embed="rId8"/>
          <a:srcRect r="70750" b="6225"/>
          <a:stretch/>
        </p:blipFill>
        <p:spPr>
          <a:xfrm>
            <a:off x="3729219" y="2894363"/>
            <a:ext cx="1685559" cy="2054372"/>
          </a:xfrm>
          <a:prstGeom prst="rect">
            <a:avLst/>
          </a:prstGeom>
        </p:spPr>
      </p:pic>
      <p:pic>
        <p:nvPicPr>
          <p:cNvPr id="3" name="Image 2">
            <a:extLst>
              <a:ext uri="{FF2B5EF4-FFF2-40B4-BE49-F238E27FC236}">
                <a16:creationId xmlns:a16="http://schemas.microsoft.com/office/drawing/2014/main" id="{55D22FEA-78D6-B6AE-3E61-3E4B40D8F672}"/>
              </a:ext>
            </a:extLst>
          </p:cNvPr>
          <p:cNvPicPr>
            <a:picLocks noChangeAspect="1"/>
          </p:cNvPicPr>
          <p:nvPr/>
        </p:nvPicPr>
        <p:blipFill rotWithShape="1">
          <a:blip r:embed="rId8"/>
          <a:srcRect l="33994" r="33383" b="6225"/>
          <a:stretch/>
        </p:blipFill>
        <p:spPr>
          <a:xfrm>
            <a:off x="773215" y="4816689"/>
            <a:ext cx="1879942" cy="2054372"/>
          </a:xfrm>
          <a:prstGeom prst="rect">
            <a:avLst/>
          </a:prstGeom>
        </p:spPr>
      </p:pic>
      <p:pic>
        <p:nvPicPr>
          <p:cNvPr id="4" name="Image 3">
            <a:extLst>
              <a:ext uri="{FF2B5EF4-FFF2-40B4-BE49-F238E27FC236}">
                <a16:creationId xmlns:a16="http://schemas.microsoft.com/office/drawing/2014/main" id="{9D250950-0D81-8345-9B52-C9E7D95CE53B}"/>
              </a:ext>
            </a:extLst>
          </p:cNvPr>
          <p:cNvPicPr>
            <a:picLocks noChangeAspect="1"/>
          </p:cNvPicPr>
          <p:nvPr/>
        </p:nvPicPr>
        <p:blipFill rotWithShape="1">
          <a:blip r:embed="rId8"/>
          <a:srcRect l="70351" b="7662"/>
          <a:stretch/>
        </p:blipFill>
        <p:spPr>
          <a:xfrm>
            <a:off x="6836899" y="4812885"/>
            <a:ext cx="1708565" cy="2022890"/>
          </a:xfrm>
          <a:prstGeom prst="rect">
            <a:avLst/>
          </a:prstGeom>
        </p:spPr>
      </p:pic>
    </p:spTree>
    <p:extLst>
      <p:ext uri="{BB962C8B-B14F-4D97-AF65-F5344CB8AC3E}">
        <p14:creationId xmlns:p14="http://schemas.microsoft.com/office/powerpoint/2010/main" val="35688084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1277257" y="2235199"/>
            <a:ext cx="6783614" cy="3786777"/>
          </a:xfrm>
        </p:spPr>
        <p:txBody>
          <a:bodyPr>
            <a:normAutofit/>
          </a:bodyPr>
          <a:lstStyle/>
          <a:p>
            <a:pPr marL="0" indent="0">
              <a:buNone/>
            </a:pPr>
            <a:r>
              <a:rPr lang="fr-FR" sz="1800" b="1" u="sng" dirty="0">
                <a:solidFill>
                  <a:schemeClr val="accent5">
                    <a:lumMod val="75000"/>
                  </a:schemeClr>
                </a:solidFill>
              </a:rPr>
              <a:t>Exemples de DID :</a:t>
            </a:r>
          </a:p>
          <a:p>
            <a:r>
              <a:rPr lang="fr-FR" sz="1800" dirty="0"/>
              <a:t>Chiffons souillés</a:t>
            </a:r>
          </a:p>
          <a:p>
            <a:r>
              <a:rPr lang="fr-FR" sz="1800" dirty="0"/>
              <a:t>Emballages souillés</a:t>
            </a:r>
          </a:p>
          <a:p>
            <a:r>
              <a:rPr lang="fr-FR" sz="1800" dirty="0"/>
              <a:t>Déchets liquides souillés</a:t>
            </a:r>
          </a:p>
          <a:p>
            <a:r>
              <a:rPr lang="fr-FR" sz="1800" dirty="0"/>
              <a:t>Encres, colles</a:t>
            </a:r>
          </a:p>
          <a:p>
            <a:r>
              <a:rPr lang="fr-FR" sz="1800" dirty="0"/>
              <a:t>Résidus de solvants, HFC/HCFC</a:t>
            </a:r>
          </a:p>
          <a:p>
            <a:r>
              <a:rPr lang="fr-FR" sz="1800" dirty="0"/>
              <a:t>Aérosols</a:t>
            </a:r>
          </a:p>
          <a:p>
            <a:r>
              <a:rPr lang="fr-FR" sz="1800" dirty="0"/>
              <a:t>Néons</a:t>
            </a:r>
          </a:p>
          <a:p>
            <a:r>
              <a:rPr lang="fr-FR" sz="1800" dirty="0"/>
              <a:t>Piles et accus</a:t>
            </a:r>
          </a:p>
          <a:p>
            <a:r>
              <a:rPr lang="fr-FR" sz="1800" dirty="0"/>
              <a:t>…</a:t>
            </a:r>
          </a:p>
        </p:txBody>
      </p:sp>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650" y="22225"/>
            <a:ext cx="8051116" cy="1149350"/>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a:t>
            </a:r>
          </a:p>
        </p:txBody>
      </p:sp>
    </p:spTree>
    <p:extLst>
      <p:ext uri="{BB962C8B-B14F-4D97-AF65-F5344CB8AC3E}">
        <p14:creationId xmlns:p14="http://schemas.microsoft.com/office/powerpoint/2010/main" val="3046913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EC75D620-E377-4437-8F85-443239EC76E1}"/>
              </a:ext>
            </a:extLst>
          </p:cNvPr>
          <p:cNvSpPr>
            <a:spLocks noGrp="1"/>
          </p:cNvSpPr>
          <p:nvPr>
            <p:ph type="title"/>
          </p:nvPr>
        </p:nvSpPr>
        <p:spPr>
          <a:xfrm>
            <a:off x="628649" y="22225"/>
            <a:ext cx="8129587" cy="1149350"/>
          </a:xfrm>
        </p:spPr>
        <p:txBody>
          <a:bodyPr>
            <a:normAutofit fontScale="90000"/>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Obligations du producteur de déchets</a:t>
            </a:r>
          </a:p>
        </p:txBody>
      </p:sp>
      <p:sp>
        <p:nvSpPr>
          <p:cNvPr id="3" name="ZoneTexte 2">
            <a:extLst>
              <a:ext uri="{FF2B5EF4-FFF2-40B4-BE49-F238E27FC236}">
                <a16:creationId xmlns:a16="http://schemas.microsoft.com/office/drawing/2014/main" id="{96359D3C-0987-4133-9FAD-D3785FE26EBB}"/>
              </a:ext>
            </a:extLst>
          </p:cNvPr>
          <p:cNvSpPr txBox="1"/>
          <p:nvPr/>
        </p:nvSpPr>
        <p:spPr>
          <a:xfrm>
            <a:off x="812118" y="2243526"/>
            <a:ext cx="8129587" cy="3139321"/>
          </a:xfrm>
          <a:prstGeom prst="rect">
            <a:avLst/>
          </a:prstGeom>
          <a:noFill/>
        </p:spPr>
        <p:txBody>
          <a:bodyPr wrap="square" rtlCol="0">
            <a:spAutoFit/>
          </a:bodyPr>
          <a:lstStyle/>
          <a:p>
            <a:pPr marL="342900" lvl="0" indent="-342900">
              <a:buFont typeface="Arial" panose="020B0604020202020204" pitchFamily="34" charset="0"/>
              <a:buChar char="•"/>
            </a:pPr>
            <a:r>
              <a:rPr lang="fr-FR" dirty="0"/>
              <a:t>Trier et collecter séparément les déchets (dangereux et non dangereux)</a:t>
            </a:r>
          </a:p>
          <a:p>
            <a:pPr marL="342900" lvl="0" indent="-342900">
              <a:buFont typeface="Arial" panose="020B0604020202020204" pitchFamily="34" charset="0"/>
              <a:buChar char="•"/>
            </a:pPr>
            <a:r>
              <a:rPr lang="fr-FR" dirty="0"/>
              <a:t>Caractériser les déchets (DND et DID)</a:t>
            </a:r>
          </a:p>
          <a:p>
            <a:pPr marL="342900" lvl="0" indent="-342900">
              <a:buFont typeface="Arial" panose="020B0604020202020204" pitchFamily="34" charset="0"/>
              <a:buChar char="•"/>
            </a:pPr>
            <a:r>
              <a:rPr lang="fr-FR" dirty="0"/>
              <a:t>Tenir un registre des déchets</a:t>
            </a:r>
          </a:p>
          <a:p>
            <a:pPr marL="342900" lvl="0" indent="-342900">
              <a:buFont typeface="Arial" panose="020B0604020202020204" pitchFamily="34" charset="0"/>
              <a:buChar char="•"/>
            </a:pPr>
            <a:r>
              <a:rPr lang="fr-FR" dirty="0"/>
              <a:t>S’assurer que les prestataires sont agréés (Art L. 541-2 Code envt)</a:t>
            </a:r>
          </a:p>
          <a:p>
            <a:pPr marL="342900" lvl="0" indent="-342900">
              <a:buFont typeface="Arial" panose="020B0604020202020204" pitchFamily="34" charset="0"/>
              <a:buChar char="•"/>
            </a:pPr>
            <a:r>
              <a:rPr lang="fr-FR" dirty="0"/>
              <a:t>Réaliser des protocoles de sécurité avec les transporteurs de déchets</a:t>
            </a:r>
          </a:p>
          <a:p>
            <a:pPr marL="342900" lvl="0" indent="-342900">
              <a:buFont typeface="Arial" panose="020B0604020202020204" pitchFamily="34" charset="0"/>
              <a:buChar char="•"/>
            </a:pPr>
            <a:r>
              <a:rPr lang="fr-FR" dirty="0"/>
              <a:t>Émettre des BSD pour les déchets dangereux</a:t>
            </a:r>
          </a:p>
          <a:p>
            <a:pPr marL="342900" lvl="0" indent="-342900">
              <a:buFont typeface="Arial" panose="020B0604020202020204" pitchFamily="34" charset="0"/>
              <a:buChar char="•"/>
            </a:pPr>
            <a:r>
              <a:rPr lang="fr-FR" dirty="0"/>
              <a:t>Emballer et étiqueter les déchets dangereux</a:t>
            </a:r>
          </a:p>
          <a:p>
            <a:pPr marL="342900" lvl="0" indent="-342900">
              <a:buFont typeface="Arial" panose="020B0604020202020204" pitchFamily="34" charset="0"/>
              <a:buChar char="•"/>
            </a:pPr>
            <a:r>
              <a:rPr lang="fr-FR" dirty="0"/>
              <a:t>Participer au financement de la collecte des déchets (REP)</a:t>
            </a:r>
          </a:p>
          <a:p>
            <a:pPr marL="342900" lvl="0" indent="-342900">
              <a:buFont typeface="Arial" panose="020B0604020202020204" pitchFamily="34" charset="0"/>
              <a:buChar char="•"/>
            </a:pPr>
            <a:r>
              <a:rPr lang="fr-FR" dirty="0"/>
              <a:t>Réaliser la déclaration annuelle liée aux déchets (ICPE sous autorisation et enregistrement)</a:t>
            </a:r>
          </a:p>
          <a:p>
            <a:pPr marL="342900" lvl="0" indent="-342900">
              <a:buFont typeface="Arial" panose="020B0604020202020204" pitchFamily="34" charset="0"/>
              <a:buChar char="•"/>
            </a:pPr>
            <a:r>
              <a:rPr lang="fr-FR" dirty="0"/>
              <a:t>Respecter les obligations des filières REP</a:t>
            </a:r>
          </a:p>
        </p:txBody>
      </p:sp>
    </p:spTree>
    <p:extLst>
      <p:ext uri="{BB962C8B-B14F-4D97-AF65-F5344CB8AC3E}">
        <p14:creationId xmlns:p14="http://schemas.microsoft.com/office/powerpoint/2010/main" val="367462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EC75D620-E377-4437-8F85-443239EC76E1}"/>
              </a:ext>
            </a:extLst>
          </p:cNvPr>
          <p:cNvSpPr>
            <a:spLocks noGrp="1"/>
          </p:cNvSpPr>
          <p:nvPr>
            <p:ph type="title"/>
          </p:nvPr>
        </p:nvSpPr>
        <p:spPr>
          <a:xfrm>
            <a:off x="628649" y="22225"/>
            <a:ext cx="8129587" cy="1149350"/>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Responsabilités</a:t>
            </a:r>
          </a:p>
        </p:txBody>
      </p:sp>
      <p:sp>
        <p:nvSpPr>
          <p:cNvPr id="2" name="ZoneTexte 1">
            <a:extLst>
              <a:ext uri="{FF2B5EF4-FFF2-40B4-BE49-F238E27FC236}">
                <a16:creationId xmlns:a16="http://schemas.microsoft.com/office/drawing/2014/main" id="{E5C00A41-82F0-8DF3-7464-848E1999B813}"/>
              </a:ext>
            </a:extLst>
          </p:cNvPr>
          <p:cNvSpPr txBox="1"/>
          <p:nvPr/>
        </p:nvSpPr>
        <p:spPr>
          <a:xfrm>
            <a:off x="742949" y="2413337"/>
            <a:ext cx="7658101" cy="923330"/>
          </a:xfrm>
          <a:prstGeom prst="rect">
            <a:avLst/>
          </a:prstGeom>
          <a:solidFill>
            <a:schemeClr val="bg1"/>
          </a:solidFill>
          <a:ln>
            <a:solidFill>
              <a:schemeClr val="accent5">
                <a:lumMod val="75000"/>
              </a:schemeClr>
            </a:solidFill>
          </a:ln>
        </p:spPr>
        <p:txBody>
          <a:bodyPr wrap="square" rtlCol="0">
            <a:spAutoFit/>
          </a:bodyPr>
          <a:lstStyle/>
          <a:p>
            <a:pPr algn="ctr"/>
            <a:r>
              <a:rPr lang="fr-FR" b="1" dirty="0">
                <a:solidFill>
                  <a:schemeClr val="accent5">
                    <a:lumMod val="75000"/>
                  </a:schemeClr>
                </a:solidFill>
              </a:rPr>
              <a:t>Un producteur de déchets en est responsable jusqu’à leur élimination ou valorisation finale</a:t>
            </a:r>
          </a:p>
          <a:p>
            <a:pPr algn="ctr"/>
            <a:r>
              <a:rPr lang="fr-FR" b="1" dirty="0">
                <a:solidFill>
                  <a:schemeClr val="accent5">
                    <a:lumMod val="75000"/>
                  </a:schemeClr>
                </a:solidFill>
              </a:rPr>
              <a:t>(« prolongement de l’activité »)</a:t>
            </a:r>
          </a:p>
        </p:txBody>
      </p:sp>
      <p:sp>
        <p:nvSpPr>
          <p:cNvPr id="5" name="ZoneTexte 4">
            <a:extLst>
              <a:ext uri="{FF2B5EF4-FFF2-40B4-BE49-F238E27FC236}">
                <a16:creationId xmlns:a16="http://schemas.microsoft.com/office/drawing/2014/main" id="{E3CE82AD-9F03-B27E-3939-F8A012DCA077}"/>
              </a:ext>
            </a:extLst>
          </p:cNvPr>
          <p:cNvSpPr txBox="1"/>
          <p:nvPr/>
        </p:nvSpPr>
        <p:spPr>
          <a:xfrm>
            <a:off x="742949" y="3794462"/>
            <a:ext cx="7658101" cy="1200329"/>
          </a:xfrm>
          <a:prstGeom prst="rect">
            <a:avLst/>
          </a:prstGeom>
          <a:solidFill>
            <a:schemeClr val="bg1"/>
          </a:solidFill>
          <a:ln>
            <a:solidFill>
              <a:schemeClr val="accent5">
                <a:lumMod val="75000"/>
              </a:schemeClr>
            </a:solidFill>
          </a:ln>
        </p:spPr>
        <p:txBody>
          <a:bodyPr wrap="square" rtlCol="0">
            <a:spAutoFit/>
          </a:bodyPr>
          <a:lstStyle/>
          <a:p>
            <a:pPr algn="ctr"/>
            <a:r>
              <a:rPr lang="fr-FR" b="1" dirty="0">
                <a:solidFill>
                  <a:schemeClr val="accent5">
                    <a:lumMod val="75000"/>
                  </a:schemeClr>
                </a:solidFill>
              </a:rPr>
              <a:t>Responsabilité conjointe:</a:t>
            </a:r>
          </a:p>
          <a:p>
            <a:pPr algn="ctr"/>
            <a:endParaRPr lang="fr-FR" b="1" dirty="0">
              <a:solidFill>
                <a:schemeClr val="accent5">
                  <a:lumMod val="75000"/>
                </a:schemeClr>
              </a:solidFill>
            </a:endParaRPr>
          </a:p>
          <a:p>
            <a:pPr algn="ctr"/>
            <a:r>
              <a:rPr lang="fr-FR" b="1" dirty="0">
                <a:solidFill>
                  <a:schemeClr val="accent5">
                    <a:lumMod val="75000"/>
                  </a:schemeClr>
                </a:solidFill>
              </a:rPr>
              <a:t>Producteur des déchets / transporteurs / entreprises de stockage / entreprises de traitement</a:t>
            </a:r>
          </a:p>
        </p:txBody>
      </p:sp>
    </p:spTree>
    <p:extLst>
      <p:ext uri="{BB962C8B-B14F-4D97-AF65-F5344CB8AC3E}">
        <p14:creationId xmlns:p14="http://schemas.microsoft.com/office/powerpoint/2010/main" val="4942650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EC75D620-E377-4437-8F85-443239EC76E1}"/>
              </a:ext>
            </a:extLst>
          </p:cNvPr>
          <p:cNvSpPr>
            <a:spLocks noGrp="1"/>
          </p:cNvSpPr>
          <p:nvPr>
            <p:ph type="title"/>
          </p:nvPr>
        </p:nvSpPr>
        <p:spPr>
          <a:xfrm>
            <a:off x="628649" y="22225"/>
            <a:ext cx="8129587" cy="112077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Interdictions</a:t>
            </a:r>
          </a:p>
        </p:txBody>
      </p:sp>
      <p:sp>
        <p:nvSpPr>
          <p:cNvPr id="2" name="Rectangle : coins arrondis 1">
            <a:extLst>
              <a:ext uri="{FF2B5EF4-FFF2-40B4-BE49-F238E27FC236}">
                <a16:creationId xmlns:a16="http://schemas.microsoft.com/office/drawing/2014/main" id="{CA681BBE-EAD6-A05A-C04F-0AB2711FC305}"/>
              </a:ext>
            </a:extLst>
          </p:cNvPr>
          <p:cNvSpPr/>
          <p:nvPr/>
        </p:nvSpPr>
        <p:spPr>
          <a:xfrm>
            <a:off x="890651" y="2324593"/>
            <a:ext cx="3265714" cy="653143"/>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fr-FR" b="1"/>
              <a:t>Bruler des déchets à l’air libre</a:t>
            </a:r>
            <a:endParaRPr lang="fr-FR" b="1" dirty="0"/>
          </a:p>
        </p:txBody>
      </p:sp>
      <p:sp>
        <p:nvSpPr>
          <p:cNvPr id="4" name="Rectangle : coins arrondis 3">
            <a:extLst>
              <a:ext uri="{FF2B5EF4-FFF2-40B4-BE49-F238E27FC236}">
                <a16:creationId xmlns:a16="http://schemas.microsoft.com/office/drawing/2014/main" id="{C9665165-93D4-ABA8-3A16-79ADDCC2F5C9}"/>
              </a:ext>
            </a:extLst>
          </p:cNvPr>
          <p:cNvSpPr/>
          <p:nvPr/>
        </p:nvSpPr>
        <p:spPr>
          <a:xfrm>
            <a:off x="5035139" y="2205840"/>
            <a:ext cx="3265712" cy="89065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fr-FR" b="1" dirty="0"/>
              <a:t>Abandonner des déchets dans des décharges sauvages</a:t>
            </a:r>
          </a:p>
        </p:txBody>
      </p:sp>
      <p:sp>
        <p:nvSpPr>
          <p:cNvPr id="6" name="Rectangle : coins arrondis 5">
            <a:extLst>
              <a:ext uri="{FF2B5EF4-FFF2-40B4-BE49-F238E27FC236}">
                <a16:creationId xmlns:a16="http://schemas.microsoft.com/office/drawing/2014/main" id="{D049A2F1-182A-CC36-0DE6-1762931D8FAE}"/>
              </a:ext>
            </a:extLst>
          </p:cNvPr>
          <p:cNvSpPr/>
          <p:nvPr/>
        </p:nvSpPr>
        <p:spPr>
          <a:xfrm>
            <a:off x="890651" y="3454233"/>
            <a:ext cx="3265714" cy="653143"/>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fr-FR" b="1"/>
              <a:t>Enfouir des déchets</a:t>
            </a:r>
            <a:endParaRPr lang="fr-FR" b="1" dirty="0"/>
          </a:p>
        </p:txBody>
      </p:sp>
      <p:sp>
        <p:nvSpPr>
          <p:cNvPr id="7" name="Rectangle : coins arrondis 6">
            <a:extLst>
              <a:ext uri="{FF2B5EF4-FFF2-40B4-BE49-F238E27FC236}">
                <a16:creationId xmlns:a16="http://schemas.microsoft.com/office/drawing/2014/main" id="{EAE7452D-E90F-52F4-9AF1-9CE682B10A79}"/>
              </a:ext>
            </a:extLst>
          </p:cNvPr>
          <p:cNvSpPr/>
          <p:nvPr/>
        </p:nvSpPr>
        <p:spPr>
          <a:xfrm>
            <a:off x="5035137" y="3335480"/>
            <a:ext cx="3265714" cy="89065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fr-FR" b="1"/>
              <a:t>Rejeter des déchets toxiques dans le réseau d’assainissement collectif</a:t>
            </a:r>
            <a:endParaRPr lang="fr-FR" b="1" dirty="0"/>
          </a:p>
        </p:txBody>
      </p:sp>
      <p:sp>
        <p:nvSpPr>
          <p:cNvPr id="9" name="Rectangle : coins arrondis 8">
            <a:extLst>
              <a:ext uri="{FF2B5EF4-FFF2-40B4-BE49-F238E27FC236}">
                <a16:creationId xmlns:a16="http://schemas.microsoft.com/office/drawing/2014/main" id="{9571F700-D260-8C22-1780-C5153831129B}"/>
              </a:ext>
            </a:extLst>
          </p:cNvPr>
          <p:cNvSpPr/>
          <p:nvPr/>
        </p:nvSpPr>
        <p:spPr>
          <a:xfrm>
            <a:off x="3705102" y="4612076"/>
            <a:ext cx="1757548" cy="541815"/>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a:t>
            </a:r>
          </a:p>
        </p:txBody>
      </p:sp>
    </p:spTree>
    <p:extLst>
      <p:ext uri="{BB962C8B-B14F-4D97-AF65-F5344CB8AC3E}">
        <p14:creationId xmlns:p14="http://schemas.microsoft.com/office/powerpoint/2010/main" val="4023024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650" y="22225"/>
            <a:ext cx="8051116" cy="1106488"/>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Codification des déchets</a:t>
            </a:r>
          </a:p>
        </p:txBody>
      </p:sp>
      <p:graphicFrame>
        <p:nvGraphicFramePr>
          <p:cNvPr id="2" name="Tableau 2">
            <a:extLst>
              <a:ext uri="{FF2B5EF4-FFF2-40B4-BE49-F238E27FC236}">
                <a16:creationId xmlns:a16="http://schemas.microsoft.com/office/drawing/2014/main" id="{B2CE6067-D6F5-6D0D-AC86-39086D2CCF11}"/>
              </a:ext>
            </a:extLst>
          </p:cNvPr>
          <p:cNvGraphicFramePr>
            <a:graphicFrameLocks noGrp="1"/>
          </p:cNvGraphicFramePr>
          <p:nvPr/>
        </p:nvGraphicFramePr>
        <p:xfrm>
          <a:off x="278150" y="1517877"/>
          <a:ext cx="8752115" cy="5186028"/>
        </p:xfrm>
        <a:graphic>
          <a:graphicData uri="http://schemas.openxmlformats.org/drawingml/2006/table">
            <a:tbl>
              <a:tblPr firstRow="1" bandRow="1">
                <a:tableStyleId>{7DF18680-E054-41AD-8BC1-D1AEF772440D}</a:tableStyleId>
              </a:tblPr>
              <a:tblGrid>
                <a:gridCol w="660520">
                  <a:extLst>
                    <a:ext uri="{9D8B030D-6E8A-4147-A177-3AD203B41FA5}">
                      <a16:colId xmlns:a16="http://schemas.microsoft.com/office/drawing/2014/main" val="3276765232"/>
                    </a:ext>
                  </a:extLst>
                </a:gridCol>
                <a:gridCol w="8091595">
                  <a:extLst>
                    <a:ext uri="{9D8B030D-6E8A-4147-A177-3AD203B41FA5}">
                      <a16:colId xmlns:a16="http://schemas.microsoft.com/office/drawing/2014/main" val="856983130"/>
                    </a:ext>
                  </a:extLst>
                </a:gridCol>
              </a:tblGrid>
              <a:tr h="457938">
                <a:tc>
                  <a:txBody>
                    <a:bodyPr/>
                    <a:lstStyle/>
                    <a:p>
                      <a:endParaRPr lang="fr-FR" sz="1600"/>
                    </a:p>
                  </a:txBody>
                  <a:tcPr/>
                </a:tc>
                <a:tc>
                  <a:txBody>
                    <a:bodyPr/>
                    <a:lstStyle/>
                    <a:p>
                      <a:r>
                        <a:rPr lang="fr-FR" sz="1600" dirty="0"/>
                        <a:t>Chapitres de la liste</a:t>
                      </a:r>
                    </a:p>
                  </a:txBody>
                  <a:tcPr anchor="ctr"/>
                </a:tc>
                <a:extLst>
                  <a:ext uri="{0D108BD9-81ED-4DB2-BD59-A6C34878D82A}">
                    <a16:rowId xmlns:a16="http://schemas.microsoft.com/office/drawing/2014/main" val="4080176261"/>
                  </a:ext>
                </a:extLst>
              </a:tr>
              <a:tr h="471049">
                <a:tc>
                  <a:txBody>
                    <a:bodyPr/>
                    <a:lstStyle/>
                    <a:p>
                      <a:pPr algn="ctr"/>
                      <a:r>
                        <a:rPr lang="fr-FR" sz="1600" dirty="0"/>
                        <a:t>01</a:t>
                      </a:r>
                    </a:p>
                  </a:txBody>
                  <a:tcPr marL="0" marR="0" marT="0" marB="0" anchor="ctr"/>
                </a:tc>
                <a:tc>
                  <a:txBody>
                    <a:bodyPr/>
                    <a:lstStyle/>
                    <a:p>
                      <a:r>
                        <a:rPr lang="fr-FR" sz="1600"/>
                        <a:t>Déchets provenant de l'exploration et de l'exploitation des mines et des carrières ainsi que du traitement physique et chimique des minéraux</a:t>
                      </a:r>
                    </a:p>
                  </a:txBody>
                  <a:tcPr marL="0" marR="0" marT="0" marB="0" anchor="ctr"/>
                </a:tc>
                <a:extLst>
                  <a:ext uri="{0D108BD9-81ED-4DB2-BD59-A6C34878D82A}">
                    <a16:rowId xmlns:a16="http://schemas.microsoft.com/office/drawing/2014/main" val="2142227420"/>
                  </a:ext>
                </a:extLst>
              </a:tr>
              <a:tr h="471049">
                <a:tc>
                  <a:txBody>
                    <a:bodyPr/>
                    <a:lstStyle/>
                    <a:p>
                      <a:pPr algn="ctr"/>
                      <a:r>
                        <a:rPr lang="fr-FR" sz="1600" dirty="0"/>
                        <a:t>02</a:t>
                      </a:r>
                    </a:p>
                  </a:txBody>
                  <a:tcPr marL="0" marR="0" marT="0" marB="0" anchor="ctr"/>
                </a:tc>
                <a:tc>
                  <a:txBody>
                    <a:bodyPr/>
                    <a:lstStyle/>
                    <a:p>
                      <a:r>
                        <a:rPr lang="fr-FR" sz="1600" dirty="0"/>
                        <a:t>Déchets provenant de l'agriculture, de l'horticulture, de l'aquaculture, de la sylviculture, de la chasse et de la pêche ainsi que de la préparation et de la transformation des aliments</a:t>
                      </a:r>
                    </a:p>
                  </a:txBody>
                  <a:tcPr marL="0" marR="0" marT="0" marB="0" anchor="ctr"/>
                </a:tc>
                <a:extLst>
                  <a:ext uri="{0D108BD9-81ED-4DB2-BD59-A6C34878D82A}">
                    <a16:rowId xmlns:a16="http://schemas.microsoft.com/office/drawing/2014/main" val="1491143394"/>
                  </a:ext>
                </a:extLst>
              </a:tr>
              <a:tr h="471049">
                <a:tc>
                  <a:txBody>
                    <a:bodyPr/>
                    <a:lstStyle/>
                    <a:p>
                      <a:pPr algn="ctr"/>
                      <a:r>
                        <a:rPr lang="fr-FR" sz="1600"/>
                        <a:t>03</a:t>
                      </a:r>
                    </a:p>
                  </a:txBody>
                  <a:tcPr marL="0" marR="0" marT="0" marB="0" anchor="ctr"/>
                </a:tc>
                <a:tc>
                  <a:txBody>
                    <a:bodyPr/>
                    <a:lstStyle/>
                    <a:p>
                      <a:r>
                        <a:rPr lang="fr-FR" sz="1600"/>
                        <a:t>Déchets provenant de la transformation du bois et de la production de panneaux et de meubles, de pâte à papier, de papier et de carton</a:t>
                      </a:r>
                    </a:p>
                  </a:txBody>
                  <a:tcPr marL="0" marR="0" marT="0" marB="0" anchor="ctr"/>
                </a:tc>
                <a:extLst>
                  <a:ext uri="{0D108BD9-81ED-4DB2-BD59-A6C34878D82A}">
                    <a16:rowId xmlns:a16="http://schemas.microsoft.com/office/drawing/2014/main" val="2775290817"/>
                  </a:ext>
                </a:extLst>
              </a:tr>
              <a:tr h="457938">
                <a:tc>
                  <a:txBody>
                    <a:bodyPr/>
                    <a:lstStyle/>
                    <a:p>
                      <a:pPr algn="ctr"/>
                      <a:r>
                        <a:rPr lang="fr-FR" sz="1600"/>
                        <a:t>04</a:t>
                      </a:r>
                    </a:p>
                  </a:txBody>
                  <a:tcPr marL="0" marR="0" marT="0" marB="0" anchor="ctr"/>
                </a:tc>
                <a:tc>
                  <a:txBody>
                    <a:bodyPr/>
                    <a:lstStyle/>
                    <a:p>
                      <a:r>
                        <a:rPr lang="fr-FR" sz="1600" dirty="0"/>
                        <a:t>Déchets provenant des industries du cuir, de la fourrure et du textile</a:t>
                      </a:r>
                    </a:p>
                  </a:txBody>
                  <a:tcPr marL="0" marR="0" marT="0" marB="0" anchor="ctr"/>
                </a:tc>
                <a:extLst>
                  <a:ext uri="{0D108BD9-81ED-4DB2-BD59-A6C34878D82A}">
                    <a16:rowId xmlns:a16="http://schemas.microsoft.com/office/drawing/2014/main" val="3477567687"/>
                  </a:ext>
                </a:extLst>
              </a:tr>
              <a:tr h="471049">
                <a:tc>
                  <a:txBody>
                    <a:bodyPr/>
                    <a:lstStyle/>
                    <a:p>
                      <a:pPr algn="ctr"/>
                      <a:r>
                        <a:rPr lang="fr-FR" sz="1600"/>
                        <a:t>05</a:t>
                      </a:r>
                    </a:p>
                  </a:txBody>
                  <a:tcPr marL="0" marR="0" marT="0" marB="0" anchor="ctr"/>
                </a:tc>
                <a:tc>
                  <a:txBody>
                    <a:bodyPr/>
                    <a:lstStyle/>
                    <a:p>
                      <a:r>
                        <a:rPr lang="fr-FR" sz="1600"/>
                        <a:t>Déchets provenant du raffinage du pétrole, de la purification du gaz naturel et du traitement pyrolytique du charbon</a:t>
                      </a:r>
                    </a:p>
                  </a:txBody>
                  <a:tcPr marL="0" marR="0" marT="0" marB="0" anchor="ctr"/>
                </a:tc>
                <a:extLst>
                  <a:ext uri="{0D108BD9-81ED-4DB2-BD59-A6C34878D82A}">
                    <a16:rowId xmlns:a16="http://schemas.microsoft.com/office/drawing/2014/main" val="637466460"/>
                  </a:ext>
                </a:extLst>
              </a:tr>
              <a:tr h="457938">
                <a:tc>
                  <a:txBody>
                    <a:bodyPr/>
                    <a:lstStyle/>
                    <a:p>
                      <a:pPr algn="ctr"/>
                      <a:r>
                        <a:rPr lang="fr-FR" sz="1600"/>
                        <a:t>06</a:t>
                      </a:r>
                    </a:p>
                  </a:txBody>
                  <a:tcPr marL="0" marR="0" marT="0" marB="0" anchor="ctr"/>
                </a:tc>
                <a:tc>
                  <a:txBody>
                    <a:bodyPr/>
                    <a:lstStyle/>
                    <a:p>
                      <a:r>
                        <a:rPr lang="fr-FR" sz="1600" dirty="0"/>
                        <a:t>Déchets des procédés de la chimie minérale</a:t>
                      </a:r>
                    </a:p>
                  </a:txBody>
                  <a:tcPr marL="0" marR="0" marT="0" marB="0" anchor="ctr"/>
                </a:tc>
                <a:extLst>
                  <a:ext uri="{0D108BD9-81ED-4DB2-BD59-A6C34878D82A}">
                    <a16:rowId xmlns:a16="http://schemas.microsoft.com/office/drawing/2014/main" val="4289336435"/>
                  </a:ext>
                </a:extLst>
              </a:tr>
              <a:tr h="457938">
                <a:tc>
                  <a:txBody>
                    <a:bodyPr/>
                    <a:lstStyle/>
                    <a:p>
                      <a:pPr algn="ctr"/>
                      <a:r>
                        <a:rPr lang="fr-FR" sz="1600"/>
                        <a:t>07</a:t>
                      </a:r>
                    </a:p>
                  </a:txBody>
                  <a:tcPr marL="0" marR="0" marT="0" marB="0" anchor="ctr"/>
                </a:tc>
                <a:tc>
                  <a:txBody>
                    <a:bodyPr/>
                    <a:lstStyle/>
                    <a:p>
                      <a:r>
                        <a:rPr lang="fr-FR" sz="1600" dirty="0"/>
                        <a:t>Déchets des procédés de la chimie organique</a:t>
                      </a:r>
                    </a:p>
                  </a:txBody>
                  <a:tcPr marL="0" marR="0" marT="0" marB="0" anchor="ctr"/>
                </a:tc>
                <a:extLst>
                  <a:ext uri="{0D108BD9-81ED-4DB2-BD59-A6C34878D82A}">
                    <a16:rowId xmlns:a16="http://schemas.microsoft.com/office/drawing/2014/main" val="4160593621"/>
                  </a:ext>
                </a:extLst>
              </a:tr>
              <a:tr h="471049">
                <a:tc>
                  <a:txBody>
                    <a:bodyPr/>
                    <a:lstStyle/>
                    <a:p>
                      <a:pPr algn="ctr"/>
                      <a:r>
                        <a:rPr lang="fr-FR" sz="1600"/>
                        <a:t>08</a:t>
                      </a:r>
                    </a:p>
                  </a:txBody>
                  <a:tcPr marL="0" marR="0" marT="0" marB="0" anchor="ctr"/>
                </a:tc>
                <a:tc>
                  <a:txBody>
                    <a:bodyPr/>
                    <a:lstStyle/>
                    <a:p>
                      <a:r>
                        <a:rPr lang="fr-FR" sz="1600" dirty="0"/>
                        <a:t>Déchets provenant de la fabrication, de la formulation, de la distribution et de l'utilisation (FFDU) de produits de revêtement (peintures, vernis et émaux vitrifiés), mastics et encres d'impression</a:t>
                      </a:r>
                    </a:p>
                  </a:txBody>
                  <a:tcPr marL="0" marR="0" marT="0" marB="0" anchor="ctr"/>
                </a:tc>
                <a:extLst>
                  <a:ext uri="{0D108BD9-81ED-4DB2-BD59-A6C34878D82A}">
                    <a16:rowId xmlns:a16="http://schemas.microsoft.com/office/drawing/2014/main" val="540155910"/>
                  </a:ext>
                </a:extLst>
              </a:tr>
              <a:tr h="457938">
                <a:tc>
                  <a:txBody>
                    <a:bodyPr/>
                    <a:lstStyle/>
                    <a:p>
                      <a:pPr algn="ctr"/>
                      <a:r>
                        <a:rPr lang="fr-FR" sz="1600" dirty="0"/>
                        <a:t>09</a:t>
                      </a:r>
                    </a:p>
                  </a:txBody>
                  <a:tcPr marL="0" marR="0" marT="0" marB="0" anchor="ctr"/>
                </a:tc>
                <a:tc>
                  <a:txBody>
                    <a:bodyPr/>
                    <a:lstStyle/>
                    <a:p>
                      <a:r>
                        <a:rPr lang="fr-FR" sz="1600" dirty="0"/>
                        <a:t>Déchets provenant de l'industrie photographique</a:t>
                      </a:r>
                    </a:p>
                  </a:txBody>
                  <a:tcPr marL="0" marR="0" marT="0" marB="0" anchor="ctr"/>
                </a:tc>
                <a:extLst>
                  <a:ext uri="{0D108BD9-81ED-4DB2-BD59-A6C34878D82A}">
                    <a16:rowId xmlns:a16="http://schemas.microsoft.com/office/drawing/2014/main" val="964338129"/>
                  </a:ext>
                </a:extLst>
              </a:tr>
              <a:tr h="457938">
                <a:tc>
                  <a:txBody>
                    <a:bodyPr/>
                    <a:lstStyle/>
                    <a:p>
                      <a:pPr algn="ctr"/>
                      <a:r>
                        <a:rPr lang="fr-FR" sz="1600" dirty="0"/>
                        <a:t>10</a:t>
                      </a:r>
                    </a:p>
                  </a:txBody>
                  <a:tcPr marL="0" marR="0" marT="0" marB="0" anchor="ctr"/>
                </a:tc>
                <a:tc>
                  <a:txBody>
                    <a:bodyPr/>
                    <a:lstStyle/>
                    <a:p>
                      <a:r>
                        <a:rPr lang="fr-FR" sz="1600" dirty="0"/>
                        <a:t>Déchets provenant de procédés thermiques</a:t>
                      </a:r>
                    </a:p>
                  </a:txBody>
                  <a:tcPr marL="0" marR="0" marT="0" marB="0" anchor="ctr"/>
                </a:tc>
                <a:extLst>
                  <a:ext uri="{0D108BD9-81ED-4DB2-BD59-A6C34878D82A}">
                    <a16:rowId xmlns:a16="http://schemas.microsoft.com/office/drawing/2014/main" val="4272600133"/>
                  </a:ext>
                </a:extLst>
              </a:tr>
            </a:tbl>
          </a:graphicData>
        </a:graphic>
      </p:graphicFrame>
    </p:spTree>
    <p:extLst>
      <p:ext uri="{BB962C8B-B14F-4D97-AF65-F5344CB8AC3E}">
        <p14:creationId xmlns:p14="http://schemas.microsoft.com/office/powerpoint/2010/main" val="3095909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650" y="22225"/>
            <a:ext cx="8051116" cy="1135063"/>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Codification des déchets</a:t>
            </a:r>
          </a:p>
        </p:txBody>
      </p:sp>
      <p:graphicFrame>
        <p:nvGraphicFramePr>
          <p:cNvPr id="2" name="Tableau 2">
            <a:extLst>
              <a:ext uri="{FF2B5EF4-FFF2-40B4-BE49-F238E27FC236}">
                <a16:creationId xmlns:a16="http://schemas.microsoft.com/office/drawing/2014/main" id="{B2CE6067-D6F5-6D0D-AC86-39086D2CCF11}"/>
              </a:ext>
            </a:extLst>
          </p:cNvPr>
          <p:cNvGraphicFramePr>
            <a:graphicFrameLocks noGrp="1"/>
          </p:cNvGraphicFramePr>
          <p:nvPr>
            <p:extLst>
              <p:ext uri="{D42A27DB-BD31-4B8C-83A1-F6EECF244321}">
                <p14:modId xmlns:p14="http://schemas.microsoft.com/office/powerpoint/2010/main" val="243396731"/>
              </p:ext>
            </p:extLst>
          </p:nvPr>
        </p:nvGraphicFramePr>
        <p:xfrm>
          <a:off x="224971" y="1409739"/>
          <a:ext cx="8694057" cy="4938356"/>
        </p:xfrm>
        <a:graphic>
          <a:graphicData uri="http://schemas.openxmlformats.org/drawingml/2006/table">
            <a:tbl>
              <a:tblPr firstRow="1" bandRow="1">
                <a:tableStyleId>{7DF18680-E054-41AD-8BC1-D1AEF772440D}</a:tableStyleId>
              </a:tblPr>
              <a:tblGrid>
                <a:gridCol w="925711">
                  <a:extLst>
                    <a:ext uri="{9D8B030D-6E8A-4147-A177-3AD203B41FA5}">
                      <a16:colId xmlns:a16="http://schemas.microsoft.com/office/drawing/2014/main" val="3276765232"/>
                    </a:ext>
                  </a:extLst>
                </a:gridCol>
                <a:gridCol w="7768346">
                  <a:extLst>
                    <a:ext uri="{9D8B030D-6E8A-4147-A177-3AD203B41FA5}">
                      <a16:colId xmlns:a16="http://schemas.microsoft.com/office/drawing/2014/main" val="856983130"/>
                    </a:ext>
                  </a:extLst>
                </a:gridCol>
              </a:tblGrid>
              <a:tr h="442109">
                <a:tc>
                  <a:txBody>
                    <a:bodyPr/>
                    <a:lstStyle/>
                    <a:p>
                      <a:endParaRPr lang="fr-FR" sz="1600"/>
                    </a:p>
                  </a:txBody>
                  <a:tcPr/>
                </a:tc>
                <a:tc>
                  <a:txBody>
                    <a:bodyPr/>
                    <a:lstStyle/>
                    <a:p>
                      <a:r>
                        <a:rPr lang="fr-FR" sz="1600" dirty="0"/>
                        <a:t>Chapitres de la liste</a:t>
                      </a:r>
                    </a:p>
                  </a:txBody>
                  <a:tcPr anchor="ctr"/>
                </a:tc>
                <a:extLst>
                  <a:ext uri="{0D108BD9-81ED-4DB2-BD59-A6C34878D82A}">
                    <a16:rowId xmlns:a16="http://schemas.microsoft.com/office/drawing/2014/main" val="4080176261"/>
                  </a:ext>
                </a:extLst>
              </a:tr>
              <a:tr h="442109">
                <a:tc>
                  <a:txBody>
                    <a:bodyPr/>
                    <a:lstStyle/>
                    <a:p>
                      <a:pPr algn="ctr"/>
                      <a:r>
                        <a:rPr lang="fr-FR" sz="1600" dirty="0"/>
                        <a:t>11</a:t>
                      </a:r>
                    </a:p>
                  </a:txBody>
                  <a:tcPr marL="0" marR="0" marT="0" marB="0" anchor="ctr"/>
                </a:tc>
                <a:tc>
                  <a:txBody>
                    <a:bodyPr/>
                    <a:lstStyle/>
                    <a:p>
                      <a:r>
                        <a:rPr lang="fr-FR" sz="1600" dirty="0"/>
                        <a:t>Déchets provenant de traitement chimique de surface et du revêtement des métaux et autres matériaux, et de l’</a:t>
                      </a:r>
                      <a:r>
                        <a:rPr lang="fr-FR" sz="1600" dirty="0" err="1"/>
                        <a:t>hygrométallurgie</a:t>
                      </a:r>
                      <a:r>
                        <a:rPr lang="fr-FR" sz="1600" dirty="0"/>
                        <a:t> des métaux non ferreux</a:t>
                      </a:r>
                    </a:p>
                  </a:txBody>
                  <a:tcPr marL="0" marR="0" marT="0" marB="0" anchor="ctr"/>
                </a:tc>
                <a:extLst>
                  <a:ext uri="{0D108BD9-81ED-4DB2-BD59-A6C34878D82A}">
                    <a16:rowId xmlns:a16="http://schemas.microsoft.com/office/drawing/2014/main" val="2142227420"/>
                  </a:ext>
                </a:extLst>
              </a:tr>
              <a:tr h="442109">
                <a:tc>
                  <a:txBody>
                    <a:bodyPr/>
                    <a:lstStyle/>
                    <a:p>
                      <a:pPr algn="ctr"/>
                      <a:r>
                        <a:rPr lang="fr-FR" sz="1600" dirty="0"/>
                        <a:t>12</a:t>
                      </a:r>
                    </a:p>
                  </a:txBody>
                  <a:tcPr marL="0" marR="0" marT="0" marB="0" anchor="ctr"/>
                </a:tc>
                <a:tc>
                  <a:txBody>
                    <a:bodyPr/>
                    <a:lstStyle/>
                    <a:p>
                      <a:r>
                        <a:rPr lang="fr-FR" sz="1600" dirty="0"/>
                        <a:t>Déchets provenant de la mise en forme et du traitement physique et mécanique de surface des métaux et matières plastiques</a:t>
                      </a:r>
                    </a:p>
                  </a:txBody>
                  <a:tcPr marL="0" marR="0" marT="0" marB="0" anchor="ctr"/>
                </a:tc>
                <a:extLst>
                  <a:ext uri="{0D108BD9-81ED-4DB2-BD59-A6C34878D82A}">
                    <a16:rowId xmlns:a16="http://schemas.microsoft.com/office/drawing/2014/main" val="1491143394"/>
                  </a:ext>
                </a:extLst>
              </a:tr>
              <a:tr h="442109">
                <a:tc>
                  <a:txBody>
                    <a:bodyPr/>
                    <a:lstStyle/>
                    <a:p>
                      <a:pPr algn="ctr"/>
                      <a:r>
                        <a:rPr lang="fr-FR" sz="1600" dirty="0"/>
                        <a:t>13</a:t>
                      </a:r>
                    </a:p>
                  </a:txBody>
                  <a:tcPr marL="0" marR="0" marT="0" marB="0" anchor="ctr"/>
                </a:tc>
                <a:tc>
                  <a:txBody>
                    <a:bodyPr/>
                    <a:lstStyle/>
                    <a:p>
                      <a:r>
                        <a:rPr lang="fr-FR" sz="1600" dirty="0"/>
                        <a:t>Huiles et combustibles liquides usagés (sauf huiles alimentaires et celles figurant aux chapitres 05, 12 et 19)</a:t>
                      </a:r>
                    </a:p>
                  </a:txBody>
                  <a:tcPr marL="0" marR="0" marT="0" marB="0" anchor="ctr"/>
                </a:tc>
                <a:extLst>
                  <a:ext uri="{0D108BD9-81ED-4DB2-BD59-A6C34878D82A}">
                    <a16:rowId xmlns:a16="http://schemas.microsoft.com/office/drawing/2014/main" val="2775290817"/>
                  </a:ext>
                </a:extLst>
              </a:tr>
              <a:tr h="442109">
                <a:tc>
                  <a:txBody>
                    <a:bodyPr/>
                    <a:lstStyle/>
                    <a:p>
                      <a:pPr algn="ctr"/>
                      <a:r>
                        <a:rPr lang="fr-FR" sz="1600" dirty="0"/>
                        <a:t>14</a:t>
                      </a:r>
                    </a:p>
                  </a:txBody>
                  <a:tcPr marL="0" marR="0" marT="0" marB="0" anchor="ctr"/>
                </a:tc>
                <a:tc>
                  <a:txBody>
                    <a:bodyPr/>
                    <a:lstStyle/>
                    <a:p>
                      <a:r>
                        <a:rPr lang="fr-FR" sz="1600" dirty="0"/>
                        <a:t>Déchets de solvants organiques, d’agents réfrigérants et propulseurs (sauf chapitres 07 et 08)</a:t>
                      </a:r>
                    </a:p>
                  </a:txBody>
                  <a:tcPr marL="0" marR="0" marT="0" marB="0" anchor="ctr"/>
                </a:tc>
                <a:extLst>
                  <a:ext uri="{0D108BD9-81ED-4DB2-BD59-A6C34878D82A}">
                    <a16:rowId xmlns:a16="http://schemas.microsoft.com/office/drawing/2014/main" val="3477567687"/>
                  </a:ext>
                </a:extLst>
              </a:tr>
              <a:tr h="442109">
                <a:tc>
                  <a:txBody>
                    <a:bodyPr/>
                    <a:lstStyle/>
                    <a:p>
                      <a:pPr algn="ctr"/>
                      <a:r>
                        <a:rPr lang="fr-FR" sz="1600" dirty="0"/>
                        <a:t>16</a:t>
                      </a:r>
                    </a:p>
                  </a:txBody>
                  <a:tcPr marL="0" marR="0" marT="0" marB="0" anchor="ctr"/>
                </a:tc>
                <a:tc>
                  <a:txBody>
                    <a:bodyPr/>
                    <a:lstStyle/>
                    <a:p>
                      <a:r>
                        <a:rPr lang="fr-FR" sz="1600" dirty="0"/>
                        <a:t>Déchets non décrits ailleurs dans la liste</a:t>
                      </a:r>
                    </a:p>
                  </a:txBody>
                  <a:tcPr marL="0" marR="0" marT="0" marB="0" anchor="ctr"/>
                </a:tc>
                <a:extLst>
                  <a:ext uri="{0D108BD9-81ED-4DB2-BD59-A6C34878D82A}">
                    <a16:rowId xmlns:a16="http://schemas.microsoft.com/office/drawing/2014/main" val="4289336435"/>
                  </a:ext>
                </a:extLst>
              </a:tr>
              <a:tr h="442109">
                <a:tc>
                  <a:txBody>
                    <a:bodyPr/>
                    <a:lstStyle/>
                    <a:p>
                      <a:pPr algn="ctr"/>
                      <a:r>
                        <a:rPr lang="fr-FR" sz="1600" dirty="0"/>
                        <a:t>17</a:t>
                      </a:r>
                    </a:p>
                  </a:txBody>
                  <a:tcPr marL="0" marR="0" marT="0" marB="0" anchor="ctr"/>
                </a:tc>
                <a:tc>
                  <a:txBody>
                    <a:bodyPr/>
                    <a:lstStyle/>
                    <a:p>
                      <a:r>
                        <a:rPr lang="fr-FR" sz="1600" dirty="0"/>
                        <a:t>Déchets de construction et de démolition (y compris déblais provenant de sols contaminés)</a:t>
                      </a:r>
                    </a:p>
                  </a:txBody>
                  <a:tcPr marL="0" marR="0" marT="0" marB="0" anchor="ctr"/>
                </a:tc>
                <a:extLst>
                  <a:ext uri="{0D108BD9-81ED-4DB2-BD59-A6C34878D82A}">
                    <a16:rowId xmlns:a16="http://schemas.microsoft.com/office/drawing/2014/main" val="4160593621"/>
                  </a:ext>
                </a:extLst>
              </a:tr>
              <a:tr h="442109">
                <a:tc>
                  <a:txBody>
                    <a:bodyPr/>
                    <a:lstStyle/>
                    <a:p>
                      <a:pPr algn="ctr"/>
                      <a:r>
                        <a:rPr lang="fr-FR" sz="1600" dirty="0"/>
                        <a:t>18</a:t>
                      </a:r>
                    </a:p>
                  </a:txBody>
                  <a:tcPr marL="0" marR="0" marT="0" marB="0" anchor="ctr"/>
                </a:tc>
                <a:tc>
                  <a:txBody>
                    <a:bodyPr/>
                    <a:lstStyle/>
                    <a:p>
                      <a:r>
                        <a:rPr lang="fr-FR" sz="1600" dirty="0"/>
                        <a:t>Déchets provenant des soins médicaux ou vétérinaires et/ou de la recherche associée (sauf déchets de cuisine et de restauration ne provenant pas directement des soins médicaux)</a:t>
                      </a:r>
                    </a:p>
                  </a:txBody>
                  <a:tcPr marL="0" marR="0" marT="0" marB="0" anchor="ctr"/>
                </a:tc>
                <a:extLst>
                  <a:ext uri="{0D108BD9-81ED-4DB2-BD59-A6C34878D82A}">
                    <a16:rowId xmlns:a16="http://schemas.microsoft.com/office/drawing/2014/main" val="540155910"/>
                  </a:ext>
                </a:extLst>
              </a:tr>
              <a:tr h="442109">
                <a:tc>
                  <a:txBody>
                    <a:bodyPr/>
                    <a:lstStyle/>
                    <a:p>
                      <a:pPr algn="ctr"/>
                      <a:r>
                        <a:rPr lang="fr-FR" sz="1600" dirty="0"/>
                        <a:t>19</a:t>
                      </a:r>
                    </a:p>
                  </a:txBody>
                  <a:tcPr marL="0" marR="0" marT="0" marB="0" anchor="ctr"/>
                </a:tc>
                <a:tc>
                  <a:txBody>
                    <a:bodyPr/>
                    <a:lstStyle/>
                    <a:p>
                      <a:r>
                        <a:rPr lang="fr-FR" sz="1600" dirty="0"/>
                        <a:t>Déchets provenant des installations de gestion des déchets, des stations dépuration des eaux usées hors site et de la préparation d’eau destinée à la consommation humaine et d’eau à usage industriel</a:t>
                      </a:r>
                    </a:p>
                  </a:txBody>
                  <a:tcPr marL="0" marR="0" marT="0" marB="0" anchor="ctr"/>
                </a:tc>
                <a:extLst>
                  <a:ext uri="{0D108BD9-81ED-4DB2-BD59-A6C34878D82A}">
                    <a16:rowId xmlns:a16="http://schemas.microsoft.com/office/drawing/2014/main" val="964338129"/>
                  </a:ext>
                </a:extLst>
              </a:tr>
              <a:tr h="442109">
                <a:tc>
                  <a:txBody>
                    <a:bodyPr/>
                    <a:lstStyle/>
                    <a:p>
                      <a:pPr algn="ctr"/>
                      <a:r>
                        <a:rPr lang="fr-FR" sz="1600" dirty="0"/>
                        <a:t>20</a:t>
                      </a:r>
                    </a:p>
                  </a:txBody>
                  <a:tcPr marL="0" marR="0" marT="0" marB="0" anchor="ctr"/>
                </a:tc>
                <a:tc>
                  <a:txBody>
                    <a:bodyPr/>
                    <a:lstStyle/>
                    <a:p>
                      <a:r>
                        <a:rPr lang="fr-FR" sz="1600" dirty="0"/>
                        <a:t>Déchets municipaux (déchets ménagers et déchets assimilés provenant des commerces, des industries et des administrations) y compris les fractions collectées séparément</a:t>
                      </a:r>
                    </a:p>
                  </a:txBody>
                  <a:tcPr marL="0" marR="0" marT="0" marB="0" anchor="ctr"/>
                </a:tc>
                <a:extLst>
                  <a:ext uri="{0D108BD9-81ED-4DB2-BD59-A6C34878D82A}">
                    <a16:rowId xmlns:a16="http://schemas.microsoft.com/office/drawing/2014/main" val="4272600133"/>
                  </a:ext>
                </a:extLst>
              </a:tr>
            </a:tbl>
          </a:graphicData>
        </a:graphic>
      </p:graphicFrame>
    </p:spTree>
    <p:extLst>
      <p:ext uri="{BB962C8B-B14F-4D97-AF65-F5344CB8AC3E}">
        <p14:creationId xmlns:p14="http://schemas.microsoft.com/office/powerpoint/2010/main" val="74952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650" y="22225"/>
            <a:ext cx="8051116" cy="1079839"/>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Codification des déchets</a:t>
            </a:r>
          </a:p>
        </p:txBody>
      </p:sp>
      <p:sp>
        <p:nvSpPr>
          <p:cNvPr id="4" name="Espace réservé du contenu 3">
            <a:extLst>
              <a:ext uri="{FF2B5EF4-FFF2-40B4-BE49-F238E27FC236}">
                <a16:creationId xmlns:a16="http://schemas.microsoft.com/office/drawing/2014/main" id="{78DD4746-0B68-E752-F52D-8A9F57E9D24B}"/>
              </a:ext>
            </a:extLst>
          </p:cNvPr>
          <p:cNvSpPr>
            <a:spLocks noGrp="1"/>
          </p:cNvSpPr>
          <p:nvPr>
            <p:ph idx="1"/>
          </p:nvPr>
        </p:nvSpPr>
        <p:spPr>
          <a:xfrm>
            <a:off x="278039" y="1102064"/>
            <a:ext cx="7886700" cy="474663"/>
          </a:xfrm>
        </p:spPr>
        <p:txBody>
          <a:bodyPr>
            <a:normAutofit/>
          </a:bodyPr>
          <a:lstStyle/>
          <a:p>
            <a:pPr marL="0" indent="0">
              <a:buNone/>
            </a:pPr>
            <a:r>
              <a:rPr lang="fr-FR" sz="2000" b="1" u="sng" dirty="0">
                <a:solidFill>
                  <a:schemeClr val="accent5">
                    <a:lumMod val="75000"/>
                  </a:schemeClr>
                </a:solidFill>
              </a:rPr>
              <a:t>Exemple – Chapitre 15 (/20):</a:t>
            </a:r>
          </a:p>
        </p:txBody>
      </p:sp>
      <p:graphicFrame>
        <p:nvGraphicFramePr>
          <p:cNvPr id="2" name="Tableau 1">
            <a:extLst>
              <a:ext uri="{FF2B5EF4-FFF2-40B4-BE49-F238E27FC236}">
                <a16:creationId xmlns:a16="http://schemas.microsoft.com/office/drawing/2014/main" id="{A51A61BB-B98A-8DEE-4909-798E42A4C8EC}"/>
              </a:ext>
            </a:extLst>
          </p:cNvPr>
          <p:cNvGraphicFramePr>
            <a:graphicFrameLocks noGrp="1"/>
          </p:cNvGraphicFramePr>
          <p:nvPr/>
        </p:nvGraphicFramePr>
        <p:xfrm>
          <a:off x="278039" y="1576727"/>
          <a:ext cx="8587922" cy="5176232"/>
        </p:xfrm>
        <a:graphic>
          <a:graphicData uri="http://schemas.openxmlformats.org/drawingml/2006/table">
            <a:tbl>
              <a:tblPr firstRow="1">
                <a:tableStyleId>{FABFCF23-3B69-468F-B69F-88F6DE6A72F2}</a:tableStyleId>
              </a:tblPr>
              <a:tblGrid>
                <a:gridCol w="837293">
                  <a:extLst>
                    <a:ext uri="{9D8B030D-6E8A-4147-A177-3AD203B41FA5}">
                      <a16:colId xmlns:a16="http://schemas.microsoft.com/office/drawing/2014/main" val="2512215688"/>
                    </a:ext>
                  </a:extLst>
                </a:gridCol>
                <a:gridCol w="7750629">
                  <a:extLst>
                    <a:ext uri="{9D8B030D-6E8A-4147-A177-3AD203B41FA5}">
                      <a16:colId xmlns:a16="http://schemas.microsoft.com/office/drawing/2014/main" val="3862789493"/>
                    </a:ext>
                  </a:extLst>
                </a:gridCol>
              </a:tblGrid>
              <a:tr h="459902">
                <a:tc>
                  <a:txBody>
                    <a:bodyPr/>
                    <a:lstStyle/>
                    <a:p>
                      <a:pPr algn="ctr"/>
                      <a:r>
                        <a:rPr lang="fr-FR" sz="1400" b="1" dirty="0"/>
                        <a:t>15</a:t>
                      </a:r>
                      <a:endParaRPr lang="fr-FR" sz="1400" dirty="0"/>
                    </a:p>
                  </a:txBody>
                  <a:tcPr marL="0" marR="0" marT="0" marB="0" anchor="ctr"/>
                </a:tc>
                <a:tc>
                  <a:txBody>
                    <a:bodyPr/>
                    <a:lstStyle/>
                    <a:p>
                      <a:r>
                        <a:rPr lang="fr-FR" sz="1400" b="1" dirty="0"/>
                        <a:t>EMBALLAGES ET DÉCHETS D'EMBALLAGES, ABSORBANTS, CHIFFONS D'ESSUYAGE, MATÉRIAUX FILTRANTS ET VÊTEMENTS DE PROTECTION NON SPÉCIFIÉS AILLEURS</a:t>
                      </a:r>
                      <a:endParaRPr lang="fr-FR" sz="1400" dirty="0"/>
                    </a:p>
                  </a:txBody>
                  <a:tcPr marL="0" marR="0" marT="0" marB="0" anchor="ctr"/>
                </a:tc>
                <a:extLst>
                  <a:ext uri="{0D108BD9-81ED-4DB2-BD59-A6C34878D82A}">
                    <a16:rowId xmlns:a16="http://schemas.microsoft.com/office/drawing/2014/main" val="1440651687"/>
                  </a:ext>
                </a:extLst>
              </a:tr>
              <a:tr h="300945">
                <a:tc>
                  <a:txBody>
                    <a:bodyPr/>
                    <a:lstStyle/>
                    <a:p>
                      <a:pPr algn="ctr"/>
                      <a:r>
                        <a:rPr lang="fr-FR" sz="1400" b="1" dirty="0"/>
                        <a:t>15 01</a:t>
                      </a:r>
                    </a:p>
                  </a:txBody>
                  <a:tcPr marL="0" marR="0" marT="0" marB="0" anchor="ctr"/>
                </a:tc>
                <a:tc>
                  <a:txBody>
                    <a:bodyPr/>
                    <a:lstStyle/>
                    <a:p>
                      <a:r>
                        <a:rPr lang="fr-FR" sz="1400" b="1" dirty="0"/>
                        <a:t>emballages et déchets d'emballages (y compris les déchets d'emballages municipaux collectés séparément)</a:t>
                      </a:r>
                    </a:p>
                  </a:txBody>
                  <a:tcPr marL="0" marR="0" marT="0" marB="0" anchor="ctr"/>
                </a:tc>
                <a:extLst>
                  <a:ext uri="{0D108BD9-81ED-4DB2-BD59-A6C34878D82A}">
                    <a16:rowId xmlns:a16="http://schemas.microsoft.com/office/drawing/2014/main" val="1879758438"/>
                  </a:ext>
                </a:extLst>
              </a:tr>
              <a:tr h="300945">
                <a:tc>
                  <a:txBody>
                    <a:bodyPr/>
                    <a:lstStyle/>
                    <a:p>
                      <a:pPr algn="ctr"/>
                      <a:r>
                        <a:rPr lang="fr-FR" sz="1400"/>
                        <a:t>15 01 01</a:t>
                      </a:r>
                    </a:p>
                  </a:txBody>
                  <a:tcPr marL="0" marR="0" marT="0" marB="0" anchor="ctr"/>
                </a:tc>
                <a:tc>
                  <a:txBody>
                    <a:bodyPr/>
                    <a:lstStyle/>
                    <a:p>
                      <a:r>
                        <a:rPr lang="fr-FR" sz="1400"/>
                        <a:t>emballages en papier/carton</a:t>
                      </a:r>
                    </a:p>
                  </a:txBody>
                  <a:tcPr marL="0" marR="0" marT="0" marB="0" anchor="ctr"/>
                </a:tc>
                <a:extLst>
                  <a:ext uri="{0D108BD9-81ED-4DB2-BD59-A6C34878D82A}">
                    <a16:rowId xmlns:a16="http://schemas.microsoft.com/office/drawing/2014/main" val="689949577"/>
                  </a:ext>
                </a:extLst>
              </a:tr>
              <a:tr h="300945">
                <a:tc>
                  <a:txBody>
                    <a:bodyPr/>
                    <a:lstStyle/>
                    <a:p>
                      <a:pPr algn="ctr"/>
                      <a:r>
                        <a:rPr lang="fr-FR" sz="1400" dirty="0"/>
                        <a:t>15 01 02</a:t>
                      </a:r>
                    </a:p>
                  </a:txBody>
                  <a:tcPr marL="0" marR="0" marT="0" marB="0" anchor="ctr"/>
                </a:tc>
                <a:tc>
                  <a:txBody>
                    <a:bodyPr/>
                    <a:lstStyle/>
                    <a:p>
                      <a:r>
                        <a:rPr lang="fr-FR" sz="1400" dirty="0"/>
                        <a:t>emballages en matières plastiques</a:t>
                      </a:r>
                    </a:p>
                  </a:txBody>
                  <a:tcPr marL="0" marR="0" marT="0" marB="0" anchor="ctr"/>
                </a:tc>
                <a:extLst>
                  <a:ext uri="{0D108BD9-81ED-4DB2-BD59-A6C34878D82A}">
                    <a16:rowId xmlns:a16="http://schemas.microsoft.com/office/drawing/2014/main" val="2635782288"/>
                  </a:ext>
                </a:extLst>
              </a:tr>
              <a:tr h="300945">
                <a:tc>
                  <a:txBody>
                    <a:bodyPr/>
                    <a:lstStyle/>
                    <a:p>
                      <a:pPr algn="ctr"/>
                      <a:r>
                        <a:rPr lang="fr-FR" sz="1400"/>
                        <a:t>15 01 03</a:t>
                      </a:r>
                    </a:p>
                  </a:txBody>
                  <a:tcPr marL="0" marR="0" marT="0" marB="0" anchor="ctr"/>
                </a:tc>
                <a:tc>
                  <a:txBody>
                    <a:bodyPr/>
                    <a:lstStyle/>
                    <a:p>
                      <a:r>
                        <a:rPr lang="fr-FR" sz="1400"/>
                        <a:t>emballages en bois</a:t>
                      </a:r>
                    </a:p>
                  </a:txBody>
                  <a:tcPr marL="0" marR="0" marT="0" marB="0" anchor="ctr"/>
                </a:tc>
                <a:extLst>
                  <a:ext uri="{0D108BD9-81ED-4DB2-BD59-A6C34878D82A}">
                    <a16:rowId xmlns:a16="http://schemas.microsoft.com/office/drawing/2014/main" val="4135146481"/>
                  </a:ext>
                </a:extLst>
              </a:tr>
              <a:tr h="300945">
                <a:tc>
                  <a:txBody>
                    <a:bodyPr/>
                    <a:lstStyle/>
                    <a:p>
                      <a:pPr algn="ctr"/>
                      <a:r>
                        <a:rPr lang="fr-FR" sz="1400" dirty="0"/>
                        <a:t>15 01 04</a:t>
                      </a:r>
                    </a:p>
                  </a:txBody>
                  <a:tcPr marL="0" marR="0" marT="0" marB="0" anchor="ctr"/>
                </a:tc>
                <a:tc>
                  <a:txBody>
                    <a:bodyPr/>
                    <a:lstStyle/>
                    <a:p>
                      <a:r>
                        <a:rPr lang="fr-FR" sz="1400" dirty="0"/>
                        <a:t>emballages métalliques</a:t>
                      </a:r>
                    </a:p>
                  </a:txBody>
                  <a:tcPr marL="0" marR="0" marT="0" marB="0" anchor="ctr"/>
                </a:tc>
                <a:extLst>
                  <a:ext uri="{0D108BD9-81ED-4DB2-BD59-A6C34878D82A}">
                    <a16:rowId xmlns:a16="http://schemas.microsoft.com/office/drawing/2014/main" val="2459297034"/>
                  </a:ext>
                </a:extLst>
              </a:tr>
              <a:tr h="300945">
                <a:tc>
                  <a:txBody>
                    <a:bodyPr/>
                    <a:lstStyle/>
                    <a:p>
                      <a:pPr algn="ctr"/>
                      <a:r>
                        <a:rPr lang="fr-FR" sz="1400"/>
                        <a:t>15 01 05</a:t>
                      </a:r>
                    </a:p>
                  </a:txBody>
                  <a:tcPr marL="0" marR="0" marT="0" marB="0" anchor="ctr"/>
                </a:tc>
                <a:tc>
                  <a:txBody>
                    <a:bodyPr/>
                    <a:lstStyle/>
                    <a:p>
                      <a:r>
                        <a:rPr lang="fr-FR" sz="1400"/>
                        <a:t>emballages composites</a:t>
                      </a:r>
                    </a:p>
                  </a:txBody>
                  <a:tcPr marL="0" marR="0" marT="0" marB="0" anchor="ctr"/>
                </a:tc>
                <a:extLst>
                  <a:ext uri="{0D108BD9-81ED-4DB2-BD59-A6C34878D82A}">
                    <a16:rowId xmlns:a16="http://schemas.microsoft.com/office/drawing/2014/main" val="4036072151"/>
                  </a:ext>
                </a:extLst>
              </a:tr>
              <a:tr h="300945">
                <a:tc>
                  <a:txBody>
                    <a:bodyPr/>
                    <a:lstStyle/>
                    <a:p>
                      <a:pPr algn="ctr"/>
                      <a:r>
                        <a:rPr lang="fr-FR" sz="1400"/>
                        <a:t>15 01 06</a:t>
                      </a:r>
                    </a:p>
                  </a:txBody>
                  <a:tcPr marL="0" marR="0" marT="0" marB="0" anchor="ctr"/>
                </a:tc>
                <a:tc>
                  <a:txBody>
                    <a:bodyPr/>
                    <a:lstStyle/>
                    <a:p>
                      <a:r>
                        <a:rPr lang="fr-FR" sz="1400" dirty="0"/>
                        <a:t>emballages en mélange</a:t>
                      </a:r>
                    </a:p>
                  </a:txBody>
                  <a:tcPr marL="0" marR="0" marT="0" marB="0" anchor="ctr"/>
                </a:tc>
                <a:extLst>
                  <a:ext uri="{0D108BD9-81ED-4DB2-BD59-A6C34878D82A}">
                    <a16:rowId xmlns:a16="http://schemas.microsoft.com/office/drawing/2014/main" val="919637737"/>
                  </a:ext>
                </a:extLst>
              </a:tr>
              <a:tr h="300945">
                <a:tc>
                  <a:txBody>
                    <a:bodyPr/>
                    <a:lstStyle/>
                    <a:p>
                      <a:pPr algn="ctr"/>
                      <a:r>
                        <a:rPr lang="fr-FR" sz="1400" dirty="0"/>
                        <a:t>15 01 07</a:t>
                      </a:r>
                    </a:p>
                  </a:txBody>
                  <a:tcPr marL="0" marR="0" marT="0" marB="0" anchor="ctr"/>
                </a:tc>
                <a:tc>
                  <a:txBody>
                    <a:bodyPr/>
                    <a:lstStyle/>
                    <a:p>
                      <a:r>
                        <a:rPr lang="fr-FR" sz="1400"/>
                        <a:t>emballages en verre</a:t>
                      </a:r>
                    </a:p>
                  </a:txBody>
                  <a:tcPr marL="0" marR="0" marT="0" marB="0" anchor="ctr"/>
                </a:tc>
                <a:extLst>
                  <a:ext uri="{0D108BD9-81ED-4DB2-BD59-A6C34878D82A}">
                    <a16:rowId xmlns:a16="http://schemas.microsoft.com/office/drawing/2014/main" val="2658637782"/>
                  </a:ext>
                </a:extLst>
              </a:tr>
              <a:tr h="300945">
                <a:tc>
                  <a:txBody>
                    <a:bodyPr/>
                    <a:lstStyle/>
                    <a:p>
                      <a:pPr algn="ctr"/>
                      <a:r>
                        <a:rPr lang="fr-FR" sz="1400" dirty="0"/>
                        <a:t>15 01 09</a:t>
                      </a:r>
                    </a:p>
                  </a:txBody>
                  <a:tcPr marL="0" marR="0" marT="0" marB="0" anchor="ctr"/>
                </a:tc>
                <a:tc>
                  <a:txBody>
                    <a:bodyPr/>
                    <a:lstStyle/>
                    <a:p>
                      <a:r>
                        <a:rPr lang="fr-FR" sz="1400" dirty="0"/>
                        <a:t>emballages textiles</a:t>
                      </a:r>
                    </a:p>
                  </a:txBody>
                  <a:tcPr marL="0" marR="0" marT="0" marB="0" anchor="ctr"/>
                </a:tc>
                <a:extLst>
                  <a:ext uri="{0D108BD9-81ED-4DB2-BD59-A6C34878D82A}">
                    <a16:rowId xmlns:a16="http://schemas.microsoft.com/office/drawing/2014/main" val="3516296190"/>
                  </a:ext>
                </a:extLst>
              </a:tr>
              <a:tr h="300945">
                <a:tc>
                  <a:txBody>
                    <a:bodyPr/>
                    <a:lstStyle/>
                    <a:p>
                      <a:pPr algn="ctr"/>
                      <a:r>
                        <a:rPr lang="fr-FR" sz="1400" dirty="0"/>
                        <a:t>15 01 10*</a:t>
                      </a:r>
                    </a:p>
                  </a:txBody>
                  <a:tcPr marL="0" marR="0" marT="0" marB="0" anchor="ctr"/>
                </a:tc>
                <a:tc>
                  <a:txBody>
                    <a:bodyPr/>
                    <a:lstStyle/>
                    <a:p>
                      <a:r>
                        <a:rPr lang="fr-FR" sz="1400" dirty="0"/>
                        <a:t>emballages contenant des résidus de substances dangereuses ou contaminés par de tels résidus</a:t>
                      </a:r>
                    </a:p>
                  </a:txBody>
                  <a:tcPr marL="0" marR="0" marT="0" marB="0" anchor="ctr"/>
                </a:tc>
                <a:extLst>
                  <a:ext uri="{0D108BD9-81ED-4DB2-BD59-A6C34878D82A}">
                    <a16:rowId xmlns:a16="http://schemas.microsoft.com/office/drawing/2014/main" val="739263522"/>
                  </a:ext>
                </a:extLst>
              </a:tr>
              <a:tr h="300945">
                <a:tc>
                  <a:txBody>
                    <a:bodyPr/>
                    <a:lstStyle/>
                    <a:p>
                      <a:pPr algn="ctr"/>
                      <a:r>
                        <a:rPr lang="fr-FR" sz="1400" dirty="0"/>
                        <a:t>15 01 11*</a:t>
                      </a:r>
                    </a:p>
                  </a:txBody>
                  <a:tcPr marL="0" marR="0" marT="0" marB="0" anchor="ctr"/>
                </a:tc>
                <a:tc>
                  <a:txBody>
                    <a:bodyPr/>
                    <a:lstStyle/>
                    <a:p>
                      <a:r>
                        <a:rPr lang="fr-FR" sz="1400" dirty="0"/>
                        <a:t>emballages métalliques contenant une matrice poreuse solide dangereuse (par exemple amiante), y compris des conteneurs à pression vides</a:t>
                      </a:r>
                    </a:p>
                  </a:txBody>
                  <a:tcPr marL="0" marR="0" marT="0" marB="0" anchor="ctr"/>
                </a:tc>
                <a:extLst>
                  <a:ext uri="{0D108BD9-81ED-4DB2-BD59-A6C34878D82A}">
                    <a16:rowId xmlns:a16="http://schemas.microsoft.com/office/drawing/2014/main" val="4026297532"/>
                  </a:ext>
                </a:extLst>
              </a:tr>
              <a:tr h="300945">
                <a:tc>
                  <a:txBody>
                    <a:bodyPr/>
                    <a:lstStyle/>
                    <a:p>
                      <a:pPr algn="ctr"/>
                      <a:r>
                        <a:rPr lang="fr-FR" sz="1400" b="1" dirty="0"/>
                        <a:t>15 02</a:t>
                      </a:r>
                    </a:p>
                  </a:txBody>
                  <a:tcPr marL="0" marR="0" marT="0" marB="0" anchor="ctr"/>
                </a:tc>
                <a:tc>
                  <a:txBody>
                    <a:bodyPr/>
                    <a:lstStyle/>
                    <a:p>
                      <a:r>
                        <a:rPr lang="fr-FR" sz="1400" b="1" dirty="0"/>
                        <a:t>absorbants, matériaux filtrants, chiffons d'essuyage et vêtements de protection</a:t>
                      </a:r>
                    </a:p>
                  </a:txBody>
                  <a:tcPr marL="0" marR="0" marT="0" marB="0" anchor="ctr"/>
                </a:tc>
                <a:extLst>
                  <a:ext uri="{0D108BD9-81ED-4DB2-BD59-A6C34878D82A}">
                    <a16:rowId xmlns:a16="http://schemas.microsoft.com/office/drawing/2014/main" val="3719318242"/>
                  </a:ext>
                </a:extLst>
              </a:tr>
              <a:tr h="364001">
                <a:tc>
                  <a:txBody>
                    <a:bodyPr/>
                    <a:lstStyle/>
                    <a:p>
                      <a:pPr algn="ctr"/>
                      <a:r>
                        <a:rPr lang="fr-FR" sz="1400" dirty="0"/>
                        <a:t>15 02 02*</a:t>
                      </a:r>
                    </a:p>
                  </a:txBody>
                  <a:tcPr marL="0" marR="0" marT="0" marB="0" anchor="ctr"/>
                </a:tc>
                <a:tc>
                  <a:txBody>
                    <a:bodyPr/>
                    <a:lstStyle/>
                    <a:p>
                      <a:r>
                        <a:rPr lang="fr-FR" sz="1400" dirty="0"/>
                        <a:t>absorbants, matériaux filtrants (y compris les filtres à huile non spécifiés ailleurs), chiffons d'essuyage et vêtements de protection contaminés par des substances dangereuses</a:t>
                      </a:r>
                    </a:p>
                  </a:txBody>
                  <a:tcPr marL="0" marR="0" marT="0" marB="0" anchor="ctr"/>
                </a:tc>
                <a:extLst>
                  <a:ext uri="{0D108BD9-81ED-4DB2-BD59-A6C34878D82A}">
                    <a16:rowId xmlns:a16="http://schemas.microsoft.com/office/drawing/2014/main" val="1741794671"/>
                  </a:ext>
                </a:extLst>
              </a:tr>
              <a:tr h="300945">
                <a:tc>
                  <a:txBody>
                    <a:bodyPr/>
                    <a:lstStyle/>
                    <a:p>
                      <a:pPr algn="ctr"/>
                      <a:r>
                        <a:rPr lang="fr-FR" sz="1400" dirty="0"/>
                        <a:t>15 02 03</a:t>
                      </a:r>
                    </a:p>
                  </a:txBody>
                  <a:tcPr marL="0" marR="0" marT="0" marB="0" anchor="ctr"/>
                </a:tc>
                <a:tc>
                  <a:txBody>
                    <a:bodyPr/>
                    <a:lstStyle/>
                    <a:p>
                      <a:r>
                        <a:rPr lang="fr-FR" sz="1400" dirty="0"/>
                        <a:t>absorbants, matériaux filtrants, chiffons d'essuyage et vêtements de protection autres que ceux visés à la rubrique 15 02 02</a:t>
                      </a:r>
                    </a:p>
                  </a:txBody>
                  <a:tcPr marL="0" marR="0" marT="0" marB="0" anchor="ctr"/>
                </a:tc>
                <a:extLst>
                  <a:ext uri="{0D108BD9-81ED-4DB2-BD59-A6C34878D82A}">
                    <a16:rowId xmlns:a16="http://schemas.microsoft.com/office/drawing/2014/main" val="2804509678"/>
                  </a:ext>
                </a:extLst>
              </a:tr>
            </a:tbl>
          </a:graphicData>
        </a:graphic>
      </p:graphicFrame>
    </p:spTree>
    <p:extLst>
      <p:ext uri="{BB962C8B-B14F-4D97-AF65-F5344CB8AC3E}">
        <p14:creationId xmlns:p14="http://schemas.microsoft.com/office/powerpoint/2010/main" val="7726284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16" y="22225"/>
            <a:ext cx="8616950" cy="1268246"/>
          </a:xfrm>
        </p:spPr>
        <p:txBody>
          <a:bodyPr>
            <a:no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Modes de traitement des déchets</a:t>
            </a:r>
          </a:p>
        </p:txBody>
      </p:sp>
      <p:sp>
        <p:nvSpPr>
          <p:cNvPr id="8" name="Espace réservé du contenu 2">
            <a:extLst>
              <a:ext uri="{FF2B5EF4-FFF2-40B4-BE49-F238E27FC236}">
                <a16:creationId xmlns:a16="http://schemas.microsoft.com/office/drawing/2014/main" id="{607A3EF9-D5F5-4741-EB12-DA694C0CADBA}"/>
              </a:ext>
            </a:extLst>
          </p:cNvPr>
          <p:cNvSpPr>
            <a:spLocks noGrp="1"/>
          </p:cNvSpPr>
          <p:nvPr>
            <p:ph idx="1"/>
          </p:nvPr>
        </p:nvSpPr>
        <p:spPr>
          <a:xfrm>
            <a:off x="628650" y="1825625"/>
            <a:ext cx="8616950" cy="4351338"/>
          </a:xfrm>
        </p:spPr>
        <p:txBody>
          <a:bodyPr>
            <a:normAutofit/>
          </a:bodyPr>
          <a:lstStyle/>
          <a:p>
            <a:pPr marL="0" indent="0">
              <a:buNone/>
            </a:pPr>
            <a:endParaRPr lang="fr-FR" sz="2000" dirty="0"/>
          </a:p>
          <a:p>
            <a:pPr marL="0" indent="0">
              <a:buNone/>
            </a:pPr>
            <a:endParaRPr lang="fr-FR" sz="2000" dirty="0"/>
          </a:p>
          <a:p>
            <a:pPr marL="342900" lvl="1" indent="0">
              <a:lnSpc>
                <a:spcPct val="200000"/>
              </a:lnSpc>
              <a:buNone/>
            </a:pPr>
            <a:r>
              <a:rPr lang="fr-FR" sz="2000" b="1" dirty="0">
                <a:solidFill>
                  <a:schemeClr val="accent5">
                    <a:lumMod val="50000"/>
                  </a:schemeClr>
                </a:solidFill>
              </a:rPr>
              <a:t>①</a:t>
            </a:r>
            <a:r>
              <a:rPr lang="fr-FR" sz="2000" dirty="0"/>
              <a:t>	Préparation en vue de la réutilisation (sans modification)</a:t>
            </a:r>
          </a:p>
          <a:p>
            <a:pPr marL="342900" lvl="1" indent="0">
              <a:lnSpc>
                <a:spcPct val="200000"/>
              </a:lnSpc>
              <a:buNone/>
            </a:pPr>
            <a:r>
              <a:rPr lang="fr-FR" sz="2000" b="1" dirty="0">
                <a:solidFill>
                  <a:schemeClr val="accent5">
                    <a:lumMod val="50000"/>
                  </a:schemeClr>
                </a:solidFill>
              </a:rPr>
              <a:t>② 	</a:t>
            </a:r>
            <a:r>
              <a:rPr lang="fr-FR" sz="2000" dirty="0"/>
              <a:t>Recyclage</a:t>
            </a:r>
          </a:p>
          <a:p>
            <a:pPr marL="342900" lvl="1" indent="0">
              <a:lnSpc>
                <a:spcPct val="200000"/>
              </a:lnSpc>
              <a:buNone/>
            </a:pPr>
            <a:r>
              <a:rPr lang="fr-FR" sz="2000" b="1" dirty="0">
                <a:solidFill>
                  <a:schemeClr val="accent5">
                    <a:lumMod val="50000"/>
                  </a:schemeClr>
                </a:solidFill>
              </a:rPr>
              <a:t>③</a:t>
            </a:r>
            <a:r>
              <a:rPr lang="fr-FR" sz="2000" dirty="0"/>
              <a:t>	Toute autre valorisation, notamment la valorisation énergétique</a:t>
            </a:r>
          </a:p>
          <a:p>
            <a:pPr marL="342900" lvl="1" indent="0">
              <a:lnSpc>
                <a:spcPct val="200000"/>
              </a:lnSpc>
              <a:buNone/>
            </a:pPr>
            <a:r>
              <a:rPr lang="fr-FR" sz="2000" b="1" dirty="0">
                <a:solidFill>
                  <a:schemeClr val="accent5">
                    <a:lumMod val="50000"/>
                  </a:schemeClr>
                </a:solidFill>
              </a:rPr>
              <a:t>④ 	</a:t>
            </a:r>
            <a:r>
              <a:rPr lang="fr-FR" sz="2000" dirty="0"/>
              <a:t>Elimination (= mise en décharge)</a:t>
            </a:r>
          </a:p>
        </p:txBody>
      </p:sp>
      <p:cxnSp>
        <p:nvCxnSpPr>
          <p:cNvPr id="9" name="Connecteur droit avec flèche 8">
            <a:extLst>
              <a:ext uri="{FF2B5EF4-FFF2-40B4-BE49-F238E27FC236}">
                <a16:creationId xmlns:a16="http://schemas.microsoft.com/office/drawing/2014/main" id="{CED26520-2644-254C-E529-D8CC2FAAC686}"/>
              </a:ext>
            </a:extLst>
          </p:cNvPr>
          <p:cNvCxnSpPr/>
          <p:nvPr/>
        </p:nvCxnSpPr>
        <p:spPr>
          <a:xfrm>
            <a:off x="814388" y="2760889"/>
            <a:ext cx="0" cy="2286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A0AF801A-6067-568F-C121-2CF68319B604}"/>
              </a:ext>
            </a:extLst>
          </p:cNvPr>
          <p:cNvSpPr txBox="1"/>
          <p:nvPr/>
        </p:nvSpPr>
        <p:spPr>
          <a:xfrm>
            <a:off x="2687410" y="5807631"/>
            <a:ext cx="4499429" cy="369332"/>
          </a:xfrm>
          <a:prstGeom prst="rect">
            <a:avLst/>
          </a:prstGeom>
          <a:noFill/>
        </p:spPr>
        <p:txBody>
          <a:bodyPr wrap="square" rtlCol="0">
            <a:spAutoFit/>
          </a:bodyPr>
          <a:lstStyle/>
          <a:p>
            <a:pPr algn="ctr"/>
            <a:r>
              <a:rPr lang="fr-FR" dirty="0"/>
              <a:t>(Article L. 541-1 du code de l’environnement)</a:t>
            </a:r>
          </a:p>
        </p:txBody>
      </p:sp>
      <p:sp>
        <p:nvSpPr>
          <p:cNvPr id="10" name="ZoneTexte 9">
            <a:extLst>
              <a:ext uri="{FF2B5EF4-FFF2-40B4-BE49-F238E27FC236}">
                <a16:creationId xmlns:a16="http://schemas.microsoft.com/office/drawing/2014/main" id="{9A009110-C18A-8F1A-9722-937C92EF1965}"/>
              </a:ext>
            </a:extLst>
          </p:cNvPr>
          <p:cNvSpPr txBox="1"/>
          <p:nvPr/>
        </p:nvSpPr>
        <p:spPr>
          <a:xfrm>
            <a:off x="628650" y="1825625"/>
            <a:ext cx="4622800" cy="400110"/>
          </a:xfrm>
          <a:prstGeom prst="rect">
            <a:avLst/>
          </a:prstGeom>
          <a:noFill/>
        </p:spPr>
        <p:txBody>
          <a:bodyPr wrap="square">
            <a:spAutoFit/>
          </a:bodyPr>
          <a:lstStyle/>
          <a:p>
            <a:r>
              <a:rPr lang="fr-FR" sz="2000" b="1" u="sng" dirty="0">
                <a:solidFill>
                  <a:schemeClr val="accent5">
                    <a:lumMod val="75000"/>
                  </a:schemeClr>
                </a:solidFill>
              </a:rPr>
              <a:t>Hiérarchie des modes de traitement : </a:t>
            </a:r>
            <a:endParaRPr lang="fr-FR" sz="2000" b="1" u="sng" dirty="0"/>
          </a:p>
        </p:txBody>
      </p:sp>
    </p:spTree>
    <p:extLst>
      <p:ext uri="{BB962C8B-B14F-4D97-AF65-F5344CB8AC3E}">
        <p14:creationId xmlns:p14="http://schemas.microsoft.com/office/powerpoint/2010/main" val="6795819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241299" y="22225"/>
            <a:ext cx="8438467" cy="129222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600" dirty="0">
                <a:solidFill>
                  <a:schemeClr val="accent5">
                    <a:lumMod val="75000"/>
                  </a:schemeClr>
                </a:solidFill>
              </a:rPr>
              <a:t>Gestion des déchets - Codification de traitement des déchets</a:t>
            </a:r>
          </a:p>
        </p:txBody>
      </p:sp>
      <p:pic>
        <p:nvPicPr>
          <p:cNvPr id="3" name="Image 2">
            <a:extLst>
              <a:ext uri="{FF2B5EF4-FFF2-40B4-BE49-F238E27FC236}">
                <a16:creationId xmlns:a16="http://schemas.microsoft.com/office/drawing/2014/main" id="{E2FEBA20-477E-EA49-174C-60CFDB3C8721}"/>
              </a:ext>
            </a:extLst>
          </p:cNvPr>
          <p:cNvPicPr>
            <a:picLocks noChangeAspect="1"/>
          </p:cNvPicPr>
          <p:nvPr/>
        </p:nvPicPr>
        <p:blipFill rotWithShape="1">
          <a:blip r:embed="rId3"/>
          <a:srcRect t="9648"/>
          <a:stretch/>
        </p:blipFill>
        <p:spPr>
          <a:xfrm>
            <a:off x="3188520" y="1314450"/>
            <a:ext cx="4748980" cy="5357983"/>
          </a:xfrm>
          <a:prstGeom prst="rect">
            <a:avLst/>
          </a:prstGeom>
        </p:spPr>
      </p:pic>
      <p:pic>
        <p:nvPicPr>
          <p:cNvPr id="4" name="Image 3">
            <a:extLst>
              <a:ext uri="{FF2B5EF4-FFF2-40B4-BE49-F238E27FC236}">
                <a16:creationId xmlns:a16="http://schemas.microsoft.com/office/drawing/2014/main" id="{3FC56A6E-BDA4-3476-24C3-C3C98ED9EE70}"/>
              </a:ext>
            </a:extLst>
          </p:cNvPr>
          <p:cNvPicPr>
            <a:picLocks noChangeAspect="1"/>
          </p:cNvPicPr>
          <p:nvPr/>
        </p:nvPicPr>
        <p:blipFill rotWithShape="1">
          <a:blip r:embed="rId3"/>
          <a:srcRect l="21429" r="21023" b="91941"/>
          <a:stretch/>
        </p:blipFill>
        <p:spPr>
          <a:xfrm>
            <a:off x="241299" y="1422400"/>
            <a:ext cx="2578101" cy="450850"/>
          </a:xfrm>
          <a:prstGeom prst="rect">
            <a:avLst/>
          </a:prstGeom>
        </p:spPr>
      </p:pic>
    </p:spTree>
    <p:extLst>
      <p:ext uri="{BB962C8B-B14F-4D97-AF65-F5344CB8AC3E}">
        <p14:creationId xmlns:p14="http://schemas.microsoft.com/office/powerpoint/2010/main" val="7973633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0" y="22225"/>
            <a:ext cx="8679766" cy="129222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600" dirty="0">
                <a:solidFill>
                  <a:schemeClr val="accent5">
                    <a:lumMod val="75000"/>
                  </a:schemeClr>
                </a:solidFill>
              </a:rPr>
              <a:t>Gestion des déchets - Codification de traitement des déchets</a:t>
            </a:r>
          </a:p>
        </p:txBody>
      </p:sp>
      <p:pic>
        <p:nvPicPr>
          <p:cNvPr id="3" name="Image 2">
            <a:extLst>
              <a:ext uri="{FF2B5EF4-FFF2-40B4-BE49-F238E27FC236}">
                <a16:creationId xmlns:a16="http://schemas.microsoft.com/office/drawing/2014/main" id="{1A04F644-0371-B463-3BF9-3B1264C8048D}"/>
              </a:ext>
            </a:extLst>
          </p:cNvPr>
          <p:cNvPicPr>
            <a:picLocks noChangeAspect="1"/>
          </p:cNvPicPr>
          <p:nvPr/>
        </p:nvPicPr>
        <p:blipFill rotWithShape="1">
          <a:blip r:embed="rId3"/>
          <a:srcRect t="10971"/>
          <a:stretch/>
        </p:blipFill>
        <p:spPr>
          <a:xfrm>
            <a:off x="3163320" y="1403350"/>
            <a:ext cx="5636762" cy="5314950"/>
          </a:xfrm>
          <a:prstGeom prst="rect">
            <a:avLst/>
          </a:prstGeom>
        </p:spPr>
      </p:pic>
      <p:pic>
        <p:nvPicPr>
          <p:cNvPr id="4" name="Image 3">
            <a:extLst>
              <a:ext uri="{FF2B5EF4-FFF2-40B4-BE49-F238E27FC236}">
                <a16:creationId xmlns:a16="http://schemas.microsoft.com/office/drawing/2014/main" id="{B8720883-0417-A73C-444E-B945340D5B0A}"/>
              </a:ext>
            </a:extLst>
          </p:cNvPr>
          <p:cNvPicPr>
            <a:picLocks noChangeAspect="1"/>
          </p:cNvPicPr>
          <p:nvPr/>
        </p:nvPicPr>
        <p:blipFill rotWithShape="1">
          <a:blip r:embed="rId3"/>
          <a:srcRect l="21683" r="18613" b="91066"/>
          <a:stretch/>
        </p:blipFill>
        <p:spPr>
          <a:xfrm>
            <a:off x="1019" y="1457581"/>
            <a:ext cx="3162301" cy="501137"/>
          </a:xfrm>
          <a:prstGeom prst="rect">
            <a:avLst/>
          </a:prstGeom>
        </p:spPr>
      </p:pic>
    </p:spTree>
    <p:extLst>
      <p:ext uri="{BB962C8B-B14F-4D97-AF65-F5344CB8AC3E}">
        <p14:creationId xmlns:p14="http://schemas.microsoft.com/office/powerpoint/2010/main" val="1125547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650" y="22225"/>
            <a:ext cx="8051116" cy="1091521"/>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Exemple de BSD</a:t>
            </a:r>
          </a:p>
        </p:txBody>
      </p:sp>
      <p:pic>
        <p:nvPicPr>
          <p:cNvPr id="4" name="Image 3">
            <a:extLst>
              <a:ext uri="{FF2B5EF4-FFF2-40B4-BE49-F238E27FC236}">
                <a16:creationId xmlns:a16="http://schemas.microsoft.com/office/drawing/2014/main" id="{5D01B53B-094C-378F-4748-6EF9CCC7B536}"/>
              </a:ext>
            </a:extLst>
          </p:cNvPr>
          <p:cNvPicPr>
            <a:picLocks noChangeAspect="1"/>
          </p:cNvPicPr>
          <p:nvPr/>
        </p:nvPicPr>
        <p:blipFill>
          <a:blip r:embed="rId3"/>
          <a:stretch>
            <a:fillRect/>
          </a:stretch>
        </p:blipFill>
        <p:spPr>
          <a:xfrm>
            <a:off x="3413110" y="1172482"/>
            <a:ext cx="3968312" cy="5501605"/>
          </a:xfrm>
          <a:prstGeom prst="rect">
            <a:avLst/>
          </a:prstGeom>
        </p:spPr>
      </p:pic>
      <p:sp>
        <p:nvSpPr>
          <p:cNvPr id="5" name="Rectangle 4">
            <a:extLst>
              <a:ext uri="{FF2B5EF4-FFF2-40B4-BE49-F238E27FC236}">
                <a16:creationId xmlns:a16="http://schemas.microsoft.com/office/drawing/2014/main" id="{24031695-D29F-0110-260D-85662081A2A7}"/>
              </a:ext>
            </a:extLst>
          </p:cNvPr>
          <p:cNvSpPr/>
          <p:nvPr/>
        </p:nvSpPr>
        <p:spPr>
          <a:xfrm>
            <a:off x="4148137" y="2490788"/>
            <a:ext cx="1285875" cy="466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DB747910-4A77-2BF6-E049-CA39C022D958}"/>
              </a:ext>
            </a:extLst>
          </p:cNvPr>
          <p:cNvSpPr/>
          <p:nvPr/>
        </p:nvSpPr>
        <p:spPr>
          <a:xfrm>
            <a:off x="2925420" y="4957764"/>
            <a:ext cx="608355" cy="619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502287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628650" y="22225"/>
            <a:ext cx="8051116" cy="1091521"/>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Registre des déchets</a:t>
            </a:r>
          </a:p>
        </p:txBody>
      </p:sp>
      <p:sp>
        <p:nvSpPr>
          <p:cNvPr id="5" name="Rectangle 4">
            <a:extLst>
              <a:ext uri="{FF2B5EF4-FFF2-40B4-BE49-F238E27FC236}">
                <a16:creationId xmlns:a16="http://schemas.microsoft.com/office/drawing/2014/main" id="{24031695-D29F-0110-260D-85662081A2A7}"/>
              </a:ext>
            </a:extLst>
          </p:cNvPr>
          <p:cNvSpPr/>
          <p:nvPr/>
        </p:nvSpPr>
        <p:spPr>
          <a:xfrm>
            <a:off x="3019425" y="2476500"/>
            <a:ext cx="1285875" cy="466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DB747910-4A77-2BF6-E049-CA39C022D958}"/>
              </a:ext>
            </a:extLst>
          </p:cNvPr>
          <p:cNvSpPr/>
          <p:nvPr/>
        </p:nvSpPr>
        <p:spPr>
          <a:xfrm>
            <a:off x="2925420" y="4957764"/>
            <a:ext cx="608355" cy="619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710CCFE4-7791-584C-B3FC-A6A4E30970F2}"/>
              </a:ext>
            </a:extLst>
          </p:cNvPr>
          <p:cNvSpPr txBox="1"/>
          <p:nvPr/>
        </p:nvSpPr>
        <p:spPr>
          <a:xfrm>
            <a:off x="785813" y="1983938"/>
            <a:ext cx="7354546" cy="2585323"/>
          </a:xfrm>
          <a:prstGeom prst="rect">
            <a:avLst/>
          </a:prstGeom>
          <a:noFill/>
        </p:spPr>
        <p:txBody>
          <a:bodyPr wrap="square" rtlCol="0">
            <a:spAutoFit/>
          </a:bodyPr>
          <a:lstStyle/>
          <a:p>
            <a:r>
              <a:rPr lang="fr-FR" b="1" u="sng" dirty="0">
                <a:solidFill>
                  <a:schemeClr val="accent5">
                    <a:lumMod val="75000"/>
                  </a:schemeClr>
                </a:solidFill>
              </a:rPr>
              <a:t>Contenu:</a:t>
            </a:r>
          </a:p>
          <a:p>
            <a:endParaRPr lang="fr-FR" dirty="0">
              <a:solidFill>
                <a:schemeClr val="accent5">
                  <a:lumMod val="75000"/>
                </a:schemeClr>
              </a:solidFill>
            </a:endParaRPr>
          </a:p>
          <a:p>
            <a:pPr marL="342900" indent="-342900">
              <a:buFont typeface="Arial" panose="020B0604020202020204" pitchFamily="34" charset="0"/>
              <a:buChar char="•"/>
            </a:pPr>
            <a:r>
              <a:rPr lang="fr-FR" dirty="0"/>
              <a:t>Ordre chronologique</a:t>
            </a:r>
          </a:p>
          <a:p>
            <a:pPr marL="342900" indent="-342900">
              <a:buFont typeface="Arial" panose="020B0604020202020204" pitchFamily="34" charset="0"/>
              <a:buChar char="•"/>
            </a:pPr>
            <a:r>
              <a:rPr lang="fr-FR" dirty="0"/>
              <a:t>Désignation</a:t>
            </a:r>
          </a:p>
          <a:p>
            <a:pPr marL="342900" indent="-342900">
              <a:buFont typeface="Arial" panose="020B0604020202020204" pitchFamily="34" charset="0"/>
              <a:buChar char="•"/>
            </a:pPr>
            <a:r>
              <a:rPr lang="fr-FR" dirty="0"/>
              <a:t>Code déchet</a:t>
            </a:r>
          </a:p>
          <a:p>
            <a:pPr marL="342900" indent="-342900">
              <a:buFont typeface="Arial" panose="020B0604020202020204" pitchFamily="34" charset="0"/>
              <a:buChar char="•"/>
            </a:pPr>
            <a:r>
              <a:rPr lang="fr-FR" dirty="0"/>
              <a:t>Tonnage</a:t>
            </a:r>
          </a:p>
          <a:p>
            <a:pPr marL="342900" indent="-342900">
              <a:buFont typeface="Arial" panose="020B0604020202020204" pitchFamily="34" charset="0"/>
              <a:buChar char="•"/>
            </a:pPr>
            <a:r>
              <a:rPr lang="fr-FR" dirty="0"/>
              <a:t>Date enlèvement + traitement</a:t>
            </a:r>
          </a:p>
          <a:p>
            <a:pPr marL="342900" indent="-342900">
              <a:buFont typeface="Arial" panose="020B0604020202020204" pitchFamily="34" charset="0"/>
              <a:buChar char="•"/>
            </a:pPr>
            <a:r>
              <a:rPr lang="fr-FR" dirty="0"/>
              <a:t>N° BSD</a:t>
            </a:r>
          </a:p>
          <a:p>
            <a:pPr marL="342900" indent="-342900">
              <a:buFont typeface="Arial" panose="020B0604020202020204" pitchFamily="34" charset="0"/>
              <a:buChar char="•"/>
            </a:pPr>
            <a:r>
              <a:rPr lang="fr-FR" dirty="0"/>
              <a:t>…</a:t>
            </a:r>
          </a:p>
        </p:txBody>
      </p:sp>
      <p:sp>
        <p:nvSpPr>
          <p:cNvPr id="3" name="ZoneTexte 2">
            <a:extLst>
              <a:ext uri="{FF2B5EF4-FFF2-40B4-BE49-F238E27FC236}">
                <a16:creationId xmlns:a16="http://schemas.microsoft.com/office/drawing/2014/main" id="{A4224829-108E-05AF-B4AA-AF241A75DD25}"/>
              </a:ext>
            </a:extLst>
          </p:cNvPr>
          <p:cNvSpPr txBox="1"/>
          <p:nvPr/>
        </p:nvSpPr>
        <p:spPr>
          <a:xfrm>
            <a:off x="6168683" y="2306509"/>
            <a:ext cx="1819276" cy="369332"/>
          </a:xfrm>
          <a:prstGeom prst="rect">
            <a:avLst/>
          </a:prstGeom>
          <a:solidFill>
            <a:schemeClr val="bg1"/>
          </a:solidFill>
          <a:ln>
            <a:solidFill>
              <a:schemeClr val="accent5">
                <a:lumMod val="75000"/>
              </a:schemeClr>
            </a:solidFill>
          </a:ln>
        </p:spPr>
        <p:txBody>
          <a:bodyPr wrap="square" rtlCol="0">
            <a:spAutoFit/>
          </a:bodyPr>
          <a:lstStyle/>
          <a:p>
            <a:pPr algn="ctr"/>
            <a:r>
              <a:rPr lang="fr-FR" b="1" dirty="0">
                <a:solidFill>
                  <a:schemeClr val="accent5">
                    <a:lumMod val="75000"/>
                  </a:schemeClr>
                </a:solidFill>
              </a:rPr>
              <a:t>Conservé 5 ans</a:t>
            </a:r>
          </a:p>
        </p:txBody>
      </p:sp>
      <p:sp>
        <p:nvSpPr>
          <p:cNvPr id="6" name="ZoneTexte 5">
            <a:extLst>
              <a:ext uri="{FF2B5EF4-FFF2-40B4-BE49-F238E27FC236}">
                <a16:creationId xmlns:a16="http://schemas.microsoft.com/office/drawing/2014/main" id="{345A0B01-7EE3-6836-34E5-784EB111D999}"/>
              </a:ext>
            </a:extLst>
          </p:cNvPr>
          <p:cNvSpPr txBox="1"/>
          <p:nvPr/>
        </p:nvSpPr>
        <p:spPr>
          <a:xfrm>
            <a:off x="6168683" y="3429000"/>
            <a:ext cx="1819276" cy="1200329"/>
          </a:xfrm>
          <a:prstGeom prst="rect">
            <a:avLst/>
          </a:prstGeom>
          <a:solidFill>
            <a:schemeClr val="bg1"/>
          </a:solidFill>
          <a:ln>
            <a:solidFill>
              <a:schemeClr val="accent5">
                <a:lumMod val="75000"/>
              </a:schemeClr>
            </a:solidFill>
          </a:ln>
        </p:spPr>
        <p:txBody>
          <a:bodyPr wrap="square" rtlCol="0">
            <a:spAutoFit/>
          </a:bodyPr>
          <a:lstStyle/>
          <a:p>
            <a:pPr algn="ctr"/>
            <a:r>
              <a:rPr lang="fr-FR" b="1" dirty="0">
                <a:solidFill>
                  <a:schemeClr val="accent5">
                    <a:lumMod val="75000"/>
                  </a:schemeClr>
                </a:solidFill>
              </a:rPr>
              <a:t>Tenu à la disposition des autorités compétentes</a:t>
            </a:r>
          </a:p>
        </p:txBody>
      </p:sp>
      <p:sp>
        <p:nvSpPr>
          <p:cNvPr id="4" name="ZoneTexte 3">
            <a:extLst>
              <a:ext uri="{FF2B5EF4-FFF2-40B4-BE49-F238E27FC236}">
                <a16:creationId xmlns:a16="http://schemas.microsoft.com/office/drawing/2014/main" id="{2DF50691-E120-92D9-6486-B7939A05D20F}"/>
              </a:ext>
            </a:extLst>
          </p:cNvPr>
          <p:cNvSpPr txBox="1"/>
          <p:nvPr/>
        </p:nvSpPr>
        <p:spPr>
          <a:xfrm>
            <a:off x="3323430" y="5299076"/>
            <a:ext cx="2497139" cy="646331"/>
          </a:xfrm>
          <a:prstGeom prst="rect">
            <a:avLst/>
          </a:prstGeom>
          <a:solidFill>
            <a:schemeClr val="bg1"/>
          </a:solidFill>
          <a:ln>
            <a:solidFill>
              <a:schemeClr val="accent5">
                <a:lumMod val="75000"/>
              </a:schemeClr>
            </a:solidFill>
          </a:ln>
        </p:spPr>
        <p:txBody>
          <a:bodyPr wrap="square" rtlCol="0">
            <a:spAutoFit/>
          </a:bodyPr>
          <a:lstStyle/>
          <a:p>
            <a:pPr algn="ctr"/>
            <a:r>
              <a:rPr lang="fr-FR" b="1" dirty="0">
                <a:solidFill>
                  <a:schemeClr val="accent5">
                    <a:lumMod val="75000"/>
                  </a:schemeClr>
                </a:solidFill>
              </a:rPr>
              <a:t>+ </a:t>
            </a:r>
            <a:r>
              <a:rPr lang="fr-FR" b="1" dirty="0" err="1">
                <a:solidFill>
                  <a:schemeClr val="accent5">
                    <a:lumMod val="75000"/>
                  </a:schemeClr>
                </a:solidFill>
              </a:rPr>
              <a:t>Track’déchet</a:t>
            </a:r>
            <a:r>
              <a:rPr lang="fr-FR" b="1" dirty="0">
                <a:solidFill>
                  <a:schemeClr val="accent5">
                    <a:lumMod val="75000"/>
                  </a:schemeClr>
                </a:solidFill>
              </a:rPr>
              <a:t> pour déchets dangereux</a:t>
            </a:r>
          </a:p>
        </p:txBody>
      </p:sp>
    </p:spTree>
    <p:extLst>
      <p:ext uri="{BB962C8B-B14F-4D97-AF65-F5344CB8AC3E}">
        <p14:creationId xmlns:p14="http://schemas.microsoft.com/office/powerpoint/2010/main" val="25041004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594B4710-9729-49C1-9D6F-F7FDB5EEE0B5}"/>
              </a:ext>
            </a:extLst>
          </p:cNvPr>
          <p:cNvSpPr>
            <a:spLocks noGrp="1"/>
          </p:cNvSpPr>
          <p:nvPr>
            <p:ph type="title"/>
          </p:nvPr>
        </p:nvSpPr>
        <p:spPr>
          <a:xfrm>
            <a:off x="0" y="22225"/>
            <a:ext cx="8679766" cy="129222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Filières de traitement des déchets</a:t>
            </a:r>
          </a:p>
        </p:txBody>
      </p:sp>
      <p:sp>
        <p:nvSpPr>
          <p:cNvPr id="5" name="Rectangle 4">
            <a:extLst>
              <a:ext uri="{FF2B5EF4-FFF2-40B4-BE49-F238E27FC236}">
                <a16:creationId xmlns:a16="http://schemas.microsoft.com/office/drawing/2014/main" id="{24031695-D29F-0110-260D-85662081A2A7}"/>
              </a:ext>
            </a:extLst>
          </p:cNvPr>
          <p:cNvSpPr/>
          <p:nvPr/>
        </p:nvSpPr>
        <p:spPr>
          <a:xfrm>
            <a:off x="3019425" y="2476500"/>
            <a:ext cx="1285875" cy="466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DB747910-4A77-2BF6-E049-CA39C022D958}"/>
              </a:ext>
            </a:extLst>
          </p:cNvPr>
          <p:cNvSpPr/>
          <p:nvPr/>
        </p:nvSpPr>
        <p:spPr>
          <a:xfrm>
            <a:off x="2925420" y="4957764"/>
            <a:ext cx="608355" cy="619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5E7708D1-7F41-0B88-EC18-D0FD2B88044E}"/>
              </a:ext>
            </a:extLst>
          </p:cNvPr>
          <p:cNvSpPr txBox="1"/>
          <p:nvPr/>
        </p:nvSpPr>
        <p:spPr>
          <a:xfrm>
            <a:off x="1460500" y="1765300"/>
            <a:ext cx="5842000" cy="3970318"/>
          </a:xfrm>
          <a:prstGeom prst="rect">
            <a:avLst/>
          </a:prstGeom>
          <a:noFill/>
        </p:spPr>
        <p:txBody>
          <a:bodyPr wrap="square" rtlCol="0">
            <a:spAutoFit/>
          </a:bodyPr>
          <a:lstStyle/>
          <a:p>
            <a:r>
              <a:rPr lang="fr-FR" b="1" u="sng" dirty="0">
                <a:solidFill>
                  <a:schemeClr val="accent5">
                    <a:lumMod val="75000"/>
                  </a:schemeClr>
                </a:solidFill>
              </a:rPr>
              <a:t>Exemples de filières réglementées:</a:t>
            </a:r>
          </a:p>
          <a:p>
            <a:pPr marL="285750" indent="-285750">
              <a:buFont typeface="Arial" panose="020B0604020202020204" pitchFamily="34" charset="0"/>
              <a:buChar char="•"/>
            </a:pPr>
            <a:r>
              <a:rPr lang="fr-FR" dirty="0"/>
              <a:t>Huiles usagées</a:t>
            </a:r>
          </a:p>
          <a:p>
            <a:pPr marL="285750" indent="-285750">
              <a:buFont typeface="Arial" panose="020B0604020202020204" pitchFamily="34" charset="0"/>
              <a:buChar char="•"/>
            </a:pPr>
            <a:r>
              <a:rPr lang="fr-FR" dirty="0"/>
              <a:t>DASRI</a:t>
            </a:r>
          </a:p>
          <a:p>
            <a:pPr marL="285750" indent="-285750">
              <a:buFont typeface="Arial" panose="020B0604020202020204" pitchFamily="34" charset="0"/>
              <a:buChar char="•"/>
            </a:pPr>
            <a:r>
              <a:rPr lang="fr-FR" dirty="0"/>
              <a:t>Piles et accumulateurs</a:t>
            </a:r>
          </a:p>
          <a:p>
            <a:pPr marL="285750" indent="-285750">
              <a:buFont typeface="Arial" panose="020B0604020202020204" pitchFamily="34" charset="0"/>
              <a:buChar char="•"/>
            </a:pPr>
            <a:r>
              <a:rPr lang="fr-FR" dirty="0"/>
              <a:t>Pneus</a:t>
            </a:r>
          </a:p>
          <a:p>
            <a:pPr marL="285750" indent="-285750">
              <a:buFont typeface="Arial" panose="020B0604020202020204" pitchFamily="34" charset="0"/>
              <a:buChar char="•"/>
            </a:pPr>
            <a:r>
              <a:rPr lang="fr-FR" dirty="0"/>
              <a:t>VHU</a:t>
            </a:r>
          </a:p>
          <a:p>
            <a:pPr marL="285750" indent="-285750">
              <a:buFont typeface="Arial" panose="020B0604020202020204" pitchFamily="34" charset="0"/>
              <a:buChar char="•"/>
            </a:pPr>
            <a:r>
              <a:rPr lang="fr-FR" dirty="0"/>
              <a:t>Fluides frigorigènes</a:t>
            </a:r>
          </a:p>
          <a:p>
            <a:pPr marL="285750" indent="-285750">
              <a:buFont typeface="Arial" panose="020B0604020202020204" pitchFamily="34" charset="0"/>
              <a:buChar char="•"/>
            </a:pPr>
            <a:r>
              <a:rPr lang="fr-FR" dirty="0"/>
              <a:t>DEEE</a:t>
            </a:r>
          </a:p>
          <a:p>
            <a:pPr marL="285750" indent="-285750">
              <a:buFont typeface="Arial" panose="020B0604020202020204" pitchFamily="34" charset="0"/>
              <a:buChar char="•"/>
            </a:pPr>
            <a:r>
              <a:rPr lang="fr-FR" dirty="0"/>
              <a:t>Déchets de textiles, chaussures, linge de maison</a:t>
            </a:r>
          </a:p>
          <a:p>
            <a:pPr marL="285750" indent="-285750">
              <a:buFont typeface="Arial" panose="020B0604020202020204" pitchFamily="34" charset="0"/>
              <a:buChar char="•"/>
            </a:pPr>
            <a:r>
              <a:rPr lang="fr-FR" dirty="0"/>
              <a:t>Déchets d’imprimés papiers</a:t>
            </a:r>
          </a:p>
          <a:p>
            <a:pPr marL="285750" indent="-285750">
              <a:buFont typeface="Arial" panose="020B0604020202020204" pitchFamily="34" charset="0"/>
              <a:buChar char="•"/>
            </a:pPr>
            <a:r>
              <a:rPr lang="fr-FR" dirty="0"/>
              <a:t>Déchets dangereux ménagers</a:t>
            </a:r>
          </a:p>
          <a:p>
            <a:pPr marL="285750" indent="-285750">
              <a:buFont typeface="Arial" panose="020B0604020202020204" pitchFamily="34" charset="0"/>
              <a:buChar char="•"/>
            </a:pPr>
            <a:r>
              <a:rPr lang="fr-FR" dirty="0"/>
              <a:t>Éléments d’ameublement</a:t>
            </a:r>
          </a:p>
          <a:p>
            <a:pPr marL="285750" indent="-285750">
              <a:buFont typeface="Arial" panose="020B0604020202020204" pitchFamily="34" charset="0"/>
              <a:buChar char="•"/>
            </a:pPr>
            <a:r>
              <a:rPr lang="fr-FR" dirty="0"/>
              <a:t>Biodéchets</a:t>
            </a:r>
          </a:p>
          <a:p>
            <a:pPr marL="285750" indent="-285750">
              <a:buFont typeface="Arial" panose="020B0604020202020204" pitchFamily="34" charset="0"/>
              <a:buChar char="•"/>
            </a:pPr>
            <a:r>
              <a:rPr lang="fr-FR" dirty="0"/>
              <a:t>…</a:t>
            </a:r>
          </a:p>
        </p:txBody>
      </p:sp>
    </p:spTree>
    <p:extLst>
      <p:ext uri="{BB962C8B-B14F-4D97-AF65-F5344CB8AC3E}">
        <p14:creationId xmlns:p14="http://schemas.microsoft.com/office/powerpoint/2010/main" val="8505589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377371" y="1439863"/>
            <a:ext cx="8534400" cy="2420937"/>
          </a:xfrm>
        </p:spPr>
        <p:txBody>
          <a:bodyPr>
            <a:noAutofit/>
          </a:bodyPr>
          <a:lstStyle/>
          <a:p>
            <a:pPr marL="0" indent="0">
              <a:buNone/>
            </a:pPr>
            <a:r>
              <a:rPr lang="fr-FR" sz="1800" b="1" u="sng" dirty="0">
                <a:solidFill>
                  <a:schemeClr val="accent5">
                    <a:lumMod val="75000"/>
                  </a:schemeClr>
                </a:solidFill>
              </a:rPr>
              <a:t>Responsabilité élargie du producteur (REP) = </a:t>
            </a:r>
            <a:r>
              <a:rPr lang="fr-FR" sz="1800" b="1" u="sng" dirty="0">
                <a:solidFill>
                  <a:schemeClr val="accent5">
                    <a:lumMod val="75000"/>
                  </a:schemeClr>
                </a:solidFill>
                <a:sym typeface="Wingdings" panose="05000000000000000000" pitchFamily="2" charset="2"/>
              </a:rPr>
              <a:t>Principe du pollueur-payeur:</a:t>
            </a:r>
            <a:r>
              <a:rPr lang="fr-FR" sz="1800" dirty="0">
                <a:solidFill>
                  <a:schemeClr val="accent5">
                    <a:lumMod val="75000"/>
                  </a:schemeClr>
                </a:solidFill>
                <a:sym typeface="Wingdings" panose="05000000000000000000" pitchFamily="2" charset="2"/>
              </a:rPr>
              <a:t> </a:t>
            </a:r>
            <a:r>
              <a:rPr lang="fr-FR" sz="1800" dirty="0">
                <a:sym typeface="Wingdings" panose="05000000000000000000" pitchFamily="2" charset="2"/>
              </a:rPr>
              <a:t>Producteurs responsables des coûts et de la gestion des déchets liés aux produits qu’ils fabriquent </a:t>
            </a:r>
            <a:r>
              <a:rPr lang="fr-FR" sz="1400" dirty="0">
                <a:sym typeface="Wingdings" panose="05000000000000000000" pitchFamily="2" charset="2"/>
              </a:rPr>
              <a:t>(A</a:t>
            </a:r>
            <a:r>
              <a:rPr lang="fr-FR" sz="1400" b="0" i="0" dirty="0">
                <a:effectLst/>
              </a:rPr>
              <a:t>rt. L. 541-10 du code de l’environnement)</a:t>
            </a:r>
            <a:endParaRPr lang="fr-FR" sz="1400" dirty="0"/>
          </a:p>
          <a:p>
            <a:r>
              <a:rPr lang="fr-FR" sz="1800" dirty="0"/>
              <a:t>Adopté par l’OCDE en 1972, effectif depuis 1975</a:t>
            </a:r>
          </a:p>
          <a:p>
            <a:r>
              <a:rPr lang="fr-FR" sz="1800" dirty="0"/>
              <a:t>Dernière évolution: loi AGEC (</a:t>
            </a:r>
            <a:r>
              <a:rPr lang="fr-FR" sz="1800" i="0" dirty="0">
                <a:effectLst/>
              </a:rPr>
              <a:t>Anti-gaspillage pour une économie circulaire) </a:t>
            </a:r>
            <a:endParaRPr lang="fr-FR" sz="1800" dirty="0"/>
          </a:p>
          <a:p>
            <a:pPr marL="0" indent="0">
              <a:buNone/>
            </a:pPr>
            <a:endParaRPr lang="fr-FR" sz="1800" u="sng" dirty="0"/>
          </a:p>
          <a:p>
            <a:pPr marL="0" indent="0">
              <a:buNone/>
            </a:pPr>
            <a:r>
              <a:rPr lang="fr-FR" sz="1800" u="sng" dirty="0"/>
              <a:t>Objectifs des filières REP :</a:t>
            </a:r>
          </a:p>
        </p:txBody>
      </p:sp>
      <p:graphicFrame>
        <p:nvGraphicFramePr>
          <p:cNvPr id="9" name="Diagramme 8">
            <a:extLst>
              <a:ext uri="{FF2B5EF4-FFF2-40B4-BE49-F238E27FC236}">
                <a16:creationId xmlns:a16="http://schemas.microsoft.com/office/drawing/2014/main" id="{7EF4DCDD-1F67-4534-BB97-58B63754568E}"/>
              </a:ext>
            </a:extLst>
          </p:cNvPr>
          <p:cNvGraphicFramePr/>
          <p:nvPr>
            <p:extLst>
              <p:ext uri="{D42A27DB-BD31-4B8C-83A1-F6EECF244321}">
                <p14:modId xmlns:p14="http://schemas.microsoft.com/office/powerpoint/2010/main" val="2311510768"/>
              </p:ext>
            </p:extLst>
          </p:nvPr>
        </p:nvGraphicFramePr>
        <p:xfrm>
          <a:off x="377371" y="3860800"/>
          <a:ext cx="8131629" cy="19646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re 1">
            <a:extLst>
              <a:ext uri="{FF2B5EF4-FFF2-40B4-BE49-F238E27FC236}">
                <a16:creationId xmlns:a16="http://schemas.microsoft.com/office/drawing/2014/main" id="{3B0322C9-3779-44FD-BFB5-83EB53899AFD}"/>
              </a:ext>
            </a:extLst>
          </p:cNvPr>
          <p:cNvSpPr>
            <a:spLocks noGrp="1"/>
          </p:cNvSpPr>
          <p:nvPr>
            <p:ph type="title"/>
          </p:nvPr>
        </p:nvSpPr>
        <p:spPr>
          <a:xfrm>
            <a:off x="628650" y="22225"/>
            <a:ext cx="8009164" cy="129222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Filières REP</a:t>
            </a:r>
          </a:p>
        </p:txBody>
      </p:sp>
    </p:spTree>
    <p:extLst>
      <p:ext uri="{BB962C8B-B14F-4D97-AF65-F5344CB8AC3E}">
        <p14:creationId xmlns:p14="http://schemas.microsoft.com/office/powerpoint/2010/main" val="15342836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 projet de décret encadre la mise en œuvre du Triman et de l'info-tri">
            <a:extLst>
              <a:ext uri="{FF2B5EF4-FFF2-40B4-BE49-F238E27FC236}">
                <a16:creationId xmlns:a16="http://schemas.microsoft.com/office/drawing/2014/main" id="{A47A1475-D057-4E3D-9BC1-3B3DE13256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262" r="18061"/>
          <a:stretch/>
        </p:blipFill>
        <p:spPr bwMode="auto">
          <a:xfrm>
            <a:off x="628650" y="193312"/>
            <a:ext cx="880836" cy="83185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a16="http://schemas.microsoft.com/office/drawing/2014/main" id="{A3B497F7-1394-44C9-9BFE-2519082B19BB}"/>
              </a:ext>
            </a:extLst>
          </p:cNvPr>
          <p:cNvPicPr>
            <a:picLocks noChangeAspect="1"/>
          </p:cNvPicPr>
          <p:nvPr/>
        </p:nvPicPr>
        <p:blipFill>
          <a:blip r:embed="rId3"/>
          <a:stretch>
            <a:fillRect/>
          </a:stretch>
        </p:blipFill>
        <p:spPr>
          <a:xfrm>
            <a:off x="1763028" y="179958"/>
            <a:ext cx="818694" cy="828000"/>
          </a:xfrm>
          <a:prstGeom prst="rect">
            <a:avLst/>
          </a:prstGeom>
        </p:spPr>
      </p:pic>
      <p:sp>
        <p:nvSpPr>
          <p:cNvPr id="10" name="Titre 1">
            <a:extLst>
              <a:ext uri="{FF2B5EF4-FFF2-40B4-BE49-F238E27FC236}">
                <a16:creationId xmlns:a16="http://schemas.microsoft.com/office/drawing/2014/main" id="{FBB98C8A-B468-4303-AFE8-2A34E45C1ECA}"/>
              </a:ext>
            </a:extLst>
          </p:cNvPr>
          <p:cNvSpPr>
            <a:spLocks noGrp="1"/>
          </p:cNvSpPr>
          <p:nvPr>
            <p:ph type="title"/>
          </p:nvPr>
        </p:nvSpPr>
        <p:spPr>
          <a:xfrm>
            <a:off x="628649" y="22226"/>
            <a:ext cx="7983353" cy="1149350"/>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Filières REP</a:t>
            </a:r>
          </a:p>
        </p:txBody>
      </p:sp>
      <p:pic>
        <p:nvPicPr>
          <p:cNvPr id="3" name="Image 2" descr="Une image contenant texte, capture d’écran, diagramme&#10;&#10;Description générée automatiquement">
            <a:extLst>
              <a:ext uri="{FF2B5EF4-FFF2-40B4-BE49-F238E27FC236}">
                <a16:creationId xmlns:a16="http://schemas.microsoft.com/office/drawing/2014/main" id="{5587538A-D1F9-A531-DDBC-523850D2D7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1278" y="1407462"/>
            <a:ext cx="7449312" cy="5270580"/>
          </a:xfrm>
          <a:prstGeom prst="rect">
            <a:avLst/>
          </a:prstGeom>
        </p:spPr>
      </p:pic>
    </p:spTree>
    <p:extLst>
      <p:ext uri="{BB962C8B-B14F-4D97-AF65-F5344CB8AC3E}">
        <p14:creationId xmlns:p14="http://schemas.microsoft.com/office/powerpoint/2010/main" val="38053661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A4C8B564-5068-F02D-F6BA-13AE4F22254C}"/>
              </a:ext>
            </a:extLst>
          </p:cNvPr>
          <p:cNvSpPr>
            <a:spLocks noGrp="1"/>
          </p:cNvSpPr>
          <p:nvPr>
            <p:ph type="sldNum" sz="quarter" idx="12"/>
          </p:nvPr>
        </p:nvSpPr>
        <p:spPr/>
        <p:txBody>
          <a:bodyPr/>
          <a:lstStyle/>
          <a:p>
            <a:fld id="{C85C23CD-7E10-4F4A-A7FF-0A4854529D52}" type="slidenum">
              <a:rPr lang="fr-FR" smtClean="0"/>
              <a:t>63</a:t>
            </a:fld>
            <a:endParaRPr lang="fr-FR"/>
          </a:p>
        </p:txBody>
      </p:sp>
      <p:pic>
        <p:nvPicPr>
          <p:cNvPr id="6" name="Image 5" descr="Une image contenant texte, capture d’écran, Police, diagramme&#10;&#10;Description générée automatiquement">
            <a:extLst>
              <a:ext uri="{FF2B5EF4-FFF2-40B4-BE49-F238E27FC236}">
                <a16:creationId xmlns:a16="http://schemas.microsoft.com/office/drawing/2014/main" id="{E3712A39-FA51-421A-7A0F-F1BB74E2E2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050" y="1811338"/>
            <a:ext cx="6686550" cy="3905250"/>
          </a:xfrm>
          <a:prstGeom prst="rect">
            <a:avLst/>
          </a:prstGeom>
        </p:spPr>
      </p:pic>
      <p:sp>
        <p:nvSpPr>
          <p:cNvPr id="7" name="Titre 1">
            <a:extLst>
              <a:ext uri="{FF2B5EF4-FFF2-40B4-BE49-F238E27FC236}">
                <a16:creationId xmlns:a16="http://schemas.microsoft.com/office/drawing/2014/main" id="{D3F74D10-64F4-BC76-2543-BC3D311DCB41}"/>
              </a:ext>
            </a:extLst>
          </p:cNvPr>
          <p:cNvSpPr>
            <a:spLocks noGrp="1"/>
          </p:cNvSpPr>
          <p:nvPr>
            <p:ph type="title"/>
          </p:nvPr>
        </p:nvSpPr>
        <p:spPr>
          <a:xfrm>
            <a:off x="628649" y="22226"/>
            <a:ext cx="7983353" cy="1149350"/>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Eco-organismes</a:t>
            </a:r>
          </a:p>
        </p:txBody>
      </p:sp>
    </p:spTree>
    <p:extLst>
      <p:ext uri="{BB962C8B-B14F-4D97-AF65-F5344CB8AC3E}">
        <p14:creationId xmlns:p14="http://schemas.microsoft.com/office/powerpoint/2010/main" val="19469734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628650" y="1727200"/>
            <a:ext cx="8413750" cy="4484913"/>
          </a:xfrm>
        </p:spPr>
        <p:txBody>
          <a:bodyPr>
            <a:normAutofit/>
          </a:bodyPr>
          <a:lstStyle/>
          <a:p>
            <a:pPr marL="0" indent="0">
              <a:buNone/>
            </a:pPr>
            <a:r>
              <a:rPr lang="fr-FR" sz="1800" b="1" u="sng" dirty="0">
                <a:solidFill>
                  <a:schemeClr val="accent5">
                    <a:lumMod val="75000"/>
                  </a:schemeClr>
                </a:solidFill>
              </a:rPr>
              <a:t>Article L. 541-4-3 du code de l’environnement:</a:t>
            </a:r>
          </a:p>
          <a:p>
            <a:pPr marL="0" indent="0" algn="l">
              <a:buNone/>
            </a:pPr>
            <a:r>
              <a:rPr lang="fr-FR" sz="1800" b="0" i="0" dirty="0">
                <a:solidFill>
                  <a:srgbClr val="000000"/>
                </a:solidFill>
                <a:effectLst/>
              </a:rPr>
              <a:t>Un déchet cesse d'être un déchet après avoir été traité et avoir subi une opération de valorisation, notamment de recyclage ou de préparation en vue de la réutilisation, s'il remplit l'ensemble des conditions suivantes :</a:t>
            </a:r>
          </a:p>
          <a:p>
            <a:pPr marL="0" indent="0" algn="l">
              <a:buNone/>
            </a:pPr>
            <a:r>
              <a:rPr lang="fr-FR" sz="1800" b="0" i="0" dirty="0">
                <a:solidFill>
                  <a:srgbClr val="000000"/>
                </a:solidFill>
                <a:effectLst/>
              </a:rPr>
              <a:t>― la substance ou l'objet est utilisé à des fins spécifiques ;</a:t>
            </a:r>
          </a:p>
          <a:p>
            <a:pPr marL="0" indent="0" algn="l">
              <a:buNone/>
            </a:pPr>
            <a:r>
              <a:rPr lang="fr-FR" sz="1800" b="0" i="0" dirty="0">
                <a:solidFill>
                  <a:srgbClr val="000000"/>
                </a:solidFill>
                <a:effectLst/>
              </a:rPr>
              <a:t>― il existe une demande pour une telle substance ou objet ou elle répond à un marché ;</a:t>
            </a:r>
          </a:p>
          <a:p>
            <a:pPr marL="0" indent="0" algn="l">
              <a:buNone/>
            </a:pPr>
            <a:r>
              <a:rPr lang="fr-FR" sz="1800" b="0" i="0" dirty="0">
                <a:solidFill>
                  <a:srgbClr val="000000"/>
                </a:solidFill>
                <a:effectLst/>
              </a:rPr>
              <a:t>― la substance ou l'objet remplit les exigences techniques aux fins spécifiques et respecte la législation et les normes applicables aux produits ;</a:t>
            </a:r>
          </a:p>
          <a:p>
            <a:pPr marL="0" indent="0" algn="l">
              <a:buNone/>
            </a:pPr>
            <a:r>
              <a:rPr lang="fr-FR" sz="1800" b="0" i="0" dirty="0">
                <a:solidFill>
                  <a:srgbClr val="000000"/>
                </a:solidFill>
                <a:effectLst/>
              </a:rPr>
              <a:t>― son utilisation n'aura pas d'effets globaux nocifs pour l'environnement ou la santé humaine.</a:t>
            </a:r>
            <a:endParaRPr lang="fr-FR" sz="1800" dirty="0"/>
          </a:p>
          <a:p>
            <a:pPr marL="0" indent="0">
              <a:buNone/>
            </a:pPr>
            <a:endParaRPr lang="fr-FR" sz="1800" dirty="0"/>
          </a:p>
          <a:p>
            <a:endParaRPr lang="fr-FR" sz="1800" dirty="0"/>
          </a:p>
          <a:p>
            <a:endParaRPr lang="fr-FR" sz="1800" dirty="0"/>
          </a:p>
        </p:txBody>
      </p:sp>
      <p:sp>
        <p:nvSpPr>
          <p:cNvPr id="8" name="Titre 1">
            <a:extLst>
              <a:ext uri="{FF2B5EF4-FFF2-40B4-BE49-F238E27FC236}">
                <a16:creationId xmlns:a16="http://schemas.microsoft.com/office/drawing/2014/main" id="{EC75D620-E377-4437-8F85-443239EC76E1}"/>
              </a:ext>
            </a:extLst>
          </p:cNvPr>
          <p:cNvSpPr>
            <a:spLocks noGrp="1"/>
          </p:cNvSpPr>
          <p:nvPr>
            <p:ph type="title"/>
          </p:nvPr>
        </p:nvSpPr>
        <p:spPr>
          <a:xfrm>
            <a:off x="628649" y="22225"/>
            <a:ext cx="8129587" cy="1106488"/>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déchets - Sortie de statut de déchet</a:t>
            </a:r>
          </a:p>
        </p:txBody>
      </p:sp>
      <p:sp>
        <p:nvSpPr>
          <p:cNvPr id="2" name="Espace réservé du contenu 2">
            <a:extLst>
              <a:ext uri="{FF2B5EF4-FFF2-40B4-BE49-F238E27FC236}">
                <a16:creationId xmlns:a16="http://schemas.microsoft.com/office/drawing/2014/main" id="{FEF6C079-F1C0-4807-865F-2C1DB3009467}"/>
              </a:ext>
            </a:extLst>
          </p:cNvPr>
          <p:cNvSpPr txBox="1">
            <a:spLocks/>
          </p:cNvSpPr>
          <p:nvPr/>
        </p:nvSpPr>
        <p:spPr>
          <a:xfrm>
            <a:off x="1416050" y="5202462"/>
            <a:ext cx="6838950" cy="1435101"/>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b="1" u="sng" dirty="0">
                <a:solidFill>
                  <a:schemeClr val="accent5">
                    <a:lumMod val="75000"/>
                  </a:schemeClr>
                </a:solidFill>
              </a:rPr>
              <a:t>Exemples de produits concernés :</a:t>
            </a:r>
            <a:r>
              <a:rPr lang="fr-FR" sz="1800" dirty="0">
                <a:solidFill>
                  <a:schemeClr val="accent5">
                    <a:lumMod val="75000"/>
                  </a:schemeClr>
                </a:solidFill>
              </a:rPr>
              <a:t> </a:t>
            </a:r>
            <a:r>
              <a:rPr lang="fr-FR" sz="1800" dirty="0"/>
              <a:t>Débris de métaux, papiers, verres, pneumatiques, textiles, granulats …</a:t>
            </a:r>
          </a:p>
          <a:p>
            <a:endParaRPr lang="fr-FR" sz="1800" dirty="0"/>
          </a:p>
          <a:p>
            <a:pPr marL="0" indent="0">
              <a:buFont typeface="Arial" panose="020B0604020202020204" pitchFamily="34" charset="0"/>
              <a:buNone/>
            </a:pPr>
            <a:r>
              <a:rPr lang="fr-FR" sz="1800" b="1" u="sng" dirty="0">
                <a:solidFill>
                  <a:schemeClr val="accent5">
                    <a:lumMod val="75000"/>
                  </a:schemeClr>
                </a:solidFill>
              </a:rPr>
              <a:t>Procédure: </a:t>
            </a:r>
            <a:r>
              <a:rPr lang="fr-FR" sz="1800" dirty="0"/>
              <a:t>communautaire / nationale conjointe / nationale individuelle</a:t>
            </a:r>
          </a:p>
          <a:p>
            <a:endParaRPr lang="fr-FR" sz="1800" dirty="0"/>
          </a:p>
          <a:p>
            <a:endParaRPr lang="fr-FR" sz="1800" dirty="0"/>
          </a:p>
        </p:txBody>
      </p:sp>
    </p:spTree>
    <p:extLst>
      <p:ext uri="{BB962C8B-B14F-4D97-AF65-F5344CB8AC3E}">
        <p14:creationId xmlns:p14="http://schemas.microsoft.com/office/powerpoint/2010/main" val="3883693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49" y="18255"/>
            <a:ext cx="8107387" cy="1124746"/>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pollutions locales</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628650" y="1825625"/>
            <a:ext cx="7886700" cy="3660775"/>
          </a:xfrm>
        </p:spPr>
        <p:txBody>
          <a:bodyPr>
            <a:normAutofit/>
          </a:bodyPr>
          <a:lstStyle/>
          <a:p>
            <a:r>
              <a:rPr lang="fr-FR" sz="1800" dirty="0"/>
              <a:t>Encadrée par la loi sur la responsabilité environnementale (LRE) du 01/08/2008 (+ décret d’application du 23/04/2009), transposant en droit français la directive 2004/35/CE: </a:t>
            </a:r>
            <a:r>
              <a:rPr lang="fr-FR" sz="1800" b="1" dirty="0">
                <a:solidFill>
                  <a:schemeClr val="accent5">
                    <a:lumMod val="75000"/>
                  </a:schemeClr>
                </a:solidFill>
              </a:rPr>
              <a:t>responsabilité environnementale fondée sur le </a:t>
            </a:r>
            <a:r>
              <a:rPr lang="fr-FR" sz="1800" b="1" u="sng" dirty="0">
                <a:solidFill>
                  <a:schemeClr val="accent5">
                    <a:lumMod val="75000"/>
                  </a:schemeClr>
                </a:solidFill>
              </a:rPr>
              <a:t>principe du pollueur-payeur</a:t>
            </a:r>
          </a:p>
          <a:p>
            <a:endParaRPr lang="fr-FR" sz="1800" dirty="0"/>
          </a:p>
          <a:p>
            <a:r>
              <a:rPr lang="fr-FR" sz="1800" dirty="0"/>
              <a:t>Un exploitant doit </a:t>
            </a:r>
            <a:r>
              <a:rPr lang="fr-FR" sz="1800" b="1" u="sng" dirty="0">
                <a:solidFill>
                  <a:schemeClr val="accent5">
                    <a:lumMod val="75000"/>
                  </a:schemeClr>
                </a:solidFill>
              </a:rPr>
              <a:t>réparer</a:t>
            </a:r>
            <a:r>
              <a:rPr lang="fr-FR" sz="1800" dirty="0"/>
              <a:t> les dégâts occasionnés </a:t>
            </a:r>
            <a:r>
              <a:rPr lang="fr-FR" sz="1800" b="1" u="sng" dirty="0">
                <a:solidFill>
                  <a:schemeClr val="accent5">
                    <a:lumMod val="75000"/>
                  </a:schemeClr>
                </a:solidFill>
              </a:rPr>
              <a:t>en nature</a:t>
            </a:r>
            <a:r>
              <a:rPr lang="fr-FR" sz="1800" b="1" dirty="0">
                <a:solidFill>
                  <a:schemeClr val="accent5">
                    <a:lumMod val="75000"/>
                  </a:schemeClr>
                </a:solidFill>
              </a:rPr>
              <a:t> </a:t>
            </a:r>
            <a:r>
              <a:rPr lang="fr-FR" sz="1800" dirty="0"/>
              <a:t>(identifie et mène les actions)</a:t>
            </a:r>
          </a:p>
          <a:p>
            <a:r>
              <a:rPr lang="fr-FR" sz="1800" dirty="0"/>
              <a:t>Toute compensation financière est exclue</a:t>
            </a:r>
          </a:p>
          <a:p>
            <a:pPr marL="0" indent="0">
              <a:buNone/>
            </a:pPr>
            <a:endParaRPr lang="fr-FR" sz="1800" dirty="0"/>
          </a:p>
          <a:p>
            <a:r>
              <a:rPr lang="fr-FR" sz="1800" dirty="0"/>
              <a:t>Prescription applicable si le dommage remonte à plus de 30 ans ou s’il résulte d’une activité ayant cessé avant le 30/04/2007</a:t>
            </a:r>
          </a:p>
        </p:txBody>
      </p:sp>
      <p:sp>
        <p:nvSpPr>
          <p:cNvPr id="7" name="ZoneTexte 6">
            <a:extLst>
              <a:ext uri="{FF2B5EF4-FFF2-40B4-BE49-F238E27FC236}">
                <a16:creationId xmlns:a16="http://schemas.microsoft.com/office/drawing/2014/main" id="{569B1B0F-47EF-4642-AE28-9AB84AFFA583}"/>
              </a:ext>
            </a:extLst>
          </p:cNvPr>
          <p:cNvSpPr txBox="1"/>
          <p:nvPr/>
        </p:nvSpPr>
        <p:spPr>
          <a:xfrm>
            <a:off x="2047874" y="5730179"/>
            <a:ext cx="6011907" cy="369332"/>
          </a:xfrm>
          <a:prstGeom prst="rect">
            <a:avLst/>
          </a:prstGeom>
          <a:noFill/>
        </p:spPr>
        <p:txBody>
          <a:bodyPr wrap="square" rtlCol="0">
            <a:spAutoFit/>
          </a:bodyPr>
          <a:lstStyle/>
          <a:p>
            <a:r>
              <a:rPr lang="fr-FR" b="1" dirty="0">
                <a:solidFill>
                  <a:schemeClr val="accent5">
                    <a:lumMod val="75000"/>
                  </a:schemeClr>
                </a:solidFill>
                <a:sym typeface="Wingdings" panose="05000000000000000000" pitchFamily="2" charset="2"/>
              </a:rPr>
              <a:t> </a:t>
            </a:r>
            <a:r>
              <a:rPr lang="fr-FR" b="1" dirty="0">
                <a:solidFill>
                  <a:schemeClr val="accent5">
                    <a:lumMod val="75000"/>
                  </a:schemeClr>
                </a:solidFill>
              </a:rPr>
              <a:t>D’où l’intérêt d’appliquer le principe de précaution</a:t>
            </a:r>
          </a:p>
        </p:txBody>
      </p:sp>
    </p:spTree>
    <p:extLst>
      <p:ext uri="{BB962C8B-B14F-4D97-AF65-F5344CB8AC3E}">
        <p14:creationId xmlns:p14="http://schemas.microsoft.com/office/powerpoint/2010/main" val="3674252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49" y="18255"/>
            <a:ext cx="8107387" cy="1150146"/>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eaux</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628650" y="2028825"/>
            <a:ext cx="7886700" cy="4168775"/>
          </a:xfrm>
        </p:spPr>
        <p:txBody>
          <a:bodyPr>
            <a:normAutofit/>
          </a:bodyPr>
          <a:lstStyle/>
          <a:p>
            <a:pPr marL="0" indent="0">
              <a:buNone/>
            </a:pPr>
            <a:r>
              <a:rPr lang="fr-FR" sz="1800" b="1" u="sng" dirty="0">
                <a:solidFill>
                  <a:schemeClr val="accent5">
                    <a:lumMod val="75000"/>
                  </a:schemeClr>
                </a:solidFill>
              </a:rPr>
              <a:t>Principaux textes sur l’eau:</a:t>
            </a:r>
          </a:p>
          <a:p>
            <a:endParaRPr lang="fr-FR" sz="1800" dirty="0"/>
          </a:p>
          <a:p>
            <a:r>
              <a:rPr lang="fr-FR" sz="1800" dirty="0"/>
              <a:t>Loi de </a:t>
            </a:r>
            <a:r>
              <a:rPr lang="fr-FR" sz="1800" b="1" dirty="0">
                <a:solidFill>
                  <a:schemeClr val="accent5">
                    <a:lumMod val="75000"/>
                  </a:schemeClr>
                </a:solidFill>
              </a:rPr>
              <a:t>1992</a:t>
            </a:r>
            <a:r>
              <a:rPr lang="fr-FR" sz="1800" dirty="0"/>
              <a:t>: organise la planification dans le domaine de l’eau et prévoit qu’un schéma directeur d’aménagement et de gestion des eaux (SDAGE) est élaboré pour chacun des bassins hydrographiques</a:t>
            </a:r>
          </a:p>
          <a:p>
            <a:r>
              <a:rPr lang="fr-FR" sz="1800" b="1" dirty="0">
                <a:solidFill>
                  <a:schemeClr val="accent5">
                    <a:lumMod val="75000"/>
                  </a:schemeClr>
                </a:solidFill>
              </a:rPr>
              <a:t>2000</a:t>
            </a:r>
            <a:r>
              <a:rPr lang="fr-FR" sz="1800" dirty="0"/>
              <a:t>: directive-cadre sur l’eau</a:t>
            </a:r>
          </a:p>
          <a:p>
            <a:r>
              <a:rPr lang="fr-FR" sz="1800" dirty="0"/>
              <a:t>Loi de </a:t>
            </a:r>
            <a:r>
              <a:rPr lang="fr-FR" sz="1800" b="1" dirty="0">
                <a:solidFill>
                  <a:schemeClr val="accent5">
                    <a:lumMod val="75000"/>
                  </a:schemeClr>
                </a:solidFill>
              </a:rPr>
              <a:t>2004</a:t>
            </a:r>
            <a:r>
              <a:rPr lang="fr-FR" sz="1800" dirty="0"/>
              <a:t>: a transposé la directive-cadre et fixe des objectifs de résultat, dont l’atteinte du bon état des eaux à l’horizon 2015</a:t>
            </a:r>
          </a:p>
          <a:p>
            <a:r>
              <a:rPr lang="fr-FR" sz="1800" dirty="0"/>
              <a:t>Loi de </a:t>
            </a:r>
            <a:r>
              <a:rPr lang="fr-FR" sz="1800" b="1" dirty="0">
                <a:solidFill>
                  <a:schemeClr val="accent5">
                    <a:lumMod val="75000"/>
                  </a:schemeClr>
                </a:solidFill>
              </a:rPr>
              <a:t>2006</a:t>
            </a:r>
            <a:r>
              <a:rPr lang="fr-FR" sz="1800" dirty="0"/>
              <a:t>: loi n°2006-1172 sur l’eau et les milieux aquatiques (LEMA) qui introduit le principe du « droit à l’eau » et prévoit de tenir compte du changement climatique dans l’ensemble des décisions relatives à la gestion de l’eau</a:t>
            </a:r>
          </a:p>
        </p:txBody>
      </p:sp>
    </p:spTree>
    <p:extLst>
      <p:ext uri="{BB962C8B-B14F-4D97-AF65-F5344CB8AC3E}">
        <p14:creationId xmlns:p14="http://schemas.microsoft.com/office/powerpoint/2010/main" val="33102339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49" y="18255"/>
            <a:ext cx="8107387" cy="1024734"/>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eaux</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349250" y="1635126"/>
            <a:ext cx="5656036" cy="380546"/>
          </a:xfrm>
        </p:spPr>
        <p:txBody>
          <a:bodyPr>
            <a:normAutofit/>
          </a:bodyPr>
          <a:lstStyle/>
          <a:p>
            <a:pPr marL="0" indent="0">
              <a:buNone/>
            </a:pPr>
            <a:r>
              <a:rPr lang="fr-FR" sz="1800" b="1" u="sng" dirty="0">
                <a:solidFill>
                  <a:schemeClr val="accent5">
                    <a:lumMod val="75000"/>
                  </a:schemeClr>
                </a:solidFill>
              </a:rPr>
              <a:t>Deux notions à prendre en compte:</a:t>
            </a:r>
          </a:p>
        </p:txBody>
      </p:sp>
      <p:graphicFrame>
        <p:nvGraphicFramePr>
          <p:cNvPr id="4" name="Diagramme 3">
            <a:extLst>
              <a:ext uri="{FF2B5EF4-FFF2-40B4-BE49-F238E27FC236}">
                <a16:creationId xmlns:a16="http://schemas.microsoft.com/office/drawing/2014/main" id="{BA1F5A41-7500-2A79-DCA5-03CC24956D4A}"/>
              </a:ext>
            </a:extLst>
          </p:cNvPr>
          <p:cNvGraphicFramePr/>
          <p:nvPr>
            <p:extLst>
              <p:ext uri="{D42A27DB-BD31-4B8C-83A1-F6EECF244321}">
                <p14:modId xmlns:p14="http://schemas.microsoft.com/office/powerpoint/2010/main" val="3104121014"/>
              </p:ext>
            </p:extLst>
          </p:nvPr>
        </p:nvGraphicFramePr>
        <p:xfrm>
          <a:off x="2619290" y="1635126"/>
          <a:ext cx="6227298" cy="1992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9F77AEFC-DD92-CD88-F637-EAA78C7835FC}"/>
              </a:ext>
            </a:extLst>
          </p:cNvPr>
          <p:cNvSpPr/>
          <p:nvPr/>
        </p:nvSpPr>
        <p:spPr>
          <a:xfrm>
            <a:off x="3238973" y="3722485"/>
            <a:ext cx="2489982" cy="815926"/>
          </a:xfrm>
          <a:prstGeom prst="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b="1" dirty="0">
                <a:solidFill>
                  <a:schemeClr val="accent5">
                    <a:lumMod val="75000"/>
                  </a:schemeClr>
                </a:solidFill>
                <a:sym typeface="Wingdings" panose="05000000000000000000" pitchFamily="2" charset="2"/>
              </a:rPr>
              <a:t> Eviter le gaspillage</a:t>
            </a:r>
          </a:p>
          <a:p>
            <a:r>
              <a:rPr lang="fr-FR" b="1" dirty="0">
                <a:solidFill>
                  <a:schemeClr val="accent5">
                    <a:lumMod val="75000"/>
                  </a:schemeClr>
                </a:solidFill>
                <a:sym typeface="Wingdings" panose="05000000000000000000" pitchFamily="2" charset="2"/>
              </a:rPr>
              <a:t> Réparer les fuites</a:t>
            </a:r>
            <a:endParaRPr lang="fr-FR" b="1" dirty="0">
              <a:solidFill>
                <a:schemeClr val="accent5">
                  <a:lumMod val="75000"/>
                </a:schemeClr>
              </a:solidFill>
            </a:endParaRPr>
          </a:p>
        </p:txBody>
      </p:sp>
      <p:pic>
        <p:nvPicPr>
          <p:cNvPr id="6" name="Image 5">
            <a:extLst>
              <a:ext uri="{FF2B5EF4-FFF2-40B4-BE49-F238E27FC236}">
                <a16:creationId xmlns:a16="http://schemas.microsoft.com/office/drawing/2014/main" id="{C644E5DA-188E-2941-8E4D-4821C9EECE50}"/>
              </a:ext>
            </a:extLst>
          </p:cNvPr>
          <p:cNvPicPr>
            <a:picLocks noChangeAspect="1"/>
          </p:cNvPicPr>
          <p:nvPr/>
        </p:nvPicPr>
        <p:blipFill>
          <a:blip r:embed="rId8"/>
          <a:stretch>
            <a:fillRect/>
          </a:stretch>
        </p:blipFill>
        <p:spPr>
          <a:xfrm>
            <a:off x="115026" y="2149035"/>
            <a:ext cx="2817947" cy="2840491"/>
          </a:xfrm>
          <a:prstGeom prst="rect">
            <a:avLst/>
          </a:prstGeom>
        </p:spPr>
      </p:pic>
      <p:cxnSp>
        <p:nvCxnSpPr>
          <p:cNvPr id="8" name="Connecteur droit 7">
            <a:extLst>
              <a:ext uri="{FF2B5EF4-FFF2-40B4-BE49-F238E27FC236}">
                <a16:creationId xmlns:a16="http://schemas.microsoft.com/office/drawing/2014/main" id="{A4F78427-1FF3-7CD3-14D7-C59DFB4E318E}"/>
              </a:ext>
            </a:extLst>
          </p:cNvPr>
          <p:cNvCxnSpPr>
            <a:endCxn id="5" idx="0"/>
          </p:cNvCxnSpPr>
          <p:nvPr/>
        </p:nvCxnSpPr>
        <p:spPr>
          <a:xfrm flipH="1">
            <a:off x="4483964" y="2956979"/>
            <a:ext cx="1640" cy="765506"/>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ABC4870-F519-CD6F-ABF3-F218AD3800A0}"/>
              </a:ext>
            </a:extLst>
          </p:cNvPr>
          <p:cNvSpPr/>
          <p:nvPr/>
        </p:nvSpPr>
        <p:spPr>
          <a:xfrm>
            <a:off x="6005286" y="4082977"/>
            <a:ext cx="2869565" cy="2756768"/>
          </a:xfrm>
          <a:prstGeom prst="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à"/>
            </a:pPr>
            <a:r>
              <a:rPr lang="fr-FR" b="1" dirty="0">
                <a:solidFill>
                  <a:schemeClr val="accent5">
                    <a:lumMod val="75000"/>
                  </a:schemeClr>
                </a:solidFill>
                <a:sym typeface="Wingdings" panose="05000000000000000000" pitchFamily="2" charset="2"/>
              </a:rPr>
              <a:t>Interdiction de rejets pollués dans le réseau collectif</a:t>
            </a:r>
          </a:p>
          <a:p>
            <a:pPr marL="285750" indent="-285750">
              <a:buFont typeface="Wingdings" panose="05000000000000000000" pitchFamily="2" charset="2"/>
              <a:buChar char="à"/>
            </a:pPr>
            <a:r>
              <a:rPr lang="fr-FR" b="1" dirty="0">
                <a:solidFill>
                  <a:schemeClr val="accent5">
                    <a:lumMod val="75000"/>
                  </a:schemeClr>
                </a:solidFill>
                <a:sym typeface="Wingdings" panose="05000000000000000000" pitchFamily="2" charset="2"/>
              </a:rPr>
              <a:t>Autorisation/convention de déversement</a:t>
            </a:r>
          </a:p>
          <a:p>
            <a:pPr marL="285750" indent="-285750">
              <a:buFont typeface="Wingdings" panose="05000000000000000000" pitchFamily="2" charset="2"/>
              <a:buChar char="à"/>
            </a:pPr>
            <a:r>
              <a:rPr lang="fr-FR" b="1" dirty="0">
                <a:solidFill>
                  <a:schemeClr val="accent5">
                    <a:lumMod val="75000"/>
                  </a:schemeClr>
                </a:solidFill>
                <a:sym typeface="Wingdings" panose="05000000000000000000" pitchFamily="2" charset="2"/>
              </a:rPr>
              <a:t>Respect des valeurs-limites de rejet (MEST, DBO5, DCO, azote global, phosphore total)</a:t>
            </a:r>
          </a:p>
        </p:txBody>
      </p:sp>
      <p:cxnSp>
        <p:nvCxnSpPr>
          <p:cNvPr id="10" name="Connecteur droit 9">
            <a:extLst>
              <a:ext uri="{FF2B5EF4-FFF2-40B4-BE49-F238E27FC236}">
                <a16:creationId xmlns:a16="http://schemas.microsoft.com/office/drawing/2014/main" id="{C470C8DA-2CF5-6AA7-EC13-99E6CA77D302}"/>
              </a:ext>
            </a:extLst>
          </p:cNvPr>
          <p:cNvCxnSpPr/>
          <p:nvPr/>
        </p:nvCxnSpPr>
        <p:spPr>
          <a:xfrm flipH="1">
            <a:off x="6955648" y="3317471"/>
            <a:ext cx="1640" cy="765506"/>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79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49" y="18255"/>
            <a:ext cx="8107387" cy="1067596"/>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Protection des sols</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628649" y="1825626"/>
            <a:ext cx="8239579" cy="2064204"/>
          </a:xfrm>
        </p:spPr>
        <p:txBody>
          <a:bodyPr>
            <a:normAutofit/>
          </a:bodyPr>
          <a:lstStyle/>
          <a:p>
            <a:r>
              <a:rPr lang="fr-FR" sz="1800" dirty="0"/>
              <a:t>En cas de pollution:</a:t>
            </a:r>
          </a:p>
          <a:p>
            <a:pPr lvl="1"/>
            <a:r>
              <a:rPr lang="fr-FR" sz="1800" dirty="0"/>
              <a:t>La dépollution incombe généralement à  l’exploitant du site</a:t>
            </a:r>
          </a:p>
          <a:p>
            <a:pPr lvl="1"/>
            <a:r>
              <a:rPr lang="fr-FR" sz="1800" dirty="0"/>
              <a:t>La détermination du responsable est rendue difficile par l’absence législation propre aux sites et sols pollués</a:t>
            </a:r>
          </a:p>
          <a:p>
            <a:endParaRPr lang="fr-FR" sz="1800" dirty="0"/>
          </a:p>
          <a:p>
            <a:r>
              <a:rPr lang="fr-FR" sz="1800" dirty="0"/>
              <a:t>Difficultés d’application :</a:t>
            </a:r>
          </a:p>
        </p:txBody>
      </p:sp>
      <p:graphicFrame>
        <p:nvGraphicFramePr>
          <p:cNvPr id="4" name="Diagramme 3">
            <a:extLst>
              <a:ext uri="{FF2B5EF4-FFF2-40B4-BE49-F238E27FC236}">
                <a16:creationId xmlns:a16="http://schemas.microsoft.com/office/drawing/2014/main" id="{61536E8D-F4FD-F7C5-8F1B-57D38F46EF0A}"/>
              </a:ext>
            </a:extLst>
          </p:cNvPr>
          <p:cNvGraphicFramePr/>
          <p:nvPr>
            <p:extLst>
              <p:ext uri="{D42A27DB-BD31-4B8C-83A1-F6EECF244321}">
                <p14:modId xmlns:p14="http://schemas.microsoft.com/office/powerpoint/2010/main" val="655724718"/>
              </p:ext>
            </p:extLst>
          </p:nvPr>
        </p:nvGraphicFramePr>
        <p:xfrm>
          <a:off x="899886" y="3889830"/>
          <a:ext cx="7344228" cy="17090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60847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49" y="18254"/>
            <a:ext cx="8107387" cy="1096171"/>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L’air</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628650" y="2307771"/>
            <a:ext cx="7886700" cy="3178629"/>
          </a:xfrm>
        </p:spPr>
        <p:txBody>
          <a:bodyPr>
            <a:normAutofit/>
          </a:bodyPr>
          <a:lstStyle/>
          <a:p>
            <a:pPr marL="0" indent="0">
              <a:buNone/>
            </a:pPr>
            <a:r>
              <a:rPr lang="fr-FR" sz="1800" b="1" u="sng" dirty="0">
                <a:solidFill>
                  <a:schemeClr val="accent5">
                    <a:lumMod val="75000"/>
                  </a:schemeClr>
                </a:solidFill>
              </a:rPr>
              <a:t>Objectif:</a:t>
            </a:r>
            <a:r>
              <a:rPr lang="fr-FR" sz="1800" dirty="0">
                <a:solidFill>
                  <a:schemeClr val="accent5">
                    <a:lumMod val="75000"/>
                  </a:schemeClr>
                </a:solidFill>
              </a:rPr>
              <a:t> </a:t>
            </a:r>
            <a:r>
              <a:rPr lang="fr-FR" sz="1800" dirty="0"/>
              <a:t>prévenir la pollution atmosphérique</a:t>
            </a:r>
            <a:endParaRPr lang="fr-FR" sz="1800" b="1" u="sng" dirty="0"/>
          </a:p>
          <a:p>
            <a:pPr marL="0" indent="0">
              <a:buNone/>
            </a:pPr>
            <a:endParaRPr lang="fr-FR" sz="1800" b="1" u="sng" dirty="0">
              <a:solidFill>
                <a:schemeClr val="accent5">
                  <a:lumMod val="75000"/>
                </a:schemeClr>
              </a:solidFill>
            </a:endParaRPr>
          </a:p>
          <a:p>
            <a:pPr marL="0" indent="0">
              <a:buNone/>
            </a:pPr>
            <a:r>
              <a:rPr lang="fr-FR" sz="1800" b="1" u="sng" dirty="0">
                <a:solidFill>
                  <a:schemeClr val="accent5">
                    <a:lumMod val="75000"/>
                  </a:schemeClr>
                </a:solidFill>
              </a:rPr>
              <a:t>Bilan de gaz à effet de serre obligatoire pour:</a:t>
            </a:r>
          </a:p>
          <a:p>
            <a:pPr marL="0" indent="0">
              <a:buNone/>
            </a:pPr>
            <a:endParaRPr lang="fr-FR" sz="1800" dirty="0"/>
          </a:p>
          <a:p>
            <a:r>
              <a:rPr lang="fr-FR" sz="1800" dirty="0"/>
              <a:t>Les entreprises privées &gt; 500 salariés</a:t>
            </a:r>
          </a:p>
          <a:p>
            <a:r>
              <a:rPr lang="fr-FR" sz="1800" dirty="0"/>
              <a:t>Les entreprises publiques &gt; 250 salariés</a:t>
            </a:r>
          </a:p>
          <a:p>
            <a:r>
              <a:rPr lang="fr-FR" sz="1800" dirty="0"/>
              <a:t>Les collectivités &gt; 50 000 habitants</a:t>
            </a:r>
          </a:p>
        </p:txBody>
      </p:sp>
      <p:sp>
        <p:nvSpPr>
          <p:cNvPr id="4" name="ZoneTexte 3">
            <a:extLst>
              <a:ext uri="{FF2B5EF4-FFF2-40B4-BE49-F238E27FC236}">
                <a16:creationId xmlns:a16="http://schemas.microsoft.com/office/drawing/2014/main" id="{F1853F95-FCBA-65C5-87CE-29752228C907}"/>
              </a:ext>
            </a:extLst>
          </p:cNvPr>
          <p:cNvSpPr txBox="1"/>
          <p:nvPr/>
        </p:nvSpPr>
        <p:spPr>
          <a:xfrm>
            <a:off x="3354284" y="5805714"/>
            <a:ext cx="2656115" cy="369332"/>
          </a:xfrm>
          <a:prstGeom prst="rect">
            <a:avLst/>
          </a:prstGeom>
          <a:noFill/>
        </p:spPr>
        <p:txBody>
          <a:bodyPr wrap="square" rtlCol="0">
            <a:spAutoFit/>
          </a:bodyPr>
          <a:lstStyle/>
          <a:p>
            <a:pPr algn="ctr"/>
            <a:r>
              <a:rPr lang="fr-FR" dirty="0"/>
              <a:t>(Loi Grenelle I)</a:t>
            </a:r>
          </a:p>
        </p:txBody>
      </p:sp>
      <p:sp>
        <p:nvSpPr>
          <p:cNvPr id="5" name="ZoneTexte 4">
            <a:extLst>
              <a:ext uri="{FF2B5EF4-FFF2-40B4-BE49-F238E27FC236}">
                <a16:creationId xmlns:a16="http://schemas.microsoft.com/office/drawing/2014/main" id="{5D6FCF4A-5C1F-3E3A-7EC3-25DC9C8C7841}"/>
              </a:ext>
            </a:extLst>
          </p:cNvPr>
          <p:cNvSpPr txBox="1"/>
          <p:nvPr/>
        </p:nvSpPr>
        <p:spPr>
          <a:xfrm>
            <a:off x="5892800" y="3962400"/>
            <a:ext cx="2622550" cy="369332"/>
          </a:xfrm>
          <a:prstGeom prst="rect">
            <a:avLst/>
          </a:prstGeom>
          <a:noFill/>
        </p:spPr>
        <p:txBody>
          <a:bodyPr wrap="square" rtlCol="0">
            <a:spAutoFit/>
          </a:bodyPr>
          <a:lstStyle/>
          <a:p>
            <a:pPr algn="ctr"/>
            <a:r>
              <a:rPr lang="fr-FR" b="1" dirty="0">
                <a:solidFill>
                  <a:schemeClr val="accent5">
                    <a:lumMod val="75000"/>
                  </a:schemeClr>
                </a:solidFill>
              </a:rPr>
              <a:t>≠ Bilan Carbone</a:t>
            </a:r>
          </a:p>
        </p:txBody>
      </p:sp>
    </p:spTree>
    <p:extLst>
      <p:ext uri="{BB962C8B-B14F-4D97-AF65-F5344CB8AC3E}">
        <p14:creationId xmlns:p14="http://schemas.microsoft.com/office/powerpoint/2010/main" val="245731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49" y="18255"/>
            <a:ext cx="8107387" cy="1200330"/>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L’air</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0" y="1694686"/>
            <a:ext cx="2968831" cy="338821"/>
          </a:xfrm>
        </p:spPr>
        <p:txBody>
          <a:bodyPr>
            <a:normAutofit/>
          </a:bodyPr>
          <a:lstStyle/>
          <a:p>
            <a:pPr marL="0" indent="0">
              <a:buNone/>
            </a:pPr>
            <a:r>
              <a:rPr lang="fr-FR" sz="1800" b="1" u="sng" dirty="0">
                <a:solidFill>
                  <a:schemeClr val="accent5">
                    <a:lumMod val="75000"/>
                  </a:schemeClr>
                </a:solidFill>
              </a:rPr>
              <a:t>Bilan de gaz à effet de serre :</a:t>
            </a:r>
          </a:p>
        </p:txBody>
      </p:sp>
      <p:pic>
        <p:nvPicPr>
          <p:cNvPr id="6" name="Image 5">
            <a:extLst>
              <a:ext uri="{FF2B5EF4-FFF2-40B4-BE49-F238E27FC236}">
                <a16:creationId xmlns:a16="http://schemas.microsoft.com/office/drawing/2014/main" id="{E3A445E1-FF11-6A0D-44E4-AA567A6EEC39}"/>
              </a:ext>
            </a:extLst>
          </p:cNvPr>
          <p:cNvPicPr>
            <a:picLocks noChangeAspect="1"/>
          </p:cNvPicPr>
          <p:nvPr/>
        </p:nvPicPr>
        <p:blipFill>
          <a:blip r:embed="rId2"/>
          <a:stretch>
            <a:fillRect/>
          </a:stretch>
        </p:blipFill>
        <p:spPr>
          <a:xfrm>
            <a:off x="102402" y="2010024"/>
            <a:ext cx="2687450" cy="3624454"/>
          </a:xfrm>
          <a:prstGeom prst="rect">
            <a:avLst/>
          </a:prstGeom>
        </p:spPr>
      </p:pic>
      <p:sp>
        <p:nvSpPr>
          <p:cNvPr id="7" name="ZoneTexte 6">
            <a:extLst>
              <a:ext uri="{FF2B5EF4-FFF2-40B4-BE49-F238E27FC236}">
                <a16:creationId xmlns:a16="http://schemas.microsoft.com/office/drawing/2014/main" id="{3C1B280E-5B31-378E-FAA8-0A8D0F23C6ED}"/>
              </a:ext>
            </a:extLst>
          </p:cNvPr>
          <p:cNvSpPr txBox="1"/>
          <p:nvPr/>
        </p:nvSpPr>
        <p:spPr>
          <a:xfrm>
            <a:off x="1446127" y="72517"/>
            <a:ext cx="3826517" cy="1169551"/>
          </a:xfrm>
          <a:prstGeom prst="rect">
            <a:avLst/>
          </a:prstGeom>
          <a:solidFill>
            <a:schemeClr val="bg1"/>
          </a:solidFill>
        </p:spPr>
        <p:txBody>
          <a:bodyPr wrap="square">
            <a:spAutoFit/>
          </a:bodyPr>
          <a:lstStyle/>
          <a:p>
            <a:pPr algn="l"/>
            <a:r>
              <a:rPr lang="fr-FR" sz="1400" b="1" i="0" dirty="0">
                <a:solidFill>
                  <a:schemeClr val="accent5">
                    <a:lumMod val="75000"/>
                  </a:schemeClr>
                </a:solidFill>
                <a:effectLst/>
              </a:rPr>
              <a:t>Avant 2023: </a:t>
            </a:r>
          </a:p>
          <a:p>
            <a:pPr algn="l"/>
            <a:r>
              <a:rPr lang="fr-FR" sz="1400" b="1" i="0" dirty="0">
                <a:solidFill>
                  <a:srgbClr val="322153"/>
                </a:solidFill>
                <a:effectLst/>
              </a:rPr>
              <a:t>Scope 1 </a:t>
            </a:r>
            <a:r>
              <a:rPr lang="fr-FR" sz="1400" b="0" i="0" dirty="0">
                <a:solidFill>
                  <a:srgbClr val="322153"/>
                </a:solidFill>
                <a:effectLst/>
              </a:rPr>
              <a:t>= émissions directes de gaz à effet de serre (chauffage, carburants, climatisation)</a:t>
            </a:r>
          </a:p>
          <a:p>
            <a:r>
              <a:rPr lang="fr-FR" sz="1400" b="1" i="0" dirty="0">
                <a:solidFill>
                  <a:srgbClr val="322153"/>
                </a:solidFill>
                <a:effectLst/>
              </a:rPr>
              <a:t>Scope 2 </a:t>
            </a:r>
            <a:r>
              <a:rPr lang="fr-FR" sz="1400" b="0" i="0" dirty="0">
                <a:solidFill>
                  <a:srgbClr val="322153"/>
                </a:solidFill>
                <a:effectLst/>
              </a:rPr>
              <a:t>= émissions indirectes liées à l’énergie</a:t>
            </a:r>
          </a:p>
          <a:p>
            <a:r>
              <a:rPr lang="fr-FR" sz="1400" b="1" i="0" dirty="0">
                <a:solidFill>
                  <a:srgbClr val="322153"/>
                </a:solidFill>
                <a:effectLst/>
              </a:rPr>
              <a:t>Scope 3 </a:t>
            </a:r>
            <a:r>
              <a:rPr lang="fr-FR" sz="1400" b="0" i="0" dirty="0">
                <a:solidFill>
                  <a:srgbClr val="322153"/>
                </a:solidFill>
                <a:effectLst/>
              </a:rPr>
              <a:t>= autres émissions indirectes</a:t>
            </a:r>
          </a:p>
        </p:txBody>
      </p:sp>
      <p:pic>
        <p:nvPicPr>
          <p:cNvPr id="4" name="Image 3">
            <a:extLst>
              <a:ext uri="{FF2B5EF4-FFF2-40B4-BE49-F238E27FC236}">
                <a16:creationId xmlns:a16="http://schemas.microsoft.com/office/drawing/2014/main" id="{87564E0B-A667-028A-C063-BD508D90E606}"/>
              </a:ext>
            </a:extLst>
          </p:cNvPr>
          <p:cNvPicPr>
            <a:picLocks noChangeAspect="1"/>
          </p:cNvPicPr>
          <p:nvPr/>
        </p:nvPicPr>
        <p:blipFill>
          <a:blip r:embed="rId3"/>
          <a:stretch>
            <a:fillRect/>
          </a:stretch>
        </p:blipFill>
        <p:spPr>
          <a:xfrm>
            <a:off x="4279711" y="643621"/>
            <a:ext cx="4549566" cy="3178630"/>
          </a:xfrm>
          <a:prstGeom prst="rect">
            <a:avLst/>
          </a:prstGeom>
        </p:spPr>
      </p:pic>
      <p:sp>
        <p:nvSpPr>
          <p:cNvPr id="8" name="ZoneTexte 7">
            <a:extLst>
              <a:ext uri="{FF2B5EF4-FFF2-40B4-BE49-F238E27FC236}">
                <a16:creationId xmlns:a16="http://schemas.microsoft.com/office/drawing/2014/main" id="{8E8C4F54-8BCC-4AA7-26DB-88F03178B903}"/>
              </a:ext>
            </a:extLst>
          </p:cNvPr>
          <p:cNvSpPr txBox="1"/>
          <p:nvPr/>
        </p:nvSpPr>
        <p:spPr>
          <a:xfrm>
            <a:off x="3965693" y="3689123"/>
            <a:ext cx="5184429" cy="3046988"/>
          </a:xfrm>
          <a:prstGeom prst="rect">
            <a:avLst/>
          </a:prstGeom>
          <a:solidFill>
            <a:schemeClr val="bg1"/>
          </a:solidFill>
        </p:spPr>
        <p:txBody>
          <a:bodyPr wrap="square">
            <a:spAutoFit/>
          </a:bodyPr>
          <a:lstStyle/>
          <a:p>
            <a:r>
              <a:rPr lang="fr-CA" sz="1600" b="1" u="sng" dirty="0">
                <a:solidFill>
                  <a:schemeClr val="accent5">
                    <a:lumMod val="75000"/>
                  </a:schemeClr>
                </a:solidFill>
                <a:effectLst/>
                <a:latin typeface="Calibri" panose="020F0502020204030204" pitchFamily="34" charset="0"/>
                <a:ea typeface="Calibri" panose="020F0502020204030204" pitchFamily="34" charset="0"/>
                <a:cs typeface="Calibri" panose="020F0502020204030204" pitchFamily="34" charset="0"/>
              </a:rPr>
              <a:t>Depuis 2023 </a:t>
            </a:r>
            <a:r>
              <a:rPr lang="fr-CA" sz="1600" b="1" u="sng" dirty="0">
                <a:solidFill>
                  <a:schemeClr val="accent5">
                    <a:lumMod val="75000"/>
                  </a:schemeClr>
                </a:solidFill>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fr-CA" sz="1600" b="1" u="sng" dirty="0">
                <a:solidFill>
                  <a:schemeClr val="accent5">
                    <a:lumMod val="75000"/>
                  </a:schemeClr>
                </a:solidFill>
                <a:effectLst/>
                <a:latin typeface="Calibri" panose="020F0502020204030204" pitchFamily="34" charset="0"/>
                <a:ea typeface="Calibri" panose="020F0502020204030204" pitchFamily="34" charset="0"/>
                <a:cs typeface="Calibri" panose="020F0502020204030204" pitchFamily="34" charset="0"/>
              </a:rPr>
              <a:t>6 catégories d‘émissions:</a:t>
            </a:r>
          </a:p>
          <a:p>
            <a:pPr>
              <a:buFont typeface="Arial" panose="020B0604020202020204" pitchFamily="34" charset="0"/>
              <a:buChar char="•"/>
            </a:pPr>
            <a:r>
              <a:rPr lang="fr-FR" sz="1600" b="1" dirty="0"/>
              <a:t>Catégorie 1 :</a:t>
            </a:r>
            <a:r>
              <a:rPr lang="fr-FR" sz="1600" dirty="0"/>
              <a:t> Émissions directes (anciennement SCOPE 1)</a:t>
            </a:r>
          </a:p>
          <a:p>
            <a:pPr>
              <a:buFont typeface="Arial" panose="020B0604020202020204" pitchFamily="34" charset="0"/>
              <a:buChar char="•"/>
            </a:pPr>
            <a:r>
              <a:rPr lang="fr-FR" sz="1600" b="1" dirty="0"/>
              <a:t>Catégorie 2 :</a:t>
            </a:r>
            <a:r>
              <a:rPr lang="fr-FR" sz="1600" dirty="0"/>
              <a:t> Émissions indirectes associées à l’énergie (anciennement SCOPE 2)</a:t>
            </a:r>
          </a:p>
          <a:p>
            <a:pPr>
              <a:buFont typeface="Arial" panose="020B0604020202020204" pitchFamily="34" charset="0"/>
              <a:buChar char="•"/>
            </a:pPr>
            <a:r>
              <a:rPr lang="fr-FR" sz="1600" b="1" dirty="0"/>
              <a:t>Catégorie 3 :</a:t>
            </a:r>
            <a:r>
              <a:rPr lang="fr-FR" sz="1600" dirty="0"/>
              <a:t> Émissions indirectes associées au transport (anciennement inclut dans le SCOPE 3)</a:t>
            </a:r>
          </a:p>
          <a:p>
            <a:pPr>
              <a:buFont typeface="Arial" panose="020B0604020202020204" pitchFamily="34" charset="0"/>
              <a:buChar char="•"/>
            </a:pPr>
            <a:r>
              <a:rPr lang="fr-FR" sz="1600" b="1" dirty="0"/>
              <a:t>Catégorie 4 :</a:t>
            </a:r>
            <a:r>
              <a:rPr lang="fr-FR" sz="1600" dirty="0"/>
              <a:t> Émissions indirectes associées aux produits achetés (anciennement inclut dans le SCOPE 3)</a:t>
            </a:r>
          </a:p>
          <a:p>
            <a:pPr>
              <a:buFont typeface="Arial" panose="020B0604020202020204" pitchFamily="34" charset="0"/>
              <a:buChar char="•"/>
            </a:pPr>
            <a:r>
              <a:rPr lang="fr-FR" sz="1600" b="1" dirty="0"/>
              <a:t>Catégorie 5 :</a:t>
            </a:r>
            <a:r>
              <a:rPr lang="fr-FR" sz="1600" dirty="0"/>
              <a:t> Émissions indirectes associées aux produits vendus (anciennement inclut dans le SCOPE 3)</a:t>
            </a:r>
          </a:p>
          <a:p>
            <a:pPr>
              <a:buFont typeface="Arial" panose="020B0604020202020204" pitchFamily="34" charset="0"/>
              <a:buChar char="•"/>
            </a:pPr>
            <a:r>
              <a:rPr lang="fr-FR" sz="1600" b="1" dirty="0"/>
              <a:t>Catégorie 6 :</a:t>
            </a:r>
            <a:r>
              <a:rPr lang="fr-FR" sz="1600" dirty="0"/>
              <a:t> Autres émissions indirectes (anciennement inclut dans le SCOPE 3)</a:t>
            </a:r>
          </a:p>
        </p:txBody>
      </p:sp>
      <p:cxnSp>
        <p:nvCxnSpPr>
          <p:cNvPr id="10" name="Connecteur droit avec flèche 9">
            <a:extLst>
              <a:ext uri="{FF2B5EF4-FFF2-40B4-BE49-F238E27FC236}">
                <a16:creationId xmlns:a16="http://schemas.microsoft.com/office/drawing/2014/main" id="{B12D0BE5-B60B-6C2B-CE44-2CCB86B4E641}"/>
              </a:ext>
            </a:extLst>
          </p:cNvPr>
          <p:cNvCxnSpPr>
            <a:stCxn id="7" idx="2"/>
          </p:cNvCxnSpPr>
          <p:nvPr/>
        </p:nvCxnSpPr>
        <p:spPr>
          <a:xfrm>
            <a:off x="3359386" y="1242068"/>
            <a:ext cx="1212614" cy="70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690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2">
            <a:extLst>
              <a:ext uri="{FF2B5EF4-FFF2-40B4-BE49-F238E27FC236}">
                <a16:creationId xmlns:a16="http://schemas.microsoft.com/office/drawing/2014/main" id="{DE29138A-FCFC-6FB2-170A-C241896D6B04}"/>
              </a:ext>
            </a:extLst>
          </p:cNvPr>
          <p:cNvSpPr txBox="1">
            <a:spLocks/>
          </p:cNvSpPr>
          <p:nvPr/>
        </p:nvSpPr>
        <p:spPr>
          <a:xfrm>
            <a:off x="400050" y="0"/>
            <a:ext cx="8343900" cy="11466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Les produits dangereux</a:t>
            </a:r>
          </a:p>
        </p:txBody>
      </p:sp>
      <p:graphicFrame>
        <p:nvGraphicFramePr>
          <p:cNvPr id="12" name="Espace réservé du contenu 11">
            <a:extLst>
              <a:ext uri="{FF2B5EF4-FFF2-40B4-BE49-F238E27FC236}">
                <a16:creationId xmlns:a16="http://schemas.microsoft.com/office/drawing/2014/main" id="{66E10DB8-0C3A-460D-CC12-96B927AB51C2}"/>
              </a:ext>
            </a:extLst>
          </p:cNvPr>
          <p:cNvGraphicFramePr>
            <a:graphicFrameLocks noGrp="1"/>
          </p:cNvGraphicFramePr>
          <p:nvPr>
            <p:ph idx="1"/>
            <p:extLst>
              <p:ext uri="{D42A27DB-BD31-4B8C-83A1-F6EECF244321}">
                <p14:modId xmlns:p14="http://schemas.microsoft.com/office/powerpoint/2010/main" val="2747416834"/>
              </p:ext>
            </p:extLst>
          </p:nvPr>
        </p:nvGraphicFramePr>
        <p:xfrm>
          <a:off x="628650" y="1925936"/>
          <a:ext cx="7886700" cy="390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Légende : flèche vers la droite 1">
            <a:extLst>
              <a:ext uri="{FF2B5EF4-FFF2-40B4-BE49-F238E27FC236}">
                <a16:creationId xmlns:a16="http://schemas.microsoft.com/office/drawing/2014/main" id="{4B8CFC6D-16AE-CB2F-72C2-F2A961EFAB1C}"/>
              </a:ext>
            </a:extLst>
          </p:cNvPr>
          <p:cNvSpPr/>
          <p:nvPr/>
        </p:nvSpPr>
        <p:spPr>
          <a:xfrm>
            <a:off x="0" y="2775018"/>
            <a:ext cx="1463040" cy="2201925"/>
          </a:xfrm>
          <a:prstGeom prst="rightArrowCallout">
            <a:avLst>
              <a:gd name="adj1" fmla="val 12234"/>
              <a:gd name="adj2" fmla="val 17553"/>
              <a:gd name="adj3" fmla="val 11170"/>
              <a:gd name="adj4" fmla="val 77404"/>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5">
                    <a:lumMod val="75000"/>
                  </a:schemeClr>
                </a:solidFill>
              </a:rPr>
              <a:t>Pour ICPE, calculer les capacités MAXI de stockage</a:t>
            </a:r>
          </a:p>
        </p:txBody>
      </p:sp>
    </p:spTree>
    <p:extLst>
      <p:ext uri="{BB962C8B-B14F-4D97-AF65-F5344CB8AC3E}">
        <p14:creationId xmlns:p14="http://schemas.microsoft.com/office/powerpoint/2010/main" val="154327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6"/>
            <a:ext cx="8037048" cy="1053308"/>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L’énergie</a:t>
            </a:r>
          </a:p>
        </p:txBody>
      </p:sp>
      <p:graphicFrame>
        <p:nvGraphicFramePr>
          <p:cNvPr id="4" name="Diagramme 3">
            <a:extLst>
              <a:ext uri="{FF2B5EF4-FFF2-40B4-BE49-F238E27FC236}">
                <a16:creationId xmlns:a16="http://schemas.microsoft.com/office/drawing/2014/main" id="{C8497818-1821-7626-6B2A-C99E10ED61EE}"/>
              </a:ext>
            </a:extLst>
          </p:cNvPr>
          <p:cNvGraphicFramePr/>
          <p:nvPr>
            <p:extLst>
              <p:ext uri="{D42A27DB-BD31-4B8C-83A1-F6EECF244321}">
                <p14:modId xmlns:p14="http://schemas.microsoft.com/office/powerpoint/2010/main" val="447990409"/>
              </p:ext>
            </p:extLst>
          </p:nvPr>
        </p:nvGraphicFramePr>
        <p:xfrm>
          <a:off x="1524000" y="2264898"/>
          <a:ext cx="6142892" cy="3196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Image 5">
            <a:extLst>
              <a:ext uri="{FF2B5EF4-FFF2-40B4-BE49-F238E27FC236}">
                <a16:creationId xmlns:a16="http://schemas.microsoft.com/office/drawing/2014/main" id="{4DD1D892-964B-6299-9F42-5DCC44137A93}"/>
              </a:ext>
            </a:extLst>
          </p:cNvPr>
          <p:cNvPicPr>
            <a:picLocks noChangeAspect="1"/>
          </p:cNvPicPr>
          <p:nvPr/>
        </p:nvPicPr>
        <p:blipFill rotWithShape="1">
          <a:blip r:embed="rId8"/>
          <a:srcRect l="25080" t="21415" r="30635" b="25227"/>
          <a:stretch/>
        </p:blipFill>
        <p:spPr>
          <a:xfrm>
            <a:off x="222250" y="1071564"/>
            <a:ext cx="2249714" cy="1524000"/>
          </a:xfrm>
          <a:prstGeom prst="rect">
            <a:avLst/>
          </a:prstGeom>
          <a:ln w="19050">
            <a:solidFill>
              <a:schemeClr val="accent2"/>
            </a:solidFill>
          </a:ln>
        </p:spPr>
      </p:pic>
      <p:pic>
        <p:nvPicPr>
          <p:cNvPr id="7" name="Image 6">
            <a:extLst>
              <a:ext uri="{FF2B5EF4-FFF2-40B4-BE49-F238E27FC236}">
                <a16:creationId xmlns:a16="http://schemas.microsoft.com/office/drawing/2014/main" id="{078FD416-67BB-BEFE-7193-591EFC68F186}"/>
              </a:ext>
            </a:extLst>
          </p:cNvPr>
          <p:cNvPicPr>
            <a:picLocks noChangeAspect="1"/>
          </p:cNvPicPr>
          <p:nvPr/>
        </p:nvPicPr>
        <p:blipFill>
          <a:blip r:embed="rId9"/>
          <a:stretch>
            <a:fillRect/>
          </a:stretch>
        </p:blipFill>
        <p:spPr>
          <a:xfrm>
            <a:off x="5795214" y="1538513"/>
            <a:ext cx="2870484" cy="932543"/>
          </a:xfrm>
          <a:prstGeom prst="rect">
            <a:avLst/>
          </a:prstGeom>
        </p:spPr>
      </p:pic>
      <p:pic>
        <p:nvPicPr>
          <p:cNvPr id="9" name="Image 8">
            <a:extLst>
              <a:ext uri="{FF2B5EF4-FFF2-40B4-BE49-F238E27FC236}">
                <a16:creationId xmlns:a16="http://schemas.microsoft.com/office/drawing/2014/main" id="{9E39641E-C106-03D3-BDFB-1BF38E5F978E}"/>
              </a:ext>
            </a:extLst>
          </p:cNvPr>
          <p:cNvPicPr>
            <a:picLocks noChangeAspect="1"/>
          </p:cNvPicPr>
          <p:nvPr/>
        </p:nvPicPr>
        <p:blipFill rotWithShape="1">
          <a:blip r:embed="rId10"/>
          <a:srcRect l="8619" t="31733" r="4997" b="23782"/>
          <a:stretch/>
        </p:blipFill>
        <p:spPr>
          <a:xfrm>
            <a:off x="623033" y="5238218"/>
            <a:ext cx="1708150" cy="548218"/>
          </a:xfrm>
          <a:prstGeom prst="rect">
            <a:avLst/>
          </a:prstGeom>
          <a:ln>
            <a:solidFill>
              <a:schemeClr val="accent5">
                <a:lumMod val="50000"/>
              </a:schemeClr>
            </a:solidFill>
          </a:ln>
        </p:spPr>
      </p:pic>
      <p:sp>
        <p:nvSpPr>
          <p:cNvPr id="3" name="ZoneTexte 2">
            <a:extLst>
              <a:ext uri="{FF2B5EF4-FFF2-40B4-BE49-F238E27FC236}">
                <a16:creationId xmlns:a16="http://schemas.microsoft.com/office/drawing/2014/main" id="{FD90CE9C-8A22-4E52-C927-5FEDFB501282}"/>
              </a:ext>
            </a:extLst>
          </p:cNvPr>
          <p:cNvSpPr txBox="1"/>
          <p:nvPr/>
        </p:nvSpPr>
        <p:spPr>
          <a:xfrm>
            <a:off x="4211075" y="5894363"/>
            <a:ext cx="872197" cy="400110"/>
          </a:xfrm>
          <a:prstGeom prst="rect">
            <a:avLst/>
          </a:prstGeom>
          <a:noFill/>
        </p:spPr>
        <p:txBody>
          <a:bodyPr wrap="square" rtlCol="0">
            <a:spAutoFit/>
          </a:bodyPr>
          <a:lstStyle/>
          <a:p>
            <a:pPr algn="ctr"/>
            <a:r>
              <a:rPr lang="fr-FR" sz="2000" b="1" dirty="0">
                <a:solidFill>
                  <a:schemeClr val="accent5">
                    <a:lumMod val="75000"/>
                  </a:schemeClr>
                </a:solidFill>
              </a:rPr>
              <a:t>…</a:t>
            </a:r>
          </a:p>
        </p:txBody>
      </p:sp>
      <p:pic>
        <p:nvPicPr>
          <p:cNvPr id="5" name="Image 4">
            <a:extLst>
              <a:ext uri="{FF2B5EF4-FFF2-40B4-BE49-F238E27FC236}">
                <a16:creationId xmlns:a16="http://schemas.microsoft.com/office/drawing/2014/main" id="{AE00BC7D-097D-F2E7-02E2-306C3A611E4C}"/>
              </a:ext>
            </a:extLst>
          </p:cNvPr>
          <p:cNvPicPr>
            <a:picLocks noChangeAspect="1"/>
          </p:cNvPicPr>
          <p:nvPr/>
        </p:nvPicPr>
        <p:blipFill rotWithShape="1">
          <a:blip r:embed="rId11"/>
          <a:srcRect l="10906" t="24036" r="11772" b="24036"/>
          <a:stretch/>
        </p:blipFill>
        <p:spPr>
          <a:xfrm>
            <a:off x="6958779" y="5178328"/>
            <a:ext cx="1505242" cy="667998"/>
          </a:xfrm>
          <a:prstGeom prst="rect">
            <a:avLst/>
          </a:prstGeom>
        </p:spPr>
      </p:pic>
    </p:spTree>
    <p:extLst>
      <p:ext uri="{BB962C8B-B14F-4D97-AF65-F5344CB8AC3E}">
        <p14:creationId xmlns:p14="http://schemas.microsoft.com/office/powerpoint/2010/main" val="33515475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6"/>
            <a:ext cx="8037048" cy="1053308"/>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Certificats d’économie d’énergie</a:t>
            </a:r>
          </a:p>
        </p:txBody>
      </p:sp>
      <p:sp>
        <p:nvSpPr>
          <p:cNvPr id="8" name="ZoneTexte 7">
            <a:extLst>
              <a:ext uri="{FF2B5EF4-FFF2-40B4-BE49-F238E27FC236}">
                <a16:creationId xmlns:a16="http://schemas.microsoft.com/office/drawing/2014/main" id="{B1F3A7A4-4A53-9A60-6559-891A465F7921}"/>
              </a:ext>
            </a:extLst>
          </p:cNvPr>
          <p:cNvSpPr txBox="1"/>
          <p:nvPr/>
        </p:nvSpPr>
        <p:spPr>
          <a:xfrm>
            <a:off x="492369" y="1983545"/>
            <a:ext cx="8037048" cy="2308324"/>
          </a:xfrm>
          <a:prstGeom prst="rect">
            <a:avLst/>
          </a:prstGeom>
          <a:noFill/>
        </p:spPr>
        <p:txBody>
          <a:bodyPr wrap="square" rtlCol="0">
            <a:spAutoFit/>
          </a:bodyPr>
          <a:lstStyle/>
          <a:p>
            <a:pPr marL="285750" indent="-285750">
              <a:buFont typeface="Arial" panose="020B0604020202020204" pitchFamily="34" charset="0"/>
              <a:buChar char="•"/>
            </a:pPr>
            <a:r>
              <a:rPr lang="fr-FR" dirty="0"/>
              <a:t>Dispositif créé par les articles 14 à 17 de la loi n° 2005-781 du 13 juillet 2005 de programme fixant les orientations de la politique énergétique (loi POPE)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Fiches d’opérations standardisées </a:t>
            </a:r>
          </a:p>
          <a:p>
            <a:pPr marL="742950" lvl="1" indent="-285750">
              <a:buFont typeface="Arial" panose="020B0604020202020204" pitchFamily="34" charset="0"/>
              <a:buChar char="•"/>
            </a:pPr>
            <a:r>
              <a:rPr lang="fr-FR" dirty="0"/>
              <a:t>Sont classées par secteur: résidentiel, tertiaire, industriel, agricole, transport, réseaux</a:t>
            </a:r>
          </a:p>
          <a:p>
            <a:pPr marL="742950" lvl="1" indent="-285750">
              <a:buFont typeface="Arial" panose="020B0604020202020204" pitchFamily="34" charset="0"/>
              <a:buChar char="•"/>
            </a:pPr>
            <a:r>
              <a:rPr lang="fr-FR" dirty="0"/>
              <a:t>Définissent, pour les opérations les plus fréquentes, les montants forfaitaires d’économies d’énergie en kWh </a:t>
            </a:r>
            <a:r>
              <a:rPr lang="fr-FR" dirty="0" err="1"/>
              <a:t>cumac</a:t>
            </a:r>
            <a:endParaRPr lang="fr-FR" dirty="0"/>
          </a:p>
        </p:txBody>
      </p:sp>
      <p:sp>
        <p:nvSpPr>
          <p:cNvPr id="11" name="ZoneTexte 10">
            <a:extLst>
              <a:ext uri="{FF2B5EF4-FFF2-40B4-BE49-F238E27FC236}">
                <a16:creationId xmlns:a16="http://schemas.microsoft.com/office/drawing/2014/main" id="{7CBB4CE5-05DF-0B31-41E6-AEC66B01B0A5}"/>
              </a:ext>
            </a:extLst>
          </p:cNvPr>
          <p:cNvSpPr txBox="1"/>
          <p:nvPr/>
        </p:nvSpPr>
        <p:spPr>
          <a:xfrm>
            <a:off x="553476" y="4462325"/>
            <a:ext cx="8037048" cy="338554"/>
          </a:xfrm>
          <a:prstGeom prst="rect">
            <a:avLst/>
          </a:prstGeom>
          <a:noFill/>
        </p:spPr>
        <p:txBody>
          <a:bodyPr wrap="square">
            <a:spAutoFit/>
          </a:bodyPr>
          <a:lstStyle/>
          <a:p>
            <a:r>
              <a:rPr lang="fr-FR" sz="1600" dirty="0">
                <a:hlinkClick r:id="rId3"/>
              </a:rPr>
              <a:t>https://www.ecologie.gouv.fr/operations-standardisees-deconomies-denergie#scroll-nav__7</a:t>
            </a:r>
            <a:r>
              <a:rPr lang="fr-FR" sz="1600" dirty="0"/>
              <a:t> </a:t>
            </a:r>
          </a:p>
        </p:txBody>
      </p:sp>
    </p:spTree>
    <p:extLst>
      <p:ext uri="{BB962C8B-B14F-4D97-AF65-F5344CB8AC3E}">
        <p14:creationId xmlns:p14="http://schemas.microsoft.com/office/powerpoint/2010/main" val="39843606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6"/>
            <a:ext cx="8037048" cy="1053308"/>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IE liés aux transports / L’air</a:t>
            </a:r>
          </a:p>
        </p:txBody>
      </p:sp>
      <p:pic>
        <p:nvPicPr>
          <p:cNvPr id="8" name="Image 7">
            <a:extLst>
              <a:ext uri="{FF2B5EF4-FFF2-40B4-BE49-F238E27FC236}">
                <a16:creationId xmlns:a16="http://schemas.microsoft.com/office/drawing/2014/main" id="{2DE57314-E5A8-4EC9-9D9F-5E25D38FA7C1}"/>
              </a:ext>
            </a:extLst>
          </p:cNvPr>
          <p:cNvPicPr>
            <a:picLocks noChangeAspect="1"/>
          </p:cNvPicPr>
          <p:nvPr/>
        </p:nvPicPr>
        <p:blipFill rotWithShape="1">
          <a:blip r:embed="rId3"/>
          <a:srcRect b="8627"/>
          <a:stretch/>
        </p:blipFill>
        <p:spPr>
          <a:xfrm>
            <a:off x="2392185" y="1507217"/>
            <a:ext cx="3594277" cy="4645875"/>
          </a:xfrm>
          <a:prstGeom prst="rect">
            <a:avLst/>
          </a:prstGeom>
        </p:spPr>
      </p:pic>
    </p:spTree>
    <p:extLst>
      <p:ext uri="{BB962C8B-B14F-4D97-AF65-F5344CB8AC3E}">
        <p14:creationId xmlns:p14="http://schemas.microsoft.com/office/powerpoint/2010/main" val="15872141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5"/>
            <a:ext cx="8037048" cy="1124745"/>
          </a:xfrm>
        </p:spPr>
        <p:txBody>
          <a:bodyPr>
            <a:normAutofit/>
          </a:bodyPr>
          <a:lstStyle/>
          <a:p>
            <a:pPr algn="r"/>
            <a:r>
              <a:rPr lang="fr-FR" sz="2800" dirty="0">
                <a:solidFill>
                  <a:schemeClr val="accent5">
                    <a:lumMod val="75000"/>
                  </a:schemeClr>
                </a:solidFill>
              </a:rPr>
              <a:t>3-  Domaines d’action </a:t>
            </a:r>
            <a:br>
              <a:rPr lang="fr-FR" sz="2800" dirty="0">
                <a:solidFill>
                  <a:schemeClr val="accent5">
                    <a:lumMod val="75000"/>
                  </a:schemeClr>
                </a:solidFill>
              </a:rPr>
            </a:br>
            <a:r>
              <a:rPr lang="fr-FR" sz="2800" dirty="0">
                <a:solidFill>
                  <a:schemeClr val="accent5">
                    <a:lumMod val="75000"/>
                  </a:schemeClr>
                </a:solidFill>
              </a:rPr>
              <a:t>Gestion des IE liés aux transports / Les produits</a:t>
            </a:r>
          </a:p>
        </p:txBody>
      </p:sp>
      <p:pic>
        <p:nvPicPr>
          <p:cNvPr id="7" name="Image 6">
            <a:extLst>
              <a:ext uri="{FF2B5EF4-FFF2-40B4-BE49-F238E27FC236}">
                <a16:creationId xmlns:a16="http://schemas.microsoft.com/office/drawing/2014/main" id="{F6D94993-12CD-33A4-6D95-043B26C30A16}"/>
              </a:ext>
            </a:extLst>
          </p:cNvPr>
          <p:cNvPicPr>
            <a:picLocks noChangeAspect="1"/>
          </p:cNvPicPr>
          <p:nvPr/>
        </p:nvPicPr>
        <p:blipFill>
          <a:blip r:embed="rId3"/>
          <a:stretch>
            <a:fillRect/>
          </a:stretch>
        </p:blipFill>
        <p:spPr>
          <a:xfrm>
            <a:off x="1782413" y="1362068"/>
            <a:ext cx="5729521" cy="3148138"/>
          </a:xfrm>
          <a:prstGeom prst="rect">
            <a:avLst/>
          </a:prstGeom>
        </p:spPr>
      </p:pic>
      <p:sp>
        <p:nvSpPr>
          <p:cNvPr id="8" name="ZoneTexte 7">
            <a:extLst>
              <a:ext uri="{FF2B5EF4-FFF2-40B4-BE49-F238E27FC236}">
                <a16:creationId xmlns:a16="http://schemas.microsoft.com/office/drawing/2014/main" id="{DD81B40D-E322-5A14-F08F-D5D8F1D1ACFE}"/>
              </a:ext>
            </a:extLst>
          </p:cNvPr>
          <p:cNvSpPr txBox="1"/>
          <p:nvPr/>
        </p:nvSpPr>
        <p:spPr>
          <a:xfrm>
            <a:off x="108146" y="2228251"/>
            <a:ext cx="2053883" cy="646331"/>
          </a:xfrm>
          <a:prstGeom prst="rect">
            <a:avLst/>
          </a:prstGeom>
          <a:noFill/>
        </p:spPr>
        <p:txBody>
          <a:bodyPr wrap="square" rtlCol="0">
            <a:spAutoFit/>
          </a:bodyPr>
          <a:lstStyle/>
          <a:p>
            <a:r>
              <a:rPr lang="fr-FR" b="1" u="sng" dirty="0">
                <a:solidFill>
                  <a:schemeClr val="accent5">
                    <a:lumMod val="75000"/>
                  </a:schemeClr>
                </a:solidFill>
              </a:rPr>
              <a:t>Finalités de la réglementation:</a:t>
            </a:r>
          </a:p>
        </p:txBody>
      </p:sp>
      <p:pic>
        <p:nvPicPr>
          <p:cNvPr id="10" name="Image 9">
            <a:extLst>
              <a:ext uri="{FF2B5EF4-FFF2-40B4-BE49-F238E27FC236}">
                <a16:creationId xmlns:a16="http://schemas.microsoft.com/office/drawing/2014/main" id="{7FBB05E3-882F-2A7C-D7F3-F8EB6336FF7F}"/>
              </a:ext>
            </a:extLst>
          </p:cNvPr>
          <p:cNvPicPr>
            <a:picLocks noChangeAspect="1"/>
          </p:cNvPicPr>
          <p:nvPr/>
        </p:nvPicPr>
        <p:blipFill rotWithShape="1">
          <a:blip r:embed="rId4"/>
          <a:srcRect b="17690"/>
          <a:stretch/>
        </p:blipFill>
        <p:spPr>
          <a:xfrm>
            <a:off x="2738804" y="4510206"/>
            <a:ext cx="3470031" cy="1811353"/>
          </a:xfrm>
          <a:prstGeom prst="rect">
            <a:avLst/>
          </a:prstGeom>
        </p:spPr>
      </p:pic>
    </p:spTree>
    <p:extLst>
      <p:ext uri="{BB962C8B-B14F-4D97-AF65-F5344CB8AC3E}">
        <p14:creationId xmlns:p14="http://schemas.microsoft.com/office/powerpoint/2010/main" val="16880489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18255"/>
            <a:ext cx="8065184" cy="1147762"/>
          </a:xfrm>
        </p:spPr>
        <p:txBody>
          <a:bodyPr>
            <a:normAutofit/>
          </a:bodyPr>
          <a:lstStyle/>
          <a:p>
            <a:pPr algn="r"/>
            <a:r>
              <a:rPr lang="fr-FR" sz="2800" dirty="0">
                <a:solidFill>
                  <a:schemeClr val="accent5">
                    <a:lumMod val="75000"/>
                  </a:schemeClr>
                </a:solidFill>
              </a:rPr>
              <a:t>3- Domaines d’action</a:t>
            </a:r>
            <a:br>
              <a:rPr lang="fr-FR" sz="2800" dirty="0">
                <a:solidFill>
                  <a:schemeClr val="accent5">
                    <a:lumMod val="75000"/>
                  </a:schemeClr>
                </a:solidFill>
              </a:rPr>
            </a:br>
            <a:r>
              <a:rPr lang="fr-FR" sz="2800" dirty="0">
                <a:solidFill>
                  <a:schemeClr val="accent5">
                    <a:lumMod val="75000"/>
                  </a:schemeClr>
                </a:solidFill>
              </a:rPr>
              <a:t>Eco-conception</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522513" y="1933007"/>
            <a:ext cx="7886700" cy="3275013"/>
          </a:xfrm>
        </p:spPr>
        <p:txBody>
          <a:bodyPr>
            <a:normAutofit/>
          </a:bodyPr>
          <a:lstStyle/>
          <a:p>
            <a:pPr marL="0" indent="0">
              <a:buNone/>
            </a:pPr>
            <a:r>
              <a:rPr lang="fr-FR" sz="1800" b="1" u="sng" dirty="0">
                <a:solidFill>
                  <a:schemeClr val="accent5">
                    <a:lumMod val="75000"/>
                  </a:schemeClr>
                </a:solidFill>
              </a:rPr>
              <a:t>Objectif de l’éco-conception: </a:t>
            </a:r>
          </a:p>
          <a:p>
            <a:pPr marL="0" indent="0">
              <a:buNone/>
            </a:pPr>
            <a:endParaRPr lang="fr-FR" sz="1800" dirty="0">
              <a:solidFill>
                <a:schemeClr val="accent5">
                  <a:lumMod val="75000"/>
                </a:schemeClr>
              </a:solidFill>
            </a:endParaRPr>
          </a:p>
          <a:p>
            <a:pPr marL="0" indent="0">
              <a:buNone/>
            </a:pPr>
            <a:r>
              <a:rPr lang="fr-FR" sz="1800" dirty="0"/>
              <a:t>Réduire les impacts environnementaux à chaque étape du cycle de vie d’un produit, tout en préservant:</a:t>
            </a:r>
          </a:p>
          <a:p>
            <a:pPr lvl="2"/>
            <a:r>
              <a:rPr lang="fr-FR" sz="1800" dirty="0"/>
              <a:t>Sa qualité d’usage</a:t>
            </a:r>
          </a:p>
          <a:p>
            <a:pPr lvl="2"/>
            <a:r>
              <a:rPr lang="fr-FR" sz="1800" dirty="0"/>
              <a:t>Son niveau de performance</a:t>
            </a:r>
          </a:p>
          <a:p>
            <a:pPr lvl="2"/>
            <a:r>
              <a:rPr lang="fr-FR" sz="1800" dirty="0"/>
              <a:t>La rentabilité de l’entreprise</a:t>
            </a:r>
          </a:p>
          <a:p>
            <a:endParaRPr lang="fr-FR" sz="1800" dirty="0"/>
          </a:p>
          <a:p>
            <a:pPr marL="0" indent="0">
              <a:buNone/>
            </a:pPr>
            <a:r>
              <a:rPr lang="fr-FR" sz="1800" dirty="0">
                <a:sym typeface="Wingdings" panose="05000000000000000000" pitchFamily="2" charset="2"/>
              </a:rPr>
              <a:t> Pour les industries manufacturières</a:t>
            </a:r>
            <a:endParaRPr lang="fr-FR" sz="1800" dirty="0"/>
          </a:p>
          <a:p>
            <a:pPr marL="0" indent="0">
              <a:buNone/>
            </a:pPr>
            <a:endParaRPr lang="fr-FR" sz="1800" dirty="0"/>
          </a:p>
        </p:txBody>
      </p:sp>
      <p:pic>
        <p:nvPicPr>
          <p:cNvPr id="4" name="Image 3">
            <a:extLst>
              <a:ext uri="{FF2B5EF4-FFF2-40B4-BE49-F238E27FC236}">
                <a16:creationId xmlns:a16="http://schemas.microsoft.com/office/drawing/2014/main" id="{4312DE24-AC11-4B81-90C3-DC19ABE51385}"/>
              </a:ext>
            </a:extLst>
          </p:cNvPr>
          <p:cNvPicPr>
            <a:picLocks noChangeAspect="1"/>
          </p:cNvPicPr>
          <p:nvPr/>
        </p:nvPicPr>
        <p:blipFill>
          <a:blip r:embed="rId3"/>
          <a:stretch>
            <a:fillRect/>
          </a:stretch>
        </p:blipFill>
        <p:spPr>
          <a:xfrm>
            <a:off x="5573222" y="3246352"/>
            <a:ext cx="3393617" cy="2602904"/>
          </a:xfrm>
          <a:prstGeom prst="rect">
            <a:avLst/>
          </a:prstGeom>
        </p:spPr>
      </p:pic>
      <p:sp>
        <p:nvSpPr>
          <p:cNvPr id="14" name="ZoneTexte 13">
            <a:extLst>
              <a:ext uri="{FF2B5EF4-FFF2-40B4-BE49-F238E27FC236}">
                <a16:creationId xmlns:a16="http://schemas.microsoft.com/office/drawing/2014/main" id="{893771E0-5D7A-4DF6-A3B5-14EC2650DB64}"/>
              </a:ext>
            </a:extLst>
          </p:cNvPr>
          <p:cNvSpPr txBox="1"/>
          <p:nvPr/>
        </p:nvSpPr>
        <p:spPr>
          <a:xfrm>
            <a:off x="2413377" y="5849256"/>
            <a:ext cx="4914900" cy="369332"/>
          </a:xfrm>
          <a:prstGeom prst="rect">
            <a:avLst/>
          </a:prstGeom>
          <a:noFill/>
        </p:spPr>
        <p:txBody>
          <a:bodyPr wrap="square" rtlCol="0">
            <a:spAutoFit/>
          </a:bodyPr>
          <a:lstStyle/>
          <a:p>
            <a:r>
              <a:rPr lang="fr-FR" b="1" dirty="0">
                <a:solidFill>
                  <a:schemeClr val="accent5">
                    <a:lumMod val="75000"/>
                  </a:schemeClr>
                </a:solidFill>
              </a:rPr>
              <a:t>Attention aux transferts de pollutions !</a:t>
            </a:r>
          </a:p>
        </p:txBody>
      </p:sp>
      <p:pic>
        <p:nvPicPr>
          <p:cNvPr id="2050" name="Picture 2" descr="DÉVELOPPEMENT DURABLE ET IMPACTS ENVIRONNEMENTAUX - Bilan Produit ®">
            <a:extLst>
              <a:ext uri="{FF2B5EF4-FFF2-40B4-BE49-F238E27FC236}">
                <a16:creationId xmlns:a16="http://schemas.microsoft.com/office/drawing/2014/main" id="{75C267D9-0C85-4C50-925A-5EC2E569B7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342901"/>
            <a:ext cx="1824813" cy="1147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6290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me 5">
            <a:extLst>
              <a:ext uri="{FF2B5EF4-FFF2-40B4-BE49-F238E27FC236}">
                <a16:creationId xmlns:a16="http://schemas.microsoft.com/office/drawing/2014/main" id="{0918FC34-D66F-4DBF-BAC7-CC0044271A74}"/>
              </a:ext>
            </a:extLst>
          </p:cNvPr>
          <p:cNvGraphicFramePr/>
          <p:nvPr>
            <p:extLst>
              <p:ext uri="{D42A27DB-BD31-4B8C-83A1-F6EECF244321}">
                <p14:modId xmlns:p14="http://schemas.microsoft.com/office/powerpoint/2010/main" val="3301637164"/>
              </p:ext>
            </p:extLst>
          </p:nvPr>
        </p:nvGraphicFramePr>
        <p:xfrm>
          <a:off x="1794605" y="2409371"/>
          <a:ext cx="5912482" cy="2967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49" y="18255"/>
            <a:ext cx="8093319" cy="1139034"/>
          </a:xfrm>
        </p:spPr>
        <p:txBody>
          <a:bodyPr>
            <a:normAutofit/>
          </a:bodyPr>
          <a:lstStyle/>
          <a:p>
            <a:pPr algn="r"/>
            <a:r>
              <a:rPr lang="fr-FR" sz="2800" dirty="0">
                <a:solidFill>
                  <a:schemeClr val="accent5">
                    <a:lumMod val="75000"/>
                  </a:schemeClr>
                </a:solidFill>
              </a:rPr>
              <a:t>3- Domaines d’action</a:t>
            </a:r>
            <a:br>
              <a:rPr lang="fr-FR" sz="2800" dirty="0">
                <a:solidFill>
                  <a:schemeClr val="accent5">
                    <a:lumMod val="75000"/>
                  </a:schemeClr>
                </a:solidFill>
              </a:rPr>
            </a:br>
            <a:r>
              <a:rPr lang="fr-FR" sz="2800" dirty="0">
                <a:solidFill>
                  <a:schemeClr val="accent5">
                    <a:lumMod val="75000"/>
                  </a:schemeClr>
                </a:solidFill>
              </a:rPr>
              <a:t>Ecologie industrielle</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4041490" y="3771355"/>
            <a:ext cx="1287748" cy="686346"/>
          </a:xfrm>
        </p:spPr>
        <p:txBody>
          <a:bodyPr>
            <a:normAutofit/>
          </a:bodyPr>
          <a:lstStyle/>
          <a:p>
            <a:pPr marL="0" indent="0" algn="r">
              <a:buNone/>
            </a:pPr>
            <a:r>
              <a:rPr lang="fr-FR" sz="2000" b="1" dirty="0">
                <a:solidFill>
                  <a:schemeClr val="accent5">
                    <a:lumMod val="75000"/>
                  </a:schemeClr>
                </a:solidFill>
              </a:rPr>
              <a:t>Mettre en synergies</a:t>
            </a:r>
          </a:p>
          <a:p>
            <a:pPr marL="0" indent="0">
              <a:buNone/>
            </a:pPr>
            <a:endParaRPr lang="fr-FR" sz="2000" b="1" dirty="0">
              <a:solidFill>
                <a:schemeClr val="accent5">
                  <a:lumMod val="75000"/>
                </a:schemeClr>
              </a:solidFill>
            </a:endParaRPr>
          </a:p>
          <a:p>
            <a:pPr marL="0" indent="0">
              <a:buNone/>
            </a:pPr>
            <a:endParaRPr lang="fr-FR" sz="2000" b="1" dirty="0">
              <a:solidFill>
                <a:schemeClr val="accent5">
                  <a:lumMod val="75000"/>
                </a:schemeClr>
              </a:solidFill>
            </a:endParaRPr>
          </a:p>
          <a:p>
            <a:pPr marL="0" indent="0">
              <a:buNone/>
            </a:pPr>
            <a:endParaRPr lang="fr-FR" sz="2000" b="1" dirty="0">
              <a:solidFill>
                <a:schemeClr val="accent5">
                  <a:lumMod val="75000"/>
                </a:schemeClr>
              </a:solidFill>
            </a:endParaRPr>
          </a:p>
          <a:p>
            <a:pPr marL="0" indent="0">
              <a:buNone/>
            </a:pPr>
            <a:endParaRPr lang="fr-FR" sz="2000" b="1" dirty="0">
              <a:solidFill>
                <a:schemeClr val="accent5">
                  <a:lumMod val="75000"/>
                </a:schemeClr>
              </a:solidFill>
            </a:endParaRPr>
          </a:p>
          <a:p>
            <a:pPr lvl="2"/>
            <a:endParaRPr lang="fr-FR" sz="2000" b="1" dirty="0">
              <a:solidFill>
                <a:schemeClr val="accent5">
                  <a:lumMod val="75000"/>
                </a:schemeClr>
              </a:solidFill>
            </a:endParaRPr>
          </a:p>
          <a:p>
            <a:pPr marL="685800" lvl="2" indent="0">
              <a:buNone/>
            </a:pPr>
            <a:endParaRPr lang="fr-FR" sz="2000" b="1" dirty="0">
              <a:solidFill>
                <a:schemeClr val="accent5">
                  <a:lumMod val="75000"/>
                </a:schemeClr>
              </a:solidFill>
            </a:endParaRPr>
          </a:p>
        </p:txBody>
      </p:sp>
      <p:sp>
        <p:nvSpPr>
          <p:cNvPr id="7" name="ZoneTexte 6">
            <a:extLst>
              <a:ext uri="{FF2B5EF4-FFF2-40B4-BE49-F238E27FC236}">
                <a16:creationId xmlns:a16="http://schemas.microsoft.com/office/drawing/2014/main" id="{9EEE9447-4F8A-4DB7-864D-C661F73A47B4}"/>
              </a:ext>
            </a:extLst>
          </p:cNvPr>
          <p:cNvSpPr txBox="1"/>
          <p:nvPr/>
        </p:nvSpPr>
        <p:spPr>
          <a:xfrm>
            <a:off x="416265" y="5363703"/>
            <a:ext cx="4579144" cy="1021556"/>
          </a:xfrm>
          <a:prstGeom prst="roundRect">
            <a:avLst/>
          </a:prstGeom>
          <a:noFill/>
          <a:ln>
            <a:solidFill>
              <a:schemeClr val="accent5">
                <a:lumMod val="75000"/>
              </a:schemeClr>
            </a:solidFill>
          </a:ln>
        </p:spPr>
        <p:txBody>
          <a:bodyPr wrap="square">
            <a:spAutoFit/>
          </a:bodyPr>
          <a:lstStyle/>
          <a:p>
            <a:pPr algn="ctr"/>
            <a:r>
              <a:rPr lang="fr-FR" sz="1800" dirty="0"/>
              <a:t>Réintroduire les résidus de production dans les process</a:t>
            </a:r>
          </a:p>
          <a:p>
            <a:pPr algn="ctr"/>
            <a:r>
              <a:rPr lang="fr-FR" sz="1800" dirty="0"/>
              <a:t>Réutiliser des flux (énergies, eau, chaleur)</a:t>
            </a:r>
          </a:p>
        </p:txBody>
      </p:sp>
      <p:sp>
        <p:nvSpPr>
          <p:cNvPr id="8" name="ZoneTexte 7">
            <a:extLst>
              <a:ext uri="{FF2B5EF4-FFF2-40B4-BE49-F238E27FC236}">
                <a16:creationId xmlns:a16="http://schemas.microsoft.com/office/drawing/2014/main" id="{ADD92539-55B4-4ADD-9045-0D52104DE179}"/>
              </a:ext>
            </a:extLst>
          </p:cNvPr>
          <p:cNvSpPr txBox="1"/>
          <p:nvPr/>
        </p:nvSpPr>
        <p:spPr>
          <a:xfrm>
            <a:off x="2461274" y="1387815"/>
            <a:ext cx="4579144" cy="1021556"/>
          </a:xfrm>
          <a:prstGeom prst="roundRect">
            <a:avLst/>
          </a:prstGeom>
          <a:noFill/>
          <a:ln>
            <a:solidFill>
              <a:schemeClr val="accent5">
                <a:lumMod val="75000"/>
              </a:schemeClr>
            </a:solidFill>
          </a:ln>
        </p:spPr>
        <p:txBody>
          <a:bodyPr wrap="square">
            <a:spAutoFit/>
          </a:bodyPr>
          <a:lstStyle/>
          <a:p>
            <a:pPr algn="ctr"/>
            <a:r>
              <a:rPr lang="fr-FR" sz="1800" dirty="0"/>
              <a:t>Mettre en commun, </a:t>
            </a:r>
          </a:p>
          <a:p>
            <a:pPr algn="ctr"/>
            <a:r>
              <a:rPr lang="fr-FR" sz="1800" dirty="0"/>
              <a:t>entre plusieurs entreprises, </a:t>
            </a:r>
          </a:p>
          <a:p>
            <a:pPr algn="ctr"/>
            <a:r>
              <a:rPr lang="fr-FR" sz="1800" dirty="0"/>
              <a:t>des services, équipements ou compétences</a:t>
            </a:r>
          </a:p>
        </p:txBody>
      </p:sp>
      <p:sp>
        <p:nvSpPr>
          <p:cNvPr id="10" name="ZoneTexte 9">
            <a:extLst>
              <a:ext uri="{FF2B5EF4-FFF2-40B4-BE49-F238E27FC236}">
                <a16:creationId xmlns:a16="http://schemas.microsoft.com/office/drawing/2014/main" id="{016F3543-844B-4B62-AB3A-55F1D75491A6}"/>
              </a:ext>
            </a:extLst>
          </p:cNvPr>
          <p:cNvSpPr txBox="1"/>
          <p:nvPr/>
        </p:nvSpPr>
        <p:spPr>
          <a:xfrm>
            <a:off x="5116853" y="5376511"/>
            <a:ext cx="3398497" cy="715089"/>
          </a:xfrm>
          <a:prstGeom prst="round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fr-FR" sz="1800" dirty="0"/>
              <a:t>Développer de nouvelles filières</a:t>
            </a:r>
          </a:p>
          <a:p>
            <a:pPr algn="ctr"/>
            <a:r>
              <a:rPr lang="fr-FR" sz="1800" dirty="0"/>
              <a:t>Favoriser les circuits courts</a:t>
            </a:r>
          </a:p>
        </p:txBody>
      </p:sp>
    </p:spTree>
    <p:extLst>
      <p:ext uri="{BB962C8B-B14F-4D97-AF65-F5344CB8AC3E}">
        <p14:creationId xmlns:p14="http://schemas.microsoft.com/office/powerpoint/2010/main" val="254578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B8EDB-7CEC-4838-9EC2-1FF7EE48AA0E}"/>
              </a:ext>
            </a:extLst>
          </p:cNvPr>
          <p:cNvSpPr>
            <a:spLocks noGrp="1"/>
          </p:cNvSpPr>
          <p:nvPr>
            <p:ph type="title"/>
          </p:nvPr>
        </p:nvSpPr>
        <p:spPr>
          <a:xfrm>
            <a:off x="628650" y="0"/>
            <a:ext cx="8001000" cy="1057276"/>
          </a:xfrm>
        </p:spPr>
        <p:txBody>
          <a:bodyPr>
            <a:normAutofit/>
          </a:bodyPr>
          <a:lstStyle/>
          <a:p>
            <a:pPr algn="r"/>
            <a:r>
              <a:rPr lang="fr-FR" sz="2800" dirty="0">
                <a:solidFill>
                  <a:schemeClr val="accent5">
                    <a:lumMod val="75000"/>
                  </a:schemeClr>
                </a:solidFill>
              </a:rPr>
              <a:t>3- Domaines d’action</a:t>
            </a:r>
            <a:br>
              <a:rPr lang="fr-FR" sz="2800" dirty="0">
                <a:solidFill>
                  <a:schemeClr val="accent5">
                    <a:lumMod val="75000"/>
                  </a:schemeClr>
                </a:solidFill>
              </a:rPr>
            </a:br>
            <a:r>
              <a:rPr lang="fr-FR" sz="2800" dirty="0">
                <a:solidFill>
                  <a:schemeClr val="accent5">
                    <a:lumMod val="75000"/>
                  </a:schemeClr>
                </a:solidFill>
              </a:rPr>
              <a:t>Economie circulaire</a:t>
            </a:r>
          </a:p>
        </p:txBody>
      </p:sp>
      <p:sp>
        <p:nvSpPr>
          <p:cNvPr id="3" name="Espace réservé du contenu 2">
            <a:extLst>
              <a:ext uri="{FF2B5EF4-FFF2-40B4-BE49-F238E27FC236}">
                <a16:creationId xmlns:a16="http://schemas.microsoft.com/office/drawing/2014/main" id="{FEF6C079-F1C0-4807-865F-2C1DB3009467}"/>
              </a:ext>
            </a:extLst>
          </p:cNvPr>
          <p:cNvSpPr>
            <a:spLocks noGrp="1"/>
          </p:cNvSpPr>
          <p:nvPr>
            <p:ph idx="1"/>
          </p:nvPr>
        </p:nvSpPr>
        <p:spPr>
          <a:xfrm>
            <a:off x="628650" y="2485785"/>
            <a:ext cx="7886700" cy="1259813"/>
          </a:xfrm>
        </p:spPr>
        <p:txBody>
          <a:bodyPr anchor="ctr">
            <a:normAutofit/>
          </a:bodyPr>
          <a:lstStyle/>
          <a:p>
            <a:pPr marL="0" indent="0" algn="ctr">
              <a:buNone/>
            </a:pPr>
            <a:r>
              <a:rPr lang="fr-FR" sz="1800" b="1" dirty="0">
                <a:solidFill>
                  <a:schemeClr val="accent5">
                    <a:lumMod val="75000"/>
                  </a:schemeClr>
                </a:solidFill>
              </a:rPr>
              <a:t>« Système de production, d’échange et de consommation conçu et organisé pour minimiser les prélèvements nets des ressources et les émissions polluantes, sources d’impacts environnementaux négatifs, tant locaux que globaux »</a:t>
            </a:r>
          </a:p>
        </p:txBody>
      </p:sp>
      <p:sp>
        <p:nvSpPr>
          <p:cNvPr id="5" name="ZoneTexte 4">
            <a:extLst>
              <a:ext uri="{FF2B5EF4-FFF2-40B4-BE49-F238E27FC236}">
                <a16:creationId xmlns:a16="http://schemas.microsoft.com/office/drawing/2014/main" id="{DB67FD6E-833D-44A3-B19E-5A90355C29DD}"/>
              </a:ext>
            </a:extLst>
          </p:cNvPr>
          <p:cNvSpPr txBox="1"/>
          <p:nvPr/>
        </p:nvSpPr>
        <p:spPr>
          <a:xfrm>
            <a:off x="203199" y="3803417"/>
            <a:ext cx="4625975" cy="2247424"/>
          </a:xfrm>
          <a:prstGeom prst="roundRect">
            <a:avLst/>
          </a:prstGeom>
          <a:solidFill>
            <a:schemeClr val="accent5">
              <a:lumMod val="40000"/>
              <a:lumOff val="60000"/>
            </a:schemeClr>
          </a:solidFill>
          <a:ln>
            <a:solidFill>
              <a:schemeClr val="bg1"/>
            </a:solidFill>
          </a:ln>
        </p:spPr>
        <p:txBody>
          <a:bodyPr wrap="square" rtlCol="0">
            <a:spAutoFit/>
          </a:bodyPr>
          <a:lstStyle/>
          <a:p>
            <a:pPr marL="0" indent="0">
              <a:buNone/>
            </a:pPr>
            <a:r>
              <a:rPr lang="fr-FR" u="sng" dirty="0"/>
              <a:t>Intègre des démarches:</a:t>
            </a:r>
          </a:p>
          <a:p>
            <a:pPr marL="0" indent="0">
              <a:buNone/>
            </a:pPr>
            <a:endParaRPr lang="fr-FR" dirty="0"/>
          </a:p>
          <a:p>
            <a:pPr marL="285750" indent="-285750">
              <a:buFont typeface="Arial" panose="020B0604020202020204" pitchFamily="34" charset="0"/>
              <a:buChar char="•"/>
            </a:pPr>
            <a:r>
              <a:rPr lang="fr-FR" dirty="0"/>
              <a:t>D’achats durables</a:t>
            </a:r>
          </a:p>
          <a:p>
            <a:pPr marL="285750" indent="-285750">
              <a:buFont typeface="Arial" panose="020B0604020202020204" pitchFamily="34" charset="0"/>
              <a:buChar char="•"/>
            </a:pPr>
            <a:r>
              <a:rPr lang="fr-FR" dirty="0"/>
              <a:t>D’éco-conception et d’éco-innovation</a:t>
            </a:r>
          </a:p>
          <a:p>
            <a:pPr marL="285750" indent="-285750">
              <a:buFont typeface="Arial" panose="020B0604020202020204" pitchFamily="34" charset="0"/>
              <a:buChar char="•"/>
            </a:pPr>
            <a:r>
              <a:rPr lang="fr-FR" dirty="0"/>
              <a:t>D’écologie industrielle et territoriale</a:t>
            </a:r>
          </a:p>
          <a:p>
            <a:pPr marL="285750" indent="-285750">
              <a:buFont typeface="Arial" panose="020B0604020202020204" pitchFamily="34" charset="0"/>
              <a:buChar char="•"/>
            </a:pPr>
            <a:r>
              <a:rPr lang="fr-FR" dirty="0"/>
              <a:t>D’allongement de la durée d’usage</a:t>
            </a:r>
          </a:p>
          <a:p>
            <a:pPr marL="285750" indent="-285750">
              <a:buFont typeface="Arial" panose="020B0604020202020204" pitchFamily="34" charset="0"/>
              <a:buChar char="•"/>
            </a:pPr>
            <a:r>
              <a:rPr lang="fr-FR" dirty="0"/>
              <a:t>De logistique durable</a:t>
            </a:r>
          </a:p>
        </p:txBody>
      </p:sp>
      <p:sp>
        <p:nvSpPr>
          <p:cNvPr id="7" name="ZoneTexte 6">
            <a:extLst>
              <a:ext uri="{FF2B5EF4-FFF2-40B4-BE49-F238E27FC236}">
                <a16:creationId xmlns:a16="http://schemas.microsoft.com/office/drawing/2014/main" id="{42D60F2D-7F2A-436D-B70C-751BCC31E03B}"/>
              </a:ext>
            </a:extLst>
          </p:cNvPr>
          <p:cNvSpPr txBox="1"/>
          <p:nvPr/>
        </p:nvSpPr>
        <p:spPr>
          <a:xfrm>
            <a:off x="5043714" y="3803417"/>
            <a:ext cx="3897086" cy="2247424"/>
          </a:xfrm>
          <a:prstGeom prst="roundRect">
            <a:avLst/>
          </a:prstGeom>
          <a:solidFill>
            <a:schemeClr val="accent5">
              <a:lumMod val="40000"/>
              <a:lumOff val="60000"/>
            </a:schemeClr>
          </a:solidFill>
          <a:ln>
            <a:solidFill>
              <a:schemeClr val="bg1"/>
            </a:solidFill>
          </a:ln>
        </p:spPr>
        <p:txBody>
          <a:bodyPr wrap="square">
            <a:spAutoFit/>
          </a:bodyPr>
          <a:lstStyle/>
          <a:p>
            <a:pPr marL="0" indent="0">
              <a:buNone/>
            </a:pPr>
            <a:r>
              <a:rPr lang="fr-FR" u="sng" dirty="0"/>
              <a:t>S’intègre aux nouveaux modèles économiques:</a:t>
            </a:r>
          </a:p>
          <a:p>
            <a:pPr marL="0" indent="0">
              <a:buNone/>
            </a:pPr>
            <a:r>
              <a:rPr lang="fr-FR" dirty="0"/>
              <a:t> </a:t>
            </a:r>
          </a:p>
          <a:p>
            <a:pPr marL="285750" indent="-285750">
              <a:buFont typeface="Arial" panose="020B0604020202020204" pitchFamily="34" charset="0"/>
              <a:buChar char="•"/>
            </a:pPr>
            <a:r>
              <a:rPr lang="fr-FR" dirty="0"/>
              <a:t>Réemploi</a:t>
            </a:r>
          </a:p>
          <a:p>
            <a:pPr marL="285750" indent="-285750">
              <a:buFont typeface="Arial" panose="020B0604020202020204" pitchFamily="34" charset="0"/>
              <a:buChar char="•"/>
            </a:pPr>
            <a:r>
              <a:rPr lang="fr-FR" dirty="0"/>
              <a:t>Economie sociale et solidaire</a:t>
            </a:r>
          </a:p>
          <a:p>
            <a:pPr marL="285750" indent="-285750">
              <a:buFont typeface="Arial" panose="020B0604020202020204" pitchFamily="34" charset="0"/>
              <a:buChar char="•"/>
            </a:pPr>
            <a:r>
              <a:rPr lang="fr-FR" dirty="0"/>
              <a:t>Economie de proximité et circuits courts</a:t>
            </a:r>
          </a:p>
        </p:txBody>
      </p:sp>
      <p:pic>
        <p:nvPicPr>
          <p:cNvPr id="6" name="Image 5">
            <a:extLst>
              <a:ext uri="{FF2B5EF4-FFF2-40B4-BE49-F238E27FC236}">
                <a16:creationId xmlns:a16="http://schemas.microsoft.com/office/drawing/2014/main" id="{4C894801-A3DB-4944-B89C-72AC5A1ECE34}"/>
              </a:ext>
            </a:extLst>
          </p:cNvPr>
          <p:cNvPicPr>
            <a:picLocks noChangeAspect="1"/>
          </p:cNvPicPr>
          <p:nvPr/>
        </p:nvPicPr>
        <p:blipFill rotWithShape="1">
          <a:blip r:embed="rId3"/>
          <a:srcRect l="26984" t="21980" r="29682" b="14498"/>
          <a:stretch/>
        </p:blipFill>
        <p:spPr>
          <a:xfrm>
            <a:off x="0" y="0"/>
            <a:ext cx="3106057" cy="2559938"/>
          </a:xfrm>
          <a:prstGeom prst="rect">
            <a:avLst/>
          </a:prstGeom>
        </p:spPr>
      </p:pic>
      <p:sp>
        <p:nvSpPr>
          <p:cNvPr id="4" name="Ellipse 3">
            <a:extLst>
              <a:ext uri="{FF2B5EF4-FFF2-40B4-BE49-F238E27FC236}">
                <a16:creationId xmlns:a16="http://schemas.microsoft.com/office/drawing/2014/main" id="{EE4521A1-AC54-EF83-BED2-6D4B7B65E05D}"/>
              </a:ext>
            </a:extLst>
          </p:cNvPr>
          <p:cNvSpPr/>
          <p:nvPr/>
        </p:nvSpPr>
        <p:spPr>
          <a:xfrm>
            <a:off x="6415088" y="1628775"/>
            <a:ext cx="2214562" cy="600075"/>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lumMod val="75000"/>
                  </a:schemeClr>
                </a:solidFill>
              </a:rPr>
              <a:t>Loi AGEC du 10/03/2020</a:t>
            </a:r>
          </a:p>
        </p:txBody>
      </p:sp>
    </p:spTree>
    <p:extLst>
      <p:ext uri="{BB962C8B-B14F-4D97-AF65-F5344CB8AC3E}">
        <p14:creationId xmlns:p14="http://schemas.microsoft.com/office/powerpoint/2010/main" val="349464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Espace réservé du contenu 9">
            <a:extLst>
              <a:ext uri="{FF2B5EF4-FFF2-40B4-BE49-F238E27FC236}">
                <a16:creationId xmlns:a16="http://schemas.microsoft.com/office/drawing/2014/main" id="{AC452E18-DDCE-4675-91C8-7A492B636C5F}"/>
              </a:ext>
            </a:extLst>
          </p:cNvPr>
          <p:cNvGraphicFramePr>
            <a:graphicFrameLocks noGrp="1"/>
          </p:cNvGraphicFramePr>
          <p:nvPr>
            <p:ph idx="1"/>
          </p:nvPr>
        </p:nvGraphicFramePr>
        <p:xfrm>
          <a:off x="379828" y="1252025"/>
          <a:ext cx="8135522" cy="4924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Rectangle 10">
            <a:extLst>
              <a:ext uri="{FF2B5EF4-FFF2-40B4-BE49-F238E27FC236}">
                <a16:creationId xmlns:a16="http://schemas.microsoft.com/office/drawing/2014/main" id="{00E66A8C-C6D5-4D6F-8E96-663F8805AE5C}"/>
              </a:ext>
            </a:extLst>
          </p:cNvPr>
          <p:cNvSpPr/>
          <p:nvPr/>
        </p:nvSpPr>
        <p:spPr>
          <a:xfrm>
            <a:off x="506877" y="2003778"/>
            <a:ext cx="1087608" cy="3549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Objectifs</a:t>
            </a:r>
          </a:p>
        </p:txBody>
      </p:sp>
      <p:sp>
        <p:nvSpPr>
          <p:cNvPr id="12" name="Rectangle 11">
            <a:extLst>
              <a:ext uri="{FF2B5EF4-FFF2-40B4-BE49-F238E27FC236}">
                <a16:creationId xmlns:a16="http://schemas.microsoft.com/office/drawing/2014/main" id="{94347023-4D97-48F5-B196-848262B93DF0}"/>
              </a:ext>
            </a:extLst>
          </p:cNvPr>
          <p:cNvSpPr/>
          <p:nvPr/>
        </p:nvSpPr>
        <p:spPr>
          <a:xfrm>
            <a:off x="7355058" y="2018714"/>
            <a:ext cx="1160292" cy="3549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Obstacles</a:t>
            </a:r>
          </a:p>
        </p:txBody>
      </p:sp>
      <p:sp>
        <p:nvSpPr>
          <p:cNvPr id="8" name="Titre 1">
            <a:extLst>
              <a:ext uri="{FF2B5EF4-FFF2-40B4-BE49-F238E27FC236}">
                <a16:creationId xmlns:a16="http://schemas.microsoft.com/office/drawing/2014/main" id="{2A4E2E61-75F5-40E6-A9F1-BDBE357663AC}"/>
              </a:ext>
            </a:extLst>
          </p:cNvPr>
          <p:cNvSpPr txBox="1">
            <a:spLocks/>
          </p:cNvSpPr>
          <p:nvPr/>
        </p:nvSpPr>
        <p:spPr>
          <a:xfrm>
            <a:off x="628650" y="-1"/>
            <a:ext cx="7994846" cy="108585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r"/>
            <a:r>
              <a:rPr lang="fr-FR" sz="2800" dirty="0">
                <a:solidFill>
                  <a:schemeClr val="accent5">
                    <a:lumMod val="75000"/>
                  </a:schemeClr>
                </a:solidFill>
              </a:rPr>
              <a:t>3- Domaines d’action</a:t>
            </a:r>
            <a:br>
              <a:rPr lang="fr-FR" sz="2800" dirty="0">
                <a:solidFill>
                  <a:schemeClr val="accent5">
                    <a:lumMod val="75000"/>
                  </a:schemeClr>
                </a:solidFill>
              </a:rPr>
            </a:br>
            <a:r>
              <a:rPr lang="fr-FR" sz="2800" dirty="0">
                <a:solidFill>
                  <a:schemeClr val="accent5">
                    <a:lumMod val="75000"/>
                  </a:schemeClr>
                </a:solidFill>
              </a:rPr>
              <a:t>Economie circulaire</a:t>
            </a:r>
          </a:p>
        </p:txBody>
      </p:sp>
    </p:spTree>
    <p:extLst>
      <p:ext uri="{BB962C8B-B14F-4D97-AF65-F5344CB8AC3E}">
        <p14:creationId xmlns:p14="http://schemas.microsoft.com/office/powerpoint/2010/main" val="20588942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2A4E2E61-75F5-40E6-A9F1-BDBE357663AC}"/>
              </a:ext>
            </a:extLst>
          </p:cNvPr>
          <p:cNvSpPr txBox="1">
            <a:spLocks/>
          </p:cNvSpPr>
          <p:nvPr/>
        </p:nvSpPr>
        <p:spPr>
          <a:xfrm>
            <a:off x="628650" y="-1"/>
            <a:ext cx="7994846" cy="117157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r"/>
            <a:r>
              <a:rPr lang="fr-FR" sz="2800" dirty="0">
                <a:solidFill>
                  <a:schemeClr val="accent5">
                    <a:lumMod val="75000"/>
                  </a:schemeClr>
                </a:solidFill>
              </a:rPr>
              <a:t>3-  Domaines d’action</a:t>
            </a:r>
            <a:br>
              <a:rPr lang="fr-FR" sz="2800" dirty="0">
                <a:solidFill>
                  <a:schemeClr val="accent5">
                    <a:lumMod val="75000"/>
                  </a:schemeClr>
                </a:solidFill>
              </a:rPr>
            </a:br>
            <a:r>
              <a:rPr lang="fr-FR" sz="2800" dirty="0" err="1">
                <a:solidFill>
                  <a:schemeClr val="accent5">
                    <a:lumMod val="75000"/>
                  </a:schemeClr>
                </a:solidFill>
              </a:rPr>
              <a:t>Reporting</a:t>
            </a:r>
            <a:r>
              <a:rPr lang="fr-FR" sz="2800" dirty="0">
                <a:solidFill>
                  <a:schemeClr val="accent5">
                    <a:lumMod val="75000"/>
                  </a:schemeClr>
                </a:solidFill>
              </a:rPr>
              <a:t> extra-financier</a:t>
            </a:r>
          </a:p>
        </p:txBody>
      </p:sp>
      <p:graphicFrame>
        <p:nvGraphicFramePr>
          <p:cNvPr id="10" name="Espace réservé du contenu 9">
            <a:extLst>
              <a:ext uri="{FF2B5EF4-FFF2-40B4-BE49-F238E27FC236}">
                <a16:creationId xmlns:a16="http://schemas.microsoft.com/office/drawing/2014/main" id="{E1F39AC6-B9EF-1474-CD53-8BAC4E11EF94}"/>
              </a:ext>
            </a:extLst>
          </p:cNvPr>
          <p:cNvGraphicFramePr>
            <a:graphicFrameLocks noGrp="1"/>
          </p:cNvGraphicFramePr>
          <p:nvPr>
            <p:ph idx="1"/>
            <p:extLst>
              <p:ext uri="{D42A27DB-BD31-4B8C-83A1-F6EECF244321}">
                <p14:modId xmlns:p14="http://schemas.microsoft.com/office/powerpoint/2010/main" val="1942342289"/>
              </p:ext>
            </p:extLst>
          </p:nvPr>
        </p:nvGraphicFramePr>
        <p:xfrm>
          <a:off x="628650" y="1171575"/>
          <a:ext cx="7886700" cy="17167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 coins arrondis 10">
            <a:extLst>
              <a:ext uri="{FF2B5EF4-FFF2-40B4-BE49-F238E27FC236}">
                <a16:creationId xmlns:a16="http://schemas.microsoft.com/office/drawing/2014/main" id="{A8129DB0-25D6-BFE0-E8C5-35C3BCFB1E42}"/>
              </a:ext>
            </a:extLst>
          </p:cNvPr>
          <p:cNvSpPr/>
          <p:nvPr/>
        </p:nvSpPr>
        <p:spPr>
          <a:xfrm>
            <a:off x="628650" y="3014951"/>
            <a:ext cx="3278417" cy="3287375"/>
          </a:xfrm>
          <a:prstGeom prst="roundRect">
            <a:avLst>
              <a:gd name="adj" fmla="val 9382"/>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dirty="0">
                <a:solidFill>
                  <a:schemeClr val="tx1"/>
                </a:solidFill>
              </a:rPr>
              <a:t>Est obligatoire depuis:</a:t>
            </a:r>
          </a:p>
          <a:p>
            <a:pPr marL="285750" indent="-285750">
              <a:buFont typeface="Arial" panose="020B0604020202020204" pitchFamily="34" charset="0"/>
              <a:buChar char="•"/>
            </a:pPr>
            <a:r>
              <a:rPr lang="fr-FR" dirty="0">
                <a:solidFill>
                  <a:schemeClr val="tx1"/>
                </a:solidFill>
              </a:rPr>
              <a:t>Le 31/12/2011 pour les entreprises &gt;5000 sal et CA &gt; 1 milliard d’€</a:t>
            </a:r>
          </a:p>
          <a:p>
            <a:pPr marL="285750" indent="-285750">
              <a:buFont typeface="Arial" panose="020B0604020202020204" pitchFamily="34" charset="0"/>
              <a:buChar char="•"/>
            </a:pPr>
            <a:r>
              <a:rPr lang="fr-FR" dirty="0">
                <a:solidFill>
                  <a:schemeClr val="tx1"/>
                </a:solidFill>
              </a:rPr>
              <a:t>Le 31/12/2012 pour les entreprises &gt; 2000 sal et CA &gt; 400 millions d’€</a:t>
            </a:r>
          </a:p>
          <a:p>
            <a:pPr marL="285750" indent="-285750">
              <a:buFont typeface="Arial" panose="020B0604020202020204" pitchFamily="34" charset="0"/>
              <a:buChar char="•"/>
            </a:pPr>
            <a:r>
              <a:rPr lang="fr-FR" dirty="0">
                <a:solidFill>
                  <a:schemeClr val="tx1"/>
                </a:solidFill>
              </a:rPr>
              <a:t>Le 31/12/2013 pour les entreprises &gt; 500 sal et CA &gt; 100 millions d’€</a:t>
            </a:r>
          </a:p>
          <a:p>
            <a:r>
              <a:rPr lang="fr-FR" dirty="0">
                <a:solidFill>
                  <a:schemeClr val="tx1"/>
                </a:solidFill>
              </a:rPr>
              <a:t>	</a:t>
            </a:r>
            <a:r>
              <a:rPr lang="fr-FR" sz="1600" dirty="0">
                <a:solidFill>
                  <a:schemeClr val="tx1"/>
                </a:solidFill>
              </a:rPr>
              <a:t>(CA ou conditions de bilan)</a:t>
            </a:r>
            <a:endParaRPr lang="fr-FR" dirty="0">
              <a:solidFill>
                <a:schemeClr val="tx1"/>
              </a:solidFill>
            </a:endParaRPr>
          </a:p>
        </p:txBody>
      </p:sp>
      <p:sp>
        <p:nvSpPr>
          <p:cNvPr id="12" name="Rectangle : coins arrondis 11">
            <a:extLst>
              <a:ext uri="{FF2B5EF4-FFF2-40B4-BE49-F238E27FC236}">
                <a16:creationId xmlns:a16="http://schemas.microsoft.com/office/drawing/2014/main" id="{FF9120A0-0C26-37E6-549B-D85A4544FFE0}"/>
              </a:ext>
            </a:extLst>
          </p:cNvPr>
          <p:cNvSpPr/>
          <p:nvPr/>
        </p:nvSpPr>
        <p:spPr>
          <a:xfrm>
            <a:off x="5236935" y="3014951"/>
            <a:ext cx="3174094" cy="2732706"/>
          </a:xfrm>
          <a:prstGeom prst="roundRect">
            <a:avLst>
              <a:gd name="adj" fmla="val 9382"/>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dirty="0">
                <a:solidFill>
                  <a:schemeClr val="tx1"/>
                </a:solidFill>
                <a:sym typeface="Wingdings" panose="05000000000000000000" pitchFamily="2" charset="2"/>
              </a:rPr>
              <a:t> Améliorer la transparence et la responsabilité des entreprises en matière de durabilité</a:t>
            </a:r>
            <a:endParaRPr lang="fr-FR" dirty="0">
              <a:solidFill>
                <a:schemeClr val="tx1"/>
              </a:solidFill>
            </a:endParaRPr>
          </a:p>
        </p:txBody>
      </p:sp>
      <p:pic>
        <p:nvPicPr>
          <p:cNvPr id="17" name="Image 16">
            <a:extLst>
              <a:ext uri="{FF2B5EF4-FFF2-40B4-BE49-F238E27FC236}">
                <a16:creationId xmlns:a16="http://schemas.microsoft.com/office/drawing/2014/main" id="{01B7F4E2-8FA7-1FC0-9D67-C064892803A7}"/>
              </a:ext>
            </a:extLst>
          </p:cNvPr>
          <p:cNvPicPr>
            <a:picLocks noChangeAspect="1"/>
          </p:cNvPicPr>
          <p:nvPr/>
        </p:nvPicPr>
        <p:blipFill>
          <a:blip r:embed="rId8"/>
          <a:stretch>
            <a:fillRect/>
          </a:stretch>
        </p:blipFill>
        <p:spPr>
          <a:xfrm>
            <a:off x="5352159" y="4304714"/>
            <a:ext cx="2943645" cy="2553286"/>
          </a:xfrm>
          <a:prstGeom prst="rect">
            <a:avLst/>
          </a:prstGeom>
        </p:spPr>
      </p:pic>
    </p:spTree>
    <p:extLst>
      <p:ext uri="{BB962C8B-B14F-4D97-AF65-F5344CB8AC3E}">
        <p14:creationId xmlns:p14="http://schemas.microsoft.com/office/powerpoint/2010/main" val="9526565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5EEB41-B447-4C09-AABF-22374D8FD239}"/>
              </a:ext>
            </a:extLst>
          </p:cNvPr>
          <p:cNvSpPr>
            <a:spLocks noGrp="1"/>
          </p:cNvSpPr>
          <p:nvPr>
            <p:ph type="title" idx="4294967295"/>
          </p:nvPr>
        </p:nvSpPr>
        <p:spPr>
          <a:xfrm>
            <a:off x="628650" y="1"/>
            <a:ext cx="7886700" cy="1040842"/>
          </a:xfrm>
          <a:prstGeom prst="rect">
            <a:avLst/>
          </a:prstGeom>
        </p:spPr>
        <p:txBody>
          <a:bodyPr>
            <a:normAutofit/>
          </a:bodyPr>
          <a:lstStyle/>
          <a:p>
            <a:pPr algn="r"/>
            <a:r>
              <a:rPr lang="fr-FR" sz="2800" dirty="0">
                <a:solidFill>
                  <a:schemeClr val="accent5">
                    <a:lumMod val="75000"/>
                  </a:schemeClr>
                </a:solidFill>
              </a:rPr>
              <a:t>3- Domaines d’action</a:t>
            </a:r>
            <a:br>
              <a:rPr lang="fr-FR" sz="2800" dirty="0">
                <a:solidFill>
                  <a:schemeClr val="accent5">
                    <a:lumMod val="75000"/>
                  </a:schemeClr>
                </a:solidFill>
              </a:rPr>
            </a:br>
            <a:r>
              <a:rPr lang="fr-FR" sz="2800" dirty="0">
                <a:solidFill>
                  <a:schemeClr val="accent5">
                    <a:lumMod val="75000"/>
                  </a:schemeClr>
                </a:solidFill>
              </a:rPr>
              <a:t>Environnement et ISO 1400</a:t>
            </a:r>
            <a:r>
              <a:rPr lang="fr-FR" sz="2800" dirty="0">
                <a:solidFill>
                  <a:schemeClr val="accent5">
                    <a:lumMod val="50000"/>
                  </a:schemeClr>
                </a:solidFill>
              </a:rPr>
              <a:t>1</a:t>
            </a:r>
          </a:p>
        </p:txBody>
      </p:sp>
      <p:sp>
        <p:nvSpPr>
          <p:cNvPr id="6" name="Rectangle : coins arrondis 5">
            <a:extLst>
              <a:ext uri="{FF2B5EF4-FFF2-40B4-BE49-F238E27FC236}">
                <a16:creationId xmlns:a16="http://schemas.microsoft.com/office/drawing/2014/main" id="{E0E37C42-C82A-423F-80B1-739F9DD4331B}"/>
              </a:ext>
            </a:extLst>
          </p:cNvPr>
          <p:cNvSpPr/>
          <p:nvPr/>
        </p:nvSpPr>
        <p:spPr>
          <a:xfrm>
            <a:off x="628650" y="1361792"/>
            <a:ext cx="7920000" cy="1040842"/>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dirty="0">
                <a:solidFill>
                  <a:schemeClr val="tx1"/>
                </a:solidFill>
              </a:rPr>
              <a:t>La norme </a:t>
            </a:r>
            <a:r>
              <a:rPr lang="fr-FR" sz="2000" b="1" dirty="0">
                <a:solidFill>
                  <a:schemeClr val="accent5">
                    <a:lumMod val="75000"/>
                  </a:schemeClr>
                </a:solidFill>
              </a:rPr>
              <a:t>ISO 14001 </a:t>
            </a:r>
            <a:r>
              <a:rPr lang="fr-FR" sz="2000" dirty="0">
                <a:solidFill>
                  <a:schemeClr val="tx1"/>
                </a:solidFill>
              </a:rPr>
              <a:t>spécifie les exigences relatives à un système de </a:t>
            </a:r>
            <a:r>
              <a:rPr lang="fr-FR" sz="2000" b="1" dirty="0">
                <a:solidFill>
                  <a:schemeClr val="accent5">
                    <a:lumMod val="75000"/>
                  </a:schemeClr>
                </a:solidFill>
              </a:rPr>
              <a:t>management environnemental</a:t>
            </a:r>
            <a:r>
              <a:rPr lang="fr-FR" sz="2000" dirty="0">
                <a:solidFill>
                  <a:schemeClr val="tx1"/>
                </a:solidFill>
              </a:rPr>
              <a:t> pouvant être utilisé par un organisme pour améliorer sa performance environnementale. </a:t>
            </a:r>
          </a:p>
        </p:txBody>
      </p:sp>
      <p:sp>
        <p:nvSpPr>
          <p:cNvPr id="10" name="Rectangle : coins arrondis 9">
            <a:extLst>
              <a:ext uri="{FF2B5EF4-FFF2-40B4-BE49-F238E27FC236}">
                <a16:creationId xmlns:a16="http://schemas.microsoft.com/office/drawing/2014/main" id="{5A3AA35E-0ACD-439A-81F1-A508BAA0F7A1}"/>
              </a:ext>
            </a:extLst>
          </p:cNvPr>
          <p:cNvSpPr/>
          <p:nvPr/>
        </p:nvSpPr>
        <p:spPr>
          <a:xfrm>
            <a:off x="595350" y="2604139"/>
            <a:ext cx="7920000" cy="1851228"/>
          </a:xfrm>
          <a:prstGeom prst="round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dirty="0">
                <a:solidFill>
                  <a:schemeClr val="tx1"/>
                </a:solidFill>
              </a:rPr>
              <a:t>La norme ISO 14001 est applicable aux </a:t>
            </a:r>
            <a:r>
              <a:rPr lang="fr-FR" sz="2000" b="1" dirty="0">
                <a:solidFill>
                  <a:schemeClr val="accent5">
                    <a:lumMod val="75000"/>
                  </a:schemeClr>
                </a:solidFill>
              </a:rPr>
              <a:t>organismes de toutes tailles</a:t>
            </a:r>
            <a:r>
              <a:rPr lang="fr-FR" sz="2000" dirty="0">
                <a:solidFill>
                  <a:schemeClr val="accent5">
                    <a:lumMod val="75000"/>
                  </a:schemeClr>
                </a:solidFill>
              </a:rPr>
              <a:t>, de </a:t>
            </a:r>
            <a:r>
              <a:rPr lang="fr-FR" sz="2000" b="1" dirty="0">
                <a:solidFill>
                  <a:schemeClr val="accent5">
                    <a:lumMod val="75000"/>
                  </a:schemeClr>
                </a:solidFill>
              </a:rPr>
              <a:t>tous types </a:t>
            </a:r>
            <a:r>
              <a:rPr lang="fr-FR" sz="2000" dirty="0">
                <a:solidFill>
                  <a:schemeClr val="tx1"/>
                </a:solidFill>
              </a:rPr>
              <a:t>et de </a:t>
            </a:r>
            <a:r>
              <a:rPr lang="fr-FR" sz="2000" b="1" dirty="0">
                <a:solidFill>
                  <a:schemeClr val="accent5">
                    <a:lumMod val="75000"/>
                  </a:schemeClr>
                </a:solidFill>
              </a:rPr>
              <a:t>toutes natures</a:t>
            </a:r>
            <a:r>
              <a:rPr lang="fr-FR" sz="2000" dirty="0">
                <a:solidFill>
                  <a:schemeClr val="accent5">
                    <a:lumMod val="75000"/>
                  </a:schemeClr>
                </a:solidFill>
              </a:rPr>
              <a:t>, </a:t>
            </a:r>
            <a:r>
              <a:rPr lang="fr-FR" sz="2000" dirty="0">
                <a:solidFill>
                  <a:schemeClr val="tx1"/>
                </a:solidFill>
              </a:rPr>
              <a:t>et</a:t>
            </a:r>
            <a:r>
              <a:rPr lang="fr-FR" sz="2000" dirty="0">
                <a:solidFill>
                  <a:schemeClr val="accent5">
                    <a:lumMod val="75000"/>
                  </a:schemeClr>
                </a:solidFill>
              </a:rPr>
              <a:t> </a:t>
            </a:r>
            <a:r>
              <a:rPr lang="fr-FR" sz="2000" b="1" dirty="0">
                <a:solidFill>
                  <a:schemeClr val="accent5">
                    <a:lumMod val="75000"/>
                  </a:schemeClr>
                </a:solidFill>
              </a:rPr>
              <a:t>s’applique aux aspects environnementaux de ses activités, produits et services</a:t>
            </a:r>
            <a:r>
              <a:rPr lang="fr-FR" sz="2000" b="1" dirty="0">
                <a:solidFill>
                  <a:schemeClr val="accent5">
                    <a:lumMod val="50000"/>
                  </a:schemeClr>
                </a:solidFill>
              </a:rPr>
              <a:t> </a:t>
            </a:r>
            <a:r>
              <a:rPr lang="fr-FR" sz="2000" dirty="0">
                <a:solidFill>
                  <a:schemeClr val="tx1"/>
                </a:solidFill>
              </a:rPr>
              <a:t>que l’organisme détermine et qu’il a les moyens soit de maîtriser, soit d’influencer en prenant en considération une </a:t>
            </a:r>
            <a:r>
              <a:rPr lang="fr-FR" sz="2000" b="1" dirty="0">
                <a:solidFill>
                  <a:schemeClr val="accent5">
                    <a:lumMod val="75000"/>
                  </a:schemeClr>
                </a:solidFill>
              </a:rPr>
              <a:t>perspective de cycle de vie</a:t>
            </a:r>
            <a:r>
              <a:rPr lang="fr-FR" sz="2000" dirty="0">
                <a:solidFill>
                  <a:schemeClr val="accent5">
                    <a:lumMod val="75000"/>
                  </a:schemeClr>
                </a:solidFill>
              </a:rPr>
              <a:t>.</a:t>
            </a:r>
          </a:p>
        </p:txBody>
      </p:sp>
      <p:graphicFrame>
        <p:nvGraphicFramePr>
          <p:cNvPr id="3" name="Diagramme 2">
            <a:extLst>
              <a:ext uri="{FF2B5EF4-FFF2-40B4-BE49-F238E27FC236}">
                <a16:creationId xmlns:a16="http://schemas.microsoft.com/office/drawing/2014/main" id="{436FCC98-D8D9-18F3-14F5-902A8007CB1B}"/>
              </a:ext>
            </a:extLst>
          </p:cNvPr>
          <p:cNvGraphicFramePr/>
          <p:nvPr/>
        </p:nvGraphicFramePr>
        <p:xfrm>
          <a:off x="1414432" y="4656872"/>
          <a:ext cx="6348436" cy="1277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19613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B3A56A-AD3F-4014-9558-BC8E03CD3040}"/>
              </a:ext>
            </a:extLst>
          </p:cNvPr>
          <p:cNvSpPr>
            <a:spLocks noGrp="1"/>
          </p:cNvSpPr>
          <p:nvPr>
            <p:ph type="title"/>
          </p:nvPr>
        </p:nvSpPr>
        <p:spPr>
          <a:xfrm>
            <a:off x="253048" y="3071258"/>
            <a:ext cx="4090351" cy="1665841"/>
          </a:xfrm>
        </p:spPr>
        <p:txBody>
          <a:bodyPr/>
          <a:lstStyle/>
          <a:p>
            <a:pPr algn="ctr">
              <a:defRPr/>
            </a:pPr>
            <a:r>
              <a:rPr lang="fr-FR" sz="3991" dirty="0">
                <a:solidFill>
                  <a:schemeClr val="accent1">
                    <a:lumMod val="75000"/>
                  </a:schemeClr>
                </a:solidFill>
                <a:latin typeface="+mn-lt"/>
                <a:cs typeface="Calibri" panose="020F0502020204030204" pitchFamily="34" charset="0"/>
              </a:rPr>
              <a:t>Exemples de mauvaise maîtrise environnementale</a:t>
            </a:r>
          </a:p>
        </p:txBody>
      </p:sp>
      <p:pic>
        <p:nvPicPr>
          <p:cNvPr id="4" name="Image 3">
            <a:extLst>
              <a:ext uri="{FF2B5EF4-FFF2-40B4-BE49-F238E27FC236}">
                <a16:creationId xmlns:a16="http://schemas.microsoft.com/office/drawing/2014/main" id="{E3763BB4-71B1-912E-1443-5C0CB5679DDE}"/>
              </a:ext>
            </a:extLst>
          </p:cNvPr>
          <p:cNvPicPr>
            <a:picLocks noChangeAspect="1"/>
          </p:cNvPicPr>
          <p:nvPr/>
        </p:nvPicPr>
        <p:blipFill>
          <a:blip r:embed="rId2"/>
          <a:stretch>
            <a:fillRect/>
          </a:stretch>
        </p:blipFill>
        <p:spPr>
          <a:xfrm>
            <a:off x="4572000" y="2587152"/>
            <a:ext cx="3969707" cy="274939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2">
            <a:extLst>
              <a:ext uri="{FF2B5EF4-FFF2-40B4-BE49-F238E27FC236}">
                <a16:creationId xmlns:a16="http://schemas.microsoft.com/office/drawing/2014/main" id="{C9757BFA-5BA7-1CE6-2DEB-3D52C79D0B25}"/>
              </a:ext>
            </a:extLst>
          </p:cNvPr>
          <p:cNvSpPr txBox="1">
            <a:spLocks/>
          </p:cNvSpPr>
          <p:nvPr/>
        </p:nvSpPr>
        <p:spPr>
          <a:xfrm>
            <a:off x="628650" y="21105"/>
            <a:ext cx="7886700" cy="105625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Mauvaise maîtrise environnementale</a:t>
            </a:r>
          </a:p>
        </p:txBody>
      </p:sp>
      <p:pic>
        <p:nvPicPr>
          <p:cNvPr id="7" name="Image 6">
            <a:extLst>
              <a:ext uri="{FF2B5EF4-FFF2-40B4-BE49-F238E27FC236}">
                <a16:creationId xmlns:a16="http://schemas.microsoft.com/office/drawing/2014/main" id="{EBAA84B0-428A-8F0A-1579-9F8F5EFE91FD}"/>
              </a:ext>
            </a:extLst>
          </p:cNvPr>
          <p:cNvPicPr>
            <a:picLocks noChangeAspect="1"/>
          </p:cNvPicPr>
          <p:nvPr/>
        </p:nvPicPr>
        <p:blipFill>
          <a:blip r:embed="rId2"/>
          <a:srcRect l="6523" t="5001" r="5737" b="7314"/>
          <a:stretch>
            <a:fillRect/>
          </a:stretch>
        </p:blipFill>
        <p:spPr>
          <a:xfrm>
            <a:off x="2444750" y="525462"/>
            <a:ext cx="4254500" cy="6013451"/>
          </a:xfrm>
          <a:prstGeom prst="rect">
            <a:avLst/>
          </a:prstGeom>
        </p:spPr>
      </p:pic>
    </p:spTree>
    <p:extLst>
      <p:ext uri="{BB962C8B-B14F-4D97-AF65-F5344CB8AC3E}">
        <p14:creationId xmlns:p14="http://schemas.microsoft.com/office/powerpoint/2010/main" val="15658062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D018-C1C3-8BEC-DCE8-A4E12D237769}"/>
            </a:ext>
          </a:extLst>
        </p:cNvPr>
        <p:cNvGrpSpPr/>
        <p:nvPr/>
      </p:nvGrpSpPr>
      <p:grpSpPr>
        <a:xfrm>
          <a:off x="0" y="0"/>
          <a:ext cx="0" cy="0"/>
          <a:chOff x="0" y="0"/>
          <a:chExt cx="0" cy="0"/>
        </a:xfrm>
      </p:grpSpPr>
      <p:sp>
        <p:nvSpPr>
          <p:cNvPr id="6" name="Titre 2">
            <a:extLst>
              <a:ext uri="{FF2B5EF4-FFF2-40B4-BE49-F238E27FC236}">
                <a16:creationId xmlns:a16="http://schemas.microsoft.com/office/drawing/2014/main" id="{A95B0D5E-D605-64C1-C3CB-110CFD24F247}"/>
              </a:ext>
            </a:extLst>
          </p:cNvPr>
          <p:cNvSpPr txBox="1">
            <a:spLocks/>
          </p:cNvSpPr>
          <p:nvPr/>
        </p:nvSpPr>
        <p:spPr>
          <a:xfrm>
            <a:off x="628650" y="21105"/>
            <a:ext cx="7886700" cy="105625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Mauvaise maîtrise environnementale</a:t>
            </a:r>
          </a:p>
        </p:txBody>
      </p:sp>
      <p:pic>
        <p:nvPicPr>
          <p:cNvPr id="5" name="Image 4">
            <a:extLst>
              <a:ext uri="{FF2B5EF4-FFF2-40B4-BE49-F238E27FC236}">
                <a16:creationId xmlns:a16="http://schemas.microsoft.com/office/drawing/2014/main" id="{CB0C80D5-75F3-E7D2-A10C-EEF3B2EAC248}"/>
              </a:ext>
            </a:extLst>
          </p:cNvPr>
          <p:cNvPicPr>
            <a:picLocks noChangeAspect="1"/>
          </p:cNvPicPr>
          <p:nvPr/>
        </p:nvPicPr>
        <p:blipFill>
          <a:blip r:embed="rId2"/>
          <a:srcRect l="8617" t="6295" r="8355" b="5185"/>
          <a:stretch>
            <a:fillRect/>
          </a:stretch>
        </p:blipFill>
        <p:spPr>
          <a:xfrm>
            <a:off x="2171700" y="681557"/>
            <a:ext cx="4025900" cy="6070600"/>
          </a:xfrm>
          <a:prstGeom prst="rect">
            <a:avLst/>
          </a:prstGeom>
        </p:spPr>
      </p:pic>
    </p:spTree>
    <p:extLst>
      <p:ext uri="{BB962C8B-B14F-4D97-AF65-F5344CB8AC3E}">
        <p14:creationId xmlns:p14="http://schemas.microsoft.com/office/powerpoint/2010/main" val="37798721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02B1D-9636-E050-F4A2-10A043E9243B}"/>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C5B6512-F17D-465C-48A8-F87D5BDF83AE}"/>
              </a:ext>
            </a:extLst>
          </p:cNvPr>
          <p:cNvSpPr>
            <a:spLocks noGrp="1"/>
          </p:cNvSpPr>
          <p:nvPr>
            <p:ph type="sldNum" sz="quarter" idx="12"/>
          </p:nvPr>
        </p:nvSpPr>
        <p:spPr/>
        <p:txBody>
          <a:bodyPr/>
          <a:lstStyle/>
          <a:p>
            <a:fld id="{C85C23CD-7E10-4F4A-A7FF-0A4854529D52}" type="slidenum">
              <a:rPr lang="fr-FR" smtClean="0"/>
              <a:t>85</a:t>
            </a:fld>
            <a:endParaRPr lang="fr-FR"/>
          </a:p>
        </p:txBody>
      </p:sp>
      <p:pic>
        <p:nvPicPr>
          <p:cNvPr id="3" name="Image 2" descr="Une image contenant texte, moulin à vent, capture d’écran, conception&#10;&#10;Le contenu généré par l’IA peut être incorrect.">
            <a:extLst>
              <a:ext uri="{FF2B5EF4-FFF2-40B4-BE49-F238E27FC236}">
                <a16:creationId xmlns:a16="http://schemas.microsoft.com/office/drawing/2014/main" id="{68EC8BF1-3DD9-2CFD-9382-59DB53BF3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8680" y="549234"/>
            <a:ext cx="4866640" cy="6083300"/>
          </a:xfrm>
          <a:prstGeom prst="rect">
            <a:avLst/>
          </a:prstGeom>
        </p:spPr>
      </p:pic>
      <p:sp>
        <p:nvSpPr>
          <p:cNvPr id="6" name="Titre 2">
            <a:extLst>
              <a:ext uri="{FF2B5EF4-FFF2-40B4-BE49-F238E27FC236}">
                <a16:creationId xmlns:a16="http://schemas.microsoft.com/office/drawing/2014/main" id="{F7F45843-7828-BCB7-2449-471170BEE93E}"/>
              </a:ext>
            </a:extLst>
          </p:cNvPr>
          <p:cNvSpPr txBox="1">
            <a:spLocks/>
          </p:cNvSpPr>
          <p:nvPr/>
        </p:nvSpPr>
        <p:spPr>
          <a:xfrm>
            <a:off x="628650" y="21105"/>
            <a:ext cx="7886700" cy="105625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2800" dirty="0">
                <a:solidFill>
                  <a:schemeClr val="accent5">
                    <a:lumMod val="75000"/>
                  </a:schemeClr>
                </a:solidFill>
              </a:rPr>
              <a:t>Mauvaise maîtrise environnementale</a:t>
            </a:r>
          </a:p>
        </p:txBody>
      </p:sp>
    </p:spTree>
    <p:extLst>
      <p:ext uri="{BB962C8B-B14F-4D97-AF65-F5344CB8AC3E}">
        <p14:creationId xmlns:p14="http://schemas.microsoft.com/office/powerpoint/2010/main" val="3090187031"/>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6232</TotalTime>
  <Words>5916</Words>
  <Application>Microsoft Office PowerPoint</Application>
  <PresentationFormat>Affichage à l'écran (4:3)</PresentationFormat>
  <Paragraphs>804</Paragraphs>
  <Slides>85</Slides>
  <Notes>32</Notes>
  <HiddenSlides>8</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85</vt:i4>
      </vt:variant>
    </vt:vector>
  </HeadingPairs>
  <TitlesOfParts>
    <vt:vector size="94" baseType="lpstr">
      <vt:lpstr>Aptos</vt:lpstr>
      <vt:lpstr>Arial</vt:lpstr>
      <vt:lpstr>Calibri</vt:lpstr>
      <vt:lpstr>Domine</vt:lpstr>
      <vt:lpstr>Marianne</vt:lpstr>
      <vt:lpstr>Roboto</vt:lpstr>
      <vt:lpstr>Sofia Pro</vt:lpstr>
      <vt:lpstr>Wingdings</vt:lpstr>
      <vt:lpstr>Thème Office</vt:lpstr>
      <vt:lpstr>Environnement</vt:lpstr>
      <vt:lpstr>Sommaire</vt:lpstr>
      <vt:lpstr>Présentation PowerPoint</vt:lpstr>
      <vt:lpstr>1- La responsabilité environnementale Le dommage environnemental</vt:lpstr>
      <vt:lpstr>1- La responsabilité environnementale Le dommage environnemental</vt:lpstr>
      <vt:lpstr>1- La responsabilité environnementale Le dommage environnemental</vt:lpstr>
      <vt:lpstr>1- La responsabilité environnementale Deux types de devoirs</vt:lpstr>
      <vt:lpstr>1- La responsabilité environnementale</vt:lpstr>
      <vt:lpstr>Présentation PowerPoint</vt:lpstr>
      <vt:lpstr>Présentation PowerPoint</vt:lpstr>
      <vt:lpstr>1- La responsabilité environnementale Responsabilité pénale et délégation de pouvoir</vt:lpstr>
      <vt:lpstr>1- La responsabilité environnementale Responsabilité pénale et sanctions possibles</vt:lpstr>
      <vt:lpstr>1-  La responsabilité environnementale Responsabilité pénale et sanctions possibles</vt:lpstr>
      <vt:lpstr>1- La responsabilité environnementale Responsabilité civile</vt:lpstr>
      <vt:lpstr>1-  La responsabilité environnementale Responsabilité civile attachée aux contrats liés à l’environnement</vt:lpstr>
      <vt:lpstr>1-  La responsabilité environnementale Responsabilité civile hors contrat</vt:lpstr>
      <vt:lpstr>1-  La responsabilité environnementale Principaux interlocuteurs</vt:lpstr>
      <vt:lpstr>1-  La responsabilité environnementale Interlocuteurs – La DREAL</vt:lpstr>
      <vt:lpstr>1-  La responsabilité environnementale Interlocuteurs – L’ADEME</vt:lpstr>
      <vt:lpstr>Présentation PowerPoint</vt:lpstr>
      <vt:lpstr>2- Les impacts environnementaux Aspect et impact environnemental</vt:lpstr>
      <vt:lpstr>2- Les impacts environnementaux Aspect et impact environnemental</vt:lpstr>
      <vt:lpstr>2- Les impacts environnementaux Les cycles </vt:lpstr>
      <vt:lpstr>2- Les impacts environnementaux Les cycles</vt:lpstr>
      <vt:lpstr>Présentation PowerPoint</vt:lpstr>
      <vt:lpstr>2- Les impacts environnementaux Catégories d’aspects environnementaux</vt:lpstr>
      <vt:lpstr>2- Les impacts environnementaux Aspect: utilisation de matières premières, consommables</vt:lpstr>
      <vt:lpstr>Présentation PowerPoint</vt:lpstr>
      <vt:lpstr>Présentation PowerPoint</vt:lpstr>
      <vt:lpstr>3- Domaines d’action  Les produits dangereux - SVHC</vt:lpstr>
      <vt:lpstr>2- Les impacts environnementaux Aspect : production de déchets</vt:lpstr>
      <vt:lpstr>2- Les impacts environnementaux  Aspect: consommations d’énergies</vt:lpstr>
      <vt:lpstr>2- Les impacts environnementaux  Aspect : l’eau</vt:lpstr>
      <vt:lpstr>2- Les impacts environnementaux  Aspect : l’eau</vt:lpstr>
      <vt:lpstr>2- Les impacts environnementaux Aspect : l’air</vt:lpstr>
      <vt:lpstr>2- Les impacts environnementaux Aspect : le sol</vt:lpstr>
      <vt:lpstr>2- Les impacts environnementaux  Aspect : les nuisances</vt:lpstr>
      <vt:lpstr>2- Les impacts environnementaux  Aspect : les nuisances Bruit</vt:lpstr>
      <vt:lpstr>Cas d’entreprises</vt:lpstr>
      <vt:lpstr>Présentation PowerPoint</vt:lpstr>
      <vt:lpstr>Présentation PowerPoint</vt:lpstr>
      <vt:lpstr>Présentation PowerPoint</vt:lpstr>
      <vt:lpstr>Présentation PowerPoint</vt:lpstr>
      <vt:lpstr>3- Domaines d’action</vt:lpstr>
      <vt:lpstr>3- Domaines d’action  Gestion des déchets</vt:lpstr>
      <vt:lpstr>3- Domaines d’action  Gestion des déchets</vt:lpstr>
      <vt:lpstr>3- Domaines d’action  Gestion des déchets – Catégories de déchets</vt:lpstr>
      <vt:lpstr>3- Domaines d’action  Gestion des déchets</vt:lpstr>
      <vt:lpstr>3- Domaines d’action  Gestion des déchets – Obligations du producteur de déchets</vt:lpstr>
      <vt:lpstr>3- Domaines d’action  Gestion des déchets – Responsabilités</vt:lpstr>
      <vt:lpstr>3- Domaines d’action  Gestion des déchets – Interdictions</vt:lpstr>
      <vt:lpstr>3- Domaines d’action  Gestion des déchets - Codification des déchets</vt:lpstr>
      <vt:lpstr>3- Domaines d’action  Gestion des déchets - Codification des déchets</vt:lpstr>
      <vt:lpstr>3- Domaines d’action  Gestion des déchets - Codification des déchets</vt:lpstr>
      <vt:lpstr>3- Domaines d’action  Gestion des déchets - Modes de traitement des déchets</vt:lpstr>
      <vt:lpstr>3- Domaines d’action  Gestion des déchets - Codification de traitement des déchets</vt:lpstr>
      <vt:lpstr>3- Domaines d’action  Gestion des déchets - Codification de traitement des déchets</vt:lpstr>
      <vt:lpstr>3- Domaines d’action  Gestion des déchets – Exemple de BSD</vt:lpstr>
      <vt:lpstr>3- Domaines d’action  Gestion des déchets – Registre des déchets</vt:lpstr>
      <vt:lpstr>3- Domaines d’action  Gestion des déchets - Filières de traitement des déchets</vt:lpstr>
      <vt:lpstr>3- Domaines d’action  Gestion des déchets – Filières REP</vt:lpstr>
      <vt:lpstr>3-  Domaines d’action  Gestion des déchets – Filières REP</vt:lpstr>
      <vt:lpstr>3-  Domaines d’action  Gestion des déchets – Eco-organismes</vt:lpstr>
      <vt:lpstr>3- Domaines d’action  Gestion des déchets - Sortie de statut de déchet</vt:lpstr>
      <vt:lpstr>3-  Domaines d’action  Gestion des pollutions locales</vt:lpstr>
      <vt:lpstr>3- Domaines d’action  Gestion des eaux</vt:lpstr>
      <vt:lpstr>3- Domaines d’action  Gestion des eaux</vt:lpstr>
      <vt:lpstr>3- Domaines d’action  Protection des sols</vt:lpstr>
      <vt:lpstr>3- Domaines d’action  L’air</vt:lpstr>
      <vt:lpstr>3- Domaines d’action  L’air</vt:lpstr>
      <vt:lpstr>Présentation PowerPoint</vt:lpstr>
      <vt:lpstr>3-  Domaines d’action  L’énergie</vt:lpstr>
      <vt:lpstr>3-  Domaines d’action  Certificats d’économie d’énergie</vt:lpstr>
      <vt:lpstr>3-  Domaines d’action  Gestion des IE liés aux transports / L’air</vt:lpstr>
      <vt:lpstr>3-  Domaines d’action  Gestion des IE liés aux transports / Les produits</vt:lpstr>
      <vt:lpstr>3- Domaines d’action Eco-conception</vt:lpstr>
      <vt:lpstr>3- Domaines d’action Ecologie industrielle</vt:lpstr>
      <vt:lpstr>3- Domaines d’action Economie circulaire</vt:lpstr>
      <vt:lpstr>Présentation PowerPoint</vt:lpstr>
      <vt:lpstr>Présentation PowerPoint</vt:lpstr>
      <vt:lpstr>3- Domaines d’action Environnement et ISO 14001</vt:lpstr>
      <vt:lpstr>Exemples de mauvaise maîtrise environnementale</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laetitia correia</dc:creator>
  <cp:lastModifiedBy>Laetitia Correia</cp:lastModifiedBy>
  <cp:revision>379</cp:revision>
  <cp:lastPrinted>2025-01-21T08:23:53Z</cp:lastPrinted>
  <dcterms:created xsi:type="dcterms:W3CDTF">2021-03-20T09:41:15Z</dcterms:created>
  <dcterms:modified xsi:type="dcterms:W3CDTF">2025-10-22T09:52:17Z</dcterms:modified>
</cp:coreProperties>
</file>